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brand/README.md (the name and slogan); docs/RELEASE_NOTES.md '0.2.0 — QA, 2026-09-27' and 'Unreleased'.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§1 'A continuous query is a computation, not a request' (costs measured by NodeScaleTest, per docs/OPERATIONS.md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§1–§2; docs/CONCEPTS.md; docs/EXECUTION_MODEL.md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§2 'Declaring a stream' (the three blocks and the YAML, schema line wrapped for the slide); docs/CONNECTORS.md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§4 'Changes carry weights' (STRM-1); docs/USER_GUIDE.md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docs/EXECUTION_MODEL.md §1–§2 ('One thread, one inbox, one arena, one processor, one loop'); docs/adr/008-aligned-checkpoints.md;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§3–§4; docs/ARCHITECTURE.md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 'What happens at registration' (six steps, condensed to five); docs/CONCEPTS.md §5 'Sharing is by fingerprint'; docs/adr/050-a-tenant-owns-names-and-state-and-shares-only-with-itself.md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§2 (PRV-2002, TIME-6), §3 steps 2 (PRV-2042, PRV-2041); docs/CONCEPTS.md §7 (PRV-2050); README.md 'Windows and event time' (PRV-2020), 'Sinks' (PRV-8010); docs/CONNECTORS.md §1 (a sink reports schema() and keyColumns()); docs/adr/050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docs/USER_GUIDE.md 'Subscribing to a registered query' (snapshot then commits; CONFLATE, DROP_OLDEST, FAIL); docs/CONCEPTS.md §8 (STRM-8); docs/OPERATIONS.md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README.md 'Corrections', 'Recovery', 'Survival', 'How it is built'; docs/CONCEPTS.md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('Output is cut at the same marker (amended 2026-09-19, ADR-043 "As built")', ADR-029 cap); README.md 'Sinks' and 'Boundaries' (transactional sinks; capped by whether the source can rewind); docs/OPERATIONS.md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'Restarts: what survives' and 'Checkpoints: what is actually true' (PRV-8006; pravaha.checkpoint.keep default 3); docs/adr/008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§3 (lateness belongs to the source; 10-second default; allowed lateness defaults to zero); docs/CONTINUOUS_QUERIES.md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docs/CONCEPTS.md §7 (state_held, _ceiling, _fraction; PRV-4001); docs/EXECUTION_MODEL.md §2 'A lane fails alone'.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'What holds memory, and what bounds it' (rows abridged); docs/CONCEPTS.md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docs/EXECUTION_MODEL.md; docs/OPERATIONS.md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docs/EXECUTION_MODEL.md §1 'A lane', §2 'Why there are no locks', §3 'Lane vs thread'; docs/OPERATIONS.md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NodeScaleTest and SourceScaleTest); docs/OPERATIONS.md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'Sizing a node for many queries' (settings table) and 'Sharing lanes between queries'; docs/RELEASE_NOTES.md 'Unreleased'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'Keeping one query on its own lane' (statements quoted, names elided); docs/RELEASE_NOTES.md 'Unreleased'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'An administrator rebalances by hand'; commits 14914ae0, 6869419b, 86dd3e19; docs/RELEASE_NOTES.md 'Unreleased'.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docs/adr/054-an-ordered-source-is-shared-at-an-exact-seam.md (Decision, table verbatim, 'Which sources'); README.md 'What is not built' first-versions table; docs/RELEASE_NOTES.md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docs/adr/055-an-equality-index-over-a-column-outside-the-key.md §1–§4 (ServedView.commit, SecondaryIndexTest, SecondaryIndexRegistryTest, MAX_EQUALITY_INDEXES, PRV-2074); README.md first-versions table (no way yet to see which access path a read took).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docs/adr/046-a-replacement-meets-the-running-version-at-a-position.md; docs/CONTINUOUS_QUERIES.md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§8.1 ('What happens, in order'; PRV-4013, PRV-4014); docs/adr/046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 §2–§3 and 'Consequences'; docs/CONTINUOUS_QUERIES.md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§8.1 (the statement verbatim, reflowed; options table; refusals table); docs/adr/050 §3 / docs/SECURITY.md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docs/CONNECTORS.md §1 (kinds and shipped examples, lookup names with suffix); plugins/*/src/main/resources/META-INF/services/ (which plugin declares which kind); docs/adr/054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docs/CONNECTORS.md §1 (StreamSinkPlugin row); docs/RELEASE_NOTES.md 0.2.0 (Avro/Protobuf, commit.mode: prepared) and 'Unreleased'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docs/adr/041-change-data-capture-without-debezium.md; README.md 'Sources' (postgres-cdc, mysql-cdc); docs/RELEASE_NOTES.md 'Unreleased'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docs/CONNECTORS.md §1 (PRV-5090, CFG-4); docs/system_design.md §33 ADR-028 row; docs/CONTINUOUS_QUERIES.md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docs/adr/031-authorization-at-the-pravaha-layer.md; docs/adr/052; docs/adr/050; 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 (three pieces; soundness rule); docs/SECURITY.md 'What a registration is allowed to read / write', 'A conditional entitlement cannot subscribe' (STRM-13).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docs/adr/052-the-engine-is-the-identity-authority.md (secrets table, policy, lockout, API keys, sessions, store; status line: stages 4 and 5 dropped 2026-09-27); README.md 'Security'.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docs/adr/050-a-tenant-owns-names-and-state-and-shares-only-with-itself.md §1–§2; docs/SECURITY.md 'Tenants'.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docs/SECURITY.md 'Drop, pause and resume are authorized as reads' (SX-2), 'Transport', 'What is not built'; README.md 'Boundaries' (grants).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docs/RELEASE_NOTES.md 'Unreleased' (Admin → Lanes); commit ff9fae5d (console per-user sign-in, account and admin pages).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'Unreleased' (the Java CLI is now pravaha-engine; commands moved to the Python CLI); docs/QUICKSTART.md (pip install); docs/ARCHITECTURE.md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docs/USER_GUIDE.md 'Surviving a restart: reconnect' (both snippets, reflowed); docs/RELEASE_NOTES.md 'Unreleased'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'Watching a running node' (per-query and per-node tables; FEED-1; ADR-037 B1); README.md 'Observability' (8 %).</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the toaster sentence);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benchmarks/README.md; docs/adr/042-the-throughput-bar-is-the-requirement.md;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(verdict line; 'The machine, named'; Gate P2 throughput and scaling; re-measured 2026-09-26 incl. machineScalingReference; Gate P3; W5).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docs/gates/measured-2026-09-20/README.md 'C-7: generated against interpreted,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docs/adr/039; docs/adr/052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docs/CONCEPTS.md opening; examples/case-studies/README.md (docs/tutorials/, four lessons).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September 2026</a:t>
            </a:r>
          </a:p>
          <a:p>
            <a:pPr>
              <a:lnSpc>
                <a:spcPct val="120000"/>
              </a:lnSpc>
              <a:spcBef>
                <a:spcPts val="0"/>
              </a:spcBef>
              <a:spcAft>
                <a:spcPts val="0"/>
              </a:spcAft>
            </a:pPr>
            <a:r>
              <a:rPr sz="1100" b="0" i="0">
                <a:solidFill>
                  <a:srgbClr val="4A5058"/>
                </a:solidFill>
                <a:latin typeface="Source Sans 3"/>
              </a:rPr>
              <a:t>Pravaha 0.2.0 (2026-09-27) and later · Java 21</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7  </a:t>
            </a:r>
            <a:r>
              <a:rPr sz="1100" b="0">
                <a:solidFill>
                  <a:srgbClr val="4A5058"/>
                </a:solidFill>
                <a:latin typeface="Source Sans 3"/>
              </a:rPr>
              <a:t>Connectors</a:t>
            </a:r>
          </a:p>
          <a:p>
            <a:pPr>
              <a:lnSpc>
                <a:spcPct val="120000"/>
              </a:lnSpc>
              <a:spcBef>
                <a:spcPts val="0"/>
              </a:spcBef>
              <a:spcAft>
                <a:spcPts val="300"/>
              </a:spcAft>
            </a:pPr>
            <a:r>
              <a:rPr sz="1100" b="1">
                <a:solidFill>
                  <a:srgbClr val="A51C30"/>
                </a:solidFill>
                <a:latin typeface="Source Sans 3"/>
              </a:rPr>
              <a:t>8  </a:t>
            </a:r>
            <a:r>
              <a:rPr sz="1100" b="0">
                <a:solidFill>
                  <a:srgbClr val="4A5058"/>
                </a:solidFill>
                <a:latin typeface="Source Sans 3"/>
              </a:rPr>
              <a:t>Security and identity</a:t>
            </a:r>
          </a:p>
          <a:p>
            <a:pPr>
              <a:lnSpc>
                <a:spcPct val="120000"/>
              </a:lnSpc>
              <a:spcBef>
                <a:spcPts val="0"/>
              </a:spcBef>
              <a:spcAft>
                <a:spcPts val="300"/>
              </a:spcAft>
            </a:pPr>
            <a:r>
              <a:rPr sz="1100" b="1">
                <a:solidFill>
                  <a:srgbClr val="A51C30"/>
                </a:solidFill>
                <a:latin typeface="Source Sans 3"/>
              </a:rPr>
              <a:t>9  </a:t>
            </a:r>
            <a:r>
              <a:rPr sz="1100" b="0">
                <a:solidFill>
                  <a:srgbClr val="4A5058"/>
                </a:solidFill>
                <a:latin typeface="Source Sans 3"/>
              </a:rPr>
              <a:t>Operating it</a:t>
            </a:r>
          </a:p>
          <a:p>
            <a:pPr>
              <a:lnSpc>
                <a:spcPct val="120000"/>
              </a:lnSpc>
              <a:spcBef>
                <a:spcPts val="0"/>
              </a:spcBef>
              <a:spcAft>
                <a:spcPts val="300"/>
              </a:spcAft>
            </a:pPr>
            <a:r>
              <a:rPr sz="1100" b="1">
                <a:solidFill>
                  <a:srgbClr val="A51C30"/>
                </a:solidFill>
                <a:latin typeface="Source Sans 3"/>
              </a:rPr>
              <a:t>10  </a:t>
            </a:r>
            <a:r>
              <a:rPr sz="1100" b="0">
                <a:solidFill>
                  <a:srgbClr val="4A5058"/>
                </a:solidFill>
                <a:latin typeface="Source Sans 3"/>
              </a:rPr>
              <a:t>Thirteen worked systems</a:t>
            </a:r>
          </a:p>
          <a:p>
            <a:pPr>
              <a:lnSpc>
                <a:spcPct val="120000"/>
              </a:lnSpc>
              <a:spcBef>
                <a:spcPts val="0"/>
              </a:spcBef>
              <a:spcAft>
                <a:spcPts val="300"/>
              </a:spcAft>
            </a:pPr>
            <a:r>
              <a:rPr sz="1100" b="1">
                <a:solidFill>
                  <a:srgbClr val="A51C30"/>
                </a:solidFill>
                <a:latin typeface="Source Sans 3"/>
              </a:rPr>
              <a:t>11  </a:t>
            </a:r>
            <a:r>
              <a:rPr sz="1100" b="0">
                <a:solidFill>
                  <a:srgbClr val="4A5058"/>
                </a:solidFill>
                <a:latin typeface="Source Sans 3"/>
              </a:rPr>
              <a:t>What is measured, what is not built,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21</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15</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21</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Undecodable input goes to a dead-letter directory</a:t>
            </a:r>
          </a:p>
          <a:p>
            <a:pPr lvl="1">
              <a:lnSpc>
                <a:spcPct val="120000"/>
              </a:lnSpc>
              <a:spcBef>
                <a:spcPts val="0"/>
              </a:spcBef>
              <a:spcAft>
                <a:spcPts val="0"/>
              </a:spcAft>
            </a:pPr>
            <a:r>
              <a:rPr sz="1550" b="0">
                <a:solidFill>
                  <a:srgbClr val="4A5058"/>
                </a:solidFill>
                <a:latin typeface="Source Sans 3"/>
              </a:rPr>
              <a:t>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3.7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61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31</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40</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45</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and identity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The engine keeps its own users, keys and sessions, stores only what cannot be reversed, and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(ADR-050)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row-filtered principal cannot subscribe</a:t>
            </a:r>
          </a:p>
          <a:p>
            <a:pPr lvl="1">
              <a:lnSpc>
                <a:spcPct val="120000"/>
              </a:lnSpc>
              <a:spcBef>
                <a:spcPts val="0"/>
              </a:spcBef>
              <a:spcAft>
                <a:spcPts val="0"/>
              </a:spcAft>
            </a:pPr>
            <a:r>
              <a:rPr sz="1350" b="0">
                <a:solidFill>
                  <a:srgbClr val="4A5058"/>
                </a:solidFill>
                <a:latin typeface="Source Sans 3"/>
              </a:rPr>
              <a:t>It reads the view instead, which honours the filter.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133138"/>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a:t>
                      </a:r>
                    </a:p>
                  </a:txBody>
                  <a:tcPr marL="82296" marR="64008" marT="32004" marB="32004" anchor="ctr">
                    <a:solidFill>
                      <a:srgbClr val="F7F5F2"/>
                    </a:solidFill>
                  </a:tcPr>
                </a:tc>
                <a:tc>
                  <a:txBody>
                    <a:bodyPr wrap="square"/>
                    <a:lstStyle/>
                    <a:p>
                      <a:r>
                        <a:rPr sz="1450" b="0">
                          <a:solidFill>
                            <a:srgbClr val="1A1A1A"/>
                          </a:solidFill>
                          <a:latin typeface="Source Sans 3"/>
                        </a:rPr>
                        <a:t>5 inside 15 minutes lock the account for 30</a:t>
                      </a:r>
                    </a:p>
                  </a:txBody>
                  <a:tcPr marL="82296" marR="64008" marT="32004" marB="32004" anchor="ctr">
                    <a:solidFill>
                      <a:srgbClr val="F7F5F2"/>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The tenant is in the fingerprint: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does not scope, by decision</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View names</a:t>
            </a:r>
          </a:p>
          <a:p>
            <a:pPr lvl="1">
              <a:lnSpc>
                <a:spcPct val="120000"/>
              </a:lnSpc>
              <a:spcBef>
                <a:spcPts val="0"/>
              </a:spcBef>
              <a:spcAft>
                <a:spcPts val="0"/>
              </a:spcAft>
            </a:pPr>
            <a:r>
              <a:rPr sz="1400" b="0">
                <a:solidFill>
                  <a:srgbClr val="4A5058"/>
                </a:solidFill>
                <a:latin typeface="Source Sans 3"/>
              </a:rPr>
              <a:t>Unique on the node, whichever tenant holds them.</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Reads, sources and sinks</a:t>
            </a:r>
          </a:p>
          <a:p>
            <a:pPr lvl="1">
              <a:lnSpc>
                <a:spcPct val="120000"/>
              </a:lnSpc>
              <a:spcBef>
                <a:spcPts val="0"/>
              </a:spcBef>
              <a:spcAft>
                <a:spcPts val="0"/>
              </a:spcAft>
            </a:pPr>
            <a:r>
              <a:rPr sz="1400" b="0">
                <a:solidFill>
                  <a:srgbClr val="4A5058"/>
                </a:solidFill>
                <a:latin typeface="Source Sans 3"/>
              </a:rPr>
              <a:t>The policy decides; no tenant boundary it did not draw.</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Lanes and CPU</a:t>
            </a:r>
          </a:p>
          <a:p>
            <a:pPr lvl="1">
              <a:lnSpc>
                <a:spcPct val="120000"/>
              </a:lnSpc>
              <a:spcBef>
                <a:spcPts val="0"/>
              </a:spcBef>
              <a:spcAft>
                <a:spcPts val="0"/>
              </a:spcAft>
            </a:pPr>
            <a:r>
              <a:rPr sz="1400" b="0">
                <a:solidFill>
                  <a:srgbClr val="4A5058"/>
                </a:solidFill>
                <a:latin typeface="Source Sans 3"/>
              </a:rPr>
              <a:t>Shared; per-tenant CPU scheduling is not built.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Operator state outside the view</a:t>
            </a:r>
          </a:p>
          <a:p>
            <a:pPr lvl="1">
              <a:lnSpc>
                <a:spcPct val="120000"/>
              </a:lnSpc>
              <a:spcBef>
                <a:spcPts val="0"/>
              </a:spcBef>
              <a:spcAft>
                <a:spcPts val="0"/>
              </a:spcAft>
            </a:pPr>
            <a:r>
              <a:rPr sz="1400" b="0">
                <a:solidFill>
                  <a:srgbClr val="4A5058"/>
                </a:solidFill>
                <a:latin typeface="Source Sans 3"/>
              </a:rPr>
              <a:t>Bounded per query by its ceilings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Drop, pause and resume are authorized as reads</a:t>
            </a:r>
          </a:p>
          <a:p>
            <a:pPr lvl="1">
              <a:lnSpc>
                <a:spcPct val="120000"/>
              </a:lnSpc>
              <a:spcBef>
                <a:spcPts val="0"/>
              </a:spcBef>
              <a:spcAft>
                <a:spcPts val="0"/>
              </a:spcAft>
            </a:pPr>
            <a:r>
              <a:rPr sz="1550" b="0">
                <a:solidFill>
                  <a:srgbClr val="4A5058"/>
                </a:solidFill>
                <a:latin typeface="Source Sans 3"/>
              </a:rPr>
              <a:t>mayAdminister defaults to mayRead: anyone entitled to any rows of a view may drop it for everyone. A deployment that needs ownership must override mayAdminister.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column masking; grants live in the deployment's policy</a:t>
            </a:r>
          </a:p>
          <a:p>
            <a:pPr lvl="1">
              <a:lnSpc>
                <a:spcPct val="120000"/>
              </a:lnSpc>
              <a:spcBef>
                <a:spcPts val="0"/>
              </a:spcBef>
              <a:spcAft>
                <a:spcPts val="0"/>
              </a:spcAft>
            </a:pPr>
            <a:r>
              <a:rPr sz="1550" b="0">
                <a:solidFill>
                  <a:srgbClr val="4A5058"/>
                </a:solidFill>
                <a:latin typeface="Source Sans 3"/>
              </a:rPr>
              <a:t>The console shows grants and does not edit them.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a console that is a product and not a dashboard, two command lines, two SDKs that survive a restart,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and reconnecting</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JDK 21 glibc base, and a Helm chart that installs one node as a StatefulSet.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55</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with every asset vendored so it runs air-gapped. All eight §23.18 journeys run in headless Chrome;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the audit trail, filterable and paged; and Admin → Lanes.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Per-operator rows, state and sampled self time appear on GET /api/v1/queries/{name}/plan when pravaha.metrics.operators is on — off by default, as it costs about 8 % of throughput.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“A consumer that only listened for rows arriving would page the buyer about toasters for ever.”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65</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896315"/>
          </a:xfrm>
          <a:prstGeom prst="rect">
            <a:avLst/>
          </a:prstGeom>
          <a:noFill/>
        </p:spPr>
        <p:txBody>
          <a:bodyPr wrap="square" lIns="0" rIns="0" tIns="0" bIns="0" anchor="t">
            <a:spAutoFit/>
          </a:bodyPr>
          <a:lstStyle/>
          <a:p>
            <a:pPr algn="l">
              <a:lnSpc>
                <a:spcPct val="105000"/>
              </a:lnSpc>
              <a:spcBef>
                <a:spcPts val="0"/>
              </a:spcBef>
              <a:spcAft>
                <a:spcPts val="0"/>
              </a:spcAft>
            </a:pPr>
            <a:r>
              <a:rPr sz="2600" b="1" i="0">
                <a:solidFill>
                  <a:srgbClr val="FFFFFF"/>
                </a:solidFill>
                <a:latin typeface="Source Sans 3"/>
              </a:rPr>
              <a:t>What is measured, what is not built, and where to start</a:t>
            </a:r>
          </a:p>
        </p:txBody>
      </p:sp>
      <p:sp>
        <p:nvSpPr>
          <p:cNvPr id="9" name="Rectangle 8"/>
          <p:cNvSpPr/>
          <p:nvPr/>
        </p:nvSpPr>
        <p:spPr>
          <a:xfrm>
            <a:off x="1005840" y="3319475"/>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548075"/>
            <a:ext cx="6169584" cy="2212644"/>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a:t>
            </a:r>
          </a:p>
          <a:p>
            <a:pPr>
              <a:lnSpc>
                <a:spcPct val="115000"/>
              </a:lnSpc>
              <a:spcBef>
                <a:spcPts val="0"/>
              </a:spcBef>
              <a:spcAft>
                <a:spcPts val="600"/>
              </a:spcAft>
            </a:pPr>
            <a:r>
              <a:rPr sz="1250" b="0" i="0">
                <a:solidFill>
                  <a:srgbClr val="F6E6E9"/>
                </a:solidFill>
                <a:latin typeface="Source Sans 3"/>
              </a:rPr>
              <a:t>Nexmark: what runs</a:t>
            </a:r>
          </a:p>
          <a:p>
            <a:pPr>
              <a:lnSpc>
                <a:spcPct val="115000"/>
              </a:lnSpc>
              <a:spcBef>
                <a:spcPts val="0"/>
              </a:spcBef>
              <a:spcAft>
                <a:spcPts val="600"/>
              </a:spcAft>
            </a:pPr>
            <a:r>
              <a:rPr sz="1250" b="0" i="0">
                <a:solidFill>
                  <a:srgbClr val="F6E6E9"/>
                </a:solidFill>
                <a:latin typeface="Source Sans 3"/>
              </a:rPr>
              <a:t>What the micro-benchmarks say, and do not</a:t>
            </a:r>
          </a:p>
          <a:p>
            <a:pPr>
              <a:lnSpc>
                <a:spcPct val="115000"/>
              </a:lnSpc>
              <a:spcBef>
                <a:spcPts val="0"/>
              </a:spcBef>
              <a:spcAft>
                <a:spcPts val="600"/>
              </a:spcAft>
            </a:pPr>
            <a:r>
              <a:rPr sz="1250" b="0" i="0">
                <a:solidFill>
                  <a:srgbClr val="F6E6E9"/>
                </a:solidFill>
                <a:latin typeface="Source Sans 3"/>
              </a:rPr>
              <a:t>What is not built</a:t>
            </a:r>
          </a:p>
          <a:p>
            <a:pPr>
              <a:lnSpc>
                <a:spcPct val="115000"/>
              </a:lnSpc>
              <a:spcBef>
                <a:spcPts val="0"/>
              </a:spcBef>
              <a:spcAft>
                <a:spcPts val="600"/>
              </a:spcAft>
            </a:pPr>
            <a:r>
              <a:rPr sz="1250" b="0" i="0">
                <a:solidFill>
                  <a:srgbClr val="F6E6E9"/>
                </a:solidFill>
                <a:latin typeface="Source Sans 3"/>
              </a:rPr>
              <a:t>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MEASURED 2026-09-20, RE-MEASURED 2026-09-26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 running other build agents throughout, at load averages from 5.8 to 77.8.</a:t>
            </a:r>
          </a:p>
        </p:txBody>
      </p:sp>
      <p:graphicFrame>
        <p:nvGraphicFramePr>
          <p:cNvPr id="12" name="Table 11"/>
          <p:cNvGraphicFramePr>
            <a:graphicFrameLocks noGrp="1"/>
          </p:cNvGraphicFramePr>
          <p:nvPr/>
        </p:nvGraphicFramePr>
        <p:xfrm>
          <a:off x="777240" y="1410919"/>
          <a:ext cx="10637212" cy="2895953"/>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All 30 warm passes and 29 of 30 cold above it; the miss 1,043,974 at load 77</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821283">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28–42 % (09-20); 33–46 % without the coverage agent (09-26); the machine's own ceiling for work sharing nothing: 51–55 %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Every one of 15 passes above it; the worst 1,096,560, during a load spike</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265876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292 M vs 28.7 M rows/s — roughly 10×</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level (0.95–1.13×):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21 M rows/s</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453 M vs 110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Feature-complete for one node; these are deferred, or not yet done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129641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29641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6956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08480"/>
            <a:ext cx="5135727" cy="4436872"/>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Multi-node execution</a:t>
            </a:r>
          </a:p>
          <a:p>
            <a:pPr lvl="1">
              <a:lnSpc>
                <a:spcPct val="120000"/>
              </a:lnSpc>
              <a:spcBef>
                <a:spcPts val="0"/>
              </a:spcBef>
              <a:spcAft>
                <a:spcPts val="0"/>
              </a:spcAft>
            </a:pPr>
            <a:r>
              <a:rPr sz="140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MFA and single sign-on</a:t>
            </a:r>
          </a:p>
          <a:p>
            <a:pPr lvl="1">
              <a:lnSpc>
                <a:spcPct val="120000"/>
              </a:lnSpc>
              <a:spcBef>
                <a:spcPts val="0"/>
              </a:spcBef>
              <a:spcAft>
                <a:spcPts val="0"/>
              </a:spcAft>
            </a:pPr>
            <a:r>
              <a:rPr sz="140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Not yet proven</a:t>
            </a:r>
          </a:p>
          <a:p>
            <a:pPr lvl="1">
              <a:lnSpc>
                <a:spcPct val="120000"/>
              </a:lnSpc>
              <a:spcBef>
                <a:spcPts val="0"/>
              </a:spcBef>
              <a:spcAft>
                <a:spcPts val="0"/>
              </a:spcAft>
            </a:pPr>
            <a:r>
              <a:rPr sz="1400" b="0">
                <a:solidFill>
                  <a:srgbClr val="4A5058"/>
                </a:solidFill>
                <a:latin typeface="Source Sans 3"/>
              </a:rPr>
              <a:t>The eight-lane scaling target; the manual WCAG 2.2 AA audit.</a:t>
            </a:r>
          </a:p>
        </p:txBody>
      </p:sp>
      <p:sp>
        <p:nvSpPr>
          <p:cNvPr id="14" name="Rectangle 13"/>
          <p:cNvSpPr/>
          <p:nvPr/>
        </p:nvSpPr>
        <p:spPr>
          <a:xfrm>
            <a:off x="6278727" y="129641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29641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6956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08480"/>
          <a:ext cx="5135726" cy="2822343"/>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567740">
                <a:tc>
                  <a:txBody>
                    <a:bodyPr wrap="square"/>
                    <a:lstStyle/>
                    <a:p>
                      <a:r>
                        <a:rPr sz="1400" b="1">
                          <a:solidFill>
                            <a:srgbClr val="8A1626"/>
                          </a:solidFill>
                          <a:latin typeface="Source Sans 3"/>
                        </a:rPr>
                        <a:t>mysql-cdc</a:t>
                      </a:r>
                    </a:p>
                  </a:txBody>
                  <a:tcPr marL="82296" marR="64008" marT="32004" marB="32004" anchor="ctr">
                    <a:solidFill>
                      <a:srgbClr val="FFFFFF"/>
                    </a:solidFill>
                  </a:tcPr>
                </a:tc>
                <a:tc>
                  <a:txBody>
                    <a:bodyPr wrap="square"/>
                    <a:lstStyle/>
                    <a:p>
                      <a:r>
                        <a:rPr sz="1400" b="0">
                          <a:solidFill>
                            <a:srgbClr val="1A1A1A"/>
                          </a:solidFill>
                          <a:latin typeface="Source Sans 3"/>
                        </a:rPr>
                        <a:t>An initial snapshot, TLS, GTID positions across a failover</a:t>
                      </a:r>
                    </a:p>
                  </a:txBody>
                  <a:tcPr marL="82296" marR="64008" marT="32004" marB="32004" anchor="ctr">
                    <a:solidFill>
                      <a:srgbClr val="FFFFFF"/>
                    </a:solidFill>
                  </a:tcPr>
                </a:tc>
              </a:tr>
              <a:tr h="796747">
                <a:tc>
                  <a:txBody>
                    <a:bodyPr wrap="square"/>
                    <a:lstStyle/>
                    <a:p>
                      <a:r>
                        <a:rPr sz="1400" b="1">
                          <a:solidFill>
                            <a:srgbClr val="8A1626"/>
                          </a:solidFill>
                          <a:latin typeface="Source Sans 3"/>
                        </a:rPr>
                        <a:t>iceberg-sink</a:t>
                      </a:r>
                    </a:p>
                  </a:txBody>
                  <a:tcPr marL="82296" marR="64008" marT="32004" marB="32004" anchor="ctr">
                    <a:solidFill>
                      <a:srgbClr val="F7F5F2"/>
                    </a:solidFill>
                  </a:tcPr>
                </a:tc>
                <a:tc>
                  <a:txBody>
                    <a:bodyPr wrap="square"/>
                    <a:lstStyle/>
                    <a:p>
                      <a:r>
                        <a:rPr sz="1400" b="0">
                          <a:solidFill>
                            <a:srgbClr val="1A1A1A"/>
                          </a:solidFill>
                          <a:latin typeface="Source Sans 3"/>
                        </a:rPr>
                        <a:t>Object stores, catalogs, partitioned tables, schema evolution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400" b="0">
                          <a:solidFill>
                            <a:srgbClr val="1A1A1A"/>
                          </a:solidFill>
                          <a:latin typeface="Source Sans 3"/>
                        </a:rPr>
                        <a:t>Delta and JDBC; CDC keeps a reader per query</a:t>
                      </a:r>
                    </a:p>
                  </a:txBody>
                  <a:tcPr marL="82296" marR="64008" marT="32004" marB="32004" anchor="ctr">
                    <a:solidFill>
                      <a:srgbClr val="FFFFFF"/>
                    </a:solidFill>
                  </a:tcPr>
                </a:tc>
              </a:tr>
              <a:tr h="567740">
                <a:tc>
                  <a:txBody>
                    <a:bodyPr wrap="square"/>
                    <a:lstStyle/>
                    <a:p>
                      <a:r>
                        <a:rPr sz="1400" b="1">
                          <a:solidFill>
                            <a:srgbClr val="8A1626"/>
                          </a:solidFill>
                          <a:latin typeface="Source Sans 3"/>
                        </a:rPr>
                        <a:t>Equality index</a:t>
                      </a:r>
                    </a:p>
                  </a:txBody>
                  <a:tcPr marL="82296" marR="64008" marT="32004" marB="32004" anchor="ctr">
                    <a:solidFill>
                      <a:srgbClr val="F7F5F2"/>
                    </a:solidFill>
                  </a:tcPr>
                </a:tc>
                <a:tc>
                  <a:txBody>
                    <a:bodyPr wrap="square"/>
                    <a:lstStyle/>
                    <a:p>
                      <a:r>
                        <a:rPr sz="1400" b="0">
                          <a:solidFill>
                            <a:srgbClr val="1A1A1A"/>
                          </a:solidFill>
                          <a:latin typeface="Source Sans 3"/>
                        </a:rPr>
                        <a:t>A way to see which access path a read took</a:t>
                      </a:r>
                    </a:p>
                  </a:txBody>
                  <a:tcPr marL="82296" marR="64008" marT="32004" marB="32004" anchor="ctr">
                    <a:solidFill>
                      <a:srgbClr val="F7F5F2"/>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So they are never pre-combined at a source; an Aerospike partial would need UDFs on the customer's cluster.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Grants live in the deployment's policy</a:t>
            </a:r>
          </a:p>
          <a:p>
            <a:pPr lvl="1">
              <a:lnSpc>
                <a:spcPct val="120000"/>
              </a:lnSpc>
              <a:spcBef>
                <a:spcPts val="0"/>
              </a:spcBef>
              <a:spcAft>
                <a:spcPts val="0"/>
              </a:spcAft>
            </a:pPr>
            <a:r>
              <a:rPr sz="1550" b="0">
                <a:solidFill>
                  <a:srgbClr val="4A5058"/>
                </a:solidFill>
                <a:latin typeface="Source Sans 3"/>
              </a:rPr>
              <a:t>The console shows them and does not edit them.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132981"/>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63270">
                <a:tc>
                  <a:txBody>
                    <a:bodyPr wrap="square"/>
                    <a:lstStyle/>
                    <a:p>
                      <a:r>
                        <a:rPr sz="1550" b="1">
                          <a:solidFill>
                            <a:srgbClr val="8A1626"/>
                          </a:solidFill>
                          <a:latin typeface="Source Sans 3"/>
                        </a:rPr>
                        <a:t>docs/QUICKSTART.md</a:t>
                      </a:r>
                    </a:p>
                  </a:txBody>
                  <a:tcPr marL="82296" marR="64008" marT="32004" marB="32004" anchor="ctr">
                    <a:solidFill>
                      <a:srgbClr val="FFFFFF"/>
                    </a:solidFill>
                  </a:tcPr>
                </a:tc>
                <a:tc>
                  <a:txBody>
                    <a:bodyPr wrap="square"/>
                    <a:lstStyle/>
                    <a:p>
                      <a:r>
                        <a:rPr sz="1550" b="0">
                          <a:solidFill>
                            <a:srgbClr val="1A1A1A"/>
                          </a:solidFill>
                          <a:latin typeface="Source Sans 3"/>
                        </a:rPr>
                        <a:t>Clone to a running, changing view in about ten minutes</a:t>
                      </a:r>
                    </a:p>
                  </a:txBody>
                  <a:tcPr marL="82296" marR="64008" marT="32004" marB="32004" anchor="ctr">
                    <a:solidFill>
                      <a:srgbClr val="FFFFFF"/>
                    </a:solidFill>
                  </a:tcPr>
                </a:tc>
              </a:tr>
              <a:tr h="616813">
                <a:tc>
                  <a:txBody>
                    <a:bodyPr wrap="square"/>
                    <a:lstStyle/>
                    <a:p>
                      <a:r>
                        <a:rPr sz="1550" b="1">
                          <a:solidFill>
                            <a:srgbClr val="8A1626"/>
                          </a:solidFill>
                          <a:latin typeface="Source Sans 3"/>
                        </a:rPr>
                        <a:t>docs/CONCEPTS.md</a:t>
                      </a:r>
                    </a:p>
                  </a:txBody>
                  <a:tcPr marL="82296" marR="64008" marT="32004" marB="32004" anchor="ctr">
                    <a:solidFill>
                      <a:srgbClr val="F7F5F2"/>
                    </a:solidFill>
                  </a:tcPr>
                </a:tc>
                <a:tc>
                  <a:txBody>
                    <a:bodyPr wrap="square"/>
                    <a:lstStyle/>
                    <a:p>
                      <a:r>
                        <a:rPr sz="1550" b="0">
                          <a:solidFill>
                            <a:srgbClr val="1A1A1A"/>
                          </a:solidFill>
                          <a:latin typeface="Source Sans 3"/>
                        </a:rPr>
                        <a:t>The eight ideas; most surprises are one of them working correctly</a:t>
                      </a:r>
                    </a:p>
                  </a:txBody>
                  <a:tcPr marL="82296" marR="64008" marT="32004" marB="32004" anchor="ctr">
                    <a:solidFill>
                      <a:srgbClr val="F7F5F2"/>
                    </a:solidFill>
                  </a:tcPr>
                </a:tc>
              </a:tr>
              <a:tr h="616813">
                <a:tc>
                  <a:txBody>
                    <a:bodyPr wrap="square"/>
                    <a:lstStyle/>
                    <a:p>
                      <a:r>
                        <a:rPr sz="1550" b="1">
                          <a:solidFill>
                            <a:srgbClr val="8A1626"/>
                          </a:solidFill>
                          <a:latin typeface="Source Sans 3"/>
                        </a:rPr>
                        <a:t>docs/tutorials/</a:t>
                      </a:r>
                    </a:p>
                  </a:txBody>
                  <a:tcPr marL="82296" marR="64008" marT="32004" marB="32004" anchor="ctr">
                    <a:solidFill>
                      <a:srgbClr val="FFFFFF"/>
                    </a:solidFill>
                  </a:tcPr>
                </a:tc>
                <a:tc>
                  <a:txBody>
                    <a:bodyPr wrap="square"/>
                    <a:lstStyle/>
                    <a:p>
                      <a:r>
                        <a:rPr sz="155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63270">
                <a:tc>
                  <a:txBody>
                    <a:bodyPr wrap="square"/>
                    <a:lstStyle/>
                    <a:p>
                      <a:r>
                        <a:rPr sz="155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550" b="0">
                          <a:solidFill>
                            <a:srgbClr val="1A1A1A"/>
                          </a:solidFill>
                          <a:latin typeface="Source Sans 3"/>
                        </a:rPr>
                        <a:t>Thirteen worked systems to copy, each checked by the build</a:t>
                      </a:r>
                    </a:p>
                  </a:txBody>
                  <a:tcPr marL="82296" marR="64008" marT="32004" marB="32004" anchor="ctr">
                    <a:solidFill>
                      <a:srgbClr val="F7F5F2"/>
                    </a:solidFill>
                  </a:tcPr>
                </a:tc>
              </a:tr>
              <a:tr h="616813">
                <a:tc>
                  <a:txBody>
                    <a:bodyPr wrap="square"/>
                    <a:lstStyle/>
                    <a:p>
                      <a:r>
                        <a:rPr sz="1550" b="1">
                          <a:solidFill>
                            <a:srgbClr val="8A1626"/>
                          </a:solidFill>
                          <a:latin typeface="Source Sans 3"/>
                        </a:rPr>
                        <a:t>docs/CONTINUOUS_QUERIES.md</a:t>
                      </a:r>
                    </a:p>
                  </a:txBody>
                  <a:tcPr marL="82296" marR="64008" marT="32004" marB="32004" anchor="ctr">
                    <a:solidFill>
                      <a:srgbClr val="FFFFFF"/>
                    </a:solidFill>
                  </a:tcPr>
                </a:tc>
                <a:tc>
                  <a:txBody>
                    <a:bodyPr wrap="square"/>
                    <a:lstStyle/>
                    <a:p>
                      <a:r>
                        <a:rPr sz="155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616813">
                <a:tc>
                  <a:txBody>
                    <a:bodyPr wrap="square"/>
                    <a:lstStyle/>
                    <a:p>
                      <a:r>
                        <a:rPr sz="1550" b="1">
                          <a:solidFill>
                            <a:srgbClr val="8A1626"/>
                          </a:solidFill>
                          <a:latin typeface="Source Sans 3"/>
                        </a:rPr>
                        <a:t>docs/OPERATIONS.md · SECURITY.md</a:t>
                      </a:r>
                    </a:p>
                  </a:txBody>
                  <a:tcPr marL="82296" marR="64008" marT="32004" marB="32004" anchor="ctr">
                    <a:solidFill>
                      <a:srgbClr val="F7F5F2"/>
                    </a:solidFill>
                  </a:tcPr>
                </a:tc>
                <a:tc>
                  <a:txBody>
                    <a:bodyPr wrap="square"/>
                    <a:lstStyle/>
                    <a:p>
                      <a:r>
                        <a:rPr sz="155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616813">
                <a:tc>
                  <a:txBody>
                    <a:bodyPr wrap="square"/>
                    <a:lstStyle/>
                    <a:p>
                      <a:r>
                        <a:rPr sz="1550" b="1">
                          <a:solidFill>
                            <a:srgbClr val="8A1626"/>
                          </a:solidFill>
                          <a:latin typeface="Source Sans 3"/>
                        </a:rPr>
                        <a:t>docs/adr/</a:t>
                      </a:r>
                    </a:p>
                  </a:txBody>
                  <a:tcPr marL="82296" marR="64008" marT="32004" marB="32004" anchor="ctr">
                    <a:solidFill>
                      <a:srgbClr val="FFFFFF"/>
                    </a:solidFill>
                  </a:tcPr>
                </a:tc>
                <a:tc>
                  <a:txBody>
                    <a:bodyPr wrap="square"/>
                    <a:lstStyle/>
                    <a:p>
                      <a:r>
                        <a:rPr sz="155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2026-09-28T12:00:00Z</dcterms:created>
  <dcterms:modified xsi:type="dcterms:W3CDTF">2026-09-28T12:00:00Z</dcterms:modified>
  <cp:category/>
</cp:coreProperties>
</file>