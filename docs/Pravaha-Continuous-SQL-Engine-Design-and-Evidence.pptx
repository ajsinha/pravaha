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brand/README.md (the name and slogan); docs/RELEASE_NOTES.md '0.2.0 — QA, 2026-09-27' and 'Unreleased'.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§1 'A continuous query is a computation, not a request' (costs measured by NodeScaleTest, per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§1–§2; docs/CONCEPTS.md; docs/EXECUTION_MODEL.md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'Declaring a stream' (the three blocks and the YAML, schema line wrapped for the slide); docs/CONNECTORS.md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'Changes carry weights' (STRM-1); docs/USER_GUIDE.md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§1–§2 ('One thread, one inbox, one arena, one processor, one loop'); docs/adr/008-aligned-checkpoints.md;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§3–§4; docs/ARCHITECTURE.md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§3 'What happens at registration' (six steps, condensed to five); docs/CONCEPTS.md §5 'Sharing is by fingerprint'; docs/adr/050-a-tenant-owns-names-and-state-and-shares-only-with-itself.md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§2 (PRV-2002, TIME-6), §3 steps 2 (PRV-2042, PRV-2041); docs/CONCEPTS.md §7 (PRV-2050); README.md 'Windows and event time' (PRV-2020), 'Sinks' (PRV-8010); docs/CONNECTORS.md §1 (a sink reports schema() and keyColumns()); docs/adr/050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'Subscribing to a registered query' (snapshot then commits; CONFLATE, DROP_OLDEST, FAIL); docs/CONCEPTS.md §8 (STRM-8); docs/OPERATIONS.md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README.md 'Corrections', 'Recovery', 'Survival', 'How it is built'; docs/CONCEPTS.md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docs/adr/008-aligned-checkpoints.md ('Output is cut at the same marker (amended 2026-09-19, ADR-043 "As built")', ADR-029 cap); README.md 'Sinks' and 'Boundaries' (transactional sinks; capped by whether the source can rewind); docs/OPERATIONS.md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'Restarts: what survives' and 'Checkpoints: what is actually true' (PRV-8006; pravaha.checkpoint.keep default 3); docs/adr/008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docs/CONCEPTS.md §3 (lateness belongs to the source; 10-second default; allowed lateness defaults to zero); docs/CONTINUOUS_QUERIES.md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docs/CONCEPTS.md §7 (state_held, _ceiling, _fraction; PRV-4001); docs/EXECUTION_MODEL.md §2 'A lane fails alone'.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'What holds memory, and what bounds it' (rows abridged); docs/CONCEPTS.md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docs/EXECUTION_MODEL.md; docs/OPERATIONS.md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docs/EXECUTION_MODEL.md §1 'A lane', §2 'Why there are no locks', §3 'Lane vs thread'; docs/OPERATIONS.md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'Sizing a node for many queries' (settings table) and 'Sharing lanes between queries'; docs/RELEASE_NOTES.md 'Unreleased'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'Keeping one query on its own lane' (statements quoted, names elided); docs/RELEASE_NOTES.md 'Unreleased'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'An administrator rebalances by hand'; commits 14914ae0, 6869419b, 86dd3e19; docs/RELEASE_NOTES.md 'Unreleased'.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docs/adr/054-an-ordered-source-is-shared-at-an-exact-seam.md (Decision, table verbatim, 'Which sources'); README.md 'What is not built' first-versions table; docs/RELEASE_NOTES.md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docs/adr/055-an-equality-index-over-a-column-outside-the-key.md §1–§4 (ServedView.commit, SecondaryIndexTest, SecondaryIndexRegistryTest, MAX_EQUALITY_INDEXES, PRV-2074); README.md first-versions table (no way yet to see which access path a read took).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docs/CONTINUOUS_QUERIES.md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('What happens, in order'; PRV-4013, PRV-4014); docs/adr/046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docs/adr/046 §2–§3 and 'Consequences'; docs/CONTINUOUS_QUERIES.md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docs/CONTINUOUS_QUERIES.md §8.1 (the statement verbatim, reflowed; options table; refusals table); docs/adr/050 §3 / docs/SECURITY.md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docs/CONNECTORS.md §1 (kinds and shipped examples, lookup names with suffix); plugins/*/src/main/resources/META-INF/services/ (which plugin declares which kind); docs/adr/054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docs/CONNECTORS.md §1 (StreamSinkPlugin row); docs/RELEASE_NOTES.md 0.2.0 (Avro/Protobuf, commit.mode: prepared) and 'Unreleased'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docs/adr/041-change-data-capture-without-debezium.md; README.md 'Sources' (postgres-cdc, mysql-cdc); docs/RELEASE_NOTES.md 'Unreleased'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docs/CONNECTORS.md §1 (PRV-5090, CFG-4); docs/system_design.md §33 ADR-028 row; docs/CONTINUOUS_QUERIES.md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docs/adr/052; docs/adr/050; docs/SECURITY.md.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docs/adr/031 (three pieces; soundness rule); docs/SECURITY.md 'What a registration is allowed to read / write', 'A conditional entitlement cannot subscribe' (STRM-13).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docs/adr/052-the-engine-is-the-identity-authority.md (secrets table, policy, lockout, API keys, sessions, store; status line: stages 4 and 5 dropped 2026-09-27); README.md 'Security'.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docs/adr/050-a-tenant-owns-names-and-state-and-shares-only-with-itself.md §1–§2; docs/SECURITY.md 'Tenants'.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docs/SECURITY.md 'Drop, pause and resume are authorized as reads' (SX-2), 'Transport', 'What is not built'; README.md 'Boundaries' (grants).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docs/RELEASE_NOTES.md 'Unreleased' (Admin → Lanes); commit ff9fae5d (console per-user sign-in, account and admin pages).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docs/RELEASE_NOTES.md 'Unreleased' (the Java CLI is now pravaha-engine; commands moved to the Python CLI); docs/QUICKSTART.md (pip install); docs/ARCHITECTURE.md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docs/USER_GUIDE.md 'Surviving a restart: reconnect' (both snippets, reflowed); docs/RELEASE_NOTES.md 'Unreleased'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docs/OPERATIONS.md 'Watching a running node' (per-query and per-node tables; FEED-1; ADR-037 B1); README.md 'Observability' (8 %).</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the toaster sentence);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benchmarks/README.md; docs/adr/042-the-throughput-bar-is-the-requirement.md;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(verdict line; 'The machine, named'; Gate P2 throughput and scaling; re-measured 2026-09-26 incl. machineScalingReference; Gate P3; W5).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docs/adr/039; docs/adr/052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docs/CONCEPTS.md opening; examples/case-studies/README.md (docs/tutorials/, four lessons).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37B0A8"/>
                </a:solidFill>
                <a:latin typeface="IBM Plex Sans"/>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IBM Plex Sans Condensed"/>
              </a:rPr>
              <a:t>A continuous SQL engine:</a:t>
            </a:r>
          </a:p>
          <a:p>
            <a:pPr>
              <a:lnSpc>
                <a:spcPct val="108000"/>
              </a:lnSpc>
              <a:spcBef>
                <a:spcPts val="0"/>
              </a:spcBef>
              <a:spcAft>
                <a:spcPts val="0"/>
              </a:spcAft>
            </a:pPr>
            <a:r>
              <a:rPr sz="3800" b="1" i="0">
                <a:solidFill>
                  <a:srgbClr val="FFFFFF"/>
                </a:solidFill>
                <a:latin typeface="IBM Plex Sans Condensed"/>
              </a:rPr>
              <a:t>design and evidence</a:t>
            </a:r>
          </a:p>
        </p:txBody>
      </p:sp>
      <p:sp>
        <p:nvSpPr>
          <p:cNvPr id="11" name="Rectangle 10"/>
          <p:cNvSpPr/>
          <p:nvPr/>
        </p:nvSpPr>
        <p:spPr>
          <a:xfrm>
            <a:off x="1051560" y="2971800"/>
            <a:ext cx="155448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IBM Plex Sans Condensed"/>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0F1A1C"/>
                </a:solidFill>
                <a:latin typeface="IBM Plex Sans Condensed"/>
              </a:rPr>
              <a:t>Ashutosh Sinha</a:t>
            </a:r>
          </a:p>
          <a:p>
            <a:pPr>
              <a:lnSpc>
                <a:spcPct val="120000"/>
              </a:lnSpc>
              <a:spcBef>
                <a:spcPts val="0"/>
              </a:spcBef>
              <a:spcAft>
                <a:spcPts val="100"/>
              </a:spcAft>
            </a:pPr>
            <a:r>
              <a:rPr sz="1200" b="0" i="0">
                <a:solidFill>
                  <a:srgbClr val="0E7C7B"/>
                </a:solidFill>
                <a:latin typeface="IBM Plex Sans"/>
              </a:rPr>
              <a:t>September 2026</a:t>
            </a:r>
          </a:p>
          <a:p>
            <a:pPr>
              <a:lnSpc>
                <a:spcPct val="120000"/>
              </a:lnSpc>
              <a:spcBef>
                <a:spcPts val="0"/>
              </a:spcBef>
              <a:spcAft>
                <a:spcPts val="0"/>
              </a:spcAft>
            </a:pPr>
            <a:r>
              <a:rPr sz="1100" b="0" i="0">
                <a:solidFill>
                  <a:srgbClr val="3E4D50"/>
                </a:solidFill>
                <a:latin typeface="IBM Plex Sans"/>
              </a:rPr>
              <a:t>Pravaha 0.2.0 (2026-09-27) and later · Java 21</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0E7C7B"/>
                </a:solidFill>
                <a:latin typeface="IBM Plex Sans"/>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0E7C7B"/>
                </a:solidFill>
                <a:latin typeface="IBM Plex Sans"/>
              </a:rPr>
              <a:t>1  </a:t>
            </a:r>
            <a:r>
              <a:rPr sz="1100" b="0">
                <a:solidFill>
                  <a:srgbClr val="3E4D50"/>
                </a:solidFill>
                <a:latin typeface="IBM Plex Sans"/>
              </a:rPr>
              <a:t>Why ask once, answer always</a:t>
            </a:r>
          </a:p>
          <a:p>
            <a:pPr>
              <a:lnSpc>
                <a:spcPct val="120000"/>
              </a:lnSpc>
              <a:spcBef>
                <a:spcPts val="0"/>
              </a:spcBef>
              <a:spcAft>
                <a:spcPts val="300"/>
              </a:spcAft>
            </a:pPr>
            <a:r>
              <a:rPr sz="1100" b="1">
                <a:solidFill>
                  <a:srgbClr val="0E7C7B"/>
                </a:solidFill>
                <a:latin typeface="IBM Plex Sans"/>
              </a:rPr>
              <a:t>2  </a:t>
            </a:r>
            <a:r>
              <a:rPr sz="1100" b="0">
                <a:solidFill>
                  <a:srgbClr val="3E4D50"/>
                </a:solidFill>
                <a:latin typeface="IBM Plex Sans"/>
              </a:rPr>
              <a:t>The vocabulary, from nothing</a:t>
            </a:r>
          </a:p>
          <a:p>
            <a:pPr>
              <a:lnSpc>
                <a:spcPct val="120000"/>
              </a:lnSpc>
              <a:spcBef>
                <a:spcPts val="0"/>
              </a:spcBef>
              <a:spcAft>
                <a:spcPts val="300"/>
              </a:spcAft>
            </a:pPr>
            <a:r>
              <a:rPr sz="1100" b="1">
                <a:solidFill>
                  <a:srgbClr val="0E7C7B"/>
                </a:solidFill>
                <a:latin typeface="IBM Plex Sans"/>
              </a:rPr>
              <a:t>3  </a:t>
            </a:r>
            <a:r>
              <a:rPr sz="1100" b="0">
                <a:solidFill>
                  <a:srgbClr val="3E4D50"/>
                </a:solidFill>
                <a:latin typeface="IBM Plex Sans"/>
              </a:rPr>
              <a:t>A query's life</a:t>
            </a:r>
          </a:p>
          <a:p>
            <a:pPr>
              <a:lnSpc>
                <a:spcPct val="120000"/>
              </a:lnSpc>
              <a:spcBef>
                <a:spcPts val="0"/>
              </a:spcBef>
              <a:spcAft>
                <a:spcPts val="300"/>
              </a:spcAft>
            </a:pPr>
            <a:r>
              <a:rPr sz="1100" b="1">
                <a:solidFill>
                  <a:srgbClr val="0E7C7B"/>
                </a:solidFill>
                <a:latin typeface="IBM Plex Sans"/>
              </a:rPr>
              <a:t>4  </a:t>
            </a:r>
            <a:r>
              <a:rPr sz="1100" b="0">
                <a:solidFill>
                  <a:srgbClr val="3E4D50"/>
                </a:solidFill>
                <a:latin typeface="IBM Plex Sans"/>
              </a:rPr>
              <a:t>Correctness: exactly once, retractions, late data</a:t>
            </a:r>
          </a:p>
          <a:p>
            <a:pPr>
              <a:lnSpc>
                <a:spcPct val="120000"/>
              </a:lnSpc>
              <a:spcBef>
                <a:spcPts val="0"/>
              </a:spcBef>
              <a:spcAft>
                <a:spcPts val="300"/>
              </a:spcAft>
            </a:pPr>
            <a:r>
              <a:rPr sz="1100" b="1">
                <a:solidFill>
                  <a:srgbClr val="0E7C7B"/>
                </a:solidFill>
                <a:latin typeface="IBM Plex Sans"/>
              </a:rPr>
              <a:t>5  </a:t>
            </a:r>
            <a:r>
              <a:rPr sz="1100" b="0">
                <a:solidFill>
                  <a:srgbClr val="3E4D50"/>
                </a:solidFill>
                <a:latin typeface="IBM Plex Sans"/>
              </a:rPr>
              <a:t>Scale on one node</a:t>
            </a:r>
          </a:p>
          <a:p>
            <a:pPr>
              <a:lnSpc>
                <a:spcPct val="120000"/>
              </a:lnSpc>
              <a:spcBef>
                <a:spcPts val="0"/>
              </a:spcBef>
              <a:spcAft>
                <a:spcPts val="300"/>
              </a:spcAft>
            </a:pPr>
            <a:r>
              <a:rPr sz="1100" b="1">
                <a:solidFill>
                  <a:srgbClr val="0E7C7B"/>
                </a:solidFill>
                <a:latin typeface="IBM Plex Sans"/>
              </a:rPr>
              <a:t>6  </a:t>
            </a:r>
            <a:r>
              <a:rPr sz="1100" b="0">
                <a:solidFill>
                  <a:srgbClr val="3E4D50"/>
                </a:solidFill>
                <a:latin typeface="IBM Plex Sans"/>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0E7C7B"/>
                </a:solidFill>
                <a:latin typeface="IBM Plex Sans"/>
              </a:rPr>
              <a:t>7  </a:t>
            </a:r>
            <a:r>
              <a:rPr sz="1100" b="0">
                <a:solidFill>
                  <a:srgbClr val="3E4D50"/>
                </a:solidFill>
                <a:latin typeface="IBM Plex Sans"/>
              </a:rPr>
              <a:t>Connectors</a:t>
            </a:r>
          </a:p>
          <a:p>
            <a:pPr>
              <a:lnSpc>
                <a:spcPct val="120000"/>
              </a:lnSpc>
              <a:spcBef>
                <a:spcPts val="0"/>
              </a:spcBef>
              <a:spcAft>
                <a:spcPts val="300"/>
              </a:spcAft>
            </a:pPr>
            <a:r>
              <a:rPr sz="1100" b="1">
                <a:solidFill>
                  <a:srgbClr val="0E7C7B"/>
                </a:solidFill>
                <a:latin typeface="IBM Plex Sans"/>
              </a:rPr>
              <a:t>8  </a:t>
            </a:r>
            <a:r>
              <a:rPr sz="1100" b="0">
                <a:solidFill>
                  <a:srgbClr val="3E4D50"/>
                </a:solidFill>
                <a:latin typeface="IBM Plex Sans"/>
              </a:rPr>
              <a:t>Security and identity</a:t>
            </a:r>
          </a:p>
          <a:p>
            <a:pPr>
              <a:lnSpc>
                <a:spcPct val="120000"/>
              </a:lnSpc>
              <a:spcBef>
                <a:spcPts val="0"/>
              </a:spcBef>
              <a:spcAft>
                <a:spcPts val="300"/>
              </a:spcAft>
            </a:pPr>
            <a:r>
              <a:rPr sz="1100" b="1">
                <a:solidFill>
                  <a:srgbClr val="0E7C7B"/>
                </a:solidFill>
                <a:latin typeface="IBM Plex Sans"/>
              </a:rPr>
              <a:t>9  </a:t>
            </a:r>
            <a:r>
              <a:rPr sz="1100" b="0">
                <a:solidFill>
                  <a:srgbClr val="3E4D50"/>
                </a:solidFill>
                <a:latin typeface="IBM Plex Sans"/>
              </a:rPr>
              <a:t>Operating it</a:t>
            </a:r>
          </a:p>
          <a:p>
            <a:pPr>
              <a:lnSpc>
                <a:spcPct val="120000"/>
              </a:lnSpc>
              <a:spcBef>
                <a:spcPts val="0"/>
              </a:spcBef>
              <a:spcAft>
                <a:spcPts val="300"/>
              </a:spcAft>
            </a:pPr>
            <a:r>
              <a:rPr sz="1100" b="1">
                <a:solidFill>
                  <a:srgbClr val="0E7C7B"/>
                </a:solidFill>
                <a:latin typeface="IBM Plex Sans"/>
              </a:rPr>
              <a:t>10  </a:t>
            </a:r>
            <a:r>
              <a:rPr sz="1100" b="0">
                <a:solidFill>
                  <a:srgbClr val="3E4D50"/>
                </a:solidFill>
                <a:latin typeface="IBM Plex Sans"/>
              </a:rPr>
              <a:t>Thirteen worked systems</a:t>
            </a:r>
          </a:p>
          <a:p>
            <a:pPr>
              <a:lnSpc>
                <a:spcPct val="120000"/>
              </a:lnSpc>
              <a:spcBef>
                <a:spcPts val="0"/>
              </a:spcBef>
              <a:spcAft>
                <a:spcPts val="300"/>
              </a:spcAft>
            </a:pPr>
            <a:r>
              <a:rPr sz="1100" b="1">
                <a:solidFill>
                  <a:srgbClr val="0E7C7B"/>
                </a:solidFill>
                <a:latin typeface="IBM Plex Sans"/>
              </a:rPr>
              <a:t>11  </a:t>
            </a:r>
            <a:r>
              <a:rPr sz="1100" b="0">
                <a:solidFill>
                  <a:srgbClr val="3E4D50"/>
                </a:solidFill>
                <a:latin typeface="IBM Plex Sans"/>
              </a:rPr>
              <a:t>What is measured, what is not built, where to start</a:t>
            </a:r>
          </a:p>
        </p:txBody>
      </p:sp>
      <p:sp>
        <p:nvSpPr>
          <p:cNvPr id="17" name="Rectangle 1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Why ask once, answer always</a:t>
            </a:r>
          </a:p>
        </p:txBody>
      </p:sp>
      <p:sp>
        <p:nvSpPr>
          <p:cNvPr id="9" name="Rectangle 8"/>
          <p:cNvSpPr/>
          <p:nvPr/>
        </p:nvSpPr>
        <p:spPr>
          <a:xfrm>
            <a:off x="1005840" y="3777488"/>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What a batch answer costs, in the case studies' own words</a:t>
            </a:r>
          </a:p>
          <a:p>
            <a:pPr>
              <a:lnSpc>
                <a:spcPct val="115000"/>
              </a:lnSpc>
              <a:spcBef>
                <a:spcPts val="0"/>
              </a:spcBef>
              <a:spcAft>
                <a:spcPts val="600"/>
              </a:spcAft>
            </a:pPr>
            <a:r>
              <a:rPr sz="1250" b="0" i="0">
                <a:solidFill>
                  <a:srgbClr val="DCEBEA"/>
                </a:solidFill>
                <a:latin typeface="IBM Plex Sans"/>
              </a:rPr>
              <a:t>What polling re-reads, and what it misses</a:t>
            </a:r>
          </a:p>
          <a:p>
            <a:pPr>
              <a:lnSpc>
                <a:spcPct val="115000"/>
              </a:lnSpc>
              <a:spcBef>
                <a:spcPts val="0"/>
              </a:spcBef>
              <a:spcAft>
                <a:spcPts val="600"/>
              </a:spcAft>
            </a:pPr>
            <a:r>
              <a:rPr sz="1250" b="0" i="0">
                <a:solidFill>
                  <a:srgbClr val="DCEBEA"/>
                </a:solidFill>
                <a:latin typeface="IBM Plex Sans"/>
              </a:rPr>
              <a:t>The inversion: a computation, not a request</a:t>
            </a:r>
          </a:p>
          <a:p>
            <a:pPr>
              <a:lnSpc>
                <a:spcPct val="115000"/>
              </a:lnSpc>
              <a:spcBef>
                <a:spcPts val="0"/>
              </a:spcBef>
              <a:spcAft>
                <a:spcPts val="600"/>
              </a:spcAft>
            </a:pPr>
            <a:r>
              <a:rPr sz="1250" b="0" i="0">
                <a:solidFill>
                  <a:srgbClr val="DCEBEA"/>
                </a:solidFill>
                <a:latin typeface="IBM Plex Sans"/>
              </a:rPr>
              <a:t>One query, end to end</a:t>
            </a:r>
          </a:p>
          <a:p>
            <a:pPr>
              <a:lnSpc>
                <a:spcPct val="115000"/>
              </a:lnSpc>
              <a:spcBef>
                <a:spcPts val="0"/>
              </a:spcBef>
              <a:spcAft>
                <a:spcPts val="600"/>
              </a:spcAft>
            </a:pPr>
            <a:r>
              <a:rPr sz="1250" b="0" i="0">
                <a:solidFill>
                  <a:srgbClr val="DCEBEA"/>
                </a:solidFill>
                <a:latin typeface="IBM Plex Sans"/>
              </a:rPr>
              <a:t>Pravaha in one slide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batch answer is as old as the last run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IBM Plex Sans"/>
                        </a:rPr>
                        <a:t>Study</a:t>
                      </a:r>
                    </a:p>
                  </a:txBody>
                  <a:tcPr marL="82296" marR="64008" marT="32004" marB="32004" anchor="ctr">
                    <a:solidFill>
                      <a:srgbClr val="0A5C5B"/>
                    </a:solidFill>
                  </a:tcPr>
                </a:tc>
                <a:tc>
                  <a:txBody>
                    <a:bodyPr wrap="square"/>
                    <a:lstStyle/>
                    <a:p>
                      <a:r>
                        <a:rPr sz="1300" b="1">
                          <a:solidFill>
                            <a:srgbClr val="FFFFFF"/>
                          </a:solidFill>
                          <a:latin typeface="IBM Plex Sans"/>
                        </a:rPr>
                        <a:t>What the batch answer costs</a:t>
                      </a:r>
                    </a:p>
                  </a:txBody>
                  <a:tcPr marL="82296" marR="64008" marT="32004" marB="32004" anchor="ctr">
                    <a:solidFill>
                      <a:srgbClr val="0A5C5B"/>
                    </a:solidFill>
                  </a:tcPr>
                </a:tc>
              </a:tr>
              <a:tr h="567740">
                <a:tc>
                  <a:txBody>
                    <a:bodyPr wrap="square"/>
                    <a:lstStyle/>
                    <a:p>
                      <a:r>
                        <a:rPr sz="1400" b="1">
                          <a:solidFill>
                            <a:srgbClr val="0A5C5B"/>
                          </a:solidFill>
                          <a:latin typeface="IBM Plex Sans"/>
                        </a:rPr>
                        <a:t>Card authorisation velocity</a:t>
                      </a:r>
                    </a:p>
                  </a:txBody>
                  <a:tcPr marL="82296" marR="64008" marT="32004" marB="32004" anchor="ctr">
                    <a:solidFill>
                      <a:srgbClr val="FFFFFF"/>
                    </a:solidFill>
                  </a:tcPr>
                </a:tc>
                <a:tc>
                  <a:txBody>
                    <a:bodyPr wrap="square"/>
                    <a:lstStyle/>
                    <a:p>
                      <a:r>
                        <a:rPr sz="1400" b="0">
                          <a:solidFill>
                            <a:srgbClr val="0F1A1C"/>
                          </a:solidFill>
                          <a:latin typeface="IBM Plex Sans"/>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0A5C5B"/>
                          </a:solidFill>
                          <a:latin typeface="IBM Plex Sans"/>
                        </a:rPr>
                        <a:t>Intraday counterparty exposure</a:t>
                      </a:r>
                    </a:p>
                  </a:txBody>
                  <a:tcPr marL="82296" marR="64008" marT="32004" marB="32004" anchor="ctr">
                    <a:solidFill>
                      <a:srgbClr val="EEF6F5"/>
                    </a:solidFill>
                  </a:tcPr>
                </a:tc>
                <a:tc>
                  <a:txBody>
                    <a:bodyPr wrap="square"/>
                    <a:lstStyle/>
                    <a:p>
                      <a:r>
                        <a:rPr sz="1400" b="0">
                          <a:solidFill>
                            <a:srgbClr val="0F1A1C"/>
                          </a:solidFill>
                          <a:latin typeface="IBM Plex Sans"/>
                        </a:rPr>
                        <a:t>“The number on the risk screen is as old as the last run.”</a:t>
                      </a:r>
                    </a:p>
                  </a:txBody>
                  <a:tcPr marL="82296" marR="64008" marT="32004" marB="32004" anchor="ctr">
                    <a:solidFill>
                      <a:srgbClr val="EEF6F5"/>
                    </a:solidFill>
                  </a:tcPr>
                </a:tc>
              </a:tr>
              <a:tr h="567740">
                <a:tc>
                  <a:txBody>
                    <a:bodyPr wrap="square"/>
                    <a:lstStyle/>
                    <a:p>
                      <a:r>
                        <a:rPr sz="1400" b="1">
                          <a:solidFill>
                            <a:srgbClr val="0A5C5B"/>
                          </a:solidFill>
                          <a:latin typeface="IBM Plex Sans"/>
                        </a:rPr>
                        <a:t>Checkout funnel</a:t>
                      </a:r>
                    </a:p>
                  </a:txBody>
                  <a:tcPr marL="82296" marR="64008" marT="32004" marB="32004" anchor="ctr">
                    <a:solidFill>
                      <a:srgbClr val="FFFFFF"/>
                    </a:solidFill>
                  </a:tcPr>
                </a:tc>
                <a:tc>
                  <a:txBody>
                    <a:bodyPr wrap="square"/>
                    <a:lstStyle/>
                    <a:p>
                      <a:r>
                        <a:rPr sz="1400" b="0">
                          <a:solidFill>
                            <a:srgbClr val="0F1A1C"/>
                          </a:solidFill>
                          <a:latin typeface="IBM Plex Sans"/>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0A5C5B"/>
                          </a:solidFill>
                          <a:latin typeface="IBM Plex Sans"/>
                        </a:rPr>
                        <a:t>Call-detail-record fraud</a:t>
                      </a:r>
                    </a:p>
                  </a:txBody>
                  <a:tcPr marL="82296" marR="64008" marT="32004" marB="32004" anchor="ctr">
                    <a:solidFill>
                      <a:srgbClr val="EEF6F5"/>
                    </a:solidFill>
                  </a:tcPr>
                </a:tc>
                <a:tc>
                  <a:txBody>
                    <a:bodyPr wrap="square"/>
                    <a:lstStyle/>
                    <a:p>
                      <a:r>
                        <a:rPr sz="1400" b="0">
                          <a:solidFill>
                            <a:srgbClr val="0F1A1C"/>
                          </a:solidFill>
                          <a:latin typeface="IBM Plex Sans"/>
                        </a:rPr>
                        <a:t>SIM-box bypass and revenue-share fraud: “a nightly batch over the day's CDRs finds both, twelve hours and several thousand pounds late.”</a:t>
                      </a:r>
                    </a:p>
                  </a:txBody>
                  <a:tcPr marL="82296" marR="64008" marT="32004" marB="32004" anchor="ctr">
                    <a:solidFill>
                      <a:srgbClr val="EEF6F5"/>
                    </a:solidFill>
                  </a:tcPr>
                </a:tc>
              </a:tr>
              <a:tr h="567740">
                <a:tc>
                  <a:txBody>
                    <a:bodyPr wrap="square"/>
                    <a:lstStyle/>
                    <a:p>
                      <a:r>
                        <a:rPr sz="1400" b="1">
                          <a:solidFill>
                            <a:srgbClr val="0A5C5B"/>
                          </a:solidFill>
                          <a:latin typeface="IBM Plex Sans"/>
                        </a:rPr>
                        <a:t>Order revenue into Iceberg</a:t>
                      </a:r>
                    </a:p>
                  </a:txBody>
                  <a:tcPr marL="82296" marR="64008" marT="32004" marB="32004" anchor="ctr">
                    <a:solidFill>
                      <a:srgbClr val="FFFFFF"/>
                    </a:solidFill>
                  </a:tcPr>
                </a:tc>
                <a:tc>
                  <a:txBody>
                    <a:bodyPr wrap="square"/>
                    <a:lstStyle/>
                    <a:p>
                      <a:r>
                        <a:rPr sz="1400" b="0">
                          <a:solidFill>
                            <a:srgbClr val="0F1A1C"/>
                          </a:solidFill>
                          <a:latin typeface="IBM Plex Sans"/>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Polling buys freshness by reading everything again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Every row, every run, for ever</a:t>
            </a:r>
          </a:p>
          <a:p>
            <a:pPr lvl="1">
              <a:lnSpc>
                <a:spcPct val="120000"/>
              </a:lnSpc>
              <a:spcBef>
                <a:spcPts val="0"/>
              </a:spcBef>
              <a:spcAft>
                <a:spcPts val="0"/>
              </a:spcAft>
            </a:pPr>
            <a:r>
              <a:rPr sz="1350" b="0">
                <a:solidFill>
                  <a:srgbClr val="3E4D50"/>
                </a:solidFill>
                <a:latin typeface="IBM Plex Sans"/>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scan on the database that serves the tills</a:t>
            </a:r>
          </a:p>
          <a:p>
            <a:pPr lvl="1">
              <a:lnSpc>
                <a:spcPct val="120000"/>
              </a:lnSpc>
              <a:spcBef>
                <a:spcPts val="0"/>
              </a:spcBef>
              <a:spcAft>
                <a:spcPts val="0"/>
              </a:spcAft>
            </a:pPr>
            <a:r>
              <a:rPr sz="1350" b="0">
                <a:solidFill>
                  <a:srgbClr val="3E4D50"/>
                </a:solidFill>
                <a:latin typeface="IBM Plex Sans"/>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A change between two polls</a:t>
            </a:r>
          </a:p>
          <a:p>
            <a:pPr lvl="1">
              <a:lnSpc>
                <a:spcPct val="120000"/>
              </a:lnSpc>
              <a:spcBef>
                <a:spcPts val="0"/>
              </a:spcBef>
              <a:spcAft>
                <a:spcPts val="0"/>
              </a:spcAft>
            </a:pPr>
            <a:r>
              <a:rPr sz="1350" b="0">
                <a:solidFill>
                  <a:srgbClr val="3E4D50"/>
                </a:solidFill>
                <a:latin typeface="IBM Plex Sans"/>
              </a:rPr>
              <a:t>The same poll “misses a line that dips and recovers between polls.”</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delete</a:t>
            </a:r>
          </a:p>
          <a:p>
            <a:pPr lvl="1">
              <a:lnSpc>
                <a:spcPct val="120000"/>
              </a:lnSpc>
              <a:spcBef>
                <a:spcPts val="0"/>
              </a:spcBef>
              <a:spcAft>
                <a:spcPts val="0"/>
              </a:spcAft>
            </a:pPr>
            <a:r>
              <a:rPr sz="1350" b="0">
                <a:solidFill>
                  <a:srgbClr val="3E4D50"/>
                </a:solidFill>
                <a:latin typeface="IBM Plex Sans"/>
              </a:rPr>
              <a:t>A poll with a watermark carries “the honest admission that deletes are invisible” (design §19).</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Something that did not happen</a:t>
            </a:r>
          </a:p>
          <a:p>
            <a:pPr lvl="1">
              <a:lnSpc>
                <a:spcPct val="120000"/>
              </a:lnSpc>
              <a:spcBef>
                <a:spcPts val="0"/>
              </a:spcBef>
              <a:spcAft>
                <a:spcPts val="0"/>
              </a:spcAft>
            </a:pPr>
            <a:r>
              <a:rPr sz="1350" b="0">
                <a:solidFill>
                  <a:srgbClr val="3E4D50"/>
                </a:solidFill>
                <a:latin typeface="IBM Plex Sans"/>
              </a:rPr>
              <a:t>“‘No scan yet’ is not an event anything can react to.” (delivery SLA breaches)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continuous query is a computation, not a request</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Register the SQL once</a:t>
            </a:r>
          </a:p>
          <a:p>
            <a:pPr lvl="1">
              <a:lnSpc>
                <a:spcPct val="120000"/>
              </a:lnSpc>
              <a:spcBef>
                <a:spcPts val="0"/>
              </a:spcBef>
              <a:spcAft>
                <a:spcPts val="0"/>
              </a:spcAft>
            </a:pPr>
            <a:r>
              <a:rPr sz="1550" b="0">
                <a:solidFill>
                  <a:srgbClr val="3E4D50"/>
                </a:solidFill>
                <a:latin typeface="IBM Plex Sans"/>
              </a:rPr>
              <a:t>It keeps running, and keeps a view current, until somebody drops it.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Registering is expensive; querying is cheap</a:t>
            </a:r>
          </a:p>
          <a:p>
            <a:pPr lvl="1">
              <a:lnSpc>
                <a:spcPct val="120000"/>
              </a:lnSpc>
              <a:spcBef>
                <a:spcPts val="0"/>
              </a:spcBef>
              <a:spcAft>
                <a:spcPts val="0"/>
              </a:spcAft>
            </a:pPr>
            <a:r>
              <a:rPr sz="1550" b="0">
                <a:solidFill>
                  <a:srgbClr val="3E4D50"/>
                </a:solidFill>
                <a:latin typeface="IBM Plex Sans"/>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What one costs, measured</a:t>
            </a:r>
          </a:p>
          <a:p>
            <a:pPr lvl="1">
              <a:lnSpc>
                <a:spcPct val="120000"/>
              </a:lnSpc>
              <a:spcBef>
                <a:spcPts val="0"/>
              </a:spcBef>
              <a:spcAft>
                <a:spcPts val="0"/>
              </a:spcAft>
            </a:pPr>
            <a:r>
              <a:rPr sz="1550" b="0">
                <a:solidFill>
                  <a:srgbClr val="3E4D50"/>
                </a:solidFill>
                <a:latin typeface="IBM Plex Sans"/>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Two ways to take the answer</a:t>
            </a:r>
          </a:p>
          <a:p>
            <a:pPr lvl="1">
              <a:lnSpc>
                <a:spcPct val="120000"/>
              </a:lnSpc>
              <a:spcBef>
                <a:spcPts val="0"/>
              </a:spcBef>
              <a:spcAft>
                <a:spcPts val="0"/>
              </a:spcAft>
            </a:pPr>
            <a:r>
              <a:rPr sz="1550" b="0">
                <a:solidFill>
                  <a:srgbClr val="3E4D50"/>
                </a:solidFill>
                <a:latin typeface="IBM Plex Sans"/>
              </a:rPr>
              <a:t>Read the view by key, or subscribe and receive every commit as weighted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windowed, enriched answer, registered once</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a:t>
            </a:r>
          </a:p>
        </p:txBody>
      </p:sp>
      <p:sp>
        <p:nvSpPr>
          <p:cNvPr id="10" name="Rectangle 9"/>
          <p:cNvSpPr/>
          <p:nvPr/>
        </p:nvSpPr>
        <p:spPr>
          <a:xfrm>
            <a:off x="777240" y="1410919"/>
            <a:ext cx="5667588" cy="2954121"/>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DCEBEA"/>
                </a:solidFill>
                <a:latin typeface="Consolas"/>
              </a:rPr>
              <a:t>SELECT STREAM</a:t>
            </a:r>
          </a:p>
          <a:p>
            <a:pPr>
              <a:lnSpc>
                <a:spcPct val="100000"/>
              </a:lnSpc>
              <a:spcBef>
                <a:spcPts val="0"/>
              </a:spcBef>
              <a:spcAft>
                <a:spcPts val="0"/>
              </a:spcAft>
            </a:pPr>
            <a:r>
              <a:rPr sz="1200" b="0" i="0">
                <a:solidFill>
                  <a:srgbClr val="DCEBEA"/>
                </a:solidFill>
                <a:latin typeface="Consolas"/>
              </a:rPr>
              <a:t>    TUMBLE_END(event_time, INTERVAL '10' SECOND)</a:t>
            </a:r>
          </a:p>
          <a:p>
            <a:pPr>
              <a:lnSpc>
                <a:spcPct val="100000"/>
              </a:lnSpc>
              <a:spcBef>
                <a:spcPts val="0"/>
              </a:spcBef>
              <a:spcAft>
                <a:spcPts val="0"/>
              </a:spcAft>
            </a:pPr>
            <a:r>
              <a:rPr sz="1200" b="0" i="0">
                <a:solidFill>
                  <a:srgbClr val="DCEBEA"/>
                </a:solidFill>
                <a:latin typeface="Consolas"/>
              </a:rPr>
              <a:t>                  AS window_end,</a:t>
            </a:r>
          </a:p>
          <a:p>
            <a:pPr>
              <a:lnSpc>
                <a:spcPct val="100000"/>
              </a:lnSpc>
              <a:spcBef>
                <a:spcPts val="0"/>
              </a:spcBef>
              <a:spcAft>
                <a:spcPts val="0"/>
              </a:spcAft>
            </a:pPr>
            <a:r>
              <a:rPr sz="1200" b="0" i="0">
                <a:solidFill>
                  <a:srgbClr val="DCEBEA"/>
                </a:solidFill>
                <a:latin typeface="Consolas"/>
              </a:rPr>
              <a:t>    t.user_id, p.tier,</a:t>
            </a:r>
          </a:p>
          <a:p>
            <a:pPr>
              <a:lnSpc>
                <a:spcPct val="100000"/>
              </a:lnSpc>
              <a:spcBef>
                <a:spcPts val="0"/>
              </a:spcBef>
              <a:spcAft>
                <a:spcPts val="0"/>
              </a:spcAft>
            </a:pPr>
            <a:r>
              <a:rPr sz="1200" b="0" i="0">
                <a:solidFill>
                  <a:srgbClr val="DCEBEA"/>
                </a:solidFill>
                <a:latin typeface="Consolas"/>
              </a:rPr>
              <a:t>    COUNT(*)      AS txn_count,</a:t>
            </a:r>
          </a:p>
          <a:p>
            <a:pPr>
              <a:lnSpc>
                <a:spcPct val="100000"/>
              </a:lnSpc>
              <a:spcBef>
                <a:spcPts val="0"/>
              </a:spcBef>
              <a:spcAft>
                <a:spcPts val="0"/>
              </a:spcAft>
            </a:pPr>
            <a:r>
              <a:rPr sz="1200" b="0" i="0">
                <a:solidFill>
                  <a:srgbClr val="DCEBEA"/>
                </a:solidFill>
                <a:latin typeface="Consolas"/>
              </a:rPr>
              <a:t>    SUM(t.amount) AS total_volume</a:t>
            </a:r>
          </a:p>
          <a:p>
            <a:pPr>
              <a:lnSpc>
                <a:spcPct val="100000"/>
              </a:lnSpc>
              <a:spcBef>
                <a:spcPts val="0"/>
              </a:spcBef>
              <a:spcAft>
                <a:spcPts val="0"/>
              </a:spcAft>
            </a:pPr>
            <a:r>
              <a:rPr sz="1200" b="0" i="0">
                <a:solidFill>
                  <a:srgbClr val="DCEBEA"/>
                </a:solidFill>
                <a:latin typeface="Consolas"/>
              </a:rPr>
              <a:t>FROM  txn_stream AS t</a:t>
            </a:r>
          </a:p>
          <a:p>
            <a:pPr>
              <a:lnSpc>
                <a:spcPct val="100000"/>
              </a:lnSpc>
              <a:spcBef>
                <a:spcPts val="0"/>
              </a:spcBef>
              <a:spcAft>
                <a:spcPts val="0"/>
              </a:spcAft>
            </a:pPr>
            <a:r>
              <a:rPr sz="1200" b="0" i="0">
                <a:solidFill>
                  <a:srgbClr val="DCEBEA"/>
                </a:solidFill>
                <a:latin typeface="Consolas"/>
              </a:rPr>
              <a:t>LEFT JOIN user_profile</a:t>
            </a:r>
          </a:p>
          <a:p>
            <a:pPr>
              <a:lnSpc>
                <a:spcPct val="100000"/>
              </a:lnSpc>
              <a:spcBef>
                <a:spcPts val="0"/>
              </a:spcBef>
              <a:spcAft>
                <a:spcPts val="0"/>
              </a:spcAft>
            </a:pPr>
            <a:r>
              <a:rPr sz="1200" b="0" i="0">
                <a:solidFill>
                  <a:srgbClr val="DCEBEA"/>
                </a:solidFill>
                <a:latin typeface="Consolas"/>
              </a:rPr>
              <a:t>      FOR SYSTEM_TIME AS OF t.event_time AS p</a:t>
            </a:r>
          </a:p>
          <a:p>
            <a:pPr>
              <a:lnSpc>
                <a:spcPct val="100000"/>
              </a:lnSpc>
              <a:spcBef>
                <a:spcPts val="0"/>
              </a:spcBef>
              <a:spcAft>
                <a:spcPts val="0"/>
              </a:spcAft>
            </a:pPr>
            <a:r>
              <a:rPr sz="1200" b="0" i="0">
                <a:solidFill>
                  <a:srgbClr val="DCEBEA"/>
                </a:solidFill>
                <a:latin typeface="Consolas"/>
              </a:rPr>
              <a:t>       ON t.user_id = p.user_id</a:t>
            </a:r>
          </a:p>
          <a:p>
            <a:pPr>
              <a:lnSpc>
                <a:spcPct val="100000"/>
              </a:lnSpc>
              <a:spcBef>
                <a:spcPts val="0"/>
              </a:spcBef>
              <a:spcAft>
                <a:spcPts val="0"/>
              </a:spcAft>
            </a:pPr>
            <a:r>
              <a:rPr sz="1200" b="0" i="0">
                <a:solidFill>
                  <a:srgbClr val="DCEBEA"/>
                </a:solidFill>
                <a:latin typeface="Consolas"/>
              </a:rPr>
              <a:t>WHERE t.status = 'COMPLETED'</a:t>
            </a:r>
          </a:p>
          <a:p>
            <a:pPr>
              <a:lnSpc>
                <a:spcPct val="100000"/>
              </a:lnSpc>
              <a:spcBef>
                <a:spcPts val="0"/>
              </a:spcBef>
              <a:spcAft>
                <a:spcPts val="0"/>
              </a:spcAft>
            </a:pPr>
            <a:r>
              <a:rPr sz="1200" b="0" i="0">
                <a:solidFill>
                  <a:srgbClr val="DCEBEA"/>
                </a:solidFill>
                <a:latin typeface="Consolas"/>
              </a:rPr>
              <a:t>GROUP BY TUMBLE(t.event_time, INTERVAL '10' SECOND),</a:t>
            </a:r>
          </a:p>
          <a:p>
            <a:pPr>
              <a:lnSpc>
                <a:spcPct val="100000"/>
              </a:lnSpc>
              <a:spcBef>
                <a:spcPts val="0"/>
              </a:spcBef>
              <a:spcAft>
                <a:spcPts val="0"/>
              </a:spcAft>
            </a:pPr>
            <a:r>
              <a:rPr sz="1200" b="0" i="0">
                <a:solidFill>
                  <a:srgbClr val="DCEBEA"/>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Four things in one statement</a:t>
            </a:r>
          </a:p>
          <a:p>
            <a:pPr lvl="1">
              <a:lnSpc>
                <a:spcPct val="120000"/>
              </a:lnSpc>
              <a:spcBef>
                <a:spcPts val="0"/>
              </a:spcBef>
              <a:spcAft>
                <a:spcPts val="0"/>
              </a:spcAft>
            </a:pPr>
            <a:r>
              <a:rPr sz="1450" b="0">
                <a:solidFill>
                  <a:srgbClr val="3E4D50"/>
                </a:solidFill>
                <a:latin typeface="IBM Plex Sans"/>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Run against a real Aerospike</a:t>
            </a:r>
          </a:p>
          <a:p>
            <a:pPr lvl="1">
              <a:lnSpc>
                <a:spcPct val="120000"/>
              </a:lnSpc>
              <a:spcBef>
                <a:spcPts val="0"/>
              </a:spcBef>
              <a:spcAft>
                <a:spcPts val="0"/>
              </a:spcAft>
            </a:pPr>
            <a:r>
              <a:rPr sz="1450" b="0">
                <a:solidFill>
                  <a:srgbClr val="3E4D50"/>
                </a:solidFill>
                <a:latin typeface="IBM Plex Sans"/>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Every query is continuous</a:t>
            </a:r>
          </a:p>
          <a:p>
            <a:pPr lvl="1">
              <a:lnSpc>
                <a:spcPct val="120000"/>
              </a:lnSpc>
              <a:spcBef>
                <a:spcPts val="0"/>
              </a:spcBef>
              <a:spcAft>
                <a:spcPts val="0"/>
              </a:spcAft>
            </a:pPr>
            <a:r>
              <a:rPr sz="1450" b="0">
                <a:solidFill>
                  <a:srgbClr val="3E4D50"/>
                </a:solidFill>
                <a:latin typeface="IBM Plex Sans"/>
              </a:rPr>
              <a:t>SELECT STREAM is accepted and redundant. Registered as CREATE CONTINUOUS QUERY txn_volume KEYED BY (window_end, user_id) AS SELECT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Continuous SQL where your data already lives</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a:t>
            </a:r>
          </a:p>
        </p:txBody>
      </p:sp>
      <p:sp>
        <p:nvSpPr>
          <p:cNvPr id="10" name="Rectangle 9"/>
          <p:cNvSpPr/>
          <p:nvPr/>
        </p:nvSpPr>
        <p:spPr>
          <a:xfrm>
            <a:off x="777240"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Java 21</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One language. Calcite plans; Pravaha's own operators execute</a:t>
            </a:r>
          </a:p>
        </p:txBody>
      </p:sp>
      <p:sp>
        <p:nvSpPr>
          <p:cNvPr id="14" name="Rectangle 13"/>
          <p:cNvSpPr/>
          <p:nvPr/>
        </p:nvSpPr>
        <p:spPr>
          <a:xfrm>
            <a:off x="3486835"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Source and sink connectors under plugins/, each its own jar</a:t>
            </a:r>
          </a:p>
        </p:txBody>
      </p:sp>
      <p:sp>
        <p:nvSpPr>
          <p:cNvPr id="18" name="Rectangle 17"/>
          <p:cNvSpPr/>
          <p:nvPr/>
        </p:nvSpPr>
        <p:spPr>
          <a:xfrm>
            <a:off x="6196431"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3E4D50"/>
                </a:solidFill>
                <a:latin typeface="IBM Plex Sans"/>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What it is</a:t>
            </a:r>
          </a:p>
          <a:p>
            <a:pPr lvl="1">
              <a:lnSpc>
                <a:spcPct val="120000"/>
              </a:lnSpc>
              <a:spcBef>
                <a:spcPts val="0"/>
              </a:spcBef>
              <a:spcAft>
                <a:spcPts val="0"/>
              </a:spcAft>
            </a:pPr>
            <a:r>
              <a:rPr sz="1450" b="0">
                <a:solidFill>
                  <a:srgbClr val="3E4D50"/>
                </a:solidFill>
                <a:latin typeface="IBM Plex Sans"/>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How it is reached</a:t>
            </a:r>
          </a:p>
          <a:p>
            <a:pPr lvl="1">
              <a:lnSpc>
                <a:spcPct val="120000"/>
              </a:lnSpc>
              <a:spcBef>
                <a:spcPts val="0"/>
              </a:spcBef>
              <a:spcAft>
                <a:spcPts val="0"/>
              </a:spcAft>
            </a:pPr>
            <a:r>
              <a:rPr sz="1450" b="0">
                <a:solidFill>
                  <a:srgbClr val="3E4D50"/>
                </a:solidFill>
                <a:latin typeface="IBM Plex Sans"/>
              </a:rPr>
              <a:t>Arrow Flight SQL and the PostgreSQL wire protocol for rows; REST under /api/v1 for everything that manages the engine; Java and Python SDKs; a console; or in process.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The vocabulary, from nothing</a:t>
            </a:r>
          </a:p>
        </p:txBody>
      </p:sp>
      <p:sp>
        <p:nvSpPr>
          <p:cNvPr id="9" name="Rectangle 8"/>
          <p:cNvSpPr/>
          <p:nvPr/>
        </p:nvSpPr>
        <p:spPr>
          <a:xfrm>
            <a:off x="1005840" y="3777488"/>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Stream, continuous query, view</a:t>
            </a:r>
          </a:p>
          <a:p>
            <a:pPr>
              <a:lnSpc>
                <a:spcPct val="115000"/>
              </a:lnSpc>
              <a:spcBef>
                <a:spcPts val="0"/>
              </a:spcBef>
              <a:spcAft>
                <a:spcPts val="600"/>
              </a:spcAft>
            </a:pPr>
            <a:r>
              <a:rPr sz="1250" b="0" i="0">
                <a:solidFill>
                  <a:srgbClr val="DCEBEA"/>
                </a:solidFill>
                <a:latin typeface="IBM Plex Sans"/>
              </a:rPr>
              <a:t>Source, binding, lookup</a:t>
            </a:r>
          </a:p>
          <a:p>
            <a:pPr>
              <a:lnSpc>
                <a:spcPct val="115000"/>
              </a:lnSpc>
              <a:spcBef>
                <a:spcPts val="0"/>
              </a:spcBef>
              <a:spcAft>
                <a:spcPts val="600"/>
              </a:spcAft>
            </a:pPr>
            <a:r>
              <a:rPr sz="1250" b="0" i="0">
                <a:solidFill>
                  <a:srgbClr val="DCEBEA"/>
                </a:solidFill>
                <a:latin typeface="IBM Plex Sans"/>
              </a:rPr>
              <a:t>Event time and the watermark</a:t>
            </a:r>
          </a:p>
          <a:p>
            <a:pPr>
              <a:lnSpc>
                <a:spcPct val="115000"/>
              </a:lnSpc>
              <a:spcBef>
                <a:spcPts val="0"/>
              </a:spcBef>
              <a:spcAft>
                <a:spcPts val="600"/>
              </a:spcAft>
            </a:pPr>
            <a:r>
              <a:rPr sz="1250" b="0" i="0">
                <a:solidFill>
                  <a:srgbClr val="DCEBEA"/>
                </a:solidFill>
                <a:latin typeface="IBM Plex Sans"/>
              </a:rPr>
              <a:t>A weight on every row, and the commit</a:t>
            </a:r>
          </a:p>
          <a:p>
            <a:pPr>
              <a:lnSpc>
                <a:spcPct val="115000"/>
              </a:lnSpc>
              <a:spcBef>
                <a:spcPts val="0"/>
              </a:spcBef>
              <a:spcAft>
                <a:spcPts val="600"/>
              </a:spcAft>
            </a:pPr>
            <a:r>
              <a:rPr sz="1250" b="0" i="0">
                <a:solidFill>
                  <a:srgbClr val="DCEBEA"/>
                </a:solidFill>
                <a:latin typeface="IBM Plex Sans"/>
              </a:rPr>
              <a:t>Lane, checkpoint, sink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stream becomes a query becomes a view</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9</a:t>
            </a:r>
          </a:p>
        </p:txBody>
      </p:sp>
      <p:sp>
        <p:nvSpPr>
          <p:cNvPr id="10" name="Rectangle 9"/>
          <p:cNvSpPr/>
          <p:nvPr/>
        </p:nvSpPr>
        <p:spPr>
          <a:xfrm>
            <a:off x="777240" y="1410919"/>
            <a:ext cx="1907987"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3E4D50"/>
                </a:solidFill>
                <a:latin typeface="IBM Plex Sans"/>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3E4D50"/>
                </a:solidFill>
                <a:latin typeface="IBM Plex Sans"/>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IBM Plex Sans"/>
                        </a:rPr>
                        <a:t>Noun</a:t>
                      </a:r>
                    </a:p>
                  </a:txBody>
                  <a:tcPr marL="82296" marR="64008" marT="32004" marB="32004" anchor="ctr">
                    <a:solidFill>
                      <a:srgbClr val="0A5C5B"/>
                    </a:solidFill>
                  </a:tcPr>
                </a:tc>
                <a:tc>
                  <a:txBody>
                    <a:bodyPr wrap="square"/>
                    <a:lstStyle/>
                    <a:p>
                      <a:r>
                        <a:rPr sz="1300" b="1">
                          <a:solidFill>
                            <a:srgbClr val="FFFFFF"/>
                          </a:solidFill>
                          <a:latin typeface="IBM Plex Sans"/>
                        </a:rPr>
                        <a:t>Lives for</a:t>
                      </a:r>
                    </a:p>
                  </a:txBody>
                  <a:tcPr marL="82296" marR="64008" marT="32004" marB="32004" anchor="ctr">
                    <a:solidFill>
                      <a:srgbClr val="0A5C5B"/>
                    </a:solidFill>
                  </a:tcPr>
                </a:tc>
                <a:tc>
                  <a:txBody>
                    <a:bodyPr wrap="square"/>
                    <a:lstStyle/>
                    <a:p>
                      <a:r>
                        <a:rPr sz="1300" b="1">
                          <a:solidFill>
                            <a:srgbClr val="FFFFFF"/>
                          </a:solidFill>
                          <a:latin typeface="IBM Plex Sans"/>
                        </a:rPr>
                        <a:t>Note</a:t>
                      </a:r>
                    </a:p>
                  </a:txBody>
                  <a:tcPr marL="82296" marR="64008" marT="32004" marB="32004" anchor="ctr">
                    <a:solidFill>
                      <a:srgbClr val="0A5C5B"/>
                    </a:solidFill>
                  </a:tcPr>
                </a:tc>
              </a:tr>
              <a:tr h="600456">
                <a:tc>
                  <a:txBody>
                    <a:bodyPr wrap="square"/>
                    <a:lstStyle/>
                    <a:p>
                      <a:r>
                        <a:rPr sz="1500" b="1">
                          <a:solidFill>
                            <a:srgbClr val="0A5C5B"/>
                          </a:solidFill>
                          <a:latin typeface="IBM Plex Sans"/>
                        </a:rPr>
                        <a:t>Stream</a:t>
                      </a:r>
                    </a:p>
                  </a:txBody>
                  <a:tcPr marL="82296" marR="64008" marT="32004" marB="32004" anchor="ctr">
                    <a:solidFill>
                      <a:srgbClr val="FFFFFF"/>
                    </a:solidFill>
                  </a:tcPr>
                </a:tc>
                <a:tc>
                  <a:txBody>
                    <a:bodyPr wrap="square"/>
                    <a:lstStyle/>
                    <a:p>
                      <a:r>
                        <a:rPr sz="1500" b="0">
                          <a:solidFill>
                            <a:srgbClr val="0F1A1C"/>
                          </a:solidFill>
                          <a:latin typeface="IBM Plex Sans"/>
                        </a:rPr>
                        <a:t>The node's lifetime</a:t>
                      </a:r>
                    </a:p>
                  </a:txBody>
                  <a:tcPr marL="82296" marR="64008" marT="32004" marB="32004" anchor="ctr">
                    <a:solidFill>
                      <a:srgbClr val="FFFFFF"/>
                    </a:solidFill>
                  </a:tcPr>
                </a:tc>
                <a:tc>
                  <a:txBody>
                    <a:bodyPr wrap="square"/>
                    <a:lstStyle/>
                    <a:p>
                      <a:r>
                        <a:rPr sz="1500" b="0">
                          <a:solidFill>
                            <a:srgbClr val="0F1A1C"/>
                          </a:solidFill>
                          <a:latin typeface="IBM Plex Sans"/>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0A5C5B"/>
                          </a:solidFill>
                          <a:latin typeface="IBM Plex Sans"/>
                        </a:rPr>
                        <a:t>Continuous query</a:t>
                      </a:r>
                    </a:p>
                  </a:txBody>
                  <a:tcPr marL="82296" marR="64008" marT="32004" marB="32004" anchor="ctr">
                    <a:solidFill>
                      <a:srgbClr val="EEF6F5"/>
                    </a:solidFill>
                  </a:tcPr>
                </a:tc>
                <a:tc>
                  <a:txBody>
                    <a:bodyPr wrap="square"/>
                    <a:lstStyle/>
                    <a:p>
                      <a:r>
                        <a:rPr sz="1500" b="0">
                          <a:solidFill>
                            <a:srgbClr val="0F1A1C"/>
                          </a:solidFill>
                          <a:latin typeface="IBM Plex Sans"/>
                        </a:rPr>
                        <a:t>Until dropped</a:t>
                      </a:r>
                    </a:p>
                  </a:txBody>
                  <a:tcPr marL="82296" marR="64008" marT="32004" marB="32004" anchor="ctr">
                    <a:solidFill>
                      <a:srgbClr val="EEF6F5"/>
                    </a:solidFill>
                  </a:tcPr>
                </a:tc>
                <a:tc>
                  <a:txBody>
                    <a:bodyPr wrap="square"/>
                    <a:lstStyle/>
                    <a:p>
                      <a:r>
                        <a:rPr sz="1500" b="0">
                          <a:solidFill>
                            <a:srgbClr val="0F1A1C"/>
                          </a:solidFill>
                          <a:latin typeface="IBM Plex Sans"/>
                        </a:rPr>
                        <a:t>You do not ask it for an answer; you register it once and it keeps one</a:t>
                      </a:r>
                    </a:p>
                  </a:txBody>
                  <a:tcPr marL="82296" marR="64008" marT="32004" marB="32004" anchor="ctr">
                    <a:solidFill>
                      <a:srgbClr val="EEF6F5"/>
                    </a:solidFill>
                  </a:tcPr>
                </a:tc>
              </a:tr>
              <a:tr h="600456">
                <a:tc>
                  <a:txBody>
                    <a:bodyPr wrap="square"/>
                    <a:lstStyle/>
                    <a:p>
                      <a:r>
                        <a:rPr sz="1500" b="1">
                          <a:solidFill>
                            <a:srgbClr val="0A5C5B"/>
                          </a:solidFill>
                          <a:latin typeface="IBM Plex Sans"/>
                        </a:rPr>
                        <a:t>View</a:t>
                      </a:r>
                    </a:p>
                  </a:txBody>
                  <a:tcPr marL="82296" marR="64008" marT="32004" marB="32004" anchor="ctr">
                    <a:solidFill>
                      <a:srgbClr val="FFFFFF"/>
                    </a:solidFill>
                  </a:tcPr>
                </a:tc>
                <a:tc>
                  <a:txBody>
                    <a:bodyPr wrap="square"/>
                    <a:lstStyle/>
                    <a:p>
                      <a:r>
                        <a:rPr sz="1500" b="0">
                          <a:solidFill>
                            <a:srgbClr val="0F1A1C"/>
                          </a:solidFill>
                          <a:latin typeface="IBM Plex Sans"/>
                        </a:rPr>
                        <a:t>As long as its query</a:t>
                      </a:r>
                    </a:p>
                  </a:txBody>
                  <a:tcPr marL="82296" marR="64008" marT="32004" marB="32004" anchor="ctr">
                    <a:solidFill>
                      <a:srgbClr val="FFFFFF"/>
                    </a:solidFill>
                  </a:tcPr>
                </a:tc>
                <a:tc>
                  <a:txBody>
                    <a:bodyPr wrap="square"/>
                    <a:lstStyle/>
                    <a:p>
                      <a:r>
                        <a:rPr sz="1500" b="0">
                          <a:solidFill>
                            <a:srgbClr val="0F1A1C"/>
                          </a:solidFill>
                          <a:latin typeface="IBM Plex Sans"/>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stream is declared; a source is bound to it</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10</a:t>
            </a:r>
          </a:p>
        </p:txBody>
      </p:sp>
      <p:sp>
        <p:nvSpPr>
          <p:cNvPr id="10" name="Rectangle 9"/>
          <p:cNvSpPr/>
          <p:nvPr/>
        </p:nvSpPr>
        <p:spPr>
          <a:xfrm>
            <a:off x="777240" y="1410919"/>
            <a:ext cx="5348471" cy="2954121"/>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DCEBEA"/>
                </a:solidFill>
                <a:latin typeface="Consolas"/>
              </a:rPr>
              <a:t>pravaha:</a:t>
            </a:r>
          </a:p>
          <a:p>
            <a:pPr>
              <a:lnSpc>
                <a:spcPct val="100000"/>
              </a:lnSpc>
              <a:spcBef>
                <a:spcPts val="0"/>
              </a:spcBef>
              <a:spcAft>
                <a:spcPts val="0"/>
              </a:spcAft>
            </a:pPr>
            <a:r>
              <a:rPr sz="1200" b="0" i="0">
                <a:solidFill>
                  <a:srgbClr val="DCEBEA"/>
                </a:solidFill>
                <a:latin typeface="Consolas"/>
              </a:rPr>
              <a:t>  streams:</a:t>
            </a:r>
          </a:p>
          <a:p>
            <a:pPr>
              <a:lnSpc>
                <a:spcPct val="100000"/>
              </a:lnSpc>
              <a:spcBef>
                <a:spcPts val="0"/>
              </a:spcBef>
              <a:spcAft>
                <a:spcPts val="0"/>
              </a:spcAft>
            </a:pPr>
            <a:r>
              <a:rPr sz="1200" b="0" i="0">
                <a:solidFill>
                  <a:srgbClr val="DCEBEA"/>
                </a:solidFill>
                <a:latin typeface="Consolas"/>
              </a:rPr>
              <a:t>    txn:</a:t>
            </a:r>
          </a:p>
          <a:p>
            <a:pPr>
              <a:lnSpc>
                <a:spcPct val="100000"/>
              </a:lnSpc>
              <a:spcBef>
                <a:spcPts val="0"/>
              </a:spcBef>
              <a:spcAft>
                <a:spcPts val="0"/>
              </a:spcAft>
            </a:pPr>
            <a:r>
              <a:rPr sz="1200" b="0" i="0">
                <a:solidFill>
                  <a:srgbClr val="DCEBEA"/>
                </a:solidFill>
                <a:latin typeface="Consolas"/>
              </a:rPr>
              <a:t>      schema: "txn_id:INT64,user_id:STRING,</a:t>
            </a:r>
          </a:p>
          <a:p>
            <a:pPr>
              <a:lnSpc>
                <a:spcPct val="100000"/>
              </a:lnSpc>
              <a:spcBef>
                <a:spcPts val="0"/>
              </a:spcBef>
              <a:spcAft>
                <a:spcPts val="0"/>
              </a:spcAft>
            </a:pPr>
            <a:r>
              <a:rPr sz="1200" b="0" i="0">
                <a:solidFill>
                  <a:srgbClr val="DCEBEA"/>
                </a:solidFill>
                <a:latin typeface="Consolas"/>
              </a:rPr>
              <a:t>               amount:INT64,event_time:TIMESTAMP"</a:t>
            </a:r>
          </a:p>
          <a:p>
            <a:pPr>
              <a:lnSpc>
                <a:spcPct val="100000"/>
              </a:lnSpc>
              <a:spcBef>
                <a:spcPts val="0"/>
              </a:spcBef>
              <a:spcAft>
                <a:spcPts val="0"/>
              </a:spcAft>
            </a:pPr>
            <a:r>
              <a:rPr sz="1200" b="0" i="0">
                <a:solidFill>
                  <a:srgbClr val="DCEBEA"/>
                </a:solidFill>
                <a:latin typeface="Consolas"/>
              </a:rPr>
              <a:t>      event-time: event_time</a:t>
            </a:r>
          </a:p>
          <a:p>
            <a:pPr>
              <a:lnSpc>
                <a:spcPct val="100000"/>
              </a:lnSpc>
              <a:spcBef>
                <a:spcPts val="0"/>
              </a:spcBef>
              <a:spcAft>
                <a:spcPts val="0"/>
              </a:spcAft>
            </a:pPr>
            <a:r>
              <a:rPr sz="1200" b="0" i="0">
                <a:solidFill>
                  <a:srgbClr val="DCEBEA"/>
                </a:solidFill>
                <a:latin typeface="Consolas"/>
              </a:rPr>
              <a:t>      out-of-orderness: 10s</a:t>
            </a:r>
          </a:p>
          <a:p>
            <a:pPr>
              <a:lnSpc>
                <a:spcPct val="100000"/>
              </a:lnSpc>
              <a:spcBef>
                <a:spcPts val="0"/>
              </a:spcBef>
              <a:spcAft>
                <a:spcPts val="0"/>
              </a:spcAft>
            </a:pPr>
            <a:r>
              <a:rPr sz="1200" b="0" i="0">
                <a:solidFill>
                  <a:srgbClr val="DCEBEA"/>
                </a:solidFill>
                <a:latin typeface="Consolas"/>
              </a:rPr>
              <a:t>  sources:</a:t>
            </a:r>
          </a:p>
          <a:p>
            <a:pPr>
              <a:lnSpc>
                <a:spcPct val="100000"/>
              </a:lnSpc>
              <a:spcBef>
                <a:spcPts val="0"/>
              </a:spcBef>
              <a:spcAft>
                <a:spcPts val="0"/>
              </a:spcAft>
            </a:pPr>
            <a:r>
              <a:rPr sz="1200" b="0" i="0">
                <a:solidFill>
                  <a:srgbClr val="DCEBEA"/>
                </a:solidFill>
                <a:latin typeface="Consolas"/>
              </a:rPr>
              <a:t>    txn:</a:t>
            </a:r>
          </a:p>
          <a:p>
            <a:pPr>
              <a:lnSpc>
                <a:spcPct val="100000"/>
              </a:lnSpc>
              <a:spcBef>
                <a:spcPts val="0"/>
              </a:spcBef>
              <a:spcAft>
                <a:spcPts val="0"/>
              </a:spcAft>
            </a:pPr>
            <a:r>
              <a:rPr sz="1200" b="0" i="0">
                <a:solidFill>
                  <a:srgbClr val="DCEBEA"/>
                </a:solidFill>
                <a:latin typeface="Consolas"/>
              </a:rPr>
              <a:t>      plugin: filesystem</a:t>
            </a:r>
          </a:p>
          <a:p>
            <a:pPr>
              <a:lnSpc>
                <a:spcPct val="100000"/>
              </a:lnSpc>
              <a:spcBef>
                <a:spcPts val="0"/>
              </a:spcBef>
              <a:spcAft>
                <a:spcPts val="0"/>
              </a:spcAft>
            </a:pPr>
            <a:r>
              <a:rPr sz="1200" b="0" i="0">
                <a:solidFill>
                  <a:srgbClr val="DCEBEA"/>
                </a:solidFill>
                <a:latin typeface="Consolas"/>
              </a:rPr>
              <a:t>      options:</a:t>
            </a:r>
          </a:p>
          <a:p>
            <a:pPr>
              <a:lnSpc>
                <a:spcPct val="100000"/>
              </a:lnSpc>
              <a:spcBef>
                <a:spcPts val="0"/>
              </a:spcBef>
              <a:spcAft>
                <a:spcPts val="0"/>
              </a:spcAft>
            </a:pPr>
            <a:r>
              <a:rPr sz="1200" b="0" i="0">
                <a:solidFill>
                  <a:srgbClr val="DCEBEA"/>
                </a:solidFill>
                <a:latin typeface="Consolas"/>
              </a:rPr>
              <a:t>        path: /opt/pravaha/data/incoming/txn.csv</a:t>
            </a:r>
          </a:p>
          <a:p>
            <a:pPr>
              <a:lnSpc>
                <a:spcPct val="100000"/>
              </a:lnSpc>
              <a:spcBef>
                <a:spcPts val="0"/>
              </a:spcBef>
              <a:spcAft>
                <a:spcPts val="0"/>
              </a:spcAft>
            </a:pPr>
            <a:r>
              <a:rPr sz="1200" b="0" i="0">
                <a:solidFill>
                  <a:srgbClr val="DCEBEA"/>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Stream: what it is</a:t>
            </a:r>
          </a:p>
          <a:p>
            <a:pPr lvl="1">
              <a:lnSpc>
                <a:spcPct val="120000"/>
              </a:lnSpc>
              <a:spcBef>
                <a:spcPts val="0"/>
              </a:spcBef>
              <a:spcAft>
                <a:spcPts val="0"/>
              </a:spcAft>
            </a:pPr>
            <a:r>
              <a:rPr sz="1450" b="0">
                <a:solidFill>
                  <a:srgbClr val="3E4D50"/>
                </a:solidFill>
                <a:latin typeface="IBM Plex Sans"/>
              </a:rPr>
              <a:t>pravaha.streams.&lt;name&gt; — schema, event time, lateness. Enough to plan and validate a query with nothing attached.</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Source binding: where rows come from</a:t>
            </a:r>
          </a:p>
          <a:p>
            <a:pPr lvl="1">
              <a:lnSpc>
                <a:spcPct val="120000"/>
              </a:lnSpc>
              <a:spcBef>
                <a:spcPts val="0"/>
              </a:spcBef>
              <a:spcAft>
                <a:spcPts val="0"/>
              </a:spcAft>
            </a:pPr>
            <a:r>
              <a:rPr sz="1450" b="0">
                <a:solidFill>
                  <a:srgbClr val="3E4D50"/>
                </a:solidFill>
                <a:latin typeface="IBM Plex Sans"/>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Lookup: a table a query may ask</a:t>
            </a:r>
          </a:p>
          <a:p>
            <a:pPr lvl="1">
              <a:lnSpc>
                <a:spcPct val="120000"/>
              </a:lnSpc>
              <a:spcBef>
                <a:spcPts val="0"/>
              </a:spcBef>
              <a:spcAft>
                <a:spcPts val="0"/>
              </a:spcAft>
            </a:pPr>
            <a:r>
              <a:rPr sz="1450" b="0">
                <a:solidFill>
                  <a:srgbClr val="3E4D50"/>
                </a:solidFill>
                <a:latin typeface="IBM Plex Sans"/>
              </a:rPr>
              <a:t>pravaha.lookups.&lt;name&gt; — the right side of a temporal join. A source is consumed and advances event time; a lookup is only asked.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0F1A1C"/>
                </a:solidFill>
                <a:latin typeface="IBM Plex Sans Condensed"/>
              </a:rPr>
              <a:t>A window closes because data said so, not because time passed</a:t>
            </a:r>
          </a:p>
        </p:txBody>
      </p:sp>
      <p:sp>
        <p:nvSpPr>
          <p:cNvPr id="6" name="Rectangle 5"/>
          <p:cNvSpPr/>
          <p:nvPr/>
        </p:nvSpPr>
        <p:spPr>
          <a:xfrm>
            <a:off x="777240" y="120111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11</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Event time</a:t>
            </a:r>
          </a:p>
          <a:p>
            <a:pPr lvl="1">
              <a:lnSpc>
                <a:spcPct val="120000"/>
              </a:lnSpc>
              <a:spcBef>
                <a:spcPts val="0"/>
              </a:spcBef>
              <a:spcAft>
                <a:spcPts val="0"/>
              </a:spcAft>
            </a:pPr>
            <a:r>
              <a:rPr sz="1550" b="0">
                <a:solidFill>
                  <a:srgbClr val="3E4D50"/>
                </a:solidFill>
                <a:latin typeface="IBM Plex Sans"/>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Watermark: “nothing earlier is coming”</a:t>
            </a:r>
          </a:p>
          <a:p>
            <a:pPr lvl="1">
              <a:lnSpc>
                <a:spcPct val="120000"/>
              </a:lnSpc>
              <a:spcBef>
                <a:spcPts val="0"/>
              </a:spcBef>
              <a:spcAft>
                <a:spcPts val="0"/>
              </a:spcAft>
            </a:pPr>
            <a:r>
              <a:rPr sz="1550" b="0">
                <a:solidFill>
                  <a:srgbClr val="3E4D50"/>
                </a:solidFill>
                <a:latin typeface="IBM Plex Sans"/>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How late is late belongs to the stream</a:t>
            </a:r>
          </a:p>
          <a:p>
            <a:pPr lvl="1">
              <a:lnSpc>
                <a:spcPct val="120000"/>
              </a:lnSpc>
              <a:spcBef>
                <a:spcPts val="0"/>
              </a:spcBef>
              <a:spcAft>
                <a:spcPts val="0"/>
              </a:spcAft>
            </a:pPr>
            <a:r>
              <a:rPr sz="1550" b="0">
                <a:solidFill>
                  <a:srgbClr val="3E4D50"/>
                </a:solidFill>
                <a:latin typeface="IBM Plex Sans"/>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No event time, no window</a:t>
            </a:r>
          </a:p>
          <a:p>
            <a:pPr lvl="1">
              <a:lnSpc>
                <a:spcPct val="120000"/>
              </a:lnSpc>
              <a:spcBef>
                <a:spcPts val="0"/>
              </a:spcBef>
              <a:spcAft>
                <a:spcPts val="0"/>
              </a:spcAft>
            </a:pPr>
            <a:r>
              <a:rPr sz="1550" b="0">
                <a:solidFill>
                  <a:srgbClr val="3E4D50"/>
                </a:solidFill>
                <a:latin typeface="IBM Plex Sans"/>
              </a:rPr>
              <a:t>A windowed query over a stream that declares no event-time column is refused at registration (PRV-2002) — it would report RUNNING, ingest everything and emit nothing.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A change is a row with a weight; a correction is −1 then +1</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12</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6FD0C8"/>
                </a:solidFill>
                <a:latin typeface="Consolas"/>
              </a:rPr>
              <a:t>-- snapshot</a:t>
            </a:r>
          </a:p>
          <a:p>
            <a:pPr>
              <a:lnSpc>
                <a:spcPct val="100000"/>
              </a:lnSpc>
              <a:spcBef>
                <a:spcPts val="0"/>
              </a:spcBef>
              <a:spcAft>
                <a:spcPts val="0"/>
              </a:spcAft>
            </a:pPr>
            <a:r>
              <a:rPr sz="1100" b="0" i="0">
                <a:solidFill>
                  <a:srgbClr val="DCEBEA"/>
                </a:solidFill>
                <a:latin typeface="Consolas"/>
              </a:rPr>
              <a:t>+1 {window_end 08:03, press-02, readings 6, max 980}</a:t>
            </a:r>
          </a:p>
          <a:p>
            <a:pPr>
              <a:lnSpc>
                <a:spcPct val="100000"/>
              </a:lnSpc>
              <a:spcBef>
                <a:spcPts val="0"/>
              </a:spcBef>
              <a:spcAft>
                <a:spcPts val="0"/>
              </a:spcAft>
            </a:pPr>
            <a:r>
              <a:rPr sz="1100" b="0" i="0">
                <a:solidFill>
                  <a:srgbClr val="6FD0C8"/>
                </a:solidFill>
                <a:latin typeface="Consolas"/>
              </a:rPr>
              <a:t>-- commit</a:t>
            </a:r>
          </a:p>
          <a:p>
            <a:pPr>
              <a:lnSpc>
                <a:spcPct val="100000"/>
              </a:lnSpc>
              <a:spcBef>
                <a:spcPts val="0"/>
              </a:spcBef>
              <a:spcAft>
                <a:spcPts val="0"/>
              </a:spcAft>
            </a:pPr>
            <a:r>
              <a:rPr sz="1100" b="0" i="0">
                <a:solidFill>
                  <a:srgbClr val="DCEBEA"/>
                </a:solidFill>
                <a:latin typeface="Consolas"/>
              </a:rPr>
              <a:t>-1 {window_end 08:03, press-02, readings 6, max 980}</a:t>
            </a:r>
          </a:p>
          <a:p>
            <a:pPr>
              <a:lnSpc>
                <a:spcPct val="100000"/>
              </a:lnSpc>
              <a:spcBef>
                <a:spcPts val="0"/>
              </a:spcBef>
              <a:spcAft>
                <a:spcPts val="0"/>
              </a:spcAft>
            </a:pPr>
            <a:r>
              <a:rPr sz="1100" b="0" i="0">
                <a:solidFill>
                  <a:srgbClr val="DCEBEA"/>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Weight: the Z-set row</a:t>
            </a:r>
          </a:p>
          <a:p>
            <a:pPr lvl="1">
              <a:lnSpc>
                <a:spcPct val="120000"/>
              </a:lnSpc>
              <a:spcBef>
                <a:spcPts val="0"/>
              </a:spcBef>
              <a:spcAft>
                <a:spcPts val="0"/>
              </a:spcAft>
            </a:pPr>
            <a:r>
              <a:rPr sz="1450" b="0">
                <a:solidFill>
                  <a:srgbClr val="3E4D50"/>
                </a:solidFill>
                <a:latin typeface="IBM Plex Sans"/>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Commit</a:t>
            </a:r>
          </a:p>
          <a:p>
            <a:pPr lvl="1">
              <a:lnSpc>
                <a:spcPct val="120000"/>
              </a:lnSpc>
              <a:spcBef>
                <a:spcPts val="0"/>
              </a:spcBef>
              <a:spcAft>
                <a:spcPts val="0"/>
              </a:spcAft>
            </a:pPr>
            <a:r>
              <a:rPr sz="1450" b="0">
                <a:solidFill>
                  <a:srgbClr val="3E4D50"/>
                </a:solidFill>
                <a:latin typeface="IBM Plex Sans"/>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What a consumer does</a:t>
            </a:r>
          </a:p>
          <a:p>
            <a:pPr lvl="1">
              <a:lnSpc>
                <a:spcPct val="120000"/>
              </a:lnSpc>
              <a:spcBef>
                <a:spcPts val="0"/>
              </a:spcBef>
              <a:spcAft>
                <a:spcPts val="0"/>
              </a:spcAft>
            </a:pPr>
            <a:r>
              <a:rPr sz="1450" b="0">
                <a:solidFill>
                  <a:srgbClr val="3E4D50"/>
                </a:solidFill>
                <a:latin typeface="IBM Plex Sans"/>
              </a:rPr>
              <a:t>Wants current values: ignore −1 and overwrite by key. Keeps its own aggregate: apply the weights, or it drifts from the view the first time a window is corrected.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Lane, checkpoint, sink</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13</a:t>
            </a:r>
          </a:p>
        </p:txBody>
      </p:sp>
      <p:sp>
        <p:nvSpPr>
          <p:cNvPr id="10" name="Rectangle 9"/>
          <p:cNvSpPr/>
          <p:nvPr/>
        </p:nvSpPr>
        <p:spPr>
          <a:xfrm>
            <a:off x="777240" y="1410919"/>
            <a:ext cx="3436010" cy="483443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0F1A1C"/>
                </a:solidFill>
                <a:latin typeface="IBM Plex Sans Condensed"/>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A query's life</a:t>
            </a:r>
          </a:p>
        </p:txBody>
      </p:sp>
      <p:sp>
        <p:nvSpPr>
          <p:cNvPr id="9" name="Rectangle 8"/>
          <p:cNvSpPr/>
          <p:nvPr/>
        </p:nvSpPr>
        <p:spPr>
          <a:xfrm>
            <a:off x="1005840" y="3123184"/>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Registering: the statement and its key</a:t>
            </a:r>
          </a:p>
          <a:p>
            <a:pPr>
              <a:lnSpc>
                <a:spcPct val="115000"/>
              </a:lnSpc>
              <a:spcBef>
                <a:spcPts val="0"/>
              </a:spcBef>
              <a:spcAft>
                <a:spcPts val="600"/>
              </a:spcAft>
            </a:pPr>
            <a:r>
              <a:rPr sz="1250" b="0" i="0">
                <a:solidFill>
                  <a:srgbClr val="DCEBEA"/>
                </a:solidFill>
                <a:latin typeface="IBM Plex Sans"/>
              </a:rPr>
              <a:t>What happens at registration</a:t>
            </a:r>
          </a:p>
          <a:p>
            <a:pPr>
              <a:lnSpc>
                <a:spcPct val="115000"/>
              </a:lnSpc>
              <a:spcBef>
                <a:spcPts val="0"/>
              </a:spcBef>
              <a:spcAft>
                <a:spcPts val="600"/>
              </a:spcAft>
            </a:pPr>
            <a:r>
              <a:rPr sz="1250" b="0" i="0">
                <a:solidFill>
                  <a:srgbClr val="DCEBEA"/>
                </a:solidFill>
                <a:latin typeface="IBM Plex Sans"/>
              </a:rPr>
              <a:t>Refused at registration, not discovered later</a:t>
            </a:r>
          </a:p>
          <a:p>
            <a:pPr>
              <a:lnSpc>
                <a:spcPct val="115000"/>
              </a:lnSpc>
              <a:spcBef>
                <a:spcPts val="0"/>
              </a:spcBef>
              <a:spcAft>
                <a:spcPts val="600"/>
              </a:spcAft>
            </a:pPr>
            <a:r>
              <a:rPr sz="1250" b="0" i="0">
                <a:solidFill>
                  <a:srgbClr val="DCEBEA"/>
                </a:solidFill>
                <a:latin typeface="IBM Plex Sans"/>
              </a:rPr>
              <a:t>Reading the answer</a:t>
            </a:r>
          </a:p>
          <a:p>
            <a:pPr>
              <a:lnSpc>
                <a:spcPct val="115000"/>
              </a:lnSpc>
              <a:spcBef>
                <a:spcPts val="0"/>
              </a:spcBef>
              <a:spcAft>
                <a:spcPts val="600"/>
              </a:spcAft>
            </a:pPr>
            <a:r>
              <a:rPr sz="1250" b="0" i="0">
                <a:solidFill>
                  <a:srgbClr val="DCEBEA"/>
                </a:solidFill>
                <a:latin typeface="IBM Plex Sans"/>
              </a:rPr>
              <a:t>Subscribing to the changes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0F1A1C"/>
                </a:solidFill>
                <a:latin typeface="IBM Plex Sans Condensed"/>
              </a:rPr>
              <a:t>CREATE CONTINUOUS QUERY: a name, a key, a retention</a:t>
            </a:r>
          </a:p>
        </p:txBody>
      </p:sp>
      <p:sp>
        <p:nvSpPr>
          <p:cNvPr id="6" name="Rectangle 5"/>
          <p:cNvSpPr/>
          <p:nvPr/>
        </p:nvSpPr>
        <p:spPr>
          <a:xfrm>
            <a:off x="777240" y="126654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15</a:t>
            </a:r>
          </a:p>
        </p:txBody>
      </p:sp>
      <p:sp>
        <p:nvSpPr>
          <p:cNvPr id="10" name="Rectangle 9"/>
          <p:cNvSpPr/>
          <p:nvPr/>
        </p:nvSpPr>
        <p:spPr>
          <a:xfrm>
            <a:off x="777240" y="1394561"/>
            <a:ext cx="5454844" cy="2447035"/>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DCEBEA"/>
                </a:solidFill>
                <a:latin typeface="Consolas"/>
              </a:rPr>
              <a:t>CREATE CONTINUOUS QUERY hourly_spend</a:t>
            </a:r>
          </a:p>
          <a:p>
            <a:pPr>
              <a:lnSpc>
                <a:spcPct val="100000"/>
              </a:lnSpc>
              <a:spcBef>
                <a:spcPts val="0"/>
              </a:spcBef>
              <a:spcAft>
                <a:spcPts val="0"/>
              </a:spcAft>
            </a:pPr>
            <a:r>
              <a:rPr sz="1250" b="0" i="0">
                <a:solidFill>
                  <a:srgbClr val="DCEBEA"/>
                </a:solidFill>
                <a:latin typeface="Consolas"/>
              </a:rPr>
              <a:t>    KEYED BY (user_id, window_end)</a:t>
            </a:r>
          </a:p>
          <a:p>
            <a:pPr>
              <a:lnSpc>
                <a:spcPct val="100000"/>
              </a:lnSpc>
              <a:spcBef>
                <a:spcPts val="0"/>
              </a:spcBef>
              <a:spcAft>
                <a:spcPts val="0"/>
              </a:spcAft>
            </a:pPr>
            <a:r>
              <a:rPr sz="1250" b="0" i="0">
                <a:solidFill>
                  <a:srgbClr val="DCEBEA"/>
                </a:solidFill>
                <a:latin typeface="Consolas"/>
              </a:rPr>
              <a:t>    RETAIN FOR P7D</a:t>
            </a:r>
          </a:p>
          <a:p>
            <a:pPr>
              <a:lnSpc>
                <a:spcPct val="100000"/>
              </a:lnSpc>
              <a:spcBef>
                <a:spcPts val="0"/>
              </a:spcBef>
              <a:spcAft>
                <a:spcPts val="0"/>
              </a:spcAft>
            </a:pPr>
            <a:r>
              <a:rPr sz="1250" b="0" i="0">
                <a:solidFill>
                  <a:srgbClr val="DCEBEA"/>
                </a:solidFill>
                <a:latin typeface="Consolas"/>
              </a:rPr>
              <a:t>AS</a:t>
            </a:r>
          </a:p>
          <a:p>
            <a:pPr>
              <a:lnSpc>
                <a:spcPct val="100000"/>
              </a:lnSpc>
              <a:spcBef>
                <a:spcPts val="0"/>
              </a:spcBef>
              <a:spcAft>
                <a:spcPts val="0"/>
              </a:spcAft>
            </a:pPr>
            <a:r>
              <a:rPr sz="1250" b="0" i="0">
                <a:solidFill>
                  <a:srgbClr val="DCEBEA"/>
                </a:solidFill>
                <a:latin typeface="Consolas"/>
              </a:rPr>
              <a:t>SELECT user_id,</a:t>
            </a:r>
          </a:p>
          <a:p>
            <a:pPr>
              <a:lnSpc>
                <a:spcPct val="100000"/>
              </a:lnSpc>
              <a:spcBef>
                <a:spcPts val="0"/>
              </a:spcBef>
              <a:spcAft>
                <a:spcPts val="0"/>
              </a:spcAft>
            </a:pPr>
            <a:r>
              <a:rPr sz="1250" b="0" i="0">
                <a:solidFill>
                  <a:srgbClr val="DCEBEA"/>
                </a:solidFill>
                <a:latin typeface="Consolas"/>
              </a:rPr>
              <a:t>       window_end,</a:t>
            </a:r>
          </a:p>
          <a:p>
            <a:pPr>
              <a:lnSpc>
                <a:spcPct val="100000"/>
              </a:lnSpc>
              <a:spcBef>
                <a:spcPts val="0"/>
              </a:spcBef>
              <a:spcAft>
                <a:spcPts val="0"/>
              </a:spcAft>
            </a:pPr>
            <a:r>
              <a:rPr sz="1250" b="0" i="0">
                <a:solidFill>
                  <a:srgbClr val="DCEBEA"/>
                </a:solidFill>
                <a:latin typeface="Consolas"/>
              </a:rPr>
              <a:t>       SUM(amount) AS spend</a:t>
            </a:r>
          </a:p>
          <a:p>
            <a:pPr>
              <a:lnSpc>
                <a:spcPct val="100000"/>
              </a:lnSpc>
              <a:spcBef>
                <a:spcPts val="0"/>
              </a:spcBef>
              <a:spcAft>
                <a:spcPts val="0"/>
              </a:spcAft>
            </a:pPr>
            <a:r>
              <a:rPr sz="1250" b="0" i="0">
                <a:solidFill>
                  <a:srgbClr val="DCEBEA"/>
                </a:solidFill>
                <a:latin typeface="Consolas"/>
              </a:rPr>
              <a:t>FROM TABLE(TUMBLE(TABLE txn,</a:t>
            </a:r>
          </a:p>
          <a:p>
            <a:pPr>
              <a:lnSpc>
                <a:spcPct val="100000"/>
              </a:lnSpc>
              <a:spcBef>
                <a:spcPts val="0"/>
              </a:spcBef>
              <a:spcAft>
                <a:spcPts val="0"/>
              </a:spcAft>
            </a:pPr>
            <a:r>
              <a:rPr sz="1250" b="0" i="0">
                <a:solidFill>
                  <a:srgbClr val="DCEBEA"/>
                </a:solidFill>
                <a:latin typeface="Consolas"/>
              </a:rPr>
              <a:t>     DESCRIPTOR(event_time), INTERVAL '1' HOUR))</a:t>
            </a:r>
          </a:p>
          <a:p>
            <a:pPr>
              <a:lnSpc>
                <a:spcPct val="100000"/>
              </a:lnSpc>
              <a:spcBef>
                <a:spcPts val="0"/>
              </a:spcBef>
              <a:spcAft>
                <a:spcPts val="0"/>
              </a:spcAft>
            </a:pPr>
            <a:r>
              <a:rPr sz="1250" b="0" i="0">
                <a:solidFill>
                  <a:srgbClr val="DCEBEA"/>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KEYED BY decides what a row replaces</a:t>
            </a:r>
          </a:p>
          <a:p>
            <a:pPr lvl="1">
              <a:lnSpc>
                <a:spcPct val="120000"/>
              </a:lnSpc>
              <a:spcBef>
                <a:spcPts val="0"/>
              </a:spcBef>
              <a:spcAft>
                <a:spcPts val="0"/>
              </a:spcAft>
            </a:pPr>
            <a:r>
              <a:rPr sz="1450" b="0">
                <a:solidFill>
                  <a:srgbClr val="3E4D50"/>
                </a:solidFill>
                <a:latin typeface="IBM Plex Sans"/>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RETAIN FOR: event time the view keeps</a:t>
            </a:r>
          </a:p>
          <a:p>
            <a:pPr lvl="1">
              <a:lnSpc>
                <a:spcPct val="120000"/>
              </a:lnSpc>
              <a:spcBef>
                <a:spcPts val="0"/>
              </a:spcBef>
              <a:spcAft>
                <a:spcPts val="0"/>
              </a:spcAft>
            </a:pPr>
            <a:r>
              <a:rPr sz="1450" b="0">
                <a:solidFill>
                  <a:srgbClr val="3E4D50"/>
                </a:solidFill>
                <a:latin typeface="IBM Plex Sans"/>
              </a:rPr>
              <a:t>Left out, the view keeps forever. Also part of the fingerprint, and journalled.</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From anywhere SQL arrives</a:t>
            </a:r>
          </a:p>
          <a:p>
            <a:pPr lvl="1">
              <a:lnSpc>
                <a:spcPct val="120000"/>
              </a:lnSpc>
              <a:spcBef>
                <a:spcPts val="0"/>
              </a:spcBef>
              <a:spcAft>
                <a:spcPts val="0"/>
              </a:spcAft>
            </a:pPr>
            <a:r>
              <a:rPr sz="1450" b="0">
                <a:solidFill>
                  <a:srgbClr val="3E4D50"/>
                </a:solidFill>
                <a:latin typeface="IBM Plex Sans"/>
              </a:rPr>
              <a:t>Any Flight SQL client, the CLI, an SDK, the console, the embedded engine. SHOW, PAUSE, RESUME and DROP CONTINUOUS QUERY manage what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Plan once, fingerprint, share or place, then serve</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16</a:t>
            </a:r>
          </a:p>
        </p:txBody>
      </p:sp>
      <p:sp>
        <p:nvSpPr>
          <p:cNvPr id="10" name="Rectangle 9"/>
          <p:cNvSpPr/>
          <p:nvPr/>
        </p:nvSpPr>
        <p:spPr>
          <a:xfrm>
            <a:off x="777240" y="1410919"/>
            <a:ext cx="1907987" cy="17373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3E4D50"/>
                </a:solidFill>
                <a:latin typeface="IBM Plex Sans"/>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0F1A1C"/>
                </a:solidFill>
                <a:latin typeface="IBM Plex Sans Condensed"/>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3E4D50"/>
                </a:solidFill>
                <a:latin typeface="IBM Plex Sans"/>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3E4D50"/>
                </a:solidFill>
                <a:latin typeface="IBM Plex Sans"/>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3E4D50"/>
                </a:solidFill>
                <a:latin typeface="IBM Plex Sans"/>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In the catalogue; readable at once</a:t>
            </a:r>
          </a:p>
        </p:txBody>
      </p:sp>
      <p:cxnSp>
        <p:nvCxnSpPr>
          <p:cNvPr id="33" name="Connector 32"/>
          <p:cNvCxnSpPr/>
          <p:nvPr/>
        </p:nvCxnSpPr>
        <p:spPr>
          <a:xfrm>
            <a:off x="9268724" y="2279599"/>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Why a thousand dashboards cost one computation</a:t>
            </a:r>
          </a:p>
          <a:p>
            <a:pPr lvl="1">
              <a:lnSpc>
                <a:spcPct val="120000"/>
              </a:lnSpc>
              <a:spcBef>
                <a:spcPts val="0"/>
              </a:spcBef>
              <a:spcAft>
                <a:spcPts val="0"/>
              </a:spcAft>
            </a:pPr>
            <a:r>
              <a:rPr sz="1450" b="0">
                <a:solidFill>
                  <a:srgbClr val="3E4D50"/>
                </a:solidFill>
                <a:latin typeface="IBM Plex Sans"/>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Released only by its last name</a:t>
            </a:r>
          </a:p>
          <a:p>
            <a:pPr lvl="1">
              <a:lnSpc>
                <a:spcPct val="120000"/>
              </a:lnSpc>
              <a:spcBef>
                <a:spcPts val="0"/>
              </a:spcBef>
              <a:spcAft>
                <a:spcPts val="0"/>
              </a:spcAft>
            </a:pPr>
            <a:r>
              <a:rPr sz="1450" b="0">
                <a:solidFill>
                  <a:srgbClr val="3E4D50"/>
                </a:solidFill>
                <a:latin typeface="IBM Plex Sans"/>
              </a:rPr>
              <a:t>Neither registrant knows the other exists, so dropping eagerly would be an outage caused by somebody tidying up their own query.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What cannot work is refused at registration, before anything opens</a:t>
            </a:r>
          </a:p>
        </p:txBody>
      </p:sp>
      <p:sp>
        <p:nvSpPr>
          <p:cNvPr id="6" name="Rectangle 5"/>
          <p:cNvSpPr/>
          <p:nvPr/>
        </p:nvSpPr>
        <p:spPr>
          <a:xfrm>
            <a:off x="777240" y="116840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17</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IBM Plex Sans"/>
                        </a:rPr>
                        <a:t>Code</a:t>
                      </a:r>
                    </a:p>
                  </a:txBody>
                  <a:tcPr marL="82296" marR="64008" marT="32004" marB="32004" anchor="ctr">
                    <a:solidFill>
                      <a:srgbClr val="0A5C5B"/>
                    </a:solidFill>
                  </a:tcPr>
                </a:tc>
                <a:tc>
                  <a:txBody>
                    <a:bodyPr wrap="square"/>
                    <a:lstStyle/>
                    <a:p>
                      <a:r>
                        <a:rPr sz="1300" b="1">
                          <a:solidFill>
                            <a:srgbClr val="FFFFFF"/>
                          </a:solidFill>
                          <a:latin typeface="IBM Plex Sans"/>
                        </a:rPr>
                        <a:t>Refuses</a:t>
                      </a:r>
                    </a:p>
                  </a:txBody>
                  <a:tcPr marL="82296" marR="64008" marT="32004" marB="32004" anchor="ctr">
                    <a:solidFill>
                      <a:srgbClr val="0A5C5B"/>
                    </a:solidFill>
                  </a:tcPr>
                </a:tc>
                <a:tc>
                  <a:txBody>
                    <a:bodyPr wrap="square"/>
                    <a:lstStyle/>
                    <a:p>
                      <a:r>
                        <a:rPr sz="1300" b="1">
                          <a:solidFill>
                            <a:srgbClr val="FFFFFF"/>
                          </a:solidFill>
                          <a:latin typeface="IBM Plex Sans"/>
                        </a:rPr>
                        <a:t>Because</a:t>
                      </a:r>
                    </a:p>
                  </a:txBody>
                  <a:tcPr marL="82296" marR="64008" marT="32004" marB="32004" anchor="ctr">
                    <a:solidFill>
                      <a:srgbClr val="0A5C5B"/>
                    </a:solidFill>
                  </a:tcPr>
                </a:tc>
              </a:tr>
              <a:tr h="567740">
                <a:tc>
                  <a:txBody>
                    <a:bodyPr wrap="square"/>
                    <a:lstStyle/>
                    <a:p>
                      <a:r>
                        <a:rPr sz="1400" b="1">
                          <a:solidFill>
                            <a:srgbClr val="0A5C5B"/>
                          </a:solidFill>
                          <a:latin typeface="IBM Plex Sans"/>
                        </a:rPr>
                        <a:t>PRV-2002</a:t>
                      </a:r>
                    </a:p>
                  </a:txBody>
                  <a:tcPr marL="82296" marR="64008" marT="32004" marB="32004" anchor="ctr">
                    <a:solidFill>
                      <a:srgbClr val="FFFFFF"/>
                    </a:solidFill>
                  </a:tcPr>
                </a:tc>
                <a:tc>
                  <a:txBody>
                    <a:bodyPr wrap="square"/>
                    <a:lstStyle/>
                    <a:p>
                      <a:r>
                        <a:rPr sz="1400" b="0">
                          <a:solidFill>
                            <a:srgbClr val="0F1A1C"/>
                          </a:solidFill>
                          <a:latin typeface="IBM Plex Sans"/>
                        </a:rPr>
                        <a:t>A windowed query over a stream with no event-time column</a:t>
                      </a:r>
                    </a:p>
                  </a:txBody>
                  <a:tcPr marL="82296" marR="64008" marT="32004" marB="32004" anchor="ctr">
                    <a:solidFill>
                      <a:srgbClr val="FFFFFF"/>
                    </a:solidFill>
                  </a:tcPr>
                </a:tc>
                <a:tc>
                  <a:txBody>
                    <a:bodyPr wrap="square"/>
                    <a:lstStyle/>
                    <a:p>
                      <a:r>
                        <a:rPr sz="1400" b="0">
                          <a:solidFill>
                            <a:srgbClr val="0F1A1C"/>
                          </a:solidFill>
                          <a:latin typeface="IBM Plex Sans"/>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0A5C5B"/>
                          </a:solidFill>
                          <a:latin typeface="IBM Plex Sans"/>
                        </a:rPr>
                        <a:t>PRV-2050</a:t>
                      </a:r>
                    </a:p>
                  </a:txBody>
                  <a:tcPr marL="82296" marR="64008" marT="32004" marB="32004" anchor="ctr">
                    <a:solidFill>
                      <a:srgbClr val="EEF6F5"/>
                    </a:solidFill>
                  </a:tcPr>
                </a:tc>
                <a:tc>
                  <a:txBody>
                    <a:bodyPr wrap="square"/>
                    <a:lstStyle/>
                    <a:p>
                      <a:r>
                        <a:rPr sz="1400" b="0">
                          <a:solidFill>
                            <a:srgbClr val="0F1A1C"/>
                          </a:solidFill>
                          <a:latin typeface="IBM Plex Sans"/>
                        </a:rPr>
                        <a:t>GROUP BY a key with no window</a:t>
                      </a:r>
                    </a:p>
                  </a:txBody>
                  <a:tcPr marL="82296" marR="64008" marT="32004" marB="32004" anchor="ctr">
                    <a:solidFill>
                      <a:srgbClr val="EEF6F5"/>
                    </a:solidFill>
                  </a:tcPr>
                </a:tc>
                <a:tc>
                  <a:txBody>
                    <a:bodyPr wrap="square"/>
                    <a:lstStyle/>
                    <a:p>
                      <a:r>
                        <a:rPr sz="1400" b="0">
                          <a:solidFill>
                            <a:srgbClr val="0F1A1C"/>
                          </a:solidFill>
                          <a:latin typeface="IBM Plex Sans"/>
                        </a:rPr>
                        <a:t>One accumulator per key for ever: unbounded state</a:t>
                      </a:r>
                    </a:p>
                  </a:txBody>
                  <a:tcPr marL="82296" marR="64008" marT="32004" marB="32004" anchor="ctr">
                    <a:solidFill>
                      <a:srgbClr val="EEF6F5"/>
                    </a:solidFill>
                  </a:tcPr>
                </a:tc>
              </a:tr>
              <a:tr h="567740">
                <a:tc>
                  <a:txBody>
                    <a:bodyPr wrap="square"/>
                    <a:lstStyle/>
                    <a:p>
                      <a:r>
                        <a:rPr sz="1400" b="1">
                          <a:solidFill>
                            <a:srgbClr val="0A5C5B"/>
                          </a:solidFill>
                          <a:latin typeface="IBM Plex Sans"/>
                        </a:rPr>
                        <a:t>PRV-2042</a:t>
                      </a:r>
                    </a:p>
                  </a:txBody>
                  <a:tcPr marL="82296" marR="64008" marT="32004" marB="32004" anchor="ctr">
                    <a:solidFill>
                      <a:srgbClr val="FFFFFF"/>
                    </a:solidFill>
                  </a:tcPr>
                </a:tc>
                <a:tc>
                  <a:txBody>
                    <a:bodyPr wrap="square"/>
                    <a:lstStyle/>
                    <a:p>
                      <a:r>
                        <a:rPr sz="1400" b="0">
                          <a:solidFill>
                            <a:srgbClr val="0F1A1C"/>
                          </a:solidFill>
                          <a:latin typeface="IBM Plex Sans"/>
                        </a:rPr>
                        <a:t>An aggregate or join over a source that repeats rows</a:t>
                      </a:r>
                    </a:p>
                  </a:txBody>
                  <a:tcPr marL="82296" marR="64008" marT="32004" marB="32004" anchor="ctr">
                    <a:solidFill>
                      <a:srgbClr val="FFFFFF"/>
                    </a:solidFill>
                  </a:tcPr>
                </a:tc>
                <a:tc>
                  <a:txBody>
                    <a:bodyPr wrap="square"/>
                    <a:lstStyle/>
                    <a:p>
                      <a:r>
                        <a:rPr sz="1400" b="0">
                          <a:solidFill>
                            <a:srgbClr val="0F1A1C"/>
                          </a:solidFill>
                          <a:latin typeface="IBM Plex Sans"/>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0A5C5B"/>
                          </a:solidFill>
                          <a:latin typeface="IBM Plex Sans"/>
                        </a:rPr>
                        <a:t>PRV-2041</a:t>
                      </a:r>
                    </a:p>
                  </a:txBody>
                  <a:tcPr marL="82296" marR="64008" marT="32004" marB="32004" anchor="ctr">
                    <a:solidFill>
                      <a:srgbClr val="EEF6F5"/>
                    </a:solidFill>
                  </a:tcPr>
                </a:tc>
                <a:tc>
                  <a:txBody>
                    <a:bodyPr wrap="square"/>
                    <a:lstStyle/>
                    <a:p>
                      <a:r>
                        <a:rPr sz="1400" b="0">
                          <a:solidFill>
                            <a:srgbClr val="0F1A1C"/>
                          </a:solidFill>
                          <a:latin typeface="IBM Plex Sans"/>
                        </a:rPr>
                        <a:t>A revising query into an append-only sink</a:t>
                      </a:r>
                    </a:p>
                  </a:txBody>
                  <a:tcPr marL="82296" marR="64008" marT="32004" marB="32004" anchor="ctr">
                    <a:solidFill>
                      <a:srgbClr val="EEF6F5"/>
                    </a:solidFill>
                  </a:tcPr>
                </a:tc>
                <a:tc>
                  <a:txBody>
                    <a:bodyPr wrap="square"/>
                    <a:lstStyle/>
                    <a:p>
                      <a:r>
                        <a:rPr sz="1400" b="0">
                          <a:solidFill>
                            <a:srgbClr val="0F1A1C"/>
                          </a:solidFill>
                          <a:latin typeface="IBM Plex Sans"/>
                        </a:rPr>
                        <a:t>The sink cannot take a retraction</a:t>
                      </a:r>
                    </a:p>
                  </a:txBody>
                  <a:tcPr marL="82296" marR="64008" marT="32004" marB="32004" anchor="ctr">
                    <a:solidFill>
                      <a:srgbClr val="EEF6F5"/>
                    </a:solidFill>
                  </a:tcPr>
                </a:tc>
              </a:tr>
              <a:tr h="567740">
                <a:tc>
                  <a:txBody>
                    <a:bodyPr wrap="square"/>
                    <a:lstStyle/>
                    <a:p>
                      <a:r>
                        <a:rPr sz="1400" b="1">
                          <a:solidFill>
                            <a:srgbClr val="0A5C5B"/>
                          </a:solidFill>
                          <a:latin typeface="IBM Plex Sans"/>
                        </a:rPr>
                        <a:t>PRV-8010</a:t>
                      </a:r>
                    </a:p>
                  </a:txBody>
                  <a:tcPr marL="82296" marR="64008" marT="32004" marB="32004" anchor="ctr">
                    <a:solidFill>
                      <a:srgbClr val="FFFFFF"/>
                    </a:solidFill>
                  </a:tcPr>
                </a:tc>
                <a:tc>
                  <a:txBody>
                    <a:bodyPr wrap="square"/>
                    <a:lstStyle/>
                    <a:p>
                      <a:r>
                        <a:rPr sz="1400" b="0">
                          <a:solidFill>
                            <a:srgbClr val="0F1A1C"/>
                          </a:solidFill>
                          <a:latin typeface="IBM Plex Sans"/>
                        </a:rPr>
                        <a:t>A sink whose columns or key differ from the query's</a:t>
                      </a:r>
                    </a:p>
                  </a:txBody>
                  <a:tcPr marL="82296" marR="64008" marT="32004" marB="32004" anchor="ctr">
                    <a:solidFill>
                      <a:srgbClr val="FFFFFF"/>
                    </a:solidFill>
                  </a:tcPr>
                </a:tc>
                <a:tc>
                  <a:txBody>
                    <a:bodyPr wrap="square"/>
                    <a:lstStyle/>
                    <a:p>
                      <a:r>
                        <a:rPr sz="1400" b="0">
                          <a:solidFill>
                            <a:srgbClr val="0F1A1C"/>
                          </a:solidFill>
                          <a:latin typeface="IBM Plex Sans"/>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0A5C5B"/>
                          </a:solidFill>
                          <a:latin typeface="IBM Plex Sans"/>
                        </a:rPr>
                        <a:t>PRV-2020</a:t>
                      </a:r>
                    </a:p>
                  </a:txBody>
                  <a:tcPr marL="82296" marR="64008" marT="32004" marB="32004" anchor="ctr">
                    <a:solidFill>
                      <a:srgbClr val="EEF6F5"/>
                    </a:solidFill>
                  </a:tcPr>
                </a:tc>
                <a:tc>
                  <a:txBody>
                    <a:bodyPr wrap="square"/>
                    <a:lstStyle/>
                    <a:p>
                      <a:r>
                        <a:rPr sz="1400" b="0">
                          <a:solidFill>
                            <a:srgbClr val="0F1A1C"/>
                          </a:solidFill>
                          <a:latin typeface="IBM Plex Sans"/>
                        </a:rPr>
                        <a:t>Session windows</a:t>
                      </a:r>
                    </a:p>
                  </a:txBody>
                  <a:tcPr marL="82296" marR="64008" marT="32004" marB="32004" anchor="ctr">
                    <a:solidFill>
                      <a:srgbClr val="EEF6F5"/>
                    </a:solidFill>
                  </a:tcPr>
                </a:tc>
                <a:tc>
                  <a:txBody>
                    <a:bodyPr wrap="square"/>
                    <a:lstStyle/>
                    <a:p>
                      <a:r>
                        <a:rPr sz="1400" b="0">
                          <a:solidFill>
                            <a:srgbClr val="0F1A1C"/>
                          </a:solidFill>
                          <a:latin typeface="IBM Plex Sans"/>
                        </a:rPr>
                        <a:t>Not built; tumbling and hopping windows are</a:t>
                      </a:r>
                    </a:p>
                  </a:txBody>
                  <a:tcPr marL="82296" marR="64008" marT="32004" marB="32004" anchor="ctr">
                    <a:solidFill>
                      <a:srgbClr val="EEF6F5"/>
                    </a:solidFill>
                  </a:tcPr>
                </a:tc>
              </a:tr>
              <a:tr h="567740">
                <a:tc>
                  <a:txBody>
                    <a:bodyPr wrap="square"/>
                    <a:lstStyle/>
                    <a:p>
                      <a:r>
                        <a:rPr sz="1400" b="1">
                          <a:solidFill>
                            <a:srgbClr val="0A5C5B"/>
                          </a:solidFill>
                          <a:latin typeface="IBM Plex Sans"/>
                        </a:rPr>
                        <a:t>PRV-8020 · 8021</a:t>
                      </a:r>
                    </a:p>
                  </a:txBody>
                  <a:tcPr marL="82296" marR="64008" marT="32004" marB="32004" anchor="ctr">
                    <a:solidFill>
                      <a:srgbClr val="FFFFFF"/>
                    </a:solidFill>
                  </a:tcPr>
                </a:tc>
                <a:tc>
                  <a:txBody>
                    <a:bodyPr wrap="square"/>
                    <a:lstStyle/>
                    <a:p>
                      <a:r>
                        <a:rPr sz="1400" b="0">
                          <a:solidFill>
                            <a:srgbClr val="0F1A1C"/>
                          </a:solidFill>
                          <a:latin typeface="IBM Plex Sans"/>
                        </a:rPr>
                        <a:t>A registration over its tenant's query or state quota</a:t>
                      </a:r>
                    </a:p>
                  </a:txBody>
                  <a:tcPr marL="82296" marR="64008" marT="32004" marB="32004" anchor="ctr">
                    <a:solidFill>
                      <a:srgbClr val="FFFFFF"/>
                    </a:solidFill>
                  </a:tcPr>
                </a:tc>
                <a:tc>
                  <a:txBody>
                    <a:bodyPr wrap="square"/>
                    <a:lstStyle/>
                    <a:p>
                      <a:r>
                        <a:rPr sz="1400" b="0">
                          <a:solidFill>
                            <a:srgbClr val="0F1A1C"/>
                          </a:solidFill>
                          <a:latin typeface="IBM Plex Sans"/>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Reading the answer is ordinary SQL over the view</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18</a:t>
            </a:r>
          </a:p>
        </p:txBody>
      </p:sp>
      <p:sp>
        <p:nvSpPr>
          <p:cNvPr id="10" name="Rectangle 9"/>
          <p:cNvSpPr/>
          <p:nvPr/>
        </p:nvSpPr>
        <p:spPr>
          <a:xfrm>
            <a:off x="777240" y="1410919"/>
            <a:ext cx="5348471" cy="3379419"/>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6FD0C8"/>
                </a:solidFill>
                <a:latin typeface="Consolas"/>
              </a:rPr>
              <a:t>// Java SDK</a:t>
            </a:r>
          </a:p>
          <a:p>
            <a:pPr>
              <a:lnSpc>
                <a:spcPct val="100000"/>
              </a:lnSpc>
              <a:spcBef>
                <a:spcPts val="0"/>
              </a:spcBef>
              <a:spcAft>
                <a:spcPts val="0"/>
              </a:spcAft>
            </a:pPr>
            <a:r>
              <a:rPr sz="1300" b="0" i="0">
                <a:solidFill>
                  <a:srgbClr val="DCEBEA"/>
                </a:solidFill>
                <a:latin typeface="Consolas"/>
              </a:rPr>
              <a:t>try (QueryResult result = client.query(</a:t>
            </a:r>
          </a:p>
          <a:p>
            <a:pPr>
              <a:lnSpc>
                <a:spcPct val="100000"/>
              </a:lnSpc>
              <a:spcBef>
                <a:spcPts val="0"/>
              </a:spcBef>
              <a:spcAft>
                <a:spcPts val="0"/>
              </a:spcAft>
            </a:pPr>
            <a:r>
              <a:rPr sz="1300" b="0" i="0">
                <a:solidFill>
                  <a:srgbClr val="DCEBEA"/>
                </a:solidFill>
                <a:latin typeface="Consolas"/>
              </a:rPr>
              <a:t>    "SELECT total_volume FROM user_volume"</a:t>
            </a:r>
          </a:p>
          <a:p>
            <a:pPr>
              <a:lnSpc>
                <a:spcPct val="100000"/>
              </a:lnSpc>
              <a:spcBef>
                <a:spcPts val="0"/>
              </a:spcBef>
              <a:spcAft>
                <a:spcPts val="0"/>
              </a:spcAft>
            </a:pPr>
            <a:r>
              <a:rPr sz="1300" b="0" i="0">
                <a:solidFill>
                  <a:srgbClr val="DCEBEA"/>
                </a:solidFill>
                <a:latin typeface="Consolas"/>
              </a:rPr>
              <a:t>  + " WHERE user_id = ?", "u42")) {</a:t>
            </a:r>
          </a:p>
          <a:p>
            <a:pPr>
              <a:lnSpc>
                <a:spcPct val="100000"/>
              </a:lnSpc>
              <a:spcBef>
                <a:spcPts val="0"/>
              </a:spcBef>
              <a:spcAft>
                <a:spcPts val="0"/>
              </a:spcAft>
            </a:pPr>
            <a:r>
              <a:rPr sz="1300" b="0" i="0">
                <a:solidFill>
                  <a:srgbClr val="DCEBEA"/>
                </a:solidFill>
                <a:latin typeface="Consolas"/>
              </a:rPr>
              <a:t>  for (Row row : result) {</a:t>
            </a:r>
          </a:p>
          <a:p>
            <a:pPr>
              <a:lnSpc>
                <a:spcPct val="100000"/>
              </a:lnSpc>
              <a:spcBef>
                <a:spcPts val="0"/>
              </a:spcBef>
              <a:spcAft>
                <a:spcPts val="0"/>
              </a:spcAft>
            </a:pPr>
            <a:r>
              <a:rPr sz="1300" b="0" i="0">
                <a:solidFill>
                  <a:srgbClr val="DCEBEA"/>
                </a:solidFill>
                <a:latin typeface="Consolas"/>
              </a:rPr>
              <a:t>    long volume = row.getLong("total_volume");</a:t>
            </a:r>
          </a:p>
          <a:p>
            <a:pPr>
              <a:lnSpc>
                <a:spcPct val="100000"/>
              </a:lnSpc>
              <a:spcBef>
                <a:spcPts val="0"/>
              </a:spcBef>
              <a:spcAft>
                <a:spcPts val="0"/>
              </a:spcAft>
            </a:pPr>
            <a:r>
              <a:rPr sz="1300" b="0" i="0">
                <a:solidFill>
                  <a:srgbClr val="DCEBEA"/>
                </a:solidFill>
                <a:latin typeface="Consolas"/>
              </a:rPr>
              <a:t>  }</a:t>
            </a:r>
          </a:p>
          <a:p>
            <a:pPr>
              <a:lnSpc>
                <a:spcPct val="100000"/>
              </a:lnSpc>
              <a:spcBef>
                <a:spcPts val="0"/>
              </a:spcBef>
              <a:spcAft>
                <a:spcPts val="0"/>
              </a:spcAft>
            </a:pPr>
            <a:r>
              <a:rPr sz="1300" b="0" i="0">
                <a:solidFill>
                  <a:srgbClr val="DCEBEA"/>
                </a:solidFill>
                <a:latin typeface="Consolas"/>
              </a:rPr>
              <a:t>}</a:t>
            </a:r>
          </a:p>
          <a:p>
            <a:pPr>
              <a:lnSpc>
                <a:spcPct val="100000"/>
              </a:lnSpc>
              <a:spcBef>
                <a:spcPts val="0"/>
              </a:spcBef>
              <a:spcAft>
                <a:spcPts val="0"/>
              </a:spcAft>
            </a:pPr>
            <a:r>
              <a:rPr sz="1300" b="0" i="0">
                <a:solidFill>
                  <a:srgbClr val="DCEBEA"/>
                </a:solidFill>
                <a:latin typeface="Consolas"/>
              </a:rPr>
              <a:t> </a:t>
            </a:r>
          </a:p>
          <a:p>
            <a:pPr>
              <a:lnSpc>
                <a:spcPct val="100000"/>
              </a:lnSpc>
              <a:spcBef>
                <a:spcPts val="0"/>
              </a:spcBef>
              <a:spcAft>
                <a:spcPts val="0"/>
              </a:spcAft>
            </a:pPr>
            <a:r>
              <a:rPr sz="1300" b="0" i="0">
                <a:solidFill>
                  <a:srgbClr val="6FD0C8"/>
                </a:solidFill>
                <a:latin typeface="Consolas"/>
              </a:rPr>
              <a:t># Python SDK, against the same engine</a:t>
            </a:r>
          </a:p>
          <a:p>
            <a:pPr>
              <a:lnSpc>
                <a:spcPct val="100000"/>
              </a:lnSpc>
              <a:spcBef>
                <a:spcPts val="0"/>
              </a:spcBef>
              <a:spcAft>
                <a:spcPts val="0"/>
              </a:spcAft>
            </a:pPr>
            <a:r>
              <a:rPr sz="1300" b="0" i="0">
                <a:solidFill>
                  <a:srgbClr val="DCEBEA"/>
                </a:solidFill>
                <a:latin typeface="Consolas"/>
              </a:rPr>
              <a:t>for row in client.query(</a:t>
            </a:r>
          </a:p>
          <a:p>
            <a:pPr>
              <a:lnSpc>
                <a:spcPct val="100000"/>
              </a:lnSpc>
              <a:spcBef>
                <a:spcPts val="0"/>
              </a:spcBef>
              <a:spcAft>
                <a:spcPts val="0"/>
              </a:spcAft>
            </a:pPr>
            <a:r>
              <a:rPr sz="1300" b="0" i="0">
                <a:solidFill>
                  <a:srgbClr val="DCEBEA"/>
                </a:solidFill>
                <a:latin typeface="Consolas"/>
              </a:rPr>
              <a:t>    "SELECT total_volume FROM user_volume"</a:t>
            </a:r>
          </a:p>
          <a:p>
            <a:pPr>
              <a:lnSpc>
                <a:spcPct val="100000"/>
              </a:lnSpc>
              <a:spcBef>
                <a:spcPts val="0"/>
              </a:spcBef>
              <a:spcAft>
                <a:spcPts val="0"/>
              </a:spcAft>
            </a:pPr>
            <a:r>
              <a:rPr sz="1300" b="0" i="0">
                <a:solidFill>
                  <a:srgbClr val="DCEBEA"/>
                </a:solidFill>
                <a:latin typeface="Consolas"/>
              </a:rPr>
              <a:t>    " WHERE user_id = ?", "u42"):</a:t>
            </a:r>
          </a:p>
          <a:p>
            <a:pPr>
              <a:lnSpc>
                <a:spcPct val="100000"/>
              </a:lnSpc>
              <a:spcBef>
                <a:spcPts val="0"/>
              </a:spcBef>
              <a:spcAft>
                <a:spcPts val="0"/>
              </a:spcAft>
            </a:pPr>
            <a:r>
              <a:rPr sz="1300" b="0" i="0">
                <a:solidFill>
                  <a:srgbClr val="DCEBEA"/>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The same planner and operators</a:t>
            </a:r>
          </a:p>
          <a:p>
            <a:pPr lvl="1">
              <a:lnSpc>
                <a:spcPct val="120000"/>
              </a:lnSpc>
              <a:spcBef>
                <a:spcPts val="0"/>
              </a:spcBef>
              <a:spcAft>
                <a:spcPts val="0"/>
              </a:spcAft>
            </a:pPr>
            <a:r>
              <a:rPr sz="1450" b="0">
                <a:solidFill>
                  <a:srgbClr val="3E4D50"/>
                </a:solidFill>
                <a:latin typeface="IBM Plex Sans"/>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Over Arrow Flight SQL</a:t>
            </a:r>
          </a:p>
          <a:p>
            <a:pPr lvl="1">
              <a:lnSpc>
                <a:spcPct val="120000"/>
              </a:lnSpc>
              <a:spcBef>
                <a:spcPts val="0"/>
              </a:spcBef>
              <a:spcAft>
                <a:spcPts val="0"/>
              </a:spcAft>
            </a:pPr>
            <a:r>
              <a:rPr sz="1450" b="0">
                <a:solidFill>
                  <a:srgbClr val="3E4D50"/>
                </a:solidFill>
                <a:latin typeface="IBM Plex Sans"/>
              </a:rPr>
              <a:t>The Java and Python SDKs, the CLI and the console.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Over the PostgreSQL wire protocol</a:t>
            </a:r>
          </a:p>
          <a:p>
            <a:pPr lvl="1">
              <a:lnSpc>
                <a:spcPct val="120000"/>
              </a:lnSpc>
              <a:spcBef>
                <a:spcPts val="0"/>
              </a:spcBef>
              <a:spcAft>
                <a:spcPts val="0"/>
              </a:spcAft>
            </a:pPr>
            <a:r>
              <a:rPr sz="1450" b="0">
                <a:solidFill>
                  <a:srgbClr val="3E4D50"/>
                </a:solidFill>
                <a:latin typeface="IBM Plex Sans"/>
              </a:rPr>
              <a:t>Off by default (pravaha.pgwire.enabled): psql, DBeaver, Grafana and any Postgres driver can read a view, with TLS.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subscriber follows the view commit by commit</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19</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From a snapshot, with nothing lost between</a:t>
            </a:r>
          </a:p>
          <a:p>
            <a:pPr lvl="1">
              <a:lnSpc>
                <a:spcPct val="120000"/>
              </a:lnSpc>
              <a:spcBef>
                <a:spcPts val="0"/>
              </a:spcBef>
              <a:spcAft>
                <a:spcPts val="0"/>
              </a:spcAft>
            </a:pPr>
            <a:r>
              <a:rPr sz="1550" b="0">
                <a:solidFill>
                  <a:srgbClr val="3E4D50"/>
                </a:solidFill>
                <a:latin typeface="IBM Plex Sans"/>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Registration and subscription are separate</a:t>
            </a:r>
          </a:p>
          <a:p>
            <a:pPr lvl="1">
              <a:lnSpc>
                <a:spcPct val="120000"/>
              </a:lnSpc>
              <a:spcBef>
                <a:spcPts val="0"/>
              </a:spcBef>
              <a:spcAft>
                <a:spcPts val="0"/>
              </a:spcAft>
            </a:pPr>
            <a:r>
              <a:rPr sz="1550" b="0">
                <a:solidFill>
                  <a:srgbClr val="3E4D50"/>
                </a:solidFill>
                <a:latin typeface="IBM Plex Sans"/>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 slow subscriber never blocks the engine</a:t>
            </a:r>
          </a:p>
          <a:p>
            <a:pPr lvl="1">
              <a:lnSpc>
                <a:spcPct val="120000"/>
              </a:lnSpc>
              <a:spcBef>
                <a:spcPts val="0"/>
              </a:spcBef>
              <a:spcAft>
                <a:spcPts val="0"/>
              </a:spcAft>
            </a:pPr>
            <a:r>
              <a:rPr sz="1550" b="0">
                <a:solidFill>
                  <a:srgbClr val="3E4D50"/>
                </a:solidFill>
                <a:latin typeface="IBM Plex Sans"/>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Its consumer runs on its own thread</a:t>
            </a:r>
          </a:p>
          <a:p>
            <a:pPr lvl="1">
              <a:lnSpc>
                <a:spcPct val="120000"/>
              </a:lnSpc>
              <a:spcBef>
                <a:spcPts val="0"/>
              </a:spcBef>
              <a:spcAft>
                <a:spcPts val="0"/>
              </a:spcAft>
            </a:pPr>
            <a:r>
              <a:rPr sz="1550" b="0">
                <a:solidFill>
                  <a:srgbClr val="3E4D50"/>
                </a:solidFill>
                <a:latin typeface="IBM Plex Sans"/>
              </a:rPr>
              <a:t>A commit hands each subscriber the batch and returns; a slow consumer backs up its own buffer, not the feed's publish timer.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Correctness</a:t>
            </a:r>
          </a:p>
        </p:txBody>
      </p:sp>
      <p:sp>
        <p:nvSpPr>
          <p:cNvPr id="9" name="Rectangle 8"/>
          <p:cNvSpPr/>
          <p:nvPr/>
        </p:nvSpPr>
        <p:spPr>
          <a:xfrm>
            <a:off x="1005840" y="3123184"/>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One checkpoint is one cut (ADR-008)</a:t>
            </a:r>
          </a:p>
          <a:p>
            <a:pPr>
              <a:lnSpc>
                <a:spcPct val="115000"/>
              </a:lnSpc>
              <a:spcBef>
                <a:spcPts val="0"/>
              </a:spcBef>
              <a:spcAft>
                <a:spcPts val="600"/>
              </a:spcAft>
            </a:pPr>
            <a:r>
              <a:rPr sz="1250" b="0" i="0">
                <a:solidFill>
                  <a:srgbClr val="DCEBEA"/>
                </a:solidFill>
                <a:latin typeface="IBM Plex Sans"/>
              </a:rPr>
              <a:t>Output cut at the same marker</a:t>
            </a:r>
          </a:p>
          <a:p>
            <a:pPr>
              <a:lnSpc>
                <a:spcPct val="115000"/>
              </a:lnSpc>
              <a:spcBef>
                <a:spcPts val="0"/>
              </a:spcBef>
              <a:spcAft>
                <a:spcPts val="600"/>
              </a:spcAft>
            </a:pPr>
            <a:r>
              <a:rPr sz="1250" b="0" i="0">
                <a:solidFill>
                  <a:srgbClr val="DCEBEA"/>
                </a:solidFill>
                <a:latin typeface="IBM Plex Sans"/>
              </a:rPr>
              <a:t>Recovery: what a restart gives back</a:t>
            </a:r>
          </a:p>
          <a:p>
            <a:pPr>
              <a:lnSpc>
                <a:spcPct val="115000"/>
              </a:lnSpc>
              <a:spcBef>
                <a:spcPts val="0"/>
              </a:spcBef>
              <a:spcAft>
                <a:spcPts val="600"/>
              </a:spcAft>
            </a:pPr>
            <a:r>
              <a:rPr sz="1250" b="0" i="0">
                <a:solidFill>
                  <a:srgbClr val="DCEBEA"/>
                </a:solidFill>
                <a:latin typeface="IBM Plex Sans"/>
              </a:rPr>
              <a:t>Weights and retractions</a:t>
            </a:r>
          </a:p>
          <a:p>
            <a:pPr>
              <a:lnSpc>
                <a:spcPct val="115000"/>
              </a:lnSpc>
              <a:spcBef>
                <a:spcPts val="0"/>
              </a:spcBef>
              <a:spcAft>
                <a:spcPts val="600"/>
              </a:spcAft>
            </a:pPr>
            <a:r>
              <a:rPr sz="1250" b="0" i="0">
                <a:solidFill>
                  <a:srgbClr val="DCEBEA"/>
                </a:solidFill>
                <a:latin typeface="IBM Plex Sans"/>
              </a:rPr>
              <a:t>Late data: two settings, two meanings</a:t>
            </a:r>
          </a:p>
          <a:p>
            <a:pPr>
              <a:lnSpc>
                <a:spcPct val="115000"/>
              </a:lnSpc>
              <a:spcBef>
                <a:spcPts val="0"/>
              </a:spcBef>
              <a:spcAft>
                <a:spcPts val="600"/>
              </a:spcAft>
            </a:pPr>
            <a:r>
              <a:rPr sz="1250" b="0" i="0">
                <a:solidFill>
                  <a:srgbClr val="DCEBEA"/>
                </a:solidFill>
                <a:latin typeface="IBM Plex Sans"/>
              </a:rPr>
              <a:t>Survival, and state that degrades</a:t>
            </a:r>
          </a:p>
          <a:p>
            <a:pPr>
              <a:lnSpc>
                <a:spcPct val="115000"/>
              </a:lnSpc>
              <a:spcBef>
                <a:spcPts val="0"/>
              </a:spcBef>
              <a:spcAft>
                <a:spcPts val="600"/>
              </a:spcAft>
            </a:pPr>
            <a:r>
              <a:rPr sz="1250" b="0" i="0">
                <a:solidFill>
                  <a:srgbClr val="DCEBEA"/>
                </a:solidFill>
                <a:latin typeface="IBM Plex Sans"/>
              </a:rPr>
              <a:t>A bound that changes the answer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21</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0F1A1C"/>
                </a:solidFill>
                <a:latin typeface="IBM Plex Sans Condensed"/>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0F1A1C"/>
                </a:solidFill>
                <a:latin typeface="IBM Plex Sans Condensed"/>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Including a shuffling one: the pumps feeding a multi-lane query were missing from the offsets map, so such a checkpoint could not be rewound to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22</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IBM Plex Sans"/>
                        </a:rPr>
                        <a:t>Sink kind</a:t>
                      </a:r>
                    </a:p>
                  </a:txBody>
                  <a:tcPr marL="82296" marR="64008" marT="32004" marB="32004" anchor="ctr">
                    <a:solidFill>
                      <a:srgbClr val="0A5C5B"/>
                    </a:solidFill>
                  </a:tcPr>
                </a:tc>
                <a:tc>
                  <a:txBody>
                    <a:bodyPr wrap="square"/>
                    <a:lstStyle/>
                    <a:p>
                      <a:r>
                        <a:rPr sz="1300" b="1">
                          <a:solidFill>
                            <a:srgbClr val="FFFFFF"/>
                          </a:solidFill>
                          <a:latin typeface="IBM Plex Sans"/>
                        </a:rPr>
                        <a:t>Shipped examples</a:t>
                      </a:r>
                    </a:p>
                  </a:txBody>
                  <a:tcPr marL="82296" marR="64008" marT="32004" marB="32004" anchor="ctr">
                    <a:solidFill>
                      <a:srgbClr val="0A5C5B"/>
                    </a:solidFill>
                  </a:tcPr>
                </a:tc>
                <a:tc>
                  <a:txBody>
                    <a:bodyPr wrap="square"/>
                    <a:lstStyle/>
                    <a:p>
                      <a:r>
                        <a:rPr sz="1300" b="1">
                          <a:solidFill>
                            <a:srgbClr val="FFFFFF"/>
                          </a:solidFill>
                          <a:latin typeface="IBM Plex Sans"/>
                        </a:rPr>
                        <a:t>Delivery</a:t>
                      </a:r>
                    </a:p>
                  </a:txBody>
                  <a:tcPr marL="82296" marR="64008" marT="32004" marB="32004" anchor="ctr">
                    <a:solidFill>
                      <a:srgbClr val="0A5C5B"/>
                    </a:solidFill>
                  </a:tcPr>
                </a:tc>
                <a:tc>
                  <a:txBody>
                    <a:bodyPr wrap="square"/>
                    <a:lstStyle/>
                    <a:p>
                      <a:r>
                        <a:rPr sz="1300" b="1">
                          <a:solidFill>
                            <a:srgbClr val="FFFFFF"/>
                          </a:solidFill>
                          <a:latin typeface="IBM Plex Sans"/>
                        </a:rPr>
                        <a:t>How</a:t>
                      </a:r>
                    </a:p>
                  </a:txBody>
                  <a:tcPr marL="82296" marR="64008" marT="32004" marB="32004" anchor="ctr">
                    <a:solidFill>
                      <a:srgbClr val="0A5C5B"/>
                    </a:solidFill>
                  </a:tcPr>
                </a:tc>
              </a:tr>
              <a:tr h="870356">
                <a:tc>
                  <a:txBody>
                    <a:bodyPr wrap="square"/>
                    <a:lstStyle/>
                    <a:p>
                      <a:r>
                        <a:rPr sz="1550" b="1">
                          <a:solidFill>
                            <a:srgbClr val="0A5C5B"/>
                          </a:solidFill>
                          <a:latin typeface="IBM Plex Sans"/>
                        </a:rPr>
                        <a:t>Transactional</a:t>
                      </a:r>
                    </a:p>
                  </a:txBody>
                  <a:tcPr marL="82296" marR="64008" marT="32004" marB="32004" anchor="ctr">
                    <a:solidFill>
                      <a:srgbClr val="FFFFFF"/>
                    </a:solidFill>
                  </a:tcPr>
                </a:tc>
                <a:tc>
                  <a:txBody>
                    <a:bodyPr wrap="square"/>
                    <a:lstStyle/>
                    <a:p>
                      <a:r>
                        <a:rPr sz="1550" b="0">
                          <a:solidFill>
                            <a:srgbClr val="0F1A1C"/>
                          </a:solidFill>
                          <a:latin typeface="IBM Plex Sans"/>
                        </a:rPr>
                        <a:t>jdbc-sink, kafka-sink, delta-sink, iceberg-sink</a:t>
                      </a:r>
                    </a:p>
                  </a:txBody>
                  <a:tcPr marL="82296" marR="64008" marT="32004" marB="32004" anchor="ctr">
                    <a:solidFill>
                      <a:srgbClr val="FFFFFF"/>
                    </a:solidFill>
                  </a:tcPr>
                </a:tc>
                <a:tc>
                  <a:txBody>
                    <a:bodyPr wrap="square"/>
                    <a:lstStyle/>
                    <a:p>
                      <a:r>
                        <a:rPr sz="1550" b="0">
                          <a:solidFill>
                            <a:srgbClr val="0F1A1C"/>
                          </a:solidFill>
                          <a:latin typeface="IBM Plex Sans"/>
                        </a:rPr>
                        <a:t>Exactly once</a:t>
                      </a:r>
                    </a:p>
                  </a:txBody>
                  <a:tcPr marL="82296" marR="64008" marT="32004" marB="32004" anchor="ctr">
                    <a:solidFill>
                      <a:srgbClr val="FFFFFF"/>
                    </a:solidFill>
                  </a:tcPr>
                </a:tc>
                <a:tc>
                  <a:txBody>
                    <a:bodyPr wrap="square"/>
                    <a:lstStyle/>
                    <a:p>
                      <a:r>
                        <a:rPr sz="1550" b="0">
                          <a:solidFill>
                            <a:srgbClr val="0F1A1C"/>
                          </a:solidFill>
                          <a:latin typeface="IBM Plex Sans"/>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0A5C5B"/>
                          </a:solidFill>
                          <a:latin typeface="IBM Plex Sans"/>
                        </a:rPr>
                        <a:t>Idempotent upsert</a:t>
                      </a:r>
                    </a:p>
                  </a:txBody>
                  <a:tcPr marL="82296" marR="64008" marT="32004" marB="32004" anchor="ctr">
                    <a:solidFill>
                      <a:srgbClr val="EEF6F5"/>
                    </a:solidFill>
                  </a:tcPr>
                </a:tc>
                <a:tc>
                  <a:txBody>
                    <a:bodyPr wrap="square"/>
                    <a:lstStyle/>
                    <a:p>
                      <a:r>
                        <a:rPr sz="1550" b="0">
                          <a:solidFill>
                            <a:srgbClr val="0F1A1C"/>
                          </a:solidFill>
                          <a:latin typeface="IBM Plex Sans"/>
                        </a:rPr>
                        <a:t>aerospike-sink</a:t>
                      </a:r>
                    </a:p>
                  </a:txBody>
                  <a:tcPr marL="82296" marR="64008" marT="32004" marB="32004" anchor="ctr">
                    <a:solidFill>
                      <a:srgbClr val="EEF6F5"/>
                    </a:solidFill>
                  </a:tcPr>
                </a:tc>
                <a:tc>
                  <a:txBody>
                    <a:bodyPr wrap="square"/>
                    <a:lstStyle/>
                    <a:p>
                      <a:r>
                        <a:rPr sz="1550" b="0">
                          <a:solidFill>
                            <a:srgbClr val="0F1A1C"/>
                          </a:solidFill>
                          <a:latin typeface="IBM Plex Sans"/>
                        </a:rPr>
                        <a:t>Effectively once</a:t>
                      </a:r>
                    </a:p>
                  </a:txBody>
                  <a:tcPr marL="82296" marR="64008" marT="32004" marB="32004" anchor="ctr">
                    <a:solidFill>
                      <a:srgbClr val="EEF6F5"/>
                    </a:solidFill>
                  </a:tcPr>
                </a:tc>
                <a:tc>
                  <a:txBody>
                    <a:bodyPr wrap="square"/>
                    <a:lstStyle/>
                    <a:p>
                      <a:r>
                        <a:rPr sz="1550" b="0">
                          <a:solidFill>
                            <a:srgbClr val="0F1A1C"/>
                          </a:solidFill>
                          <a:latin typeface="IBM Plex Sans"/>
                        </a:rPr>
                        <a:t>A repeated upsert rewrites the values already there</a:t>
                      </a:r>
                    </a:p>
                  </a:txBody>
                  <a:tcPr marL="82296" marR="64008" marT="32004" marB="32004" anchor="ctr">
                    <a:solidFill>
                      <a:srgbClr val="EEF6F5"/>
                    </a:solidFill>
                  </a:tcPr>
                </a:tc>
              </a:tr>
              <a:tr h="616813">
                <a:tc>
                  <a:txBody>
                    <a:bodyPr wrap="square"/>
                    <a:lstStyle/>
                    <a:p>
                      <a:r>
                        <a:rPr sz="1550" b="1">
                          <a:solidFill>
                            <a:srgbClr val="0A5C5B"/>
                          </a:solidFill>
                          <a:latin typeface="IBM Plex Sans"/>
                        </a:rPr>
                        <a:t>Plain append</a:t>
                      </a:r>
                    </a:p>
                  </a:txBody>
                  <a:tcPr marL="82296" marR="64008" marT="32004" marB="32004" anchor="ctr">
                    <a:solidFill>
                      <a:srgbClr val="FFFFFF"/>
                    </a:solidFill>
                  </a:tcPr>
                </a:tc>
                <a:tc>
                  <a:txBody>
                    <a:bodyPr wrap="square"/>
                    <a:lstStyle/>
                    <a:p>
                      <a:r>
                        <a:rPr sz="1550" b="0">
                          <a:solidFill>
                            <a:srgbClr val="0F1A1C"/>
                          </a:solidFill>
                          <a:latin typeface="IBM Plex Sans"/>
                        </a:rPr>
                        <a:t>filesystem</a:t>
                      </a:r>
                    </a:p>
                  </a:txBody>
                  <a:tcPr marL="82296" marR="64008" marT="32004" marB="32004" anchor="ctr">
                    <a:solidFill>
                      <a:srgbClr val="FFFFFF"/>
                    </a:solidFill>
                  </a:tcPr>
                </a:tc>
                <a:tc>
                  <a:txBody>
                    <a:bodyPr wrap="square"/>
                    <a:lstStyle/>
                    <a:p>
                      <a:r>
                        <a:rPr sz="1550" b="0">
                          <a:solidFill>
                            <a:srgbClr val="0F1A1C"/>
                          </a:solidFill>
                          <a:latin typeface="IBM Plex Sans"/>
                        </a:rPr>
                        <a:t>At least once</a:t>
                      </a:r>
                    </a:p>
                  </a:txBody>
                  <a:tcPr marL="82296" marR="64008" marT="32004" marB="32004" anchor="ctr">
                    <a:solidFill>
                      <a:srgbClr val="FFFFFF"/>
                    </a:solidFill>
                  </a:tcPr>
                </a:tc>
                <a:tc>
                  <a:txBody>
                    <a:bodyPr wrap="square"/>
                    <a:lstStyle/>
                    <a:p>
                      <a:r>
                        <a:rPr sz="1550" b="0">
                          <a:solidFill>
                            <a:srgbClr val="0F1A1C"/>
                          </a:solidFill>
                          <a:latin typeface="IBM Plex Sans"/>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What a restart gives back, and what it refuses to</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23</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Registrations come back from a journal</a:t>
            </a:r>
          </a:p>
          <a:p>
            <a:pPr lvl="1">
              <a:lnSpc>
                <a:spcPct val="120000"/>
              </a:lnSpc>
              <a:spcBef>
                <a:spcPts val="0"/>
              </a:spcBef>
              <a:spcAft>
                <a:spcPts val="0"/>
              </a:spcAft>
            </a:pPr>
            <a:r>
              <a:rPr sz="1550" b="0">
                <a:solidFill>
                  <a:srgbClr val="3E4D50"/>
                </a:solidFill>
                <a:latin typeface="IBM Plex Sans"/>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State comes back only if checkpointing is on</a:t>
            </a:r>
          </a:p>
          <a:p>
            <a:pPr lvl="1">
              <a:lnSpc>
                <a:spcPct val="120000"/>
              </a:lnSpc>
              <a:spcBef>
                <a:spcPts val="0"/>
              </a:spcBef>
              <a:spcAft>
                <a:spcPts val="0"/>
              </a:spcAft>
            </a:pPr>
            <a:r>
              <a:rPr sz="1550" b="0">
                <a:solidFill>
                  <a:srgbClr val="3E4D50"/>
                </a:solidFill>
                <a:latin typeface="IBM Plex Sans"/>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Owners are re-checked on replay</a:t>
            </a:r>
          </a:p>
          <a:p>
            <a:pPr lvl="1">
              <a:lnSpc>
                <a:spcPct val="120000"/>
              </a:lnSpc>
              <a:spcBef>
                <a:spcPts val="0"/>
              </a:spcBef>
              <a:spcAft>
                <a:spcPts val="0"/>
              </a:spcAft>
            </a:pPr>
            <a:r>
              <a:rPr sz="1550" b="0">
                <a:solidFill>
                  <a:srgbClr val="3E4D50"/>
                </a:solidFill>
                <a:latin typeface="IBM Plex Sans"/>
              </a:rPr>
              <a:t>A principal who has lost access does not get the query back; recovery names it.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Rows in flight between lanes are refused, not dropped</a:t>
            </a:r>
          </a:p>
          <a:p>
            <a:pPr lvl="1">
              <a:lnSpc>
                <a:spcPct val="120000"/>
              </a:lnSpc>
              <a:spcBef>
                <a:spcPts val="0"/>
              </a:spcBef>
              <a:spcAft>
                <a:spcPts val="0"/>
              </a:spcAft>
            </a:pPr>
            <a:r>
              <a:rPr sz="1550" b="0">
                <a:solidFill>
                  <a:srgbClr val="3E4D50"/>
                </a:solidFill>
                <a:latin typeface="IBM Plex Sans"/>
              </a:rPr>
              <a:t>The exchange between lanes is not cut. No compiled pipeline sends on it, and a checkpoint that would have to cut it is refused rather than stored wrong.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Every change carries a weight, from the engine to the SDK</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24</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One arithmetic for everything</a:t>
            </a:r>
          </a:p>
          <a:p>
            <a:pPr lvl="1">
              <a:lnSpc>
                <a:spcPct val="120000"/>
              </a:lnSpc>
              <a:spcBef>
                <a:spcPts val="0"/>
              </a:spcBef>
              <a:spcAft>
                <a:spcPts val="0"/>
              </a:spcAft>
            </a:pPr>
            <a:r>
              <a:rPr sz="1550" b="0">
                <a:solidFill>
                  <a:srgbClr val="3E4D50"/>
                </a:solidFill>
                <a:latin typeface="IBM Plex Sans"/>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Carried the whole way</a:t>
            </a:r>
          </a:p>
          <a:p>
            <a:pPr lvl="1">
              <a:lnSpc>
                <a:spcPct val="120000"/>
              </a:lnSpc>
              <a:spcBef>
                <a:spcPts val="0"/>
              </a:spcBef>
              <a:spcAft>
                <a:spcPts val="0"/>
              </a:spcAft>
            </a:pPr>
            <a:r>
              <a:rPr sz="1550" b="0">
                <a:solidFill>
                  <a:srgbClr val="3E4D50"/>
                </a:solidFill>
                <a:latin typeface="IBM Plex Sans"/>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Present while the weights sum positive</a:t>
            </a:r>
          </a:p>
          <a:p>
            <a:pPr lvl="1">
              <a:lnSpc>
                <a:spcPct val="120000"/>
              </a:lnSpc>
              <a:spcBef>
                <a:spcPts val="0"/>
              </a:spcBef>
              <a:spcAft>
                <a:spcPts val="0"/>
              </a:spcAft>
            </a:pPr>
            <a:r>
              <a:rPr sz="1550" b="0">
                <a:solidFill>
                  <a:srgbClr val="3E4D50"/>
                </a:solidFill>
                <a:latin typeface="IBM Plex Sans"/>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 consumer that ignores weights drifts</a:t>
            </a:r>
          </a:p>
          <a:p>
            <a:pPr lvl="1">
              <a:lnSpc>
                <a:spcPct val="120000"/>
              </a:lnSpc>
              <a:spcBef>
                <a:spcPts val="0"/>
              </a:spcBef>
              <a:spcAft>
                <a:spcPts val="0"/>
              </a:spcAft>
            </a:pPr>
            <a:r>
              <a:rPr sz="1550" b="0">
                <a:solidFill>
                  <a:srgbClr val="3E4D50"/>
                </a:solidFill>
                <a:latin typeface="IBM Plex Sans"/>
              </a:rPr>
              <a:t>Overwrite by key if only current values matter; apply the weights if you keep your own 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Two settings, two meanings: waiting and correcting</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Decides when a window is complete</a:t>
            </a:r>
          </a:p>
          <a:p>
            <a:pPr lvl="1">
              <a:lnSpc>
                <a:spcPct val="120000"/>
              </a:lnSpc>
              <a:spcBef>
                <a:spcPts val="0"/>
              </a:spcBef>
              <a:spcAft>
                <a:spcPts val="0"/>
              </a:spcAft>
            </a:pPr>
            <a:r>
              <a:rPr sz="1350" b="0">
                <a:solidFill>
                  <a:srgbClr val="3E4D50"/>
                </a:solidFill>
                <a:latin typeface="IBM Plex Sans"/>
              </a:rPr>
              <a:t>10 seconds unless the stream says otherwise; the watermark trails the data by it.</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join is as current as its laggiest input</a:t>
            </a:r>
          </a:p>
          <a:p>
            <a:pPr lvl="1">
              <a:lnSpc>
                <a:spcPct val="120000"/>
              </a:lnSpc>
              <a:spcBef>
                <a:spcPts val="0"/>
              </a:spcBef>
              <a:spcAft>
                <a:spcPts val="0"/>
              </a:spcAft>
            </a:pPr>
            <a:r>
              <a:rPr sz="1350" b="0">
                <a:solidFill>
                  <a:srgbClr val="3E4D50"/>
                </a:solidFill>
                <a:latin typeface="IBM Plex Sans"/>
              </a:rPr>
              <a:t>It takes the minimum of its streams' watermarks.</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Unitless is seconds</a:t>
            </a:r>
          </a:p>
          <a:p>
            <a:pPr lvl="1">
              <a:lnSpc>
                <a:spcPct val="120000"/>
              </a:lnSpc>
              <a:spcBef>
                <a:spcPts val="0"/>
              </a:spcBef>
              <a:spcAft>
                <a:spcPts val="0"/>
              </a:spcAft>
            </a:pPr>
            <a:r>
              <a:rPr sz="1350" b="0">
                <a:solidFill>
                  <a:srgbClr val="3E4D50"/>
                </a:solidFill>
                <a:latin typeface="IBM Plex Sans"/>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Zero by default</a:t>
            </a:r>
          </a:p>
          <a:p>
            <a:pPr lvl="1">
              <a:lnSpc>
                <a:spcPct val="120000"/>
              </a:lnSpc>
              <a:spcBef>
                <a:spcPts val="0"/>
              </a:spcBef>
              <a:spcAft>
                <a:spcPts val="0"/>
              </a:spcAft>
            </a:pPr>
            <a:r>
              <a:rPr sz="1350" b="0">
                <a:solidFill>
                  <a:srgbClr val="3E4D50"/>
                </a:solidFill>
                <a:latin typeface="IBM Plex Sans"/>
              </a:rPr>
              <a:t>A row arriving after its window closed is counted as late and dropped.</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Declared, a late row is a correction</a:t>
            </a:r>
          </a:p>
          <a:p>
            <a:pPr lvl="1">
              <a:lnSpc>
                <a:spcPct val="120000"/>
              </a:lnSpc>
              <a:spcBef>
                <a:spcPts val="0"/>
              </a:spcBef>
              <a:spcAft>
                <a:spcPts val="0"/>
              </a:spcAft>
            </a:pPr>
            <a:r>
              <a:rPr sz="1350" b="0">
                <a:solidFill>
                  <a:srgbClr val="3E4D50"/>
                </a:solidFill>
                <a:latin typeface="IBM Plex Sans"/>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Published when event time next moves</a:t>
            </a:r>
          </a:p>
          <a:p>
            <a:pPr lvl="1">
              <a:lnSpc>
                <a:spcPct val="120000"/>
              </a:lnSpc>
              <a:spcBef>
                <a:spcPts val="0"/>
              </a:spcBef>
              <a:spcAft>
                <a:spcPts val="0"/>
              </a:spcAft>
            </a:pPr>
            <a:r>
              <a:rPr sz="1350" b="0">
                <a:solidFill>
                  <a:srgbClr val="3E4D50"/>
                </a:solidFill>
                <a:latin typeface="IBM Plex Sans"/>
              </a:rPr>
              <a:t>Not the instant the late row is read.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Failures that end one thing, loudly, instead of everything, quietly</a:t>
            </a:r>
          </a:p>
        </p:txBody>
      </p:sp>
      <p:sp>
        <p:nvSpPr>
          <p:cNvPr id="6" name="Rectangle 5"/>
          <p:cNvSpPr/>
          <p:nvPr/>
        </p:nvSpPr>
        <p:spPr>
          <a:xfrm>
            <a:off x="777240" y="116840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26</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A node claims the directories it writes</a:t>
            </a:r>
          </a:p>
          <a:p>
            <a:pPr lvl="1">
              <a:lnSpc>
                <a:spcPct val="120000"/>
              </a:lnSpc>
              <a:spcBef>
                <a:spcPts val="0"/>
              </a:spcBef>
              <a:spcAft>
                <a:spcPts val="0"/>
              </a:spcAft>
            </a:pPr>
            <a:r>
              <a:rPr sz="1550" b="0">
                <a:solidFill>
                  <a:srgbClr val="3E4D50"/>
                </a:solidFill>
                <a:latin typeface="IBM Plex Sans"/>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Undecodable input goes to a dead-letter directory</a:t>
            </a:r>
          </a:p>
          <a:p>
            <a:pPr lvl="1">
              <a:lnSpc>
                <a:spcPct val="120000"/>
              </a:lnSpc>
              <a:spcBef>
                <a:spcPts val="0"/>
              </a:spcBef>
              <a:spcAft>
                <a:spcPts val="0"/>
              </a:spcAft>
            </a:pPr>
            <a:r>
              <a:rPr sz="1550" b="0">
                <a:solidFill>
                  <a:srgbClr val="3E4D50"/>
                </a:solidFill>
                <a:latin typeface="IBM Plex Sans"/>
              </a:rPr>
              <a:t>Instead of ending the query.</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State past its ceiling can spill instead of stopping</a:t>
            </a:r>
          </a:p>
          <a:p>
            <a:pPr lvl="1">
              <a:lnSpc>
                <a:spcPct val="120000"/>
              </a:lnSpc>
              <a:spcBef>
                <a:spcPts val="0"/>
              </a:spcBef>
              <a:spcAft>
                <a:spcPts val="0"/>
              </a:spcAft>
            </a:pPr>
            <a:r>
              <a:rPr sz="1550" b="0">
                <a:solidFill>
                  <a:srgbClr val="3E4D50"/>
                </a:solidFill>
                <a:latin typeface="IBM Plex Sans"/>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 ceiling you can see coming</a:t>
            </a:r>
          </a:p>
          <a:p>
            <a:pPr lvl="1">
              <a:lnSpc>
                <a:spcPct val="120000"/>
              </a:lnSpc>
              <a:spcBef>
                <a:spcPts val="0"/>
              </a:spcBef>
              <a:spcAft>
                <a:spcPts val="0"/>
              </a:spcAft>
            </a:pPr>
            <a:r>
              <a:rPr sz="1550" b="0">
                <a:solidFill>
                  <a:srgbClr val="3E4D50"/>
                </a:solidFill>
                <a:latin typeface="IBM Plex Sans"/>
              </a:rPr>
              <a:t>Each query reports state held against its ceiling: alert on pravaha_query_state_fraction before PRV-4001 refuses it.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 lane fails alone</a:t>
            </a:r>
          </a:p>
          <a:p>
            <a:pPr lvl="1">
              <a:lnSpc>
                <a:spcPct val="120000"/>
              </a:lnSpc>
              <a:spcBef>
                <a:spcPts val="0"/>
              </a:spcBef>
              <a:spcAft>
                <a:spcPts val="0"/>
              </a:spcAft>
            </a:pPr>
            <a:r>
              <a:rPr sz="1550" b="0">
                <a:solidFill>
                  <a:srgbClr val="3E4D50"/>
                </a:solidFill>
                <a:latin typeface="IBM Plex Sans"/>
              </a:rPr>
              <a:t>A throwing pipeline drops its lane; sibling lanes never learn of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0F1A1C"/>
                </a:solidFill>
                <a:latin typeface="IBM Plex Sans Condensed"/>
              </a:rPr>
              <a:t>A bound that changes the answer belongs in the query</a:t>
            </a:r>
          </a:p>
        </p:txBody>
      </p:sp>
      <p:sp>
        <p:nvSpPr>
          <p:cNvPr id="6" name="Rectangle 5"/>
          <p:cNvSpPr/>
          <p:nvPr/>
        </p:nvSpPr>
        <p:spPr>
          <a:xfrm>
            <a:off x="777240" y="126654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27</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IBM Plex Sans"/>
                        </a:rPr>
                        <a:t>Holder</a:t>
                      </a:r>
                    </a:p>
                  </a:txBody>
                  <a:tcPr marL="82296" marR="64008" marT="32004" marB="32004" anchor="ctr">
                    <a:solidFill>
                      <a:srgbClr val="0A5C5B"/>
                    </a:solidFill>
                  </a:tcPr>
                </a:tc>
                <a:tc>
                  <a:txBody>
                    <a:bodyPr wrap="square"/>
                    <a:lstStyle/>
                    <a:p>
                      <a:r>
                        <a:rPr sz="1300" b="1">
                          <a:solidFill>
                            <a:srgbClr val="FFFFFF"/>
                          </a:solidFill>
                          <a:latin typeface="IBM Plex Sans"/>
                        </a:rPr>
                        <a:t>Bounded by</a:t>
                      </a:r>
                    </a:p>
                  </a:txBody>
                  <a:tcPr marL="82296" marR="64008" marT="32004" marB="32004" anchor="ctr">
                    <a:solidFill>
                      <a:srgbClr val="0A5C5B"/>
                    </a:solidFill>
                  </a:tcPr>
                </a:tc>
                <a:tc>
                  <a:txBody>
                    <a:bodyPr wrap="square"/>
                    <a:lstStyle/>
                    <a:p>
                      <a:r>
                        <a:rPr sz="1300" b="1">
                          <a:solidFill>
                            <a:srgbClr val="FFFFFF"/>
                          </a:solidFill>
                          <a:latin typeface="IBM Plex Sans"/>
                        </a:rPr>
                        <a:t>On exceeding</a:t>
                      </a:r>
                    </a:p>
                  </a:txBody>
                  <a:tcPr marL="82296" marR="64008" marT="32004" marB="32004" anchor="ctr">
                    <a:solidFill>
                      <a:srgbClr val="0A5C5B"/>
                    </a:solidFill>
                  </a:tcPr>
                </a:tc>
              </a:tr>
              <a:tr h="346913">
                <a:tc>
                  <a:txBody>
                    <a:bodyPr wrap="square"/>
                    <a:lstStyle/>
                    <a:p>
                      <a:r>
                        <a:rPr sz="1450" b="1">
                          <a:solidFill>
                            <a:srgbClr val="0A5C5B"/>
                          </a:solidFill>
                          <a:latin typeface="IBM Plex Sans"/>
                        </a:rPr>
                        <a:t>Windowed aggregate state</a:t>
                      </a:r>
                    </a:p>
                  </a:txBody>
                  <a:tcPr marL="82296" marR="64008" marT="32004" marB="32004" anchor="ctr">
                    <a:solidFill>
                      <a:srgbClr val="FFFFFF"/>
                    </a:solidFill>
                  </a:tcPr>
                </a:tc>
                <a:tc>
                  <a:txBody>
                    <a:bodyPr wrap="square"/>
                    <a:lstStyle/>
                    <a:p>
                      <a:r>
                        <a:rPr sz="1450" b="0">
                          <a:solidFill>
                            <a:srgbClr val="0F1A1C"/>
                          </a:solidFill>
                          <a:latin typeface="IBM Plex Sans"/>
                        </a:rPr>
                        <a:t>The window — it closes and releases</a:t>
                      </a:r>
                    </a:p>
                  </a:txBody>
                  <a:tcPr marL="82296" marR="64008" marT="32004" marB="32004" anchor="ctr">
                    <a:solidFill>
                      <a:srgbClr val="FFFFFF"/>
                    </a:solidFill>
                  </a:tcPr>
                </a:tc>
                <a:tc>
                  <a:txBody>
                    <a:bodyPr wrap="square"/>
                    <a:lstStyle/>
                    <a:p>
                      <a:r>
                        <a:rPr sz="1450" b="0">
                          <a:solidFill>
                            <a:srgbClr val="0F1A1C"/>
                          </a:solidFill>
                          <a:latin typeface="IBM Plex Sans"/>
                        </a:rPr>
                        <a:t>—</a:t>
                      </a:r>
                    </a:p>
                  </a:txBody>
                  <a:tcPr marL="82296" marR="64008" marT="32004" marB="32004" anchor="ctr">
                    <a:solidFill>
                      <a:srgbClr val="FFFFFF"/>
                    </a:solidFill>
                  </a:tcPr>
                </a:tc>
              </a:tr>
              <a:tr h="584098">
                <a:tc>
                  <a:txBody>
                    <a:bodyPr wrap="square"/>
                    <a:lstStyle/>
                    <a:p>
                      <a:r>
                        <a:rPr sz="1450" b="1">
                          <a:solidFill>
                            <a:srgbClr val="0A5C5B"/>
                          </a:solidFill>
                          <a:latin typeface="IBM Plex Sans"/>
                        </a:rPr>
                        <a:t>Unwindowed keyed aggregate</a:t>
                      </a:r>
                    </a:p>
                  </a:txBody>
                  <a:tcPr marL="82296" marR="64008" marT="32004" marB="32004" anchor="ctr">
                    <a:solidFill>
                      <a:srgbClr val="EEF6F5"/>
                    </a:solidFill>
                  </a:tcPr>
                </a:tc>
                <a:tc>
                  <a:txBody>
                    <a:bodyPr wrap="square"/>
                    <a:lstStyle/>
                    <a:p>
                      <a:r>
                        <a:rPr sz="1450" b="0">
                          <a:solidFill>
                            <a:srgbClr val="0F1A1C"/>
                          </a:solidFill>
                          <a:latin typeface="IBM Plex Sans"/>
                        </a:rPr>
                        <a:t>Nothing</a:t>
                      </a:r>
                    </a:p>
                  </a:txBody>
                  <a:tcPr marL="82296" marR="64008" marT="32004" marB="32004" anchor="ctr">
                    <a:solidFill>
                      <a:srgbClr val="EEF6F5"/>
                    </a:solidFill>
                  </a:tcPr>
                </a:tc>
                <a:tc>
                  <a:txBody>
                    <a:bodyPr wrap="square"/>
                    <a:lstStyle/>
                    <a:p>
                      <a:r>
                        <a:rPr sz="1450" b="0">
                          <a:solidFill>
                            <a:srgbClr val="0F1A1C"/>
                          </a:solidFill>
                          <a:latin typeface="IBM Plex Sans"/>
                        </a:rPr>
                        <a:t>Refused at planning (PRV-2050)</a:t>
                      </a:r>
                    </a:p>
                  </a:txBody>
                  <a:tcPr marL="82296" marR="64008" marT="32004" marB="32004" anchor="ctr">
                    <a:solidFill>
                      <a:srgbClr val="EEF6F5"/>
                    </a:solidFill>
                  </a:tcPr>
                </a:tc>
              </a:tr>
              <a:tr h="584098">
                <a:tc>
                  <a:txBody>
                    <a:bodyPr wrap="square"/>
                    <a:lstStyle/>
                    <a:p>
                      <a:r>
                        <a:rPr sz="1450" b="1">
                          <a:solidFill>
                            <a:srgbClr val="0A5C5B"/>
                          </a:solidFill>
                          <a:latin typeface="IBM Plex Sans"/>
                        </a:rPr>
                        <a:t>Stream-to-stream join state</a:t>
                      </a:r>
                    </a:p>
                  </a:txBody>
                  <a:tcPr marL="82296" marR="64008" marT="32004" marB="32004" anchor="ctr">
                    <a:solidFill>
                      <a:srgbClr val="FFFFFF"/>
                    </a:solidFill>
                  </a:tcPr>
                </a:tc>
                <a:tc>
                  <a:txBody>
                    <a:bodyPr wrap="square"/>
                    <a:lstStyle/>
                    <a:p>
                      <a:r>
                        <a:rPr sz="1450" b="0">
                          <a:solidFill>
                            <a:srgbClr val="0F1A1C"/>
                          </a:solidFill>
                          <a:latin typeface="IBM Plex Sans"/>
                        </a:rPr>
                        <a:t>The match window (1 h event time by default)</a:t>
                      </a:r>
                    </a:p>
                  </a:txBody>
                  <a:tcPr marL="82296" marR="64008" marT="32004" marB="32004" anchor="ctr">
                    <a:solidFill>
                      <a:srgbClr val="FFFFFF"/>
                    </a:solidFill>
                  </a:tcPr>
                </a:tc>
                <a:tc>
                  <a:txBody>
                    <a:bodyPr wrap="square"/>
                    <a:lstStyle/>
                    <a:p>
                      <a:r>
                        <a:rPr sz="1450" b="0">
                          <a:solidFill>
                            <a:srgbClr val="0F1A1C"/>
                          </a:solidFill>
                          <a:latin typeface="IBM Plex Sans"/>
                        </a:rPr>
                        <a:t>Rows released as the watermark passes</a:t>
                      </a:r>
                    </a:p>
                  </a:txBody>
                  <a:tcPr marL="82296" marR="64008" marT="32004" marB="32004" anchor="ctr">
                    <a:solidFill>
                      <a:srgbClr val="FFFFFF"/>
                    </a:solidFill>
                  </a:tcPr>
                </a:tc>
              </a:tr>
              <a:tr h="346913">
                <a:tc>
                  <a:txBody>
                    <a:bodyPr wrap="square"/>
                    <a:lstStyle/>
                    <a:p>
                      <a:r>
                        <a:rPr sz="1450" b="1">
                          <a:solidFill>
                            <a:srgbClr val="0A5C5B"/>
                          </a:solidFill>
                          <a:latin typeface="IBM Plex Sans"/>
                        </a:rPr>
                        <a:t>…and as a backstop</a:t>
                      </a:r>
                    </a:p>
                  </a:txBody>
                  <a:tcPr marL="82296" marR="64008" marT="32004" marB="32004" anchor="ctr">
                    <a:solidFill>
                      <a:srgbClr val="EEF6F5"/>
                    </a:solidFill>
                  </a:tcPr>
                </a:tc>
                <a:tc>
                  <a:txBody>
                    <a:bodyPr wrap="square"/>
                    <a:lstStyle/>
                    <a:p>
                      <a:r>
                        <a:rPr sz="1450" b="0">
                          <a:solidFill>
                            <a:srgbClr val="0F1A1C"/>
                          </a:solidFill>
                          <a:latin typeface="IBM Plex Sans"/>
                        </a:rPr>
                        <a:t>maxRowsPerSide</a:t>
                      </a:r>
                    </a:p>
                  </a:txBody>
                  <a:tcPr marL="82296" marR="64008" marT="32004" marB="32004" anchor="ctr">
                    <a:solidFill>
                      <a:srgbClr val="EEF6F5"/>
                    </a:solidFill>
                  </a:tcPr>
                </a:tc>
                <a:tc>
                  <a:txBody>
                    <a:bodyPr wrap="square"/>
                    <a:lstStyle/>
                    <a:p>
                      <a:r>
                        <a:rPr sz="1450" b="0">
                          <a:solidFill>
                            <a:srgbClr val="0F1A1C"/>
                          </a:solidFill>
                          <a:latin typeface="IBM Plex Sans"/>
                        </a:rPr>
                        <a:t>Fails (PRV-3021) — never evicts</a:t>
                      </a:r>
                    </a:p>
                  </a:txBody>
                  <a:tcPr marL="82296" marR="64008" marT="32004" marB="32004" anchor="ctr">
                    <a:solidFill>
                      <a:srgbClr val="EEF6F5"/>
                    </a:solidFill>
                  </a:tcPr>
                </a:tc>
              </a:tr>
              <a:tr h="584098">
                <a:tc>
                  <a:txBody>
                    <a:bodyPr wrap="square"/>
                    <a:lstStyle/>
                    <a:p>
                      <a:r>
                        <a:rPr sz="1450" b="1">
                          <a:solidFill>
                            <a:srgbClr val="0A5C5B"/>
                          </a:solidFill>
                          <a:latin typeface="IBM Plex Sans"/>
                        </a:rPr>
                        <a:t>A served view</a:t>
                      </a:r>
                    </a:p>
                  </a:txBody>
                  <a:tcPr marL="82296" marR="64008" marT="32004" marB="32004" anchor="ctr">
                    <a:solidFill>
                      <a:srgbClr val="FFFFFF"/>
                    </a:solidFill>
                  </a:tcPr>
                </a:tc>
                <a:tc>
                  <a:txBody>
                    <a:bodyPr wrap="square"/>
                    <a:lstStyle/>
                    <a:p>
                      <a:r>
                        <a:rPr sz="1450" b="0">
                          <a:solidFill>
                            <a:srgbClr val="0F1A1C"/>
                          </a:solidFill>
                          <a:latin typeface="IBM Plex Sans"/>
                        </a:rPr>
                        <a:t>Retention: forever unless RETAIN FOR says</a:t>
                      </a:r>
                    </a:p>
                  </a:txBody>
                  <a:tcPr marL="82296" marR="64008" marT="32004" marB="32004" anchor="ctr">
                    <a:solidFill>
                      <a:srgbClr val="FFFFFF"/>
                    </a:solidFill>
                  </a:tcPr>
                </a:tc>
                <a:tc>
                  <a:txBody>
                    <a:bodyPr wrap="square"/>
                    <a:lstStyle/>
                    <a:p>
                      <a:r>
                        <a:rPr sz="1450" b="0">
                          <a:solidFill>
                            <a:srgbClr val="0F1A1C"/>
                          </a:solidFill>
                          <a:latin typeface="IBM Plex Sans"/>
                        </a:rPr>
                        <a:t>Oldest rows forgotten</a:t>
                      </a:r>
                    </a:p>
                  </a:txBody>
                  <a:tcPr marL="82296" marR="64008" marT="32004" marB="32004" anchor="ctr">
                    <a:solidFill>
                      <a:srgbClr val="FFFFFF"/>
                    </a:solidFill>
                  </a:tcPr>
                </a:tc>
              </a:tr>
              <a:tr h="346913">
                <a:tc>
                  <a:txBody>
                    <a:bodyPr wrap="square"/>
                    <a:lstStyle/>
                    <a:p>
                      <a:r>
                        <a:rPr sz="1450" b="1">
                          <a:solidFill>
                            <a:srgbClr val="0A5C5B"/>
                          </a:solidFill>
                          <a:latin typeface="IBM Plex Sans"/>
                        </a:rPr>
                        <a:t>…and as a backstop</a:t>
                      </a:r>
                    </a:p>
                  </a:txBody>
                  <a:tcPr marL="82296" marR="64008" marT="32004" marB="32004" anchor="ctr">
                    <a:solidFill>
                      <a:srgbClr val="EEF6F5"/>
                    </a:solidFill>
                  </a:tcPr>
                </a:tc>
                <a:tc>
                  <a:txBody>
                    <a:bodyPr wrap="square"/>
                    <a:lstStyle/>
                    <a:p>
                      <a:r>
                        <a:rPr sz="1450" b="0">
                          <a:solidFill>
                            <a:srgbClr val="0F1A1C"/>
                          </a:solidFill>
                          <a:latin typeface="IBM Plex Sans"/>
                        </a:rPr>
                        <a:t>maxKeys</a:t>
                      </a:r>
                    </a:p>
                  </a:txBody>
                  <a:tcPr marL="82296" marR="64008" marT="32004" marB="32004" anchor="ctr">
                    <a:solidFill>
                      <a:srgbClr val="EEF6F5"/>
                    </a:solidFill>
                  </a:tcPr>
                </a:tc>
                <a:tc>
                  <a:txBody>
                    <a:bodyPr wrap="square"/>
                    <a:lstStyle/>
                    <a:p>
                      <a:r>
                        <a:rPr sz="1450" b="0">
                          <a:solidFill>
                            <a:srgbClr val="0F1A1C"/>
                          </a:solidFill>
                          <a:latin typeface="IBM Plex Sans"/>
                        </a:rPr>
                        <a:t>Fails (PRV-4022)</a:t>
                      </a:r>
                    </a:p>
                  </a:txBody>
                  <a:tcPr marL="82296" marR="64008" marT="32004" marB="32004" anchor="ctr">
                    <a:solidFill>
                      <a:srgbClr val="EEF6F5"/>
                    </a:solidFill>
                  </a:tcPr>
                </a:tc>
              </a:tr>
              <a:tr h="346913">
                <a:tc>
                  <a:txBody>
                    <a:bodyPr wrap="square"/>
                    <a:lstStyle/>
                    <a:p>
                      <a:r>
                        <a:rPr sz="1450" b="1">
                          <a:solidFill>
                            <a:srgbClr val="0A5C5B"/>
                          </a:solidFill>
                          <a:latin typeface="IBM Plex Sans"/>
                        </a:rPr>
                        <a:t>Subscriber buffers</a:t>
                      </a:r>
                    </a:p>
                  </a:txBody>
                  <a:tcPr marL="82296" marR="64008" marT="32004" marB="32004" anchor="ctr">
                    <a:solidFill>
                      <a:srgbClr val="FFFFFF"/>
                    </a:solidFill>
                  </a:tcPr>
                </a:tc>
                <a:tc>
                  <a:txBody>
                    <a:bodyPr wrap="square"/>
                    <a:lstStyle/>
                    <a:p>
                      <a:r>
                        <a:rPr sz="1450" b="0">
                          <a:solidFill>
                            <a:srgbClr val="0F1A1C"/>
                          </a:solidFill>
                          <a:latin typeface="IBM Plex Sans"/>
                        </a:rPr>
                        <a:t>The subscriber's options</a:t>
                      </a:r>
                    </a:p>
                  </a:txBody>
                  <a:tcPr marL="82296" marR="64008" marT="32004" marB="32004" anchor="ctr">
                    <a:solidFill>
                      <a:srgbClr val="FFFFFF"/>
                    </a:solidFill>
                  </a:tcPr>
                </a:tc>
                <a:tc>
                  <a:txBody>
                    <a:bodyPr wrap="square"/>
                    <a:lstStyle/>
                    <a:p>
                      <a:r>
                        <a:rPr sz="1450" b="0">
                          <a:solidFill>
                            <a:srgbClr val="0F1A1C"/>
                          </a:solidFill>
                          <a:latin typeface="IBM Plex Sans"/>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Scale on one node</a:t>
            </a:r>
          </a:p>
        </p:txBody>
      </p:sp>
      <p:sp>
        <p:nvSpPr>
          <p:cNvPr id="9" name="Rectangle 8"/>
          <p:cNvSpPr/>
          <p:nvPr/>
        </p:nvSpPr>
        <p:spPr>
          <a:xfrm>
            <a:off x="1005840" y="3123184"/>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What a lane is, and why it has no locks</a:t>
            </a:r>
          </a:p>
          <a:p>
            <a:pPr>
              <a:lnSpc>
                <a:spcPct val="115000"/>
              </a:lnSpc>
              <a:spcBef>
                <a:spcPts val="0"/>
              </a:spcBef>
              <a:spcAft>
                <a:spcPts val="600"/>
              </a:spcAft>
            </a:pPr>
            <a:r>
              <a:rPr sz="1250" b="0" i="0">
                <a:solidFill>
                  <a:srgbClr val="DCEBEA"/>
                </a:solidFill>
                <a:latin typeface="IBM Plex Sans"/>
              </a:rPr>
              <a:t>Threads follow cores, not queries</a:t>
            </a:r>
          </a:p>
          <a:p>
            <a:pPr>
              <a:lnSpc>
                <a:spcPct val="115000"/>
              </a:lnSpc>
              <a:spcBef>
                <a:spcPts val="0"/>
              </a:spcBef>
              <a:spcAft>
                <a:spcPts val="600"/>
              </a:spcAft>
            </a:pPr>
            <a:r>
              <a:rPr sz="1250" b="0" i="0">
                <a:solidFill>
                  <a:srgbClr val="DCEBEA"/>
                </a:solidFill>
                <a:latin typeface="IBM Plex Sans"/>
              </a:rPr>
              <a:t>Sharing lanes: the auto mode</a:t>
            </a:r>
          </a:p>
          <a:p>
            <a:pPr>
              <a:lnSpc>
                <a:spcPct val="115000"/>
              </a:lnSpc>
              <a:spcBef>
                <a:spcPts val="0"/>
              </a:spcBef>
              <a:spcAft>
                <a:spcPts val="600"/>
              </a:spcAft>
            </a:pPr>
            <a:r>
              <a:rPr sz="1250" b="0" i="0">
                <a:solidFill>
                  <a:srgbClr val="DCEBEA"/>
                </a:solidFill>
                <a:latin typeface="IBM Plex Sans"/>
              </a:rPr>
              <a:t>One row written once per lane</a:t>
            </a:r>
          </a:p>
          <a:p>
            <a:pPr>
              <a:lnSpc>
                <a:spcPct val="115000"/>
              </a:lnSpc>
              <a:spcBef>
                <a:spcPts val="0"/>
              </a:spcBef>
              <a:spcAft>
                <a:spcPts val="600"/>
              </a:spcAft>
            </a:pPr>
            <a:r>
              <a:rPr sz="1250" b="0" i="0">
                <a:solidFill>
                  <a:srgbClr val="DCEBEA"/>
                </a:solidFill>
                <a:latin typeface="IBM Plex Sans"/>
              </a:rPr>
              <a:t>Dedicated lanes and admin rebalance</a:t>
            </a:r>
          </a:p>
          <a:p>
            <a:pPr>
              <a:lnSpc>
                <a:spcPct val="115000"/>
              </a:lnSpc>
              <a:spcBef>
                <a:spcPts val="0"/>
              </a:spcBef>
              <a:spcAft>
                <a:spcPts val="600"/>
              </a:spcAft>
            </a:pPr>
            <a:r>
              <a:rPr sz="1250" b="0" i="0">
                <a:solidFill>
                  <a:srgbClr val="DCEBEA"/>
                </a:solidFill>
                <a:latin typeface="IBM Plex Sans"/>
              </a:rPr>
              <a:t>One reader at an exact seam (ADR-054)</a:t>
            </a:r>
          </a:p>
          <a:p>
            <a:pPr>
              <a:lnSpc>
                <a:spcPct val="115000"/>
              </a:lnSpc>
              <a:spcBef>
                <a:spcPts val="0"/>
              </a:spcBef>
              <a:spcAft>
                <a:spcPts val="600"/>
              </a:spcAft>
            </a:pPr>
            <a:r>
              <a:rPr sz="1250" b="0" i="0">
                <a:solidFill>
                  <a:srgbClr val="DCEBEA"/>
                </a:solidFill>
                <a:latin typeface="IBM Plex Sans"/>
              </a:rPr>
              <a:t>An equality index (ADR-055)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One thread, one inbox, one arena, one processor, one loop</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29</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 fixed pool of one thread per core steps many lanes in turn, the event-loop shape. A lane stays on its runner thread, so every ordering rule still holds.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Threads follow cores, not queries</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30</a:t>
            </a:r>
          </a:p>
        </p:txBody>
      </p:sp>
      <p:sp>
        <p:nvSpPr>
          <p:cNvPr id="10" name="Rectangle 9"/>
          <p:cNvSpPr/>
          <p:nvPr/>
        </p:nvSpPr>
        <p:spPr>
          <a:xfrm>
            <a:off x="777240"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Added by 200 queries on 24 cores — where they once added 400</a:t>
            </a:r>
          </a:p>
        </p:txBody>
      </p:sp>
      <p:sp>
        <p:nvSpPr>
          <p:cNvPr id="14" name="Rectangle 13"/>
          <p:cNvSpPr/>
          <p:nvPr/>
        </p:nvSpPr>
        <p:spPr>
          <a:xfrm>
            <a:off x="3486835"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Off-heap per idle query on a lane of its own; 1.3 MiB active</a:t>
            </a:r>
          </a:p>
        </p:txBody>
      </p:sp>
      <p:sp>
        <p:nvSpPr>
          <p:cNvPr id="18" name="Rectangle 17"/>
          <p:cNvSpPr/>
          <p:nvPr/>
        </p:nvSpPr>
        <p:spPr>
          <a:xfrm>
            <a:off x="6196431"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3E4D50"/>
                </a:solidFill>
                <a:latin typeface="IBM Plex Sans"/>
              </a:rPr>
              <a:t>To register each of a thousand distinct continuous queries</a:t>
            </a:r>
          </a:p>
        </p:txBody>
      </p:sp>
      <p:sp>
        <p:nvSpPr>
          <p:cNvPr id="22" name="Rectangle 21"/>
          <p:cNvSpPr/>
          <p:nvPr/>
        </p:nvSpPr>
        <p:spPr>
          <a:xfrm>
            <a:off x="8906027" y="1410919"/>
            <a:ext cx="2508427"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3E4D50"/>
                </a:solidFill>
                <a:latin typeface="IBM Plex Sans"/>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The per-query megabyte is the inbox</a:t>
            </a:r>
          </a:p>
          <a:p>
            <a:pPr lvl="1">
              <a:lnSpc>
                <a:spcPct val="120000"/>
              </a:lnSpc>
              <a:spcBef>
                <a:spcPts val="0"/>
              </a:spcBef>
              <a:spcAft>
                <a:spcPts val="0"/>
              </a:spcAft>
            </a:pPr>
            <a:r>
              <a:rPr sz="1450" b="0">
                <a:solidFill>
                  <a:srgbClr val="3E4D50"/>
                </a:solidFill>
                <a:latin typeface="IBM Plex Sans"/>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No per-query platform thread is left</a:t>
            </a:r>
          </a:p>
          <a:p>
            <a:pPr lvl="1">
              <a:lnSpc>
                <a:spcPct val="120000"/>
              </a:lnSpc>
              <a:spcBef>
                <a:spcPts val="0"/>
              </a:spcBef>
              <a:spcAft>
                <a:spcPts val="0"/>
              </a:spcAft>
            </a:pPr>
            <a:r>
              <a:rPr sz="1450" b="0">
                <a:solidFill>
                  <a:srgbClr val="3E4D50"/>
                </a:solidFill>
                <a:latin typeface="IBM Plex Sans"/>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0F1A1C"/>
                </a:solidFill>
                <a:latin typeface="IBM Plex Sans Condensed"/>
              </a:rPr>
              <a:t>Isolation while it is cheap, sharing once memory binds</a:t>
            </a:r>
          </a:p>
        </p:txBody>
      </p:sp>
      <p:sp>
        <p:nvSpPr>
          <p:cNvPr id="6" name="Rectangle 5"/>
          <p:cNvSpPr/>
          <p:nvPr/>
        </p:nvSpPr>
        <p:spPr>
          <a:xfrm>
            <a:off x="777240" y="1250188"/>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31</a:t>
            </a:r>
          </a:p>
        </p:txBody>
      </p:sp>
      <p:sp>
        <p:nvSpPr>
          <p:cNvPr id="10" name="Rectangle 9"/>
          <p:cNvSpPr/>
          <p:nvPr/>
        </p:nvSpPr>
        <p:spPr>
          <a:xfrm>
            <a:off x="777240" y="1378204"/>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IBM Plex Sans"/>
                        </a:rPr>
                        <a:t>Key</a:t>
                      </a:r>
                    </a:p>
                  </a:txBody>
                  <a:tcPr marL="82296" marR="64008" marT="32004" marB="32004" anchor="ctr">
                    <a:solidFill>
                      <a:srgbClr val="0A5C5B"/>
                    </a:solidFill>
                  </a:tcPr>
                </a:tc>
                <a:tc>
                  <a:txBody>
                    <a:bodyPr wrap="square"/>
                    <a:lstStyle/>
                    <a:p>
                      <a:r>
                        <a:rPr sz="1300" b="1">
                          <a:solidFill>
                            <a:srgbClr val="FFFFFF"/>
                          </a:solidFill>
                          <a:latin typeface="IBM Plex Sans"/>
                        </a:rPr>
                        <a:t>Default</a:t>
                      </a:r>
                    </a:p>
                  </a:txBody>
                  <a:tcPr marL="82296" marR="64008" marT="32004" marB="32004" anchor="ctr">
                    <a:solidFill>
                      <a:srgbClr val="0A5C5B"/>
                    </a:solidFill>
                  </a:tcPr>
                </a:tc>
                <a:tc>
                  <a:txBody>
                    <a:bodyPr wrap="square"/>
                    <a:lstStyle/>
                    <a:p>
                      <a:r>
                        <a:rPr sz="1300" b="1">
                          <a:solidFill>
                            <a:srgbClr val="FFFFFF"/>
                          </a:solidFill>
                          <a:latin typeface="IBM Plex Sans"/>
                        </a:rPr>
                        <a:t>Decides</a:t>
                      </a:r>
                    </a:p>
                  </a:txBody>
                  <a:tcPr marL="82296" marR="64008" marT="32004" marB="32004" anchor="ctr">
                    <a:solidFill>
                      <a:srgbClr val="0A5C5B"/>
                    </a:solidFill>
                  </a:tcPr>
                </a:tc>
              </a:tr>
              <a:tr h="821283">
                <a:tc>
                  <a:txBody>
                    <a:bodyPr wrap="square"/>
                    <a:lstStyle/>
                    <a:p>
                      <a:r>
                        <a:rPr sz="1450" b="1">
                          <a:solidFill>
                            <a:srgbClr val="0A5C5B"/>
                          </a:solidFill>
                          <a:latin typeface="IBM Plex Sans"/>
                        </a:rPr>
                        <a:t>enabled</a:t>
                      </a:r>
                    </a:p>
                  </a:txBody>
                  <a:tcPr marL="82296" marR="64008" marT="32004" marB="32004" anchor="ctr">
                    <a:solidFill>
                      <a:srgbClr val="FFFFFF"/>
                    </a:solidFill>
                  </a:tcPr>
                </a:tc>
                <a:tc>
                  <a:txBody>
                    <a:bodyPr wrap="square"/>
                    <a:lstStyle/>
                    <a:p>
                      <a:r>
                        <a:rPr sz="1450" b="0">
                          <a:solidFill>
                            <a:srgbClr val="0F1A1C"/>
                          </a:solidFill>
                          <a:latin typeface="IBM Plex Sans"/>
                        </a:rPr>
                        <a:t>auto</a:t>
                      </a:r>
                    </a:p>
                  </a:txBody>
                  <a:tcPr marL="82296" marR="64008" marT="32004" marB="32004" anchor="ctr">
                    <a:solidFill>
                      <a:srgbClr val="FFFFFF"/>
                    </a:solidFill>
                  </a:tcPr>
                </a:tc>
                <a:tc>
                  <a:txBody>
                    <a:bodyPr wrap="square"/>
                    <a:lstStyle/>
                    <a:p>
                      <a:r>
                        <a:rPr sz="1450" b="0">
                          <a:solidFill>
                            <a:srgbClr val="0F1A1C"/>
                          </a:solidFill>
                          <a:latin typeface="IBM Plex Sans"/>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0A5C5B"/>
                          </a:solidFill>
                          <a:latin typeface="IBM Plex Sans"/>
                        </a:rPr>
                        <a:t>auto-from</a:t>
                      </a:r>
                    </a:p>
                  </a:txBody>
                  <a:tcPr marL="82296" marR="64008" marT="32004" marB="32004" anchor="ctr">
                    <a:solidFill>
                      <a:srgbClr val="EEF6F5"/>
                    </a:solidFill>
                  </a:tcPr>
                </a:tc>
                <a:tc>
                  <a:txBody>
                    <a:bodyPr wrap="square"/>
                    <a:lstStyle/>
                    <a:p>
                      <a:r>
                        <a:rPr sz="1450" b="0">
                          <a:solidFill>
                            <a:srgbClr val="0F1A1C"/>
                          </a:solidFill>
                          <a:latin typeface="IBM Plex Sans"/>
                        </a:rPr>
                        <a:t>64</a:t>
                      </a:r>
                    </a:p>
                  </a:txBody>
                  <a:tcPr marL="82296" marR="64008" marT="32004" marB="32004" anchor="ctr">
                    <a:solidFill>
                      <a:srgbClr val="EEF6F5"/>
                    </a:solidFill>
                  </a:tcPr>
                </a:tc>
                <a:tc>
                  <a:txBody>
                    <a:bodyPr wrap="square"/>
                    <a:lstStyle/>
                    <a:p>
                      <a:r>
                        <a:rPr sz="1450" b="0">
                          <a:solidFill>
                            <a:srgbClr val="0F1A1C"/>
                          </a:solidFill>
                          <a:latin typeface="IBM Plex Sans"/>
                        </a:rPr>
                        <a:t>Queries that own a lane before sharing starts</a:t>
                      </a:r>
                    </a:p>
                  </a:txBody>
                  <a:tcPr marL="82296" marR="64008" marT="32004" marB="32004" anchor="ctr">
                    <a:solidFill>
                      <a:srgbClr val="EEF6F5"/>
                    </a:solidFill>
                  </a:tcPr>
                </a:tc>
              </a:tr>
              <a:tr h="584098">
                <a:tc>
                  <a:txBody>
                    <a:bodyPr wrap="square"/>
                    <a:lstStyle/>
                    <a:p>
                      <a:r>
                        <a:rPr sz="1450" b="1">
                          <a:solidFill>
                            <a:srgbClr val="0A5C5B"/>
                          </a:solidFill>
                          <a:latin typeface="IBM Plex Sans"/>
                        </a:rPr>
                        <a:t>lanes</a:t>
                      </a:r>
                    </a:p>
                  </a:txBody>
                  <a:tcPr marL="82296" marR="64008" marT="32004" marB="32004" anchor="ctr">
                    <a:solidFill>
                      <a:srgbClr val="FFFFFF"/>
                    </a:solidFill>
                  </a:tcPr>
                </a:tc>
                <a:tc>
                  <a:txBody>
                    <a:bodyPr wrap="square"/>
                    <a:lstStyle/>
                    <a:p>
                      <a:r>
                        <a:rPr sz="1450" b="0">
                          <a:solidFill>
                            <a:srgbClr val="0F1A1C"/>
                          </a:solidFill>
                          <a:latin typeface="IBM Plex Sans"/>
                        </a:rPr>
                        <a:t>0</a:t>
                      </a:r>
                    </a:p>
                  </a:txBody>
                  <a:tcPr marL="82296" marR="64008" marT="32004" marB="32004" anchor="ctr">
                    <a:solidFill>
                      <a:srgbClr val="FFFFFF"/>
                    </a:solidFill>
                  </a:tcPr>
                </a:tc>
                <a:tc>
                  <a:txBody>
                    <a:bodyPr wrap="square"/>
                    <a:lstStyle/>
                    <a:p>
                      <a:r>
                        <a:rPr sz="1450" b="0">
                          <a:solidFill>
                            <a:srgbClr val="0F1A1C"/>
                          </a:solidFill>
                          <a:latin typeface="IBM Plex Sans"/>
                        </a:rPr>
                        <a:t>Shared lanes; 0 is one per processor</a:t>
                      </a:r>
                    </a:p>
                  </a:txBody>
                  <a:tcPr marL="82296" marR="64008" marT="32004" marB="32004" anchor="ctr">
                    <a:solidFill>
                      <a:srgbClr val="FFFFFF"/>
                    </a:solidFill>
                  </a:tcPr>
                </a:tc>
              </a:tr>
              <a:tr h="821283">
                <a:tc>
                  <a:txBody>
                    <a:bodyPr wrap="square"/>
                    <a:lstStyle/>
                    <a:p>
                      <a:r>
                        <a:rPr sz="1450" b="1">
                          <a:solidFill>
                            <a:srgbClr val="0A5C5B"/>
                          </a:solidFill>
                          <a:latin typeface="IBM Plex Sans"/>
                        </a:rPr>
                        <a:t>max-queries-per-lane</a:t>
                      </a:r>
                    </a:p>
                  </a:txBody>
                  <a:tcPr marL="82296" marR="64008" marT="32004" marB="32004" anchor="ctr">
                    <a:solidFill>
                      <a:srgbClr val="EEF6F5"/>
                    </a:solidFill>
                  </a:tcPr>
                </a:tc>
                <a:tc>
                  <a:txBody>
                    <a:bodyPr wrap="square"/>
                    <a:lstStyle/>
                    <a:p>
                      <a:r>
                        <a:rPr sz="1450" b="0">
                          <a:solidFill>
                            <a:srgbClr val="0F1A1C"/>
                          </a:solidFill>
                          <a:latin typeface="IBM Plex Sans"/>
                        </a:rPr>
                        <a:t>300</a:t>
                      </a:r>
                    </a:p>
                  </a:txBody>
                  <a:tcPr marL="82296" marR="64008" marT="32004" marB="32004" anchor="ctr">
                    <a:solidFill>
                      <a:srgbClr val="EEF6F5"/>
                    </a:solidFill>
                  </a:tcPr>
                </a:tc>
                <a:tc>
                  <a:txBody>
                    <a:bodyPr wrap="square"/>
                    <a:lstStyle/>
                    <a:p>
                      <a:r>
                        <a:rPr sz="1450" b="0">
                          <a:solidFill>
                            <a:srgbClr val="0F1A1C"/>
                          </a:solidFill>
                          <a:latin typeface="IBM Plex Sans"/>
                        </a:rPr>
                        <a:t>The ceiling on one shared lane</a:t>
                      </a:r>
                    </a:p>
                  </a:txBody>
                  <a:tcPr marL="82296" marR="64008" marT="32004" marB="32004" anchor="ctr">
                    <a:solidFill>
                      <a:srgbClr val="EEF6F5"/>
                    </a:solidFill>
                  </a:tcPr>
                </a:tc>
              </a:tr>
            </a:tbl>
          </a:graphicData>
        </a:graphic>
      </p:graphicFrame>
      <p:sp>
        <p:nvSpPr>
          <p:cNvPr id="14" name="Rectangle 13"/>
          <p:cNvSpPr/>
          <p:nvPr/>
        </p:nvSpPr>
        <p:spPr>
          <a:xfrm>
            <a:off x="6278727" y="1378204"/>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Least loaded shared lane wins</a:t>
            </a:r>
          </a:p>
          <a:p>
            <a:pPr lvl="1">
              <a:lnSpc>
                <a:spcPct val="120000"/>
              </a:lnSpc>
              <a:spcBef>
                <a:spcPts val="0"/>
              </a:spcBef>
              <a:spcAft>
                <a:spcPts val="0"/>
              </a:spcAft>
            </a:pPr>
            <a:r>
              <a:rPr sz="1400" b="0">
                <a:solidFill>
                  <a:srgbClr val="3E4D50"/>
                </a:solidFill>
                <a:latin typeface="IBM Plex Sans"/>
              </a:rPr>
              <a:t>By query count, below the ceiling. What it reads does not matter — joins too.</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Nowhere to fit is not a refusal</a:t>
            </a:r>
          </a:p>
          <a:p>
            <a:pPr lvl="1">
              <a:lnSpc>
                <a:spcPct val="120000"/>
              </a:lnSpc>
              <a:spcBef>
                <a:spcPts val="0"/>
              </a:spcBef>
              <a:spcAft>
                <a:spcPts val="0"/>
              </a:spcAft>
            </a:pPr>
            <a:r>
              <a:rPr sz="1400" b="0">
                <a:solidFill>
                  <a:srgbClr val="3E4D50"/>
                </a:solidFill>
                <a:latin typeface="IBM Plex Sans"/>
              </a:rPr>
              <a:t>It gets a lane of its own, visible as pravaha_lane_own_queries.</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A shared lane shares its fate</a:t>
            </a:r>
          </a:p>
          <a:p>
            <a:pPr lvl="1">
              <a:lnSpc>
                <a:spcPct val="120000"/>
              </a:lnSpc>
              <a:spcBef>
                <a:spcPts val="0"/>
              </a:spcBef>
              <a:spcAft>
                <a:spcPts val="0"/>
              </a:spcAft>
            </a:pPr>
            <a:r>
              <a:rPr sz="1400" b="0">
                <a:solidFill>
                  <a:srgbClr val="3E4D50"/>
                </a:solidFill>
                <a:latin typeface="IBM Plex Sans"/>
              </a:rPr>
              <a:t>A throwing pipeline takes down every query on the lane — the reason the first 64 own one.</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Running queries are never moved</a:t>
            </a:r>
          </a:p>
          <a:p>
            <a:pPr lvl="1">
              <a:lnSpc>
                <a:spcPct val="120000"/>
              </a:lnSpc>
              <a:spcBef>
                <a:spcPts val="0"/>
              </a:spcBef>
              <a:spcAft>
                <a:spcPts val="0"/>
              </a:spcAft>
            </a:pPr>
            <a:r>
              <a:rPr sz="1400" b="0">
                <a:solidFill>
                  <a:srgbClr val="3E4D50"/>
                </a:solidFill>
                <a:latin typeface="IBM Plex Sans"/>
              </a:rPr>
              <a:t>A restart re-places every query in journal order.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row is written once per lane, not once per query</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32</a:t>
            </a:r>
          </a:p>
        </p:txBody>
      </p:sp>
      <p:sp>
        <p:nvSpPr>
          <p:cNvPr id="10" name="Rectangle 9"/>
          <p:cNvSpPr/>
          <p:nvPr/>
        </p:nvSpPr>
        <p:spPr>
          <a:xfrm>
            <a:off x="777240" y="1410919"/>
            <a:ext cx="3411626"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3E4D50"/>
                </a:solidFill>
                <a:latin typeface="IBM Plex Sans"/>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3E4D50"/>
                </a:solidFill>
                <a:latin typeface="IBM Plex Sans"/>
              </a:rPr>
              <a:t>The same queries on lanes of their own</a:t>
            </a:r>
          </a:p>
        </p:txBody>
      </p:sp>
      <p:sp>
        <p:nvSpPr>
          <p:cNvPr id="18" name="Rectangle 17"/>
          <p:cNvSpPr/>
          <p:nvPr/>
        </p:nvSpPr>
        <p:spPr>
          <a:xfrm>
            <a:off x="8002828" y="1410919"/>
            <a:ext cx="3411626" cy="1143000"/>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A5C5B"/>
                </a:solidFill>
                <a:latin typeface="IBM Plex Sans Condensed"/>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3E4D50"/>
                </a:solidFill>
                <a:latin typeface="IBM Plex Sans"/>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One shared reader writes each row into a shared lane once</a:t>
            </a:r>
          </a:p>
          <a:p>
            <a:pPr lvl="1">
              <a:lnSpc>
                <a:spcPct val="120000"/>
              </a:lnSpc>
              <a:spcBef>
                <a:spcPts val="0"/>
              </a:spcBef>
              <a:spcAft>
                <a:spcPts val="0"/>
              </a:spcAft>
            </a:pPr>
            <a:r>
              <a:rPr sz="1450" b="0">
                <a:solidFill>
                  <a:srgbClr val="3E4D50"/>
                </a:solidFill>
                <a:latin typeface="IBM Plex Sans"/>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A slow neighbour drops nothing</a:t>
            </a:r>
          </a:p>
          <a:p>
            <a:pPr lvl="1">
              <a:lnSpc>
                <a:spcPct val="120000"/>
              </a:lnSpc>
              <a:spcBef>
                <a:spcPts val="0"/>
              </a:spcBef>
              <a:spcAft>
                <a:spcPts val="0"/>
              </a:spcAft>
            </a:pPr>
            <a:r>
              <a:rPr sz="1450" b="0">
                <a:solidFill>
                  <a:srgbClr val="3E4D50"/>
                </a:solidFill>
                <a:latin typeface="IBM Plex Sans"/>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Identical questions are one computation</a:t>
            </a:r>
          </a:p>
          <a:p>
            <a:pPr lvl="1">
              <a:lnSpc>
                <a:spcPct val="120000"/>
              </a:lnSpc>
              <a:spcBef>
                <a:spcPts val="0"/>
              </a:spcBef>
              <a:spcAft>
                <a:spcPts val="0"/>
              </a:spcAft>
            </a:pPr>
            <a:r>
              <a:rPr sz="1450" b="0">
                <a:solidFill>
                  <a:srgbClr val="3E4D50"/>
                </a:solidFill>
                <a:latin typeface="IBM Plex Sans"/>
              </a:rPr>
              <a:t>Within a tenant, matched on the normalised plan: ten desks asking the same thing cost one read of the source.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Keeping one query on a lane of its own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33</a:t>
            </a:r>
          </a:p>
        </p:txBody>
      </p:sp>
      <p:sp>
        <p:nvSpPr>
          <p:cNvPr id="10" name="Rectangle 9"/>
          <p:cNvSpPr/>
          <p:nvPr/>
        </p:nvSpPr>
        <p:spPr>
          <a:xfrm>
            <a:off x="777240" y="1410919"/>
            <a:ext cx="5667588" cy="2741472"/>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6FD0C8"/>
                </a:solidFill>
                <a:latin typeface="Consolas"/>
              </a:rPr>
              <a:t>-- a lane of its own, whatever the node's mode</a:t>
            </a:r>
          </a:p>
          <a:p>
            <a:pPr>
              <a:lnSpc>
                <a:spcPct val="100000"/>
              </a:lnSpc>
              <a:spcBef>
                <a:spcPts val="0"/>
              </a:spcBef>
              <a:spcAft>
                <a:spcPts val="0"/>
              </a:spcAft>
            </a:pPr>
            <a:r>
              <a:rPr sz="1300" b="0" i="0">
                <a:solidFill>
                  <a:srgbClr val="DCEBEA"/>
                </a:solidFill>
                <a:latin typeface="Consolas"/>
              </a:rPr>
              <a:t>CREATE CONTINUOUS QUERY &lt;name&gt;</a:t>
            </a:r>
          </a:p>
          <a:p>
            <a:pPr>
              <a:lnSpc>
                <a:spcPct val="100000"/>
              </a:lnSpc>
              <a:spcBef>
                <a:spcPts val="0"/>
              </a:spcBef>
              <a:spcAft>
                <a:spcPts val="0"/>
              </a:spcAft>
            </a:pPr>
            <a:r>
              <a:rPr sz="1300" b="0" i="0">
                <a:solidFill>
                  <a:srgbClr val="DCEBEA"/>
                </a:solidFill>
                <a:latin typeface="Consolas"/>
              </a:rPr>
              <a:t>    WITH (lane = 'dedicated') AS &lt;SQL&gt;</a:t>
            </a:r>
          </a:p>
          <a:p>
            <a:pPr>
              <a:lnSpc>
                <a:spcPct val="100000"/>
              </a:lnSpc>
              <a:spcBef>
                <a:spcPts val="0"/>
              </a:spcBef>
              <a:spcAft>
                <a:spcPts val="0"/>
              </a:spcAft>
            </a:pPr>
            <a:r>
              <a:rPr sz="1300" b="0" i="0">
                <a:solidFill>
                  <a:srgbClr val="DCEBEA"/>
                </a:solidFill>
                <a:latin typeface="Consolas"/>
              </a:rPr>
              <a:t> </a:t>
            </a:r>
          </a:p>
          <a:p>
            <a:pPr>
              <a:lnSpc>
                <a:spcPct val="100000"/>
              </a:lnSpc>
              <a:spcBef>
                <a:spcPts val="0"/>
              </a:spcBef>
              <a:spcAft>
                <a:spcPts val="0"/>
              </a:spcAft>
            </a:pPr>
            <a:r>
              <a:rPr sz="1300" b="0" i="0">
                <a:solidFill>
                  <a:srgbClr val="6FD0C8"/>
                </a:solidFill>
                <a:latin typeface="Consolas"/>
              </a:rPr>
              <a:t>-- move a running query: a lossless cutover</a:t>
            </a:r>
          </a:p>
          <a:p>
            <a:pPr>
              <a:lnSpc>
                <a:spcPct val="100000"/>
              </a:lnSpc>
              <a:spcBef>
                <a:spcPts val="0"/>
              </a:spcBef>
              <a:spcAft>
                <a:spcPts val="0"/>
              </a:spcAft>
            </a:pPr>
            <a:r>
              <a:rPr sz="1300" b="0" i="0">
                <a:solidFill>
                  <a:srgbClr val="DCEBEA"/>
                </a:solidFill>
                <a:latin typeface="Consolas"/>
              </a:rPr>
              <a:t>CREATE OR REPLACE CONTINUOUS QUERY &lt;name&gt;</a:t>
            </a:r>
          </a:p>
          <a:p>
            <a:pPr>
              <a:lnSpc>
                <a:spcPct val="100000"/>
              </a:lnSpc>
              <a:spcBef>
                <a:spcPts val="0"/>
              </a:spcBef>
              <a:spcAft>
                <a:spcPts val="0"/>
              </a:spcAft>
            </a:pPr>
            <a:r>
              <a:rPr sz="1300" b="0" i="0">
                <a:solidFill>
                  <a:srgbClr val="DCEBEA"/>
                </a:solidFill>
                <a:latin typeface="Consolas"/>
              </a:rPr>
              <a:t>    WITH (lane = 'dedicated') AS &lt;the same SQL&gt;</a:t>
            </a:r>
          </a:p>
          <a:p>
            <a:pPr>
              <a:lnSpc>
                <a:spcPct val="100000"/>
              </a:lnSpc>
              <a:spcBef>
                <a:spcPts val="0"/>
              </a:spcBef>
              <a:spcAft>
                <a:spcPts val="0"/>
              </a:spcAft>
            </a:pPr>
            <a:r>
              <a:rPr sz="1300" b="0" i="0">
                <a:solidFill>
                  <a:srgbClr val="DCEBEA"/>
                </a:solidFill>
                <a:latin typeface="Consolas"/>
              </a:rPr>
              <a:t> </a:t>
            </a:r>
          </a:p>
          <a:p>
            <a:pPr>
              <a:lnSpc>
                <a:spcPct val="100000"/>
              </a:lnSpc>
              <a:spcBef>
                <a:spcPts val="0"/>
              </a:spcBef>
              <a:spcAft>
                <a:spcPts val="0"/>
              </a:spcAft>
            </a:pPr>
            <a:r>
              <a:rPr sz="1300" b="0" i="0">
                <a:solidFill>
                  <a:srgbClr val="6FD0C8"/>
                </a:solidFill>
                <a:latin typeface="Consolas"/>
              </a:rPr>
              <a:t>-- and back, under the node's mode</a:t>
            </a:r>
          </a:p>
          <a:p>
            <a:pPr>
              <a:lnSpc>
                <a:spcPct val="100000"/>
              </a:lnSpc>
              <a:spcBef>
                <a:spcPts val="0"/>
              </a:spcBef>
              <a:spcAft>
                <a:spcPts val="0"/>
              </a:spcAft>
            </a:pPr>
            <a:r>
              <a:rPr sz="1300" b="0" i="0">
                <a:solidFill>
                  <a:srgbClr val="DCEBEA"/>
                </a:solidFill>
                <a:latin typeface="Consolas"/>
              </a:rPr>
              <a:t>CREATE OR REPLACE CONTINUOUS QUERY &lt;name&gt;</a:t>
            </a:r>
          </a:p>
          <a:p>
            <a:pPr>
              <a:lnSpc>
                <a:spcPct val="100000"/>
              </a:lnSpc>
              <a:spcBef>
                <a:spcPts val="0"/>
              </a:spcBef>
              <a:spcAft>
                <a:spcPts val="0"/>
              </a:spcAft>
            </a:pPr>
            <a:r>
              <a:rPr sz="1300" b="0" i="0">
                <a:solidFill>
                  <a:srgbClr val="DCEBEA"/>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When isolation is worth an inbox</a:t>
            </a:r>
          </a:p>
          <a:p>
            <a:pPr lvl="1">
              <a:lnSpc>
                <a:spcPct val="120000"/>
              </a:lnSpc>
              <a:spcBef>
                <a:spcPts val="0"/>
              </a:spcBef>
              <a:spcAft>
                <a:spcPts val="0"/>
              </a:spcAft>
            </a:pPr>
            <a:r>
              <a:rPr sz="1450" b="0">
                <a:solidFill>
                  <a:srgbClr val="3E4D50"/>
                </a:solidFill>
                <a:latin typeface="IBM Plex Sans"/>
              </a:rPr>
              <a:t>'shared', the default, follows the node's mode; anything else is PRV-8017.</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It survives a restart</a:t>
            </a:r>
          </a:p>
          <a:p>
            <a:pPr lvl="1">
              <a:lnSpc>
                <a:spcPct val="120000"/>
              </a:lnSpc>
              <a:spcBef>
                <a:spcPts val="0"/>
              </a:spcBef>
              <a:spcAft>
                <a:spcPts val="0"/>
              </a:spcAft>
            </a:pPr>
            <a:r>
              <a:rPr sz="1450" b="0">
                <a:solidFill>
                  <a:srgbClr val="3E4D50"/>
                </a:solidFill>
                <a:latin typeface="IBM Plex Sans"/>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Where each query runs is visible</a:t>
            </a:r>
          </a:p>
          <a:p>
            <a:pPr lvl="1">
              <a:lnSpc>
                <a:spcPct val="120000"/>
              </a:lnSpc>
              <a:spcBef>
                <a:spcPts val="0"/>
              </a:spcBef>
              <a:spcAft>
                <a:spcPts val="0"/>
              </a:spcAft>
            </a:pPr>
            <a:r>
              <a:rPr sz="1450" b="0">
                <a:solidFill>
                  <a:srgbClr val="3E4D50"/>
                </a:solidFill>
                <a:latin typeface="IBM Plex Sans"/>
              </a:rPr>
              <a:t>GET /api/v1/queries/{name} reports lane — dedicated, shared or own — and sharedLane.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One refusal</a:t>
            </a:r>
          </a:p>
          <a:p>
            <a:pPr lvl="1">
              <a:lnSpc>
                <a:spcPct val="120000"/>
              </a:lnSpc>
              <a:spcBef>
                <a:spcPts val="0"/>
              </a:spcBef>
              <a:spcAft>
                <a:spcPts val="0"/>
              </a:spcAft>
            </a:pPr>
            <a:r>
              <a:rPr sz="1450" b="0">
                <a:solidFill>
                  <a:srgbClr val="3E4D50"/>
                </a:solidFill>
                <a:latin typeface="IBM Plex Sans"/>
              </a:rPr>
              <a:t>A dedicated registration that would join a computation already on a shared lane: PRV-8017.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Rebalancing is an administrator's action, never automatic</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34</a:t>
            </a:r>
          </a:p>
        </p:txBody>
      </p:sp>
      <p:sp>
        <p:nvSpPr>
          <p:cNvPr id="10" name="Rectangle 9"/>
          <p:cNvSpPr/>
          <p:nvPr/>
        </p:nvSpPr>
        <p:spPr>
          <a:xfrm>
            <a:off x="777240" y="1361846"/>
            <a:ext cx="2453563"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Admin role only; the engine checks it either way</a:t>
            </a:r>
          </a:p>
          <a:p>
            <a:pPr lvl="1">
              <a:lnSpc>
                <a:spcPct val="120000"/>
              </a:lnSpc>
              <a:spcBef>
                <a:spcPts val="0"/>
              </a:spcBef>
              <a:spcAft>
                <a:spcPts val="0"/>
              </a:spcAft>
            </a:pPr>
            <a:r>
              <a:rPr sz="1450" b="0">
                <a:solidFill>
                  <a:srgbClr val="3E4D50"/>
                </a:solidFill>
                <a:latin typeface="IBM Plex Sans"/>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It skips what it cannot move safely</a:t>
            </a:r>
          </a:p>
          <a:p>
            <a:pPr lvl="1">
              <a:lnSpc>
                <a:spcPct val="120000"/>
              </a:lnSpc>
              <a:spcBef>
                <a:spcPts val="0"/>
              </a:spcBef>
              <a:spcAft>
                <a:spcPts val="0"/>
              </a:spcAft>
            </a:pPr>
            <a:r>
              <a:rPr sz="1450" b="0">
                <a:solidFill>
                  <a:srgbClr val="3E4D50"/>
                </a:solidFill>
                <a:latin typeface="IBM Plex Sans"/>
              </a:rPr>
              <a:t>Queries answering to several names or already being replaced are skipped; a move a replacement refuses is reported and the rest go 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An ordered source is shared by meeting at an exact seam</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35</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IBM Plex Sans"/>
                        </a:rPr>
                        <a:t>State</a:t>
                      </a:r>
                    </a:p>
                  </a:txBody>
                  <a:tcPr marL="82296" marR="64008" marT="32004" marB="32004" anchor="ctr">
                    <a:solidFill>
                      <a:srgbClr val="0A5C5B"/>
                    </a:solidFill>
                  </a:tcPr>
                </a:tc>
                <a:tc>
                  <a:txBody>
                    <a:bodyPr wrap="square"/>
                    <a:lstStyle/>
                    <a:p>
                      <a:r>
                        <a:rPr sz="1300" b="1">
                          <a:solidFill>
                            <a:srgbClr val="FFFFFF"/>
                          </a:solidFill>
                          <a:latin typeface="IBM Plex Sans"/>
                        </a:rPr>
                        <a:t>Receives</a:t>
                      </a:r>
                    </a:p>
                  </a:txBody>
                  <a:tcPr marL="82296" marR="64008" marT="32004" marB="32004" anchor="ctr">
                    <a:solidFill>
                      <a:srgbClr val="0A5C5B"/>
                    </a:solidFill>
                  </a:tcPr>
                </a:tc>
                <a:tc>
                  <a:txBody>
                    <a:bodyPr wrap="square"/>
                    <a:lstStyle/>
                    <a:p>
                      <a:r>
                        <a:rPr sz="1300" b="1">
                          <a:solidFill>
                            <a:srgbClr val="FFFFFF"/>
                          </a:solidFill>
                          <a:latin typeface="IBM Plex Sans"/>
                        </a:rPr>
                        <a:t>Its checkpoint's offset</a:t>
                      </a:r>
                    </a:p>
                  </a:txBody>
                  <a:tcPr marL="82296" marR="64008" marT="32004" marB="32004" anchor="ctr">
                    <a:solidFill>
                      <a:srgbClr val="0A5C5B"/>
                    </a:solidFill>
                  </a:tcPr>
                </a:tc>
              </a:tr>
              <a:tr h="600456">
                <a:tc>
                  <a:txBody>
                    <a:bodyPr wrap="square"/>
                    <a:lstStyle/>
                    <a:p>
                      <a:r>
                        <a:rPr sz="1500" b="1">
                          <a:solidFill>
                            <a:srgbClr val="0A5C5B"/>
                          </a:solidFill>
                          <a:latin typeface="IBM Plex Sans"/>
                        </a:rPr>
                        <a:t>Attached</a:t>
                      </a:r>
                    </a:p>
                  </a:txBody>
                  <a:tcPr marL="82296" marR="64008" marT="32004" marB="32004" anchor="ctr">
                    <a:solidFill>
                      <a:srgbClr val="FFFFFF"/>
                    </a:solidFill>
                  </a:tcPr>
                </a:tc>
                <a:tc>
                  <a:txBody>
                    <a:bodyPr wrap="square"/>
                    <a:lstStyle/>
                    <a:p>
                      <a:r>
                        <a:rPr sz="1500" b="0">
                          <a:solidFill>
                            <a:srgbClr val="0F1A1C"/>
                          </a:solidFill>
                          <a:latin typeface="IBM Plex Sans"/>
                        </a:rPr>
                        <a:t>Every record the shared reader reads, through the fan-out</a:t>
                      </a:r>
                    </a:p>
                  </a:txBody>
                  <a:tcPr marL="82296" marR="64008" marT="32004" marB="32004" anchor="ctr">
                    <a:solidFill>
                      <a:srgbClr val="FFFFFF"/>
                    </a:solidFill>
                  </a:tcPr>
                </a:tc>
                <a:tc>
                  <a:txBody>
                    <a:bodyPr wrap="square"/>
                    <a:lstStyle/>
                    <a:p>
                      <a:r>
                        <a:rPr sz="1500" b="0">
                          <a:solidFill>
                            <a:srgbClr val="0F1A1C"/>
                          </a:solidFill>
                          <a:latin typeface="IBM Plex Sans"/>
                        </a:rPr>
                        <a:t>The shared reader's position</a:t>
                      </a:r>
                    </a:p>
                  </a:txBody>
                  <a:tcPr marL="82296" marR="64008" marT="32004" marB="32004" anchor="ctr">
                    <a:solidFill>
                      <a:srgbClr val="FFFFFF"/>
                    </a:solidFill>
                  </a:tcPr>
                </a:tc>
              </a:tr>
              <a:tr h="600456">
                <a:tc>
                  <a:txBody>
                    <a:bodyPr wrap="square"/>
                    <a:lstStyle/>
                    <a:p>
                      <a:r>
                        <a:rPr sz="1500" b="1">
                          <a:solidFill>
                            <a:srgbClr val="0A5C5B"/>
                          </a:solidFill>
                          <a:latin typeface="IBM Plex Sans"/>
                        </a:rPr>
                        <a:t>Catching up (joined behind)</a:t>
                      </a:r>
                    </a:p>
                  </a:txBody>
                  <a:tcPr marL="82296" marR="64008" marT="32004" marB="32004" anchor="ctr">
                    <a:solidFill>
                      <a:srgbClr val="EEF6F5"/>
                    </a:solidFill>
                  </a:tcPr>
                </a:tc>
                <a:tc>
                  <a:txBody>
                    <a:bodyPr wrap="square"/>
                    <a:lstStyle/>
                    <a:p>
                      <a:r>
                        <a:rPr sz="1500" b="0">
                          <a:solidFill>
                            <a:srgbClr val="0F1A1C"/>
                          </a:solidFill>
                          <a:latin typeface="IBM Plex Sans"/>
                        </a:rPr>
                        <a:t>Only its private catch-up, read with pollBefore(shared position)</a:t>
                      </a:r>
                    </a:p>
                  </a:txBody>
                  <a:tcPr marL="82296" marR="64008" marT="32004" marB="32004" anchor="ctr">
                    <a:solidFill>
                      <a:srgbClr val="EEF6F5"/>
                    </a:solidFill>
                  </a:tcPr>
                </a:tc>
                <a:tc>
                  <a:txBody>
                    <a:bodyPr wrap="square"/>
                    <a:lstStyle/>
                    <a:p>
                      <a:r>
                        <a:rPr sz="1500" b="0">
                          <a:solidFill>
                            <a:srgbClr val="0F1A1C"/>
                          </a:solidFill>
                          <a:latin typeface="IBM Plex Sans"/>
                        </a:rPr>
                        <a:t>The catch-up's position</a:t>
                      </a:r>
                    </a:p>
                  </a:txBody>
                  <a:tcPr marL="82296" marR="64008" marT="32004" marB="32004" anchor="ctr">
                    <a:solidFill>
                      <a:srgbClr val="EEF6F5"/>
                    </a:solidFill>
                  </a:tcPr>
                </a:tc>
              </a:tr>
              <a:tr h="600456">
                <a:tc>
                  <a:txBody>
                    <a:bodyPr wrap="square"/>
                    <a:lstStyle/>
                    <a:p>
                      <a:r>
                        <a:rPr sz="1500" b="1">
                          <a:solidFill>
                            <a:srgbClr val="0A5C5B"/>
                          </a:solidFill>
                          <a:latin typeface="IBM Plex Sans"/>
                        </a:rPr>
                        <a:t>Waiting (joined ahead)</a:t>
                      </a:r>
                    </a:p>
                  </a:txBody>
                  <a:tcPr marL="82296" marR="64008" marT="32004" marB="32004" anchor="ctr">
                    <a:solidFill>
                      <a:srgbClr val="FFFFFF"/>
                    </a:solidFill>
                  </a:tcPr>
                </a:tc>
                <a:tc>
                  <a:txBody>
                    <a:bodyPr wrap="square"/>
                    <a:lstStyle/>
                    <a:p>
                      <a:r>
                        <a:rPr sz="1500" b="0">
                          <a:solidFill>
                            <a:srgbClr val="0F1A1C"/>
                          </a:solidFill>
                          <a:latin typeface="IBM Plex Sans"/>
                        </a:rPr>
                        <a:t>Nothing, until the shared reader reaches its position</a:t>
                      </a:r>
                    </a:p>
                  </a:txBody>
                  <a:tcPr marL="82296" marR="64008" marT="32004" marB="32004" anchor="ctr">
                    <a:solidFill>
                      <a:srgbClr val="FFFFFF"/>
                    </a:solidFill>
                  </a:tcPr>
                </a:tc>
                <a:tc>
                  <a:txBody>
                    <a:bodyPr wrap="square"/>
                    <a:lstStyle/>
                    <a:p>
                      <a:r>
                        <a:rPr sz="1500" b="0">
                          <a:solidFill>
                            <a:srgbClr val="0F1A1C"/>
                          </a:solidFill>
                          <a:latin typeface="IBM Plex Sans"/>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36</a:t>
            </a:r>
          </a:p>
        </p:txBody>
      </p:sp>
      <p:sp>
        <p:nvSpPr>
          <p:cNvPr id="10" name="Rectangle 9"/>
          <p:cNvSpPr/>
          <p:nvPr/>
        </p:nvSpPr>
        <p:spPr>
          <a:xfrm>
            <a:off x="777240" y="162356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INDEX (column), or WITH (index = 'column')</a:t>
            </a:r>
          </a:p>
          <a:p>
            <a:pPr lvl="1">
              <a:lnSpc>
                <a:spcPct val="120000"/>
              </a:lnSpc>
              <a:spcBef>
                <a:spcPts val="0"/>
              </a:spcBef>
              <a:spcAft>
                <a:spcPts val="0"/>
              </a:spcAft>
            </a:pPr>
            <a:r>
              <a:rPr sz="1400" b="0">
                <a:solidFill>
                  <a:srgbClr val="3E4D50"/>
                </a:solidFill>
                <a:latin typeface="IBM Plex Sans"/>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Allocated by the declaration, and written down</a:t>
            </a:r>
          </a:p>
          <a:p>
            <a:pPr lvl="1">
              <a:lnSpc>
                <a:spcPct val="120000"/>
              </a:lnSpc>
              <a:spcBef>
                <a:spcPts val="0"/>
              </a:spcBef>
              <a:spcAft>
                <a:spcPts val="0"/>
              </a:spcAft>
            </a:pPr>
            <a:r>
              <a:rPr sz="1400" b="0">
                <a:solidFill>
                  <a:srgbClr val="3E4D50"/>
                </a:solidFill>
                <a:latin typeface="IBM Plex Sans"/>
              </a:rPr>
              <a:t>Built before the registration is acknowledged; journalled as an X record; carried to a replacement by column name.</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Bounded</a:t>
            </a:r>
          </a:p>
          <a:p>
            <a:pPr lvl="1">
              <a:lnSpc>
                <a:spcPct val="120000"/>
              </a:lnSpc>
              <a:spcBef>
                <a:spcPts val="0"/>
              </a:spcBef>
              <a:spcAft>
                <a:spcPts val="0"/>
              </a:spcAft>
            </a:pPr>
            <a:r>
              <a:rPr sz="1400" b="0">
                <a:solidFill>
                  <a:srgbClr val="3E4D50"/>
                </a:solidFill>
                <a:latin typeface="IBM Plex Sans"/>
              </a:rPr>
              <a:t>At most four per view, on the heap, one entry per visible row.</a:t>
            </a:r>
          </a:p>
        </p:txBody>
      </p:sp>
      <p:sp>
        <p:nvSpPr>
          <p:cNvPr id="14" name="Rectangle 13"/>
          <p:cNvSpPr/>
          <p:nvPr/>
        </p:nvSpPr>
        <p:spPr>
          <a:xfrm>
            <a:off x="6278727" y="162356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Filed under the row the view held</a:t>
            </a:r>
          </a:p>
          <a:p>
            <a:pPr lvl="1">
              <a:lnSpc>
                <a:spcPct val="120000"/>
              </a:lnSpc>
              <a:spcBef>
                <a:spcPts val="0"/>
              </a:spcBef>
              <a:spcAft>
                <a:spcPts val="0"/>
              </a:spcAft>
            </a:pPr>
            <a:r>
              <a:rPr sz="1400" b="0">
                <a:solidFill>
                  <a:srgbClr val="3E4D50"/>
                </a:solidFill>
                <a:latin typeface="IBM Plex Sans"/>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Tested against the obvious bug</a:t>
            </a:r>
          </a:p>
          <a:p>
            <a:pPr lvl="1">
              <a:lnSpc>
                <a:spcPct val="120000"/>
              </a:lnSpc>
              <a:spcBef>
                <a:spcPts val="0"/>
              </a:spcBef>
              <a:spcAft>
                <a:spcPts val="0"/>
              </a:spcAft>
            </a:pPr>
            <a:r>
              <a:rPr sz="1400" b="0">
                <a:solidFill>
                  <a:srgbClr val="3E4D50"/>
                </a:solidFill>
                <a:latin typeface="IBM Plex Sans"/>
              </a:rPr>
              <a:t>Seeded with removal under the incoming row's value, both index tests fail.</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Refused where equality lies</a:t>
            </a:r>
          </a:p>
          <a:p>
            <a:pPr lvl="1">
              <a:lnSpc>
                <a:spcPct val="120000"/>
              </a:lnSpc>
              <a:spcBef>
                <a:spcPts val="0"/>
              </a:spcBef>
              <a:spcAft>
                <a:spcPts val="0"/>
              </a:spcAft>
            </a:pPr>
            <a:r>
              <a:rPr sz="1400" b="0">
                <a:solidFill>
                  <a:srgbClr val="3E4D50"/>
                </a:solidFill>
                <a:latin typeface="IBM Plex Sans"/>
              </a:rPr>
              <a:t>FLOAT, DECIMAL, BYTES and the whole key: PRV-2074.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Changing a running query</a:t>
            </a:r>
          </a:p>
        </p:txBody>
      </p:sp>
      <p:sp>
        <p:nvSpPr>
          <p:cNvPr id="9" name="Rectangle 8"/>
          <p:cNvSpPr/>
          <p:nvPr/>
        </p:nvSpPr>
        <p:spPr>
          <a:xfrm>
            <a:off x="1005840" y="3777488"/>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Why not at a moment</a:t>
            </a:r>
          </a:p>
          <a:p>
            <a:pPr>
              <a:lnSpc>
                <a:spcPct val="115000"/>
              </a:lnSpc>
              <a:spcBef>
                <a:spcPts val="0"/>
              </a:spcBef>
              <a:spcAft>
                <a:spcPts val="600"/>
              </a:spcAft>
            </a:pPr>
            <a:r>
              <a:rPr sz="1250" b="0" i="0">
                <a:solidFill>
                  <a:srgbClr val="DCEBEA"/>
                </a:solidFill>
                <a:latin typeface="IBM Plex Sans"/>
              </a:rPr>
              <a:t>Blue/green, step by step</a:t>
            </a:r>
          </a:p>
          <a:p>
            <a:pPr>
              <a:lnSpc>
                <a:spcPct val="115000"/>
              </a:lnSpc>
              <a:spcBef>
                <a:spcPts val="0"/>
              </a:spcBef>
              <a:spcAft>
                <a:spcPts val="600"/>
              </a:spcAft>
            </a:pPr>
            <a:r>
              <a:rPr sz="1250" b="0" i="0">
                <a:solidFill>
                  <a:srgbClr val="DCEBEA"/>
                </a:solidFill>
                <a:latin typeface="IBM Plex Sans"/>
              </a:rPr>
              <a:t>What readers, subscribers and sinks see</a:t>
            </a:r>
          </a:p>
          <a:p>
            <a:pPr>
              <a:lnSpc>
                <a:spcPct val="115000"/>
              </a:lnSpc>
              <a:spcBef>
                <a:spcPts val="0"/>
              </a:spcBef>
              <a:spcAft>
                <a:spcPts val="600"/>
              </a:spcAft>
            </a:pPr>
            <a:r>
              <a:rPr sz="1250" b="0" i="0">
                <a:solidFill>
                  <a:srgbClr val="DCEBEA"/>
                </a:solidFill>
                <a:latin typeface="IBM Plex Sans"/>
              </a:rPr>
              <a:t>The statement, its options and its refusals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A cutover at a moment is wrong in a way nothing reports</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38</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IBM Plex Sans"/>
                        </a:rPr>
                        <a:t>Alternative</a:t>
                      </a:r>
                    </a:p>
                  </a:txBody>
                  <a:tcPr marL="82296" marR="64008" marT="32004" marB="32004" anchor="ctr">
                    <a:solidFill>
                      <a:srgbClr val="0A5C5B"/>
                    </a:solidFill>
                  </a:tcPr>
                </a:tc>
                <a:tc>
                  <a:txBody>
                    <a:bodyPr wrap="square"/>
                    <a:lstStyle/>
                    <a:p>
                      <a:r>
                        <a:rPr sz="1300" b="1">
                          <a:solidFill>
                            <a:srgbClr val="FFFFFF"/>
                          </a:solidFill>
                          <a:latin typeface="IBM Plex Sans"/>
                        </a:rPr>
                        <a:t>What goes wrong</a:t>
                      </a:r>
                    </a:p>
                  </a:txBody>
                  <a:tcPr marL="82296" marR="64008" marT="32004" marB="32004" anchor="ctr">
                    <a:solidFill>
                      <a:srgbClr val="0A5C5B"/>
                    </a:solidFill>
                  </a:tcPr>
                </a:tc>
              </a:tr>
              <a:tr h="870356">
                <a:tc>
                  <a:txBody>
                    <a:bodyPr wrap="square"/>
                    <a:lstStyle/>
                    <a:p>
                      <a:r>
                        <a:rPr sz="1550" b="1">
                          <a:solidFill>
                            <a:srgbClr val="0A5C5B"/>
                          </a:solidFill>
                          <a:latin typeface="IBM Plex Sans"/>
                        </a:rPr>
                        <a:t>Swap at a wall-clock instant</a:t>
                      </a:r>
                    </a:p>
                  </a:txBody>
                  <a:tcPr marL="82296" marR="64008" marT="32004" marB="32004" anchor="ctr">
                    <a:solidFill>
                      <a:srgbClr val="FFFFFF"/>
                    </a:solidFill>
                  </a:tcPr>
                </a:tc>
                <a:tc>
                  <a:txBody>
                    <a:bodyPr wrap="square"/>
                    <a:lstStyle/>
                    <a:p>
                      <a:r>
                        <a:rPr sz="1550" b="0">
                          <a:solidFill>
                            <a:srgbClr val="0F1A1C"/>
                          </a:solidFill>
                          <a:latin typeface="IBM Plex Sans"/>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0A5C5B"/>
                          </a:solidFill>
                          <a:latin typeface="IBM Plex Sans"/>
                        </a:rPr>
                        <a:t>Swap when the candidate has read as many rows, or run long enough</a:t>
                      </a:r>
                    </a:p>
                  </a:txBody>
                  <a:tcPr marL="82296" marR="64008" marT="32004" marB="32004" anchor="ctr">
                    <a:solidFill>
                      <a:srgbClr val="EEF6F5"/>
                    </a:solidFill>
                  </a:tcPr>
                </a:tc>
                <a:tc>
                  <a:txBody>
                    <a:bodyPr wrap="square"/>
                    <a:lstStyle/>
                    <a:p>
                      <a:r>
                        <a:rPr sz="1550" b="0">
                          <a:solidFill>
                            <a:srgbClr val="0F1A1C"/>
                          </a:solidFill>
                          <a:latin typeface="IBM Plex Sans"/>
                        </a:rPr>
                        <a:t>Both are proxies, wrong exactly when the input rate changes — which is when somebody is most likely to be deploying.</a:t>
                      </a:r>
                    </a:p>
                  </a:txBody>
                  <a:tcPr marL="82296" marR="64008" marT="32004" marB="32004" anchor="ctr">
                    <a:solidFill>
                      <a:srgbClr val="EEF6F5"/>
                    </a:solidFill>
                  </a:tcPr>
                </a:tc>
              </a:tr>
              <a:tr h="870356">
                <a:tc>
                  <a:txBody>
                    <a:bodyPr wrap="square"/>
                    <a:lstStyle/>
                    <a:p>
                      <a:r>
                        <a:rPr sz="1550" b="1">
                          <a:solidFill>
                            <a:srgbClr val="0A5C5B"/>
                          </a:solidFill>
                          <a:latin typeface="IBM Plex Sans"/>
                        </a:rPr>
                        <a:t>Take the name at once and let the new version warm up</a:t>
                      </a:r>
                    </a:p>
                  </a:txBody>
                  <a:tcPr marL="82296" marR="64008" marT="32004" marB="32004" anchor="ctr">
                    <a:solidFill>
                      <a:srgbClr val="FFFFFF"/>
                    </a:solidFill>
                  </a:tcPr>
                </a:tc>
                <a:tc>
                  <a:txBody>
                    <a:bodyPr wrap="square"/>
                    <a:lstStyle/>
                    <a:p>
                      <a:r>
                        <a:rPr sz="1550" b="0">
                          <a:solidFill>
                            <a:srgbClr val="0F1A1C"/>
                          </a:solidFill>
                          <a:latin typeface="IBM Plex Sans"/>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0A5C5B"/>
                          </a:solidFill>
                          <a:latin typeface="IBM Plex Sans"/>
                        </a:rPr>
                        <a:t>Move the checkpoint files at the cutover</a:t>
                      </a:r>
                    </a:p>
                  </a:txBody>
                  <a:tcPr marL="82296" marR="64008" marT="32004" marB="32004" anchor="ctr">
                    <a:solidFill>
                      <a:srgbClr val="EEF6F5"/>
                    </a:solidFill>
                  </a:tcPr>
                </a:tc>
                <a:tc>
                  <a:txBody>
                    <a:bodyPr wrap="square"/>
                    <a:lstStyle/>
                    <a:p>
                      <a:r>
                        <a:rPr sz="1550" b="0">
                          <a:solidFill>
                            <a:srgbClr val="0F1A1C"/>
                          </a:solidFill>
                          <a:latin typeface="IBM Plex Sans"/>
                        </a:rPr>
                        <a:t>A window in which a crash leaves the name pointing at the other version's state.</a:t>
                      </a:r>
                    </a:p>
                  </a:txBody>
                  <a:tcPr marL="82296" marR="64008" marT="32004" marB="32004" anchor="ctr">
                    <a:solidFill>
                      <a:srgbClr val="EEF6F5"/>
                    </a:solidFill>
                  </a:tcPr>
                </a:tc>
              </a:tr>
              <a:tr h="870356">
                <a:tc>
                  <a:txBody>
                    <a:bodyPr wrap="square"/>
                    <a:lstStyle/>
                    <a:p>
                      <a:r>
                        <a:rPr sz="1550" b="1">
                          <a:solidFill>
                            <a:srgbClr val="0A5C5B"/>
                          </a:solidFill>
                          <a:latin typeface="IBM Plex Sans"/>
                        </a:rPr>
                        <a:t>Chosen: meet at a position</a:t>
                      </a:r>
                    </a:p>
                  </a:txBody>
                  <a:tcPr marL="82296" marR="64008" marT="32004" marB="32004" anchor="ctr">
                    <a:solidFill>
                      <a:srgbClr val="FFFFFF"/>
                    </a:solidFill>
                  </a:tcPr>
                </a:tc>
                <a:tc>
                  <a:txBody>
                    <a:bodyPr wrap="square"/>
                    <a:lstStyle/>
                    <a:p>
                      <a:r>
                        <a:rPr sz="1550" b="0">
                          <a:solidFill>
                            <a:srgbClr val="0F1A1C"/>
                          </a:solidFill>
                          <a:latin typeface="IBM Plex Sans"/>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Replay, splice at the running version's position, then swap</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39</a:t>
            </a:r>
          </a:p>
        </p:txBody>
      </p:sp>
      <p:sp>
        <p:nvSpPr>
          <p:cNvPr id="10" name="Rectangle 9"/>
          <p:cNvSpPr/>
          <p:nvPr/>
        </p:nvSpPr>
        <p:spPr>
          <a:xfrm>
            <a:off x="777240" y="1345488"/>
            <a:ext cx="1907987" cy="182880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3E4D50"/>
                </a:solidFill>
                <a:latin typeface="IBM Plex Sans"/>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3E4D50"/>
                </a:solidFill>
                <a:latin typeface="IBM Plex Sans"/>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3E4D50"/>
                </a:solidFill>
                <a:latin typeface="IBM Plex Sans"/>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Every partition has reached the live stream</a:t>
            </a:r>
          </a:p>
        </p:txBody>
      </p:sp>
      <p:cxnSp>
        <p:nvCxnSpPr>
          <p:cNvPr id="28" name="Connector 27"/>
          <p:cNvCxnSpPr/>
          <p:nvPr/>
        </p:nvCxnSpPr>
        <p:spPr>
          <a:xfrm>
            <a:off x="7086417" y="2259888"/>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0E7C7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A reader sees the old answer up to the seam and the new one after it</a:t>
            </a:r>
          </a:p>
          <a:p>
            <a:pPr lvl="1">
              <a:lnSpc>
                <a:spcPct val="120000"/>
              </a:lnSpc>
              <a:spcBef>
                <a:spcPts val="0"/>
              </a:spcBef>
              <a:spcAft>
                <a:spcPts val="0"/>
              </a:spcAft>
            </a:pPr>
            <a:r>
              <a:rPr sz="1450" b="0">
                <a:solidFill>
                  <a:srgbClr val="3E4D50"/>
                </a:solidFill>
                <a:latin typeface="IBM Plex Sans"/>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A replacement survives a restart</a:t>
            </a:r>
          </a:p>
          <a:p>
            <a:pPr lvl="1">
              <a:lnSpc>
                <a:spcPct val="120000"/>
              </a:lnSpc>
              <a:spcBef>
                <a:spcPts val="0"/>
              </a:spcBef>
              <a:spcAft>
                <a:spcPts val="0"/>
              </a:spcAft>
            </a:pPr>
            <a:r>
              <a:rPr sz="1450" b="0">
                <a:solidFill>
                  <a:srgbClr val="3E4D50"/>
                </a:solidFill>
                <a:latin typeface="IBM Plex Sans"/>
              </a:rPr>
              <a:t>The journal records it pending (P), the name's change (C) and an end that never took the name (E); the candidate resumes from its own checkpoints.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What each party sees when the name changes version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40</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IBM Plex Sans"/>
                        </a:rPr>
                        <a:t>Party</a:t>
                      </a:r>
                    </a:p>
                  </a:txBody>
                  <a:tcPr marL="82296" marR="64008" marT="32004" marB="32004" anchor="ctr">
                    <a:solidFill>
                      <a:srgbClr val="0A5C5B"/>
                    </a:solidFill>
                  </a:tcPr>
                </a:tc>
                <a:tc>
                  <a:txBody>
                    <a:bodyPr wrap="square"/>
                    <a:lstStyle/>
                    <a:p>
                      <a:r>
                        <a:rPr sz="1300" b="1">
                          <a:solidFill>
                            <a:srgbClr val="FFFFFF"/>
                          </a:solidFill>
                          <a:latin typeface="IBM Plex Sans"/>
                        </a:rPr>
                        <a:t>Sees</a:t>
                      </a:r>
                    </a:p>
                  </a:txBody>
                  <a:tcPr marL="82296" marR="64008" marT="32004" marB="32004" anchor="ctr">
                    <a:solidFill>
                      <a:srgbClr val="0A5C5B"/>
                    </a:solidFill>
                  </a:tcPr>
                </a:tc>
              </a:tr>
              <a:tr h="616813">
                <a:tc>
                  <a:txBody>
                    <a:bodyPr wrap="square"/>
                    <a:lstStyle/>
                    <a:p>
                      <a:r>
                        <a:rPr sz="1550" b="1">
                          <a:solidFill>
                            <a:srgbClr val="0A5C5B"/>
                          </a:solidFill>
                          <a:latin typeface="IBM Plex Sans"/>
                        </a:rPr>
                        <a:t>A reader of the name</a:t>
                      </a:r>
                    </a:p>
                  </a:txBody>
                  <a:tcPr marL="82296" marR="64008" marT="32004" marB="32004" anchor="ctr">
                    <a:solidFill>
                      <a:srgbClr val="FFFFFF"/>
                    </a:solidFill>
                  </a:tcPr>
                </a:tc>
                <a:tc>
                  <a:txBody>
                    <a:bodyPr wrap="square"/>
                    <a:lstStyle/>
                    <a:p>
                      <a:r>
                        <a:rPr sz="1550" b="0">
                          <a:solidFill>
                            <a:srgbClr val="0F1A1C"/>
                          </a:solidFill>
                          <a:latin typeface="IBM Plex Sans"/>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0A5C5B"/>
                          </a:solidFill>
                          <a:latin typeface="IBM Plex Sans"/>
                        </a:rPr>
                        <a:t>A subscriber</a:t>
                      </a:r>
                    </a:p>
                  </a:txBody>
                  <a:tcPr marL="82296" marR="64008" marT="32004" marB="32004" anchor="ctr">
                    <a:solidFill>
                      <a:srgbClr val="EEF6F5"/>
                    </a:solidFill>
                  </a:tcPr>
                </a:tc>
                <a:tc>
                  <a:txBody>
                    <a:bodyPr wrap="square"/>
                    <a:lstStyle/>
                    <a:p>
                      <a:r>
                        <a:rPr sz="1550" b="0">
                          <a:solidFill>
                            <a:srgbClr val="0F1A1C"/>
                          </a:solidFill>
                          <a:latin typeface="IBM Plex Sans"/>
                        </a:rPr>
                        <a:t>Every commit the replaced version made, then the end of its subscription with PRV-4019: told, rather than handed another query's changes on top</a:t>
                      </a:r>
                    </a:p>
                  </a:txBody>
                  <a:tcPr marL="82296" marR="64008" marT="32004" marB="32004" anchor="ctr">
                    <a:solidFill>
                      <a:srgbClr val="EEF6F5"/>
                    </a:solidFill>
                  </a:tcPr>
                </a:tc>
              </a:tr>
              <a:tr h="616813">
                <a:tc>
                  <a:txBody>
                    <a:bodyPr wrap="square"/>
                    <a:lstStyle/>
                    <a:p>
                      <a:r>
                        <a:rPr sz="1550" b="1">
                          <a:solidFill>
                            <a:srgbClr val="0A5C5B"/>
                          </a:solidFill>
                          <a:latin typeface="IBM Plex Sans"/>
                        </a:rPr>
                        <a:t>The sink</a:t>
                      </a:r>
                    </a:p>
                  </a:txBody>
                  <a:tcPr marL="82296" marR="64008" marT="32004" marB="32004" anchor="ctr">
                    <a:solidFill>
                      <a:srgbClr val="FFFFFF"/>
                    </a:solidFill>
                  </a:tcPr>
                </a:tc>
                <a:tc>
                  <a:txBody>
                    <a:bodyPr wrap="square"/>
                    <a:lstStyle/>
                    <a:p>
                      <a:r>
                        <a:rPr sz="1550" b="0">
                          <a:solidFill>
                            <a:srgbClr val="0F1A1C"/>
                          </a:solidFill>
                          <a:latin typeface="IBM Plex Sans"/>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0A5C5B"/>
                          </a:solidFill>
                          <a:latin typeface="IBM Plex Sans"/>
                        </a:rPr>
                        <a:t>Whoever wants it back</a:t>
                      </a:r>
                    </a:p>
                  </a:txBody>
                  <a:tcPr marL="82296" marR="64008" marT="32004" marB="32004" anchor="ctr">
                    <a:solidFill>
                      <a:srgbClr val="EEF6F5"/>
                    </a:solidFill>
                  </a:tcPr>
                </a:tc>
                <a:tc>
                  <a:txBody>
                    <a:bodyPr wrap="square"/>
                    <a:lstStyle/>
                    <a:p>
                      <a:r>
                        <a:rPr sz="1550" b="0">
                          <a:solidFill>
                            <a:srgbClr val="0F1A1C"/>
                          </a:solidFill>
                          <a:latin typeface="IBM Plex Sans"/>
                        </a:rPr>
                        <a:t>The replaced version keeps running for rollback.retention (an hour by default), so a rollback is one swap, not a second backfill</a:t>
                      </a:r>
                    </a:p>
                  </a:txBody>
                  <a:tcPr marL="82296" marR="64008" marT="32004" marB="32004" anchor="ctr">
                    <a:solidFill>
                      <a:srgbClr val="EEF6F5"/>
                    </a:solidFill>
                  </a:tcPr>
                </a:tc>
              </a:tr>
              <a:tr h="870356">
                <a:tc>
                  <a:txBody>
                    <a:bodyPr wrap="square"/>
                    <a:lstStyle/>
                    <a:p>
                      <a:r>
                        <a:rPr sz="1550" b="1">
                          <a:solidFill>
                            <a:srgbClr val="0A5C5B"/>
                          </a:solidFill>
                          <a:latin typeface="IBM Plex Sans"/>
                        </a:rPr>
                        <a:t>The console</a:t>
                      </a:r>
                    </a:p>
                  </a:txBody>
                  <a:tcPr marL="82296" marR="64008" marT="32004" marB="32004" anchor="ctr">
                    <a:solidFill>
                      <a:srgbClr val="FFFFFF"/>
                    </a:solidFill>
                  </a:tcPr>
                </a:tc>
                <a:tc>
                  <a:txBody>
                    <a:bodyPr wrap="square"/>
                    <a:lstStyle/>
                    <a:p>
                      <a:r>
                        <a:rPr sz="1550" b="0">
                          <a:solidFill>
                            <a:srgbClr val="0F1A1C"/>
                          </a:solidFill>
                          <a:latin typeface="IBM Plex Sans"/>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0F1A1C"/>
                </a:solidFill>
                <a:latin typeface="IBM Plex Sans Condensed"/>
              </a:rPr>
              <a:t>Options that are ceilings, and refusals that are named</a:t>
            </a:r>
          </a:p>
        </p:txBody>
      </p:sp>
      <p:sp>
        <p:nvSpPr>
          <p:cNvPr id="6" name="Rectangle 5"/>
          <p:cNvSpPr/>
          <p:nvPr/>
        </p:nvSpPr>
        <p:spPr>
          <a:xfrm>
            <a:off x="777240" y="1250188"/>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41</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DCEBEA"/>
                </a:solidFill>
                <a:latin typeface="Consolas"/>
              </a:rPr>
              <a:t>CREATE OR REPLACE CONTINUOUS QUERY spend</a:t>
            </a:r>
          </a:p>
          <a:p>
            <a:pPr>
              <a:lnSpc>
                <a:spcPct val="100000"/>
              </a:lnSpc>
              <a:spcBef>
                <a:spcPts val="0"/>
              </a:spcBef>
              <a:spcAft>
                <a:spcPts val="0"/>
              </a:spcAft>
            </a:pPr>
            <a:r>
              <a:rPr sz="1300" b="0" i="0">
                <a:solidFill>
                  <a:srgbClr val="DCEBEA"/>
                </a:solidFill>
                <a:latin typeface="Consolas"/>
              </a:rPr>
              <a:t>    KEYED BY (user_id)</a:t>
            </a:r>
          </a:p>
          <a:p>
            <a:pPr>
              <a:lnSpc>
                <a:spcPct val="100000"/>
              </a:lnSpc>
              <a:spcBef>
                <a:spcPts val="0"/>
              </a:spcBef>
              <a:spcAft>
                <a:spcPts val="0"/>
              </a:spcAft>
            </a:pPr>
            <a:r>
              <a:rPr sz="1300" b="0" i="0">
                <a:solidFill>
                  <a:srgbClr val="DCEBEA"/>
                </a:solidFill>
                <a:latin typeface="Consolas"/>
              </a:rPr>
              <a:t>    WITH (backfill = 'history',</a:t>
            </a:r>
          </a:p>
          <a:p>
            <a:pPr>
              <a:lnSpc>
                <a:spcPct val="100000"/>
              </a:lnSpc>
              <a:spcBef>
                <a:spcPts val="0"/>
              </a:spcBef>
              <a:spcAft>
                <a:spcPts val="0"/>
              </a:spcAft>
            </a:pPr>
            <a:r>
              <a:rPr sz="1300" b="0" i="0">
                <a:solidFill>
                  <a:srgbClr val="DCEBEA"/>
                </a:solidFill>
                <a:latin typeface="Consolas"/>
              </a:rPr>
              <a:t>          backfill.rate.limit = 5000,</a:t>
            </a:r>
          </a:p>
          <a:p>
            <a:pPr>
              <a:lnSpc>
                <a:spcPct val="100000"/>
              </a:lnSpc>
              <a:spcBef>
                <a:spcPts val="0"/>
              </a:spcBef>
              <a:spcAft>
                <a:spcPts val="0"/>
              </a:spcAft>
            </a:pPr>
            <a:r>
              <a:rPr sz="1300" b="0" i="0">
                <a:solidFill>
                  <a:srgbClr val="DCEBEA"/>
                </a:solidFill>
                <a:latin typeface="Consolas"/>
              </a:rPr>
              <a:t>          cutover = 'manual')</a:t>
            </a:r>
          </a:p>
          <a:p>
            <a:pPr>
              <a:lnSpc>
                <a:spcPct val="100000"/>
              </a:lnSpc>
              <a:spcBef>
                <a:spcPts val="0"/>
              </a:spcBef>
              <a:spcAft>
                <a:spcPts val="0"/>
              </a:spcAft>
            </a:pPr>
            <a:r>
              <a:rPr sz="1300" b="0" i="0">
                <a:solidFill>
                  <a:srgbClr val="DCEBEA"/>
                </a:solidFill>
                <a:latin typeface="Consolas"/>
              </a:rPr>
              <a:t>AS SELECT user_id, SUM(amount) AS total,</a:t>
            </a:r>
          </a:p>
          <a:p>
            <a:pPr>
              <a:lnSpc>
                <a:spcPct val="100000"/>
              </a:lnSpc>
              <a:spcBef>
                <a:spcPts val="0"/>
              </a:spcBef>
              <a:spcAft>
                <a:spcPts val="0"/>
              </a:spcAft>
            </a:pPr>
            <a:r>
              <a:rPr sz="1300" b="0" i="0">
                <a:solidFill>
                  <a:srgbClr val="DCEBEA"/>
                </a:solidFill>
                <a:latin typeface="Consolas"/>
              </a:rPr>
              <a:t>          COUNT(*) AS payments</a:t>
            </a:r>
          </a:p>
          <a:p>
            <a:pPr>
              <a:lnSpc>
                <a:spcPct val="100000"/>
              </a:lnSpc>
              <a:spcBef>
                <a:spcPts val="0"/>
              </a:spcBef>
              <a:spcAft>
                <a:spcPts val="0"/>
              </a:spcAft>
            </a:pPr>
            <a:r>
              <a:rPr sz="1300" b="0" i="0">
                <a:solidFill>
                  <a:srgbClr val="DCEBEA"/>
                </a:solidFill>
                <a:latin typeface="Consolas"/>
              </a:rPr>
              <a:t>   FROM txn</a:t>
            </a:r>
          </a:p>
          <a:p>
            <a:pPr>
              <a:lnSpc>
                <a:spcPct val="100000"/>
              </a:lnSpc>
              <a:spcBef>
                <a:spcPts val="0"/>
              </a:spcBef>
              <a:spcAft>
                <a:spcPts val="0"/>
              </a:spcAft>
            </a:pPr>
            <a:r>
              <a:rPr sz="1300" b="0" i="0">
                <a:solidFill>
                  <a:srgbClr val="DCEBEA"/>
                </a:solidFill>
                <a:latin typeface="Consolas"/>
              </a:rPr>
              <a:t>   GROUP BY user_id,</a:t>
            </a:r>
          </a:p>
          <a:p>
            <a:pPr>
              <a:lnSpc>
                <a:spcPct val="100000"/>
              </a:lnSpc>
              <a:spcBef>
                <a:spcPts val="0"/>
              </a:spcBef>
              <a:spcAft>
                <a:spcPts val="0"/>
              </a:spcAft>
            </a:pPr>
            <a:r>
              <a:rPr sz="1300" b="0" i="0">
                <a:solidFill>
                  <a:srgbClr val="DCEBEA"/>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IBM Plex Sans"/>
                        </a:rPr>
                        <a:t>Code</a:t>
                      </a:r>
                    </a:p>
                  </a:txBody>
                  <a:tcPr marL="82296" marR="64008" marT="32004" marB="32004" anchor="ctr">
                    <a:solidFill>
                      <a:srgbClr val="0A5C5B"/>
                    </a:solidFill>
                  </a:tcPr>
                </a:tc>
                <a:tc>
                  <a:txBody>
                    <a:bodyPr wrap="square"/>
                    <a:lstStyle/>
                    <a:p>
                      <a:r>
                        <a:rPr sz="1300" b="1">
                          <a:solidFill>
                            <a:srgbClr val="FFFFFF"/>
                          </a:solidFill>
                          <a:latin typeface="IBM Plex Sans"/>
                        </a:rPr>
                        <a:t>Refused</a:t>
                      </a:r>
                    </a:p>
                  </a:txBody>
                  <a:tcPr marL="82296" marR="64008" marT="32004" marB="32004" anchor="ctr">
                    <a:solidFill>
                      <a:srgbClr val="0A5C5B"/>
                    </a:solidFill>
                  </a:tcPr>
                </a:tc>
              </a:tr>
              <a:tr h="1295654">
                <a:tc>
                  <a:txBody>
                    <a:bodyPr wrap="square"/>
                    <a:lstStyle/>
                    <a:p>
                      <a:r>
                        <a:rPr sz="1450" b="1">
                          <a:solidFill>
                            <a:srgbClr val="0A5C5B"/>
                          </a:solidFill>
                          <a:latin typeface="IBM Plex Sans"/>
                        </a:rPr>
                        <a:t>PRV-4018</a:t>
                      </a:r>
                    </a:p>
                  </a:txBody>
                  <a:tcPr marL="82296" marR="64008" marT="32004" marB="32004" anchor="ctr">
                    <a:solidFill>
                      <a:srgbClr val="FFFFFF"/>
                    </a:solidFill>
                  </a:tcPr>
                </a:tc>
                <a:tc>
                  <a:txBody>
                    <a:bodyPr wrap="square"/>
                    <a:lstStyle/>
                    <a:p>
                      <a:r>
                        <a:rPr sz="1450" b="0">
                          <a:solidFill>
                            <a:srgbClr val="0F1A1C"/>
                          </a:solidFill>
                          <a:latin typeface="IBM Plex Sans"/>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0A5C5B"/>
                          </a:solidFill>
                          <a:latin typeface="IBM Plex Sans"/>
                        </a:rPr>
                        <a:t>PRV-4017</a:t>
                      </a:r>
                    </a:p>
                  </a:txBody>
                  <a:tcPr marL="82296" marR="64008" marT="32004" marB="32004" anchor="ctr">
                    <a:solidFill>
                      <a:srgbClr val="EEF6F5"/>
                    </a:solidFill>
                  </a:tcPr>
                </a:tc>
                <a:tc>
                  <a:txBody>
                    <a:bodyPr wrap="square"/>
                    <a:lstStyle/>
                    <a:p>
                      <a:r>
                        <a:rPr sz="1450" b="0">
                          <a:solidFill>
                            <a:srgbClr val="0F1A1C"/>
                          </a:solidFill>
                          <a:latin typeface="IBM Plex Sans"/>
                        </a:rPr>
                        <a:t>A second replacement of one name; a drop while a candidate runs</a:t>
                      </a:r>
                    </a:p>
                  </a:txBody>
                  <a:tcPr marL="82296" marR="64008" marT="32004" marB="32004" anchor="ctr">
                    <a:solidFill>
                      <a:srgbClr val="EEF6F5"/>
                    </a:solidFill>
                  </a:tcPr>
                </a:tc>
              </a:tr>
              <a:tr h="584098">
                <a:tc>
                  <a:txBody>
                    <a:bodyPr wrap="square"/>
                    <a:lstStyle/>
                    <a:p>
                      <a:r>
                        <a:rPr sz="1450" b="1">
                          <a:solidFill>
                            <a:srgbClr val="0A5C5B"/>
                          </a:solidFill>
                          <a:latin typeface="IBM Plex Sans"/>
                        </a:rPr>
                        <a:t>PRV-8003</a:t>
                      </a:r>
                    </a:p>
                  </a:txBody>
                  <a:tcPr marL="82296" marR="64008" marT="32004" marB="32004" anchor="ctr">
                    <a:solidFill>
                      <a:srgbClr val="FFFFFF"/>
                    </a:solidFill>
                  </a:tcPr>
                </a:tc>
                <a:tc>
                  <a:txBody>
                    <a:bodyPr wrap="square"/>
                    <a:lstStyle/>
                    <a:p>
                      <a:r>
                        <a:rPr sz="1450" b="0">
                          <a:solidFill>
                            <a:srgbClr val="0F1A1C"/>
                          </a:solidFill>
                          <a:latin typeface="IBM Plex Sans"/>
                        </a:rPr>
                        <a:t>A computation shared with another name</a:t>
                      </a:r>
                    </a:p>
                  </a:txBody>
                  <a:tcPr marL="82296" marR="64008" marT="32004" marB="32004" anchor="ctr">
                    <a:solidFill>
                      <a:srgbClr val="FFFFFF"/>
                    </a:solidFill>
                  </a:tcPr>
                </a:tc>
              </a:tr>
              <a:tr h="346913">
                <a:tc>
                  <a:txBody>
                    <a:bodyPr wrap="square"/>
                    <a:lstStyle/>
                    <a:p>
                      <a:r>
                        <a:rPr sz="1450" b="1">
                          <a:solidFill>
                            <a:srgbClr val="0A5C5B"/>
                          </a:solidFill>
                          <a:latin typeface="IBM Plex Sans"/>
                        </a:rPr>
                        <a:t>PRV-8022</a:t>
                      </a:r>
                    </a:p>
                  </a:txBody>
                  <a:tcPr marL="82296" marR="64008" marT="32004" marB="32004" anchor="ctr">
                    <a:solidFill>
                      <a:srgbClr val="EEF6F5"/>
                    </a:solidFill>
                  </a:tcPr>
                </a:tc>
                <a:tc>
                  <a:txBody>
                    <a:bodyPr wrap="square"/>
                    <a:lstStyle/>
                    <a:p>
                      <a:r>
                        <a:rPr sz="1450" b="0">
                          <a:solidFill>
                            <a:srgbClr val="0F1A1C"/>
                          </a:solidFill>
                          <a:latin typeface="IBM Plex Sans"/>
                        </a:rPr>
                        <a:t>A principal from another tenant</a:t>
                      </a:r>
                    </a:p>
                  </a:txBody>
                  <a:tcPr marL="82296" marR="64008" marT="32004" marB="32004" anchor="ctr">
                    <a:solidFill>
                      <a:srgbClr val="EEF6F5"/>
                    </a:solidFill>
                  </a:tcPr>
                </a:tc>
              </a:tr>
              <a:tr h="584098">
                <a:tc>
                  <a:txBody>
                    <a:bodyPr wrap="square"/>
                    <a:lstStyle/>
                    <a:p>
                      <a:r>
                        <a:rPr sz="1450" b="1">
                          <a:solidFill>
                            <a:srgbClr val="0A5C5B"/>
                          </a:solidFill>
                          <a:latin typeface="IBM Plex Sans"/>
                        </a:rPr>
                        <a:t>PRV-7002</a:t>
                      </a:r>
                    </a:p>
                  </a:txBody>
                  <a:tcPr marL="82296" marR="64008" marT="32004" marB="32004" anchor="ctr">
                    <a:solidFill>
                      <a:srgbClr val="FFFFFF"/>
                    </a:solidFill>
                  </a:tcPr>
                </a:tc>
                <a:tc>
                  <a:txBody>
                    <a:bodyPr wrap="square"/>
                    <a:lstStyle/>
                    <a:p>
                      <a:r>
                        <a:rPr sz="1450" b="0">
                          <a:solidFill>
                            <a:srgbClr val="0F1A1C"/>
                          </a:solidFill>
                          <a:latin typeface="IBM Plex Sans"/>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7</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Connectors</a:t>
            </a:r>
          </a:p>
        </p:txBody>
      </p:sp>
      <p:sp>
        <p:nvSpPr>
          <p:cNvPr id="9" name="Rectangle 8"/>
          <p:cNvSpPr/>
          <p:nvPr/>
        </p:nvSpPr>
        <p:spPr>
          <a:xfrm>
            <a:off x="1005840" y="3123184"/>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Sources, and what each promises</a:t>
            </a:r>
          </a:p>
          <a:p>
            <a:pPr>
              <a:lnSpc>
                <a:spcPct val="115000"/>
              </a:lnSpc>
              <a:spcBef>
                <a:spcPts val="0"/>
              </a:spcBef>
              <a:spcAft>
                <a:spcPts val="600"/>
              </a:spcAft>
            </a:pPr>
            <a:r>
              <a:rPr sz="1250" b="0" i="0">
                <a:solidFill>
                  <a:srgbClr val="DCEBEA"/>
                </a:solidFill>
                <a:latin typeface="IBM Plex Sans"/>
              </a:rPr>
              <a:t>Sinks, and what each delivers</a:t>
            </a:r>
          </a:p>
          <a:p>
            <a:pPr>
              <a:lnSpc>
                <a:spcPct val="115000"/>
              </a:lnSpc>
              <a:spcBef>
                <a:spcPts val="0"/>
              </a:spcBef>
              <a:spcAft>
                <a:spcPts val="600"/>
              </a:spcAft>
            </a:pPr>
            <a:r>
              <a:rPr sz="1250" b="0" i="0">
                <a:solidFill>
                  <a:srgbClr val="DCEBEA"/>
                </a:solidFill>
                <a:latin typeface="IBM Plex Sans"/>
              </a:rPr>
              <a:t>Change data capture without Debezium</a:t>
            </a:r>
          </a:p>
          <a:p>
            <a:pPr>
              <a:lnSpc>
                <a:spcPct val="115000"/>
              </a:lnSpc>
              <a:spcBef>
                <a:spcPts val="0"/>
              </a:spcBef>
              <a:spcAft>
                <a:spcPts val="600"/>
              </a:spcAft>
            </a:pPr>
            <a:r>
              <a:rPr sz="1250" b="0" i="0">
                <a:solidFill>
                  <a:srgbClr val="DCEBEA"/>
                </a:solidFill>
                <a:latin typeface="IBM Plex Sans"/>
              </a:rPr>
              <a:t>What a connector must earn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Nine sources, two lookups</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43</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IBM Plex Sans"/>
                        </a:rPr>
                        <a:t>Plugin</a:t>
                      </a:r>
                    </a:p>
                  </a:txBody>
                  <a:tcPr marL="82296" marR="64008" marT="32004" marB="32004" anchor="ctr">
                    <a:solidFill>
                      <a:srgbClr val="0A5C5B"/>
                    </a:solidFill>
                  </a:tcPr>
                </a:tc>
                <a:tc>
                  <a:txBody>
                    <a:bodyPr wrap="square"/>
                    <a:lstStyle/>
                    <a:p>
                      <a:r>
                        <a:rPr sz="1200" b="1">
                          <a:solidFill>
                            <a:srgbClr val="FFFFFF"/>
                          </a:solidFill>
                          <a:latin typeface="IBM Plex Sans"/>
                        </a:rPr>
                        <a:t>Reads</a:t>
                      </a:r>
                    </a:p>
                  </a:txBody>
                  <a:tcPr marL="82296" marR="64008" marT="32004" marB="32004" anchor="ctr">
                    <a:solidFill>
                      <a:srgbClr val="0A5C5B"/>
                    </a:solidFill>
                  </a:tcPr>
                </a:tc>
                <a:tc>
                  <a:txBody>
                    <a:bodyPr wrap="square"/>
                    <a:lstStyle/>
                    <a:p>
                      <a:r>
                        <a:rPr sz="1200" b="1">
                          <a:solidFill>
                            <a:srgbClr val="FFFFFF"/>
                          </a:solidFill>
                          <a:latin typeface="IBM Plex Sans"/>
                        </a:rPr>
                        <a:t>Promise and pushdown</a:t>
                      </a:r>
                    </a:p>
                  </a:txBody>
                  <a:tcPr marL="82296" marR="64008" marT="32004" marB="32004" anchor="ctr">
                    <a:solidFill>
                      <a:srgbClr val="0A5C5B"/>
                    </a:solidFill>
                  </a:tcPr>
                </a:tc>
              </a:tr>
              <a:tr h="306019">
                <a:tc>
                  <a:txBody>
                    <a:bodyPr wrap="square"/>
                    <a:lstStyle/>
                    <a:p>
                      <a:r>
                        <a:rPr sz="1200" b="1">
                          <a:solidFill>
                            <a:srgbClr val="0A5C5B"/>
                          </a:solidFill>
                          <a:latin typeface="IBM Plex Sans"/>
                        </a:rPr>
                        <a:t>filesystem</a:t>
                      </a:r>
                    </a:p>
                  </a:txBody>
                  <a:tcPr marL="82296" marR="64008" marT="32004" marB="32004" anchor="ctr">
                    <a:solidFill>
                      <a:srgbClr val="FFFFFF"/>
                    </a:solidFill>
                  </a:tcPr>
                </a:tc>
                <a:tc>
                  <a:txBody>
                    <a:bodyPr wrap="square"/>
                    <a:lstStyle/>
                    <a:p>
                      <a:r>
                        <a:rPr sz="1200" b="0">
                          <a:solidFill>
                            <a:srgbClr val="0F1A1C"/>
                          </a:solidFill>
                          <a:latin typeface="IBM Plex Sans"/>
                        </a:rPr>
                        <a:t>One file, bounded or followed like tail -f</a:t>
                      </a:r>
                    </a:p>
                  </a:txBody>
                  <a:tcPr marL="82296" marR="64008" marT="32004" marB="32004" anchor="ctr">
                    <a:solidFill>
                      <a:srgbClr val="FFFFFF"/>
                    </a:solidFill>
                  </a:tcPr>
                </a:tc>
                <a:tc>
                  <a:txBody>
                    <a:bodyPr wrap="square"/>
                    <a:lstStyle/>
                    <a:p>
                      <a:r>
                        <a:rPr sz="1200" b="0">
                          <a:solidFill>
                            <a:srgbClr val="0F1A1C"/>
                          </a:solidFill>
                          <a:latin typeface="IBM Plex Sans"/>
                        </a:rPr>
                        <a:t>Ordered; shared exactly (ADR-054)</a:t>
                      </a:r>
                    </a:p>
                  </a:txBody>
                  <a:tcPr marL="82296" marR="64008" marT="32004" marB="32004" anchor="ctr">
                    <a:solidFill>
                      <a:srgbClr val="FFFFFF"/>
                    </a:solidFill>
                  </a:tcPr>
                </a:tc>
              </a:tr>
              <a:tr h="502310">
                <a:tc>
                  <a:txBody>
                    <a:bodyPr wrap="square"/>
                    <a:lstStyle/>
                    <a:p>
                      <a:r>
                        <a:rPr sz="1200" b="1">
                          <a:solidFill>
                            <a:srgbClr val="0A5C5B"/>
                          </a:solidFill>
                          <a:latin typeface="IBM Plex Sans"/>
                        </a:rPr>
                        <a:t>feedfile</a:t>
                      </a:r>
                    </a:p>
                  </a:txBody>
                  <a:tcPr marL="82296" marR="64008" marT="32004" marB="32004" anchor="ctr">
                    <a:solidFill>
                      <a:srgbClr val="EEF6F5"/>
                    </a:solidFill>
                  </a:tcPr>
                </a:tc>
                <a:tc>
                  <a:txBody>
                    <a:bodyPr wrap="square"/>
                    <a:lstStyle/>
                    <a:p>
                      <a:r>
                        <a:rPr sz="1200" b="0">
                          <a:solidFill>
                            <a:srgbClr val="0F1A1C"/>
                          </a:solidFill>
                          <a:latin typeface="IBM Plex Sans"/>
                        </a:rPr>
                        <a:t>A directory of CSV or Parquet files arriving over time</a:t>
                      </a:r>
                    </a:p>
                  </a:txBody>
                  <a:tcPr marL="82296" marR="64008" marT="32004" marB="32004" anchor="ctr">
                    <a:solidFill>
                      <a:srgbClr val="EEF6F5"/>
                    </a:solidFill>
                  </a:tcPr>
                </a:tc>
                <a:tc>
                  <a:txBody>
                    <a:bodyPr wrap="square"/>
                    <a:lstStyle/>
                    <a:p>
                      <a:r>
                        <a:rPr sz="1200" b="0">
                          <a:solidFill>
                            <a:srgbClr val="0F1A1C"/>
                          </a:solidFill>
                          <a:latin typeface="IBM Plex Sans"/>
                        </a:rPr>
                        <a:t>—</a:t>
                      </a:r>
                    </a:p>
                  </a:txBody>
                  <a:tcPr marL="82296" marR="64008" marT="32004" marB="32004" anchor="ctr">
                    <a:solidFill>
                      <a:srgbClr val="EEF6F5"/>
                    </a:solidFill>
                  </a:tcPr>
                </a:tc>
              </a:tr>
              <a:tr h="306019">
                <a:tc>
                  <a:txBody>
                    <a:bodyPr wrap="square"/>
                    <a:lstStyle/>
                    <a:p>
                      <a:r>
                        <a:rPr sz="1200" b="1">
                          <a:solidFill>
                            <a:srgbClr val="0A5C5B"/>
                          </a:solidFill>
                          <a:latin typeface="IBM Plex Sans"/>
                        </a:rPr>
                        <a:t>delta</a:t>
                      </a:r>
                    </a:p>
                  </a:txBody>
                  <a:tcPr marL="82296" marR="64008" marT="32004" marB="32004" anchor="ctr">
                    <a:solidFill>
                      <a:srgbClr val="FFFFFF"/>
                    </a:solidFill>
                  </a:tcPr>
                </a:tc>
                <a:tc>
                  <a:txBody>
                    <a:bodyPr wrap="square"/>
                    <a:lstStyle/>
                    <a:p>
                      <a:r>
                        <a:rPr sz="1200" b="0">
                          <a:solidFill>
                            <a:srgbClr val="0F1A1C"/>
                          </a:solidFill>
                          <a:latin typeface="IBM Plex Sans"/>
                        </a:rPr>
                        <a:t>A Delta Lake table, deletion vectors included</a:t>
                      </a:r>
                    </a:p>
                  </a:txBody>
                  <a:tcPr marL="82296" marR="64008" marT="32004" marB="32004" anchor="ctr">
                    <a:solidFill>
                      <a:srgbClr val="FFFFFF"/>
                    </a:solidFill>
                  </a:tcPr>
                </a:tc>
                <a:tc>
                  <a:txBody>
                    <a:bodyPr wrap="square"/>
                    <a:lstStyle/>
                    <a:p>
                      <a:r>
                        <a:rPr sz="1200" b="0">
                          <a:solidFill>
                            <a:srgbClr val="0F1A1C"/>
                          </a:solidFill>
                          <a:latin typeface="IBM Plex Sans"/>
                        </a:rPr>
                        <a:t>Reader per query for now</a:t>
                      </a:r>
                    </a:p>
                  </a:txBody>
                  <a:tcPr marL="82296" marR="64008" marT="32004" marB="32004" anchor="ctr">
                    <a:solidFill>
                      <a:srgbClr val="FFFFFF"/>
                    </a:solidFill>
                  </a:tcPr>
                </a:tc>
              </a:tr>
              <a:tr h="502310">
                <a:tc>
                  <a:txBody>
                    <a:bodyPr wrap="square"/>
                    <a:lstStyle/>
                    <a:p>
                      <a:r>
                        <a:rPr sz="1200" b="1">
                          <a:solidFill>
                            <a:srgbClr val="0A5C5B"/>
                          </a:solidFill>
                          <a:latin typeface="IBM Plex Sans"/>
                        </a:rPr>
                        <a:t>jdbc</a:t>
                      </a:r>
                    </a:p>
                  </a:txBody>
                  <a:tcPr marL="82296" marR="64008" marT="32004" marB="32004" anchor="ctr">
                    <a:solidFill>
                      <a:srgbClr val="EEF6F5"/>
                    </a:solidFill>
                  </a:tcPr>
                </a:tc>
                <a:tc>
                  <a:txBody>
                    <a:bodyPr wrap="square"/>
                    <a:lstStyle/>
                    <a:p>
                      <a:r>
                        <a:rPr sz="1200" b="0">
                          <a:solidFill>
                            <a:srgbClr val="0F1A1C"/>
                          </a:solidFill>
                          <a:latin typeface="IBM Plex Sans"/>
                        </a:rPr>
                        <a:t>A table or any SELECT, polled by a watermark column</a:t>
                      </a:r>
                    </a:p>
                  </a:txBody>
                  <a:tcPr marL="82296" marR="64008" marT="32004" marB="32004" anchor="ctr">
                    <a:solidFill>
                      <a:srgbClr val="EEF6F5"/>
                    </a:solidFill>
                  </a:tcPr>
                </a:tc>
                <a:tc>
                  <a:txBody>
                    <a:bodyPr wrap="square"/>
                    <a:lstStyle/>
                    <a:p>
                      <a:r>
                        <a:rPr sz="1200" b="0">
                          <a:solidFill>
                            <a:srgbClr val="0F1A1C"/>
                          </a:solidFill>
                          <a:latin typeface="IBM Plex Sans"/>
                        </a:rPr>
                        <a:t>Filters, projections, and COUNT/SUM as one partial per page pushed in</a:t>
                      </a:r>
                    </a:p>
                  </a:txBody>
                  <a:tcPr marL="82296" marR="64008" marT="32004" marB="32004" anchor="ctr">
                    <a:solidFill>
                      <a:srgbClr val="EEF6F5"/>
                    </a:solidFill>
                  </a:tcPr>
                </a:tc>
              </a:tr>
              <a:tr h="502310">
                <a:tc>
                  <a:txBody>
                    <a:bodyPr wrap="square"/>
                    <a:lstStyle/>
                    <a:p>
                      <a:r>
                        <a:rPr sz="1200" b="1">
                          <a:solidFill>
                            <a:srgbClr val="0A5C5B"/>
                          </a:solidFill>
                          <a:latin typeface="IBM Plex Sans"/>
                        </a:rPr>
                        <a:t>aerospike</a:t>
                      </a:r>
                    </a:p>
                  </a:txBody>
                  <a:tcPr marL="82296" marR="64008" marT="32004" marB="32004" anchor="ctr">
                    <a:solidFill>
                      <a:srgbClr val="FFFFFF"/>
                    </a:solidFill>
                  </a:tcPr>
                </a:tc>
                <a:tc>
                  <a:txBody>
                    <a:bodyPr wrap="square"/>
                    <a:lstStyle/>
                    <a:p>
                      <a:r>
                        <a:rPr sz="1200" b="0">
                          <a:solidFill>
                            <a:srgbClr val="0F1A1C"/>
                          </a:solidFill>
                          <a:latin typeface="IBM Plex Sans"/>
                        </a:rPr>
                        <a:t>A set, scanned by last-update time</a:t>
                      </a:r>
                    </a:p>
                  </a:txBody>
                  <a:tcPr marL="82296" marR="64008" marT="32004" marB="32004" anchor="ctr">
                    <a:solidFill>
                      <a:srgbClr val="FFFFFF"/>
                    </a:solidFill>
                  </a:tcPr>
                </a:tc>
                <a:tc>
                  <a:txBody>
                    <a:bodyPr wrap="square"/>
                    <a:lstStyle/>
                    <a:p>
                      <a:r>
                        <a:rPr sz="1200" b="0">
                          <a:solidFill>
                            <a:srgbClr val="0F1A1C"/>
                          </a:solidFill>
                          <a:latin typeface="IBM Plex Sans"/>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0A5C5B"/>
                          </a:solidFill>
                          <a:latin typeface="IBM Plex Sans"/>
                        </a:rPr>
                        <a:t>cassandra</a:t>
                      </a:r>
                    </a:p>
                  </a:txBody>
                  <a:tcPr marL="82296" marR="64008" marT="32004" marB="32004" anchor="ctr">
                    <a:solidFill>
                      <a:srgbClr val="EEF6F5"/>
                    </a:solidFill>
                  </a:tcPr>
                </a:tc>
                <a:tc>
                  <a:txBody>
                    <a:bodyPr wrap="square"/>
                    <a:lstStyle/>
                    <a:p>
                      <a:r>
                        <a:rPr sz="1200" b="0">
                          <a:solidFill>
                            <a:srgbClr val="0F1A1C"/>
                          </a:solidFill>
                          <a:latin typeface="IBM Plex Sans"/>
                        </a:rPr>
                        <a:t>A table, by token() range</a:t>
                      </a:r>
                    </a:p>
                  </a:txBody>
                  <a:tcPr marL="82296" marR="64008" marT="32004" marB="32004" anchor="ctr">
                    <a:solidFill>
                      <a:srgbClr val="EEF6F5"/>
                    </a:solidFill>
                  </a:tcPr>
                </a:tc>
                <a:tc>
                  <a:txBody>
                    <a:bodyPr wrap="square"/>
                    <a:lstStyle/>
                    <a:p>
                      <a:r>
                        <a:rPr sz="1200" b="0">
                          <a:solidFill>
                            <a:srgbClr val="0F1A1C"/>
                          </a:solidFill>
                          <a:latin typeface="IBM Plex Sans"/>
                        </a:rPr>
                        <a:t>Key restrictions pushed in; deletes: detect</a:t>
                      </a:r>
                    </a:p>
                  </a:txBody>
                  <a:tcPr marL="82296" marR="64008" marT="32004" marB="32004" anchor="ctr">
                    <a:solidFill>
                      <a:srgbClr val="EEF6F5"/>
                    </a:solidFill>
                  </a:tcPr>
                </a:tc>
              </a:tr>
              <a:tr h="502310">
                <a:tc>
                  <a:txBody>
                    <a:bodyPr wrap="square"/>
                    <a:lstStyle/>
                    <a:p>
                      <a:r>
                        <a:rPr sz="1200" b="1">
                          <a:solidFill>
                            <a:srgbClr val="0A5C5B"/>
                          </a:solidFill>
                          <a:latin typeface="IBM Plex Sans"/>
                        </a:rPr>
                        <a:t>postgres-cdc</a:t>
                      </a:r>
                    </a:p>
                  </a:txBody>
                  <a:tcPr marL="82296" marR="64008" marT="32004" marB="32004" anchor="ctr">
                    <a:solidFill>
                      <a:srgbClr val="FFFFFF"/>
                    </a:solidFill>
                  </a:tcPr>
                </a:tc>
                <a:tc>
                  <a:txBody>
                    <a:bodyPr wrap="square"/>
                    <a:lstStyle/>
                    <a:p>
                      <a:r>
                        <a:rPr sz="1200" b="0">
                          <a:solidFill>
                            <a:srgbClr val="0F1A1C"/>
                          </a:solidFill>
                          <a:latin typeface="IBM Plex Sans"/>
                        </a:rPr>
                        <a:t>Logical replication; initial snapshot available</a:t>
                      </a:r>
                    </a:p>
                  </a:txBody>
                  <a:tcPr marL="82296" marR="64008" marT="32004" marB="32004" anchor="ctr">
                    <a:solidFill>
                      <a:srgbClr val="FFFFFF"/>
                    </a:solidFill>
                  </a:tcPr>
                </a:tc>
                <a:tc>
                  <a:txBody>
                    <a:bodyPr wrap="square"/>
                    <a:lstStyle/>
                    <a:p>
                      <a:r>
                        <a:rPr sz="1200" b="0">
                          <a:solidFill>
                            <a:srgbClr val="0F1A1C"/>
                          </a:solidFill>
                          <a:latin typeface="IBM Plex Sans"/>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0A5C5B"/>
                          </a:solidFill>
                          <a:latin typeface="IBM Plex Sans"/>
                        </a:rPr>
                        <a:t>mysql-cdc</a:t>
                      </a:r>
                    </a:p>
                  </a:txBody>
                  <a:tcPr marL="82296" marR="64008" marT="32004" marB="32004" anchor="ctr">
                    <a:solidFill>
                      <a:srgbClr val="EEF6F5"/>
                    </a:solidFill>
                  </a:tcPr>
                </a:tc>
                <a:tc>
                  <a:txBody>
                    <a:bodyPr wrap="square"/>
                    <a:lstStyle/>
                    <a:p>
                      <a:r>
                        <a:rPr sz="1200" b="0">
                          <a:solidFill>
                            <a:srgbClr val="0F1A1C"/>
                          </a:solidFill>
                          <a:latin typeface="IBM Plex Sans"/>
                        </a:rPr>
                        <a:t>The row-based binlog, read as a replica</a:t>
                      </a:r>
                    </a:p>
                  </a:txBody>
                  <a:tcPr marL="82296" marR="64008" marT="32004" marB="32004" anchor="ctr">
                    <a:solidFill>
                      <a:srgbClr val="EEF6F5"/>
                    </a:solidFill>
                  </a:tcPr>
                </a:tc>
                <a:tc>
                  <a:txBody>
                    <a:bodyPr wrap="square"/>
                    <a:lstStyle/>
                    <a:p>
                      <a:r>
                        <a:rPr sz="1200" b="0">
                          <a:solidFill>
                            <a:srgbClr val="0F1A1C"/>
                          </a:solidFill>
                          <a:latin typeface="IBM Plex Sans"/>
                        </a:rPr>
                        <a:t>Exactly once from file and offset; changes only</a:t>
                      </a:r>
                    </a:p>
                  </a:txBody>
                  <a:tcPr marL="82296" marR="64008" marT="32004" marB="32004" anchor="ctr">
                    <a:solidFill>
                      <a:srgbClr val="EEF6F5"/>
                    </a:solidFill>
                  </a:tcPr>
                </a:tc>
              </a:tr>
              <a:tr h="502310">
                <a:tc>
                  <a:txBody>
                    <a:bodyPr wrap="square"/>
                    <a:lstStyle/>
                    <a:p>
                      <a:r>
                        <a:rPr sz="1200" b="1">
                          <a:solidFill>
                            <a:srgbClr val="0A5C5B"/>
                          </a:solidFill>
                          <a:latin typeface="IBM Plex Sans"/>
                        </a:rPr>
                        <a:t>kafka</a:t>
                      </a:r>
                    </a:p>
                  </a:txBody>
                  <a:tcPr marL="82296" marR="64008" marT="32004" marB="32004" anchor="ctr">
                    <a:solidFill>
                      <a:srgbClr val="FFFFFF"/>
                    </a:solidFill>
                  </a:tcPr>
                </a:tc>
                <a:tc>
                  <a:txBody>
                    <a:bodyPr wrap="square"/>
                    <a:lstStyle/>
                    <a:p>
                      <a:r>
                        <a:rPr sz="1200" b="0">
                          <a:solidFill>
                            <a:srgbClr val="0F1A1C"/>
                          </a:solidFill>
                          <a:latin typeface="IBM Plex Sans"/>
                        </a:rPr>
                        <a:t>A topic, one reader per partition, read_committed</a:t>
                      </a:r>
                    </a:p>
                  </a:txBody>
                  <a:tcPr marL="82296" marR="64008" marT="32004" marB="32004" anchor="ctr">
                    <a:solidFill>
                      <a:srgbClr val="FFFFFF"/>
                    </a:solidFill>
                  </a:tcPr>
                </a:tc>
                <a:tc>
                  <a:txBody>
                    <a:bodyPr wrap="square"/>
                    <a:lstStyle/>
                    <a:p>
                      <a:r>
                        <a:rPr sz="1200" b="0">
                          <a:solidFill>
                            <a:srgbClr val="0F1A1C"/>
                          </a:solidFill>
                          <a:latin typeface="IBM Plex Sans"/>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0A5C5B"/>
                          </a:solidFill>
                          <a:latin typeface="IBM Plex Sans"/>
                        </a:rPr>
                        <a:t>jdbc-lookup · aerospike-lookup</a:t>
                      </a:r>
                    </a:p>
                  </a:txBody>
                  <a:tcPr marL="82296" marR="64008" marT="32004" marB="32004" anchor="ctr">
                    <a:solidFill>
                      <a:srgbClr val="EEF6F5"/>
                    </a:solidFill>
                  </a:tcPr>
                </a:tc>
                <a:tc>
                  <a:txBody>
                    <a:bodyPr wrap="square"/>
                    <a:lstStyle/>
                    <a:p>
                      <a:r>
                        <a:rPr sz="1200" b="0">
                          <a:solidFill>
                            <a:srgbClr val="0F1A1C"/>
                          </a:solidFill>
                          <a:latin typeface="IBM Plex Sans"/>
                        </a:rPr>
                        <a:t>A dimension table for a temporal join</a:t>
                      </a:r>
                    </a:p>
                  </a:txBody>
                  <a:tcPr marL="82296" marR="64008" marT="32004" marB="32004" anchor="ctr">
                    <a:solidFill>
                      <a:srgbClr val="EEF6F5"/>
                    </a:solidFill>
                  </a:tcPr>
                </a:tc>
                <a:tc>
                  <a:txBody>
                    <a:bodyPr wrap="square"/>
                    <a:lstStyle/>
                    <a:p>
                      <a:r>
                        <a:rPr sz="1200" b="0">
                          <a:solidFill>
                            <a:srgbClr val="0F1A1C"/>
                          </a:solidFill>
                          <a:latin typeface="IBM Plex Sans"/>
                        </a:rPr>
                        <a:t>Asked, not consumed</a:t>
                      </a:r>
                    </a:p>
                  </a:txBody>
                  <a:tcPr marL="82296" marR="64008" marT="32004" marB="32004" anchor="ctr">
                    <a:solidFill>
                      <a:srgbClr val="EEF6F5"/>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0F1A1C"/>
                </a:solidFill>
                <a:latin typeface="IBM Plex Sans Condensed"/>
              </a:rPr>
              <a:t>Six sinks, each with its delivery said at registration</a:t>
            </a:r>
          </a:p>
        </p:txBody>
      </p:sp>
      <p:sp>
        <p:nvSpPr>
          <p:cNvPr id="6" name="Rectangle 5"/>
          <p:cNvSpPr/>
          <p:nvPr/>
        </p:nvSpPr>
        <p:spPr>
          <a:xfrm>
            <a:off x="777240" y="1250188"/>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44</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IBM Plex Sans"/>
                        </a:rPr>
                        <a:t>Sink</a:t>
                      </a:r>
                    </a:p>
                  </a:txBody>
                  <a:tcPr marL="82296" marR="64008" marT="32004" marB="32004" anchor="ctr">
                    <a:solidFill>
                      <a:srgbClr val="0A5C5B"/>
                    </a:solidFill>
                  </a:tcPr>
                </a:tc>
                <a:tc>
                  <a:txBody>
                    <a:bodyPr wrap="square"/>
                    <a:lstStyle/>
                    <a:p>
                      <a:r>
                        <a:rPr sz="1300" b="1">
                          <a:solidFill>
                            <a:srgbClr val="FFFFFF"/>
                          </a:solidFill>
                          <a:latin typeface="IBM Plex Sans"/>
                        </a:rPr>
                        <a:t>Writes</a:t>
                      </a:r>
                    </a:p>
                  </a:txBody>
                  <a:tcPr marL="82296" marR="64008" marT="32004" marB="32004" anchor="ctr">
                    <a:solidFill>
                      <a:srgbClr val="0A5C5B"/>
                    </a:solidFill>
                  </a:tcPr>
                </a:tc>
                <a:tc>
                  <a:txBody>
                    <a:bodyPr wrap="square"/>
                    <a:lstStyle/>
                    <a:p>
                      <a:r>
                        <a:rPr sz="1300" b="1">
                          <a:solidFill>
                            <a:srgbClr val="FFFFFF"/>
                          </a:solidFill>
                          <a:latin typeface="IBM Plex Sans"/>
                        </a:rPr>
                        <a:t>Delivery</a:t>
                      </a:r>
                    </a:p>
                  </a:txBody>
                  <a:tcPr marL="82296" marR="64008" marT="32004" marB="32004" anchor="ctr">
                    <a:solidFill>
                      <a:srgbClr val="0A5C5B"/>
                    </a:solidFill>
                  </a:tcPr>
                </a:tc>
              </a:tr>
              <a:tr h="346913">
                <a:tc>
                  <a:txBody>
                    <a:bodyPr wrap="square"/>
                    <a:lstStyle/>
                    <a:p>
                      <a:r>
                        <a:rPr sz="1450" b="1">
                          <a:solidFill>
                            <a:srgbClr val="0A5C5B"/>
                          </a:solidFill>
                          <a:latin typeface="IBM Plex Sans"/>
                        </a:rPr>
                        <a:t>filesystem</a:t>
                      </a:r>
                    </a:p>
                  </a:txBody>
                  <a:tcPr marL="82296" marR="64008" marT="32004" marB="32004" anchor="ctr">
                    <a:solidFill>
                      <a:srgbClr val="FFFFFF"/>
                    </a:solidFill>
                  </a:tcPr>
                </a:tc>
                <a:tc>
                  <a:txBody>
                    <a:bodyPr wrap="square"/>
                    <a:lstStyle/>
                    <a:p>
                      <a:r>
                        <a:rPr sz="1450" b="0">
                          <a:solidFill>
                            <a:srgbClr val="0F1A1C"/>
                          </a:solidFill>
                          <a:latin typeface="IBM Plex Sans"/>
                        </a:rPr>
                        <a:t>Append-only files</a:t>
                      </a:r>
                    </a:p>
                  </a:txBody>
                  <a:tcPr marL="82296" marR="64008" marT="32004" marB="32004" anchor="ctr">
                    <a:solidFill>
                      <a:srgbClr val="FFFFFF"/>
                    </a:solidFill>
                  </a:tcPr>
                </a:tc>
                <a:tc>
                  <a:txBody>
                    <a:bodyPr wrap="square"/>
                    <a:lstStyle/>
                    <a:p>
                      <a:r>
                        <a:rPr sz="1450" b="0">
                          <a:solidFill>
                            <a:srgbClr val="0F1A1C"/>
                          </a:solidFill>
                          <a:latin typeface="IBM Plex Sans"/>
                        </a:rPr>
                        <a:t>At least once</a:t>
                      </a:r>
                    </a:p>
                  </a:txBody>
                  <a:tcPr marL="82296" marR="64008" marT="32004" marB="32004" anchor="ctr">
                    <a:solidFill>
                      <a:srgbClr val="FFFFFF"/>
                    </a:solidFill>
                  </a:tcPr>
                </a:tc>
              </a:tr>
              <a:tr h="346913">
                <a:tc>
                  <a:txBody>
                    <a:bodyPr wrap="square"/>
                    <a:lstStyle/>
                    <a:p>
                      <a:r>
                        <a:rPr sz="1450" b="1">
                          <a:solidFill>
                            <a:srgbClr val="0A5C5B"/>
                          </a:solidFill>
                          <a:latin typeface="IBM Plex Sans"/>
                        </a:rPr>
                        <a:t>aerospike-sink</a:t>
                      </a:r>
                    </a:p>
                  </a:txBody>
                  <a:tcPr marL="82296" marR="64008" marT="32004" marB="32004" anchor="ctr">
                    <a:solidFill>
                      <a:srgbClr val="EEF6F5"/>
                    </a:solidFill>
                  </a:tcPr>
                </a:tc>
                <a:tc>
                  <a:txBody>
                    <a:bodyPr wrap="square"/>
                    <a:lstStyle/>
                    <a:p>
                      <a:r>
                        <a:rPr sz="1450" b="0">
                          <a:solidFill>
                            <a:srgbClr val="0F1A1C"/>
                          </a:solidFill>
                          <a:latin typeface="IBM Plex Sans"/>
                        </a:rPr>
                        <a:t>Upsert and delete by key, composite keys</a:t>
                      </a:r>
                    </a:p>
                  </a:txBody>
                  <a:tcPr marL="82296" marR="64008" marT="32004" marB="32004" anchor="ctr">
                    <a:solidFill>
                      <a:srgbClr val="EEF6F5"/>
                    </a:solidFill>
                  </a:tcPr>
                </a:tc>
                <a:tc>
                  <a:txBody>
                    <a:bodyPr wrap="square"/>
                    <a:lstStyle/>
                    <a:p>
                      <a:r>
                        <a:rPr sz="1450" b="0">
                          <a:solidFill>
                            <a:srgbClr val="0F1A1C"/>
                          </a:solidFill>
                          <a:latin typeface="IBM Plex Sans"/>
                        </a:rPr>
                        <a:t>Effectively once</a:t>
                      </a:r>
                    </a:p>
                  </a:txBody>
                  <a:tcPr marL="82296" marR="64008" marT="32004" marB="32004" anchor="ctr">
                    <a:solidFill>
                      <a:srgbClr val="EEF6F5"/>
                    </a:solidFill>
                  </a:tcPr>
                </a:tc>
              </a:tr>
              <a:tr h="821283">
                <a:tc>
                  <a:txBody>
                    <a:bodyPr wrap="square"/>
                    <a:lstStyle/>
                    <a:p>
                      <a:r>
                        <a:rPr sz="1450" b="1">
                          <a:solidFill>
                            <a:srgbClr val="0A5C5B"/>
                          </a:solidFill>
                          <a:latin typeface="IBM Plex Sans"/>
                        </a:rPr>
                        <a:t>jdbc-sink</a:t>
                      </a:r>
                    </a:p>
                  </a:txBody>
                  <a:tcPr marL="82296" marR="64008" marT="32004" marB="32004" anchor="ctr">
                    <a:solidFill>
                      <a:srgbClr val="FFFFFF"/>
                    </a:solidFill>
                  </a:tcPr>
                </a:tc>
                <a:tc>
                  <a:txBody>
                    <a:bodyPr wrap="square"/>
                    <a:lstStyle/>
                    <a:p>
                      <a:r>
                        <a:rPr sz="1450" b="0">
                          <a:solidFill>
                            <a:srgbClr val="0F1A1C"/>
                          </a:solidFill>
                          <a:latin typeface="IBM Plex Sans"/>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0F1A1C"/>
                          </a:solidFill>
                          <a:latin typeface="IBM Plex Sans"/>
                        </a:rPr>
                        <a:t>Exactly once on a checkpointed node</a:t>
                      </a:r>
                    </a:p>
                  </a:txBody>
                  <a:tcPr marL="82296" marR="64008" marT="32004" marB="32004" anchor="ctr">
                    <a:solidFill>
                      <a:srgbClr val="FFFFFF"/>
                    </a:solidFill>
                  </a:tcPr>
                </a:tc>
              </a:tr>
              <a:tr h="584098">
                <a:tc>
                  <a:txBody>
                    <a:bodyPr wrap="square"/>
                    <a:lstStyle/>
                    <a:p>
                      <a:r>
                        <a:rPr sz="1450" b="1">
                          <a:solidFill>
                            <a:srgbClr val="0A5C5B"/>
                          </a:solidFill>
                          <a:latin typeface="IBM Plex Sans"/>
                        </a:rPr>
                        <a:t>kafka-sink</a:t>
                      </a:r>
                    </a:p>
                  </a:txBody>
                  <a:tcPr marL="82296" marR="64008" marT="32004" marB="32004" anchor="ctr">
                    <a:solidFill>
                      <a:srgbClr val="EEF6F5"/>
                    </a:solidFill>
                  </a:tcPr>
                </a:tc>
                <a:tc>
                  <a:txBody>
                    <a:bodyPr wrap="square"/>
                    <a:lstStyle/>
                    <a:p>
                      <a:r>
                        <a:rPr sz="1450" b="0">
                          <a:solidFill>
                            <a:srgbClr val="0F1A1C"/>
                          </a:solidFill>
                          <a:latin typeface="IBM Plex Sans"/>
                        </a:rPr>
                        <a:t>Keyed upserts with a tombstone per retraction (JSON, Avro or Protobuf), or a JSON changelog</a:t>
                      </a:r>
                    </a:p>
                  </a:txBody>
                  <a:tcPr marL="82296" marR="64008" marT="32004" marB="32004" anchor="ctr">
                    <a:solidFill>
                      <a:srgbClr val="EEF6F5"/>
                    </a:solidFill>
                  </a:tcPr>
                </a:tc>
                <a:tc>
                  <a:txBody>
                    <a:bodyPr wrap="square"/>
                    <a:lstStyle/>
                    <a:p>
                      <a:r>
                        <a:rPr sz="1450" b="0">
                          <a:solidFill>
                            <a:srgbClr val="0F1A1C"/>
                          </a:solidFill>
                          <a:latin typeface="IBM Plex Sans"/>
                        </a:rPr>
                        <a:t>Exactly once to a read_committed consumer</a:t>
                      </a:r>
                    </a:p>
                  </a:txBody>
                  <a:tcPr marL="82296" marR="64008" marT="32004" marB="32004" anchor="ctr">
                    <a:solidFill>
                      <a:srgbClr val="EEF6F5"/>
                    </a:solidFill>
                  </a:tcPr>
                </a:tc>
              </a:tr>
              <a:tr h="584098">
                <a:tc>
                  <a:txBody>
                    <a:bodyPr wrap="square"/>
                    <a:lstStyle/>
                    <a:p>
                      <a:r>
                        <a:rPr sz="1450" b="1">
                          <a:solidFill>
                            <a:srgbClr val="0A5C5B"/>
                          </a:solidFill>
                          <a:latin typeface="IBM Plex Sans"/>
                        </a:rPr>
                        <a:t>delta-sink</a:t>
                      </a:r>
                    </a:p>
                  </a:txBody>
                  <a:tcPr marL="82296" marR="64008" marT="32004" marB="32004" anchor="ctr">
                    <a:solidFill>
                      <a:srgbClr val="FFFFFF"/>
                    </a:solidFill>
                  </a:tcPr>
                </a:tc>
                <a:tc>
                  <a:txBody>
                    <a:bodyPr wrap="square"/>
                    <a:lstStyle/>
                    <a:p>
                      <a:r>
                        <a:rPr sz="1450" b="0">
                          <a:solidFill>
                            <a:srgbClr val="0F1A1C"/>
                          </a:solidFill>
                          <a:latin typeface="IBM Plex Sans"/>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0F1A1C"/>
                          </a:solidFill>
                          <a:latin typeface="IBM Plex Sans"/>
                        </a:rPr>
                        <a:t>Exactly once: one Delta commit per checkpoint</a:t>
                      </a:r>
                    </a:p>
                  </a:txBody>
                  <a:tcPr marL="82296" marR="64008" marT="32004" marB="32004" anchor="ctr">
                    <a:solidFill>
                      <a:srgbClr val="FFFFFF"/>
                    </a:solidFill>
                  </a:tcPr>
                </a:tc>
              </a:tr>
              <a:tr h="821283">
                <a:tc>
                  <a:txBody>
                    <a:bodyPr wrap="square"/>
                    <a:lstStyle/>
                    <a:p>
                      <a:r>
                        <a:rPr sz="1450" b="1">
                          <a:solidFill>
                            <a:srgbClr val="0A5C5B"/>
                          </a:solidFill>
                          <a:latin typeface="IBM Plex Sans"/>
                        </a:rPr>
                        <a:t>iceberg-sink</a:t>
                      </a:r>
                    </a:p>
                  </a:txBody>
                  <a:tcPr marL="82296" marR="64008" marT="32004" marB="32004" anchor="ctr">
                    <a:solidFill>
                      <a:srgbClr val="EEF6F5"/>
                    </a:solidFill>
                  </a:tcPr>
                </a:tc>
                <a:tc>
                  <a:txBody>
                    <a:bodyPr wrap="square"/>
                    <a:lstStyle/>
                    <a:p>
                      <a:r>
                        <a:rPr sz="1450" b="0">
                          <a:solidFill>
                            <a:srgbClr val="0F1A1C"/>
                          </a:solidFill>
                          <a:latin typeface="IBM Plex Sans"/>
                        </a:rPr>
                        <a:t>A local-filesystem Iceberg table, upsert by equality deletes or changelog; on iceberg-core, not Spark</a:t>
                      </a:r>
                    </a:p>
                  </a:txBody>
                  <a:tcPr marL="82296" marR="64008" marT="32004" marB="32004" anchor="ctr">
                    <a:solidFill>
                      <a:srgbClr val="EEF6F5"/>
                    </a:solidFill>
                  </a:tcPr>
                </a:tc>
                <a:tc>
                  <a:txBody>
                    <a:bodyPr wrap="square"/>
                    <a:lstStyle/>
                    <a:p>
                      <a:r>
                        <a:rPr sz="1450" b="0">
                          <a:solidFill>
                            <a:srgbClr val="0F1A1C"/>
                          </a:solidFill>
                          <a:latin typeface="IBM Plex Sans"/>
                        </a:rPr>
                        <a:t>Exactly once: one snapshot per checkpoint</a:t>
                      </a:r>
                    </a:p>
                  </a:txBody>
                  <a:tcPr marL="82296" marR="64008" marT="32004" marB="32004" anchor="ctr">
                    <a:solidFill>
                      <a:srgbClr val="EEF6F5"/>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Change data capture on the database's own protocol</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45</a:t>
            </a:r>
          </a:p>
        </p:txBody>
      </p:sp>
      <p:sp>
        <p:nvSpPr>
          <p:cNvPr id="10" name="Rectangle 9"/>
          <p:cNvSpPr/>
          <p:nvPr/>
        </p:nvSpPr>
        <p:spPr>
          <a:xfrm>
            <a:off x="777240" y="1410919"/>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A second framework in the process</a:t>
            </a:r>
          </a:p>
          <a:p>
            <a:pPr lvl="1">
              <a:lnSpc>
                <a:spcPct val="120000"/>
              </a:lnSpc>
              <a:spcBef>
                <a:spcPts val="0"/>
              </a:spcBef>
              <a:spcAft>
                <a:spcPts val="0"/>
              </a:spcAft>
            </a:pPr>
            <a:r>
              <a:rPr sz="1450" b="0">
                <a:solidFill>
                  <a:srgbClr val="3E4D50"/>
                </a:solidFill>
                <a:latin typeface="IBM Plex Sans"/>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The driver already does it</a:t>
            </a:r>
          </a:p>
          <a:p>
            <a:pPr lvl="1">
              <a:lnSpc>
                <a:spcPct val="120000"/>
              </a:lnSpc>
              <a:spcBef>
                <a:spcPts val="0"/>
              </a:spcBef>
              <a:spcAft>
                <a:spcPts val="0"/>
              </a:spcAft>
            </a:pPr>
            <a:r>
              <a:rPr sz="1450" b="0">
                <a:solidFill>
                  <a:srgbClr val="3E4D50"/>
                </a:solidFill>
                <a:latin typeface="IBM Plex Sans"/>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Insert +1, delete −1, update both</a:t>
            </a:r>
          </a:p>
          <a:p>
            <a:pPr lvl="1">
              <a:lnSpc>
                <a:spcPct val="120000"/>
              </a:lnSpc>
              <a:spcBef>
                <a:spcPts val="0"/>
              </a:spcBef>
              <a:spcAft>
                <a:spcPts val="0"/>
              </a:spcAft>
            </a:pPr>
            <a:r>
              <a:rPr sz="1450" b="0">
                <a:solidFill>
                  <a:srgbClr val="3E4D50"/>
                </a:solidFill>
                <a:latin typeface="IBM Plex Sans"/>
              </a:rPr>
              <a:t>The delete carries the whole old row. Whole transactions, exactly once.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Confirmed only at checkpoints</a:t>
            </a:r>
          </a:p>
          <a:p>
            <a:pPr lvl="1">
              <a:lnSpc>
                <a:spcPct val="120000"/>
              </a:lnSpc>
              <a:spcBef>
                <a:spcPts val="0"/>
              </a:spcBef>
              <a:spcAft>
                <a:spcPts val="0"/>
              </a:spcAft>
            </a:pPr>
            <a:r>
              <a:rPr sz="1450" b="0">
                <a:solidFill>
                  <a:srgbClr val="3E4D50"/>
                </a:solidFill>
                <a:latin typeface="IBM Plex Sans"/>
              </a:rPr>
              <a:t>The PostgreSQL slot advances when a checkpoint is durable.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Misconfiguration refused by name</a:t>
            </a:r>
          </a:p>
          <a:p>
            <a:pPr lvl="1">
              <a:lnSpc>
                <a:spcPct val="120000"/>
              </a:lnSpc>
              <a:spcBef>
                <a:spcPts val="0"/>
              </a:spcBef>
              <a:spcAft>
                <a:spcPts val="0"/>
              </a:spcAft>
            </a:pPr>
            <a:r>
              <a:rPr sz="1450" b="0">
                <a:solidFill>
                  <a:srgbClr val="3E4D50"/>
                </a:solidFill>
                <a:latin typeface="IBM Plex Sans"/>
              </a:rPr>
              <a:t>binlog_format other than ROW, or a user without replication grants: PRV-5152.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A connector declares what it can promise, and is held to it</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7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46</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A jar with a service declaration</a:t>
            </a:r>
          </a:p>
          <a:p>
            <a:pPr lvl="1">
              <a:lnSpc>
                <a:spcPct val="120000"/>
              </a:lnSpc>
              <a:spcBef>
                <a:spcPts val="0"/>
              </a:spcBef>
              <a:spcAft>
                <a:spcPts val="0"/>
              </a:spcAft>
            </a:pPr>
            <a:r>
              <a:rPr sz="1550" b="0">
                <a:solidFill>
                  <a:srgbClr val="3E4D50"/>
                </a:solidFill>
                <a:latin typeface="IBM Plex Sans"/>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It earns its place by a capability, not by breadth</a:t>
            </a:r>
          </a:p>
          <a:p>
            <a:pPr lvl="1">
              <a:lnSpc>
                <a:spcPct val="120000"/>
              </a:lnSpc>
              <a:spcBef>
                <a:spcPts val="0"/>
              </a:spcBef>
              <a:spcAft>
                <a:spcPts val="0"/>
              </a:spcAft>
            </a:pPr>
            <a:r>
              <a:rPr sz="1550" b="0">
                <a:solidFill>
                  <a:srgbClr val="3E4D50"/>
                </a:solidFill>
                <a:latin typeface="IBM Plex Sans"/>
              </a:rPr>
              <a:t>A shallow connector declaring capabilities it lacks causes silent data loss during recovery, months later.</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 source that repeats rows must say so</a:t>
            </a:r>
          </a:p>
          <a:p>
            <a:pPr lvl="1">
              <a:lnSpc>
                <a:spcPct val="120000"/>
              </a:lnSpc>
              <a:spcBef>
                <a:spcPts val="0"/>
              </a:spcBef>
              <a:spcAft>
                <a:spcPts val="0"/>
              </a:spcAft>
            </a:pPr>
            <a:r>
              <a:rPr sz="1550" b="0">
                <a:solidFill>
                  <a:srgbClr val="3E4D50"/>
                </a:solidFill>
                <a:latin typeface="IBM Plex Sans"/>
              </a:rPr>
              <a:t>An aggregate or join over it is refused (PRV-2042) until deletes: detect lets a scan retract what changed.</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Connections can be encrypted</a:t>
            </a:r>
          </a:p>
          <a:p>
            <a:pPr lvl="1">
              <a:lnSpc>
                <a:spcPct val="120000"/>
              </a:lnSpc>
              <a:spcBef>
                <a:spcPts val="0"/>
              </a:spcBef>
              <a:spcAft>
                <a:spcPts val="0"/>
              </a:spcAft>
            </a:pPr>
            <a:r>
              <a:rPr sz="1550" b="0">
                <a:solidFill>
                  <a:srgbClr val="3E4D50"/>
                </a:solidFill>
                <a:latin typeface="IBM Plex Sans"/>
              </a:rPr>
              <a:t>JDBC, PostgreSQL CDC, Aerospike, Cassandra and Kafka (CONNECTOR_TLS.md). Kafka's lz4 is refused: it needs native code the build refuses (ADR-053).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8</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Security and identity</a:t>
            </a:r>
          </a:p>
        </p:txBody>
      </p:sp>
      <p:sp>
        <p:nvSpPr>
          <p:cNvPr id="9" name="Rectangle 8"/>
          <p:cNvSpPr/>
          <p:nvPr/>
        </p:nvSpPr>
        <p:spPr>
          <a:xfrm>
            <a:off x="1005840" y="3777488"/>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Authorization is enforced by Pravaha on every read, at the layer that produces the row. The engine keeps its own users, keys and sessions, stores only what cannot be reversed, and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Why not delegate to the store (ADR-031)</a:t>
            </a:r>
          </a:p>
          <a:p>
            <a:pPr>
              <a:lnSpc>
                <a:spcPct val="115000"/>
              </a:lnSpc>
              <a:spcBef>
                <a:spcPts val="0"/>
              </a:spcBef>
              <a:spcAft>
                <a:spcPts val="600"/>
              </a:spcAft>
            </a:pPr>
            <a:r>
              <a:rPr sz="1250" b="0" i="0">
                <a:solidFill>
                  <a:srgbClr val="DCEBEA"/>
                </a:solidFill>
                <a:latin typeface="IBM Plex Sans"/>
              </a:rPr>
              <a:t>Three seams and one rule</a:t>
            </a:r>
          </a:p>
          <a:p>
            <a:pPr>
              <a:lnSpc>
                <a:spcPct val="115000"/>
              </a:lnSpc>
              <a:spcBef>
                <a:spcPts val="0"/>
              </a:spcBef>
              <a:spcAft>
                <a:spcPts val="600"/>
              </a:spcAft>
            </a:pPr>
            <a:r>
              <a:rPr sz="1250" b="0" i="0">
                <a:solidFill>
                  <a:srgbClr val="DCEBEA"/>
                </a:solidFill>
                <a:latin typeface="IBM Plex Sans"/>
              </a:rPr>
              <a:t>The engine is the identity authority (ADR-052)</a:t>
            </a:r>
          </a:p>
          <a:p>
            <a:pPr>
              <a:lnSpc>
                <a:spcPct val="115000"/>
              </a:lnSpc>
              <a:spcBef>
                <a:spcPts val="0"/>
              </a:spcBef>
              <a:spcAft>
                <a:spcPts val="600"/>
              </a:spcAft>
            </a:pPr>
            <a:r>
              <a:rPr sz="1250" b="0" i="0">
                <a:solidFill>
                  <a:srgbClr val="DCEBEA"/>
                </a:solidFill>
                <a:latin typeface="IBM Plex Sans"/>
              </a:rPr>
              <a:t>Tenancy (ADR-050)</a:t>
            </a:r>
          </a:p>
          <a:p>
            <a:pPr>
              <a:lnSpc>
                <a:spcPct val="115000"/>
              </a:lnSpc>
              <a:spcBef>
                <a:spcPts val="0"/>
              </a:spcBef>
              <a:spcAft>
                <a:spcPts val="600"/>
              </a:spcAft>
            </a:pPr>
            <a:r>
              <a:rPr sz="1250" b="0" i="0">
                <a:solidFill>
                  <a:srgbClr val="DCEBEA"/>
                </a:solidFill>
                <a:latin typeface="IBM Plex Sans"/>
              </a:rPr>
              <a:t>What is not built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0F1A1C"/>
                </a:solidFill>
                <a:latin typeface="IBM Plex Sans Condensed"/>
              </a:rPr>
              <a:t>The store is structurally unable to authorize a view</a:t>
            </a:r>
          </a:p>
        </p:txBody>
      </p:sp>
      <p:sp>
        <p:nvSpPr>
          <p:cNvPr id="6" name="Rectangle 5"/>
          <p:cNvSpPr/>
          <p:nvPr/>
        </p:nvSpPr>
        <p:spPr>
          <a:xfrm>
            <a:off x="777240" y="126654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48</a:t>
            </a:r>
          </a:p>
        </p:txBody>
      </p:sp>
      <p:sp>
        <p:nvSpPr>
          <p:cNvPr id="10" name="Rectangle 9"/>
          <p:cNvSpPr/>
          <p:nvPr/>
        </p:nvSpPr>
        <p:spPr>
          <a:xfrm>
            <a:off x="777240" y="1394561"/>
            <a:ext cx="5236311" cy="234309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It runs for months while nobody is connected; there is no session to carry down.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Who is this, what may they read, and what were they told</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49</a:t>
            </a:r>
          </a:p>
        </p:txBody>
      </p:sp>
      <p:sp>
        <p:nvSpPr>
          <p:cNvPr id="10" name="Rectangle 9"/>
          <p:cNvSpPr/>
          <p:nvPr/>
        </p:nvSpPr>
        <p:spPr>
          <a:xfrm>
            <a:off x="777240" y="136184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IBM Plex Sans"/>
                        </a:rPr>
                        <a:t>Seam</a:t>
                      </a:r>
                    </a:p>
                  </a:txBody>
                  <a:tcPr marL="82296" marR="64008" marT="32004" marB="32004" anchor="ctr">
                    <a:solidFill>
                      <a:srgbClr val="0A5C5B"/>
                    </a:solidFill>
                  </a:tcPr>
                </a:tc>
                <a:tc>
                  <a:txBody>
                    <a:bodyPr wrap="square"/>
                    <a:lstStyle/>
                    <a:p>
                      <a:r>
                        <a:rPr sz="1300" b="1">
                          <a:solidFill>
                            <a:srgbClr val="FFFFFF"/>
                          </a:solidFill>
                          <a:latin typeface="IBM Plex Sans"/>
                        </a:rPr>
                        <a:t>Answers</a:t>
                      </a:r>
                    </a:p>
                  </a:txBody>
                  <a:tcPr marL="82296" marR="64008" marT="32004" marB="32004" anchor="ctr">
                    <a:solidFill>
                      <a:srgbClr val="0A5C5B"/>
                    </a:solidFill>
                  </a:tcPr>
                </a:tc>
              </a:tr>
              <a:tr h="821283">
                <a:tc>
                  <a:txBody>
                    <a:bodyPr wrap="square"/>
                    <a:lstStyle/>
                    <a:p>
                      <a:r>
                        <a:rPr sz="1450" b="1">
                          <a:solidFill>
                            <a:srgbClr val="0A5C5B"/>
                          </a:solidFill>
                          <a:latin typeface="IBM Plex Sans"/>
                        </a:rPr>
                        <a:t>TokenVerifier</a:t>
                      </a:r>
                    </a:p>
                  </a:txBody>
                  <a:tcPr marL="82296" marR="64008" marT="32004" marB="32004" anchor="ctr">
                    <a:solidFill>
                      <a:srgbClr val="FFFFFF"/>
                    </a:solidFill>
                  </a:tcPr>
                </a:tc>
                <a:tc>
                  <a:txBody>
                    <a:bodyPr wrap="square"/>
                    <a:lstStyle/>
                    <a:p>
                      <a:r>
                        <a:rPr sz="1450" b="0">
                          <a:solidFill>
                            <a:srgbClr val="0F1A1C"/>
                          </a:solidFill>
                          <a:latin typeface="IBM Plex Sans"/>
                        </a:rPr>
                        <a:t>Credential in, Principal (id, tenant, roles) out</a:t>
                      </a:r>
                    </a:p>
                  </a:txBody>
                  <a:tcPr marL="82296" marR="64008" marT="32004" marB="32004" anchor="ctr">
                    <a:solidFill>
                      <a:srgbClr val="FFFFFF"/>
                    </a:solidFill>
                  </a:tcPr>
                </a:tc>
              </a:tr>
              <a:tr h="821283">
                <a:tc>
                  <a:txBody>
                    <a:bodyPr wrap="square"/>
                    <a:lstStyle/>
                    <a:p>
                      <a:r>
                        <a:rPr sz="1450" b="1">
                          <a:solidFill>
                            <a:srgbClr val="0A5C5B"/>
                          </a:solidFill>
                          <a:latin typeface="IBM Plex Sans"/>
                        </a:rPr>
                        <a:t>SecurityPolicy</a:t>
                      </a:r>
                    </a:p>
                  </a:txBody>
                  <a:tcPr marL="82296" marR="64008" marT="32004" marB="32004" anchor="ctr">
                    <a:solidFill>
                      <a:srgbClr val="EEF6F5"/>
                    </a:solidFill>
                  </a:tcPr>
                </a:tc>
                <a:tc>
                  <a:txBody>
                    <a:bodyPr wrap="square"/>
                    <a:lstStyle/>
                    <a:p>
                      <a:r>
                        <a:rPr sz="1450" b="0">
                          <a:solidFill>
                            <a:srgbClr val="0F1A1C"/>
                          </a:solidFill>
                          <a:latin typeface="IBM Plex Sans"/>
                        </a:rPr>
                        <a:t>May this principal read this view — allow, allow with a row filter, deny</a:t>
                      </a:r>
                    </a:p>
                  </a:txBody>
                  <a:tcPr marL="82296" marR="64008" marT="32004" marB="32004" anchor="ctr">
                    <a:solidFill>
                      <a:srgbClr val="EEF6F5"/>
                    </a:solidFill>
                  </a:tcPr>
                </a:tc>
              </a:tr>
              <a:tr h="584098">
                <a:tc>
                  <a:txBody>
                    <a:bodyPr wrap="square"/>
                    <a:lstStyle/>
                    <a:p>
                      <a:r>
                        <a:rPr sz="1450" b="1">
                          <a:solidFill>
                            <a:srgbClr val="0A5C5B"/>
                          </a:solidFill>
                          <a:latin typeface="IBM Plex Sans"/>
                        </a:rPr>
                        <a:t>AuditSink</a:t>
                      </a:r>
                    </a:p>
                  </a:txBody>
                  <a:tcPr marL="82296" marR="64008" marT="32004" marB="32004" anchor="ctr">
                    <a:solidFill>
                      <a:srgbClr val="FFFFFF"/>
                    </a:solidFill>
                  </a:tcPr>
                </a:tc>
                <a:tc>
                  <a:txBody>
                    <a:bodyPr wrap="square"/>
                    <a:lstStyle/>
                    <a:p>
                      <a:r>
                        <a:rPr sz="1450" b="0">
                          <a:solidFill>
                            <a:srgbClr val="0F1A1C"/>
                          </a:solidFill>
                          <a:latin typeface="IBM Plex Sans"/>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The soundness rule</a:t>
            </a:r>
          </a:p>
          <a:p>
            <a:pPr lvl="1">
              <a:lnSpc>
                <a:spcPct val="120000"/>
              </a:lnSpc>
              <a:spcBef>
                <a:spcPts val="0"/>
              </a:spcBef>
              <a:spcAft>
                <a:spcPts val="0"/>
              </a:spcAft>
            </a:pPr>
            <a:r>
              <a:rPr sz="1350" b="0">
                <a:solidFill>
                  <a:srgbClr val="3E4D50"/>
                </a:solidFill>
                <a:latin typeface="IBM Plex Sans"/>
              </a:rPr>
              <a:t>A row filter applies at read time iff the view carries every column it names; otherwise the read is refused (PRV-7003).</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Filters are part of the fingerprint</a:t>
            </a:r>
          </a:p>
          <a:p>
            <a:pPr lvl="1">
              <a:lnSpc>
                <a:spcPct val="120000"/>
              </a:lnSpc>
              <a:spcBef>
                <a:spcPts val="0"/>
              </a:spcBef>
              <a:spcAft>
                <a:spcPts val="0"/>
              </a:spcAft>
            </a:pPr>
            <a:r>
              <a:rPr sz="1350" b="0">
                <a:solidFill>
                  <a:srgbClr val="3E4D50"/>
                </a:solidFill>
                <a:latin typeface="IBM Plex Sans"/>
              </a:rPr>
              <a:t>Different entitlements never share a computation.</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registration is a standing read</a:t>
            </a:r>
          </a:p>
          <a:p>
            <a:pPr lvl="1">
              <a:lnSpc>
                <a:spcPct val="120000"/>
              </a:lnSpc>
              <a:spcBef>
                <a:spcPts val="0"/>
              </a:spcBef>
              <a:spcAft>
                <a:spcPts val="0"/>
              </a:spcAft>
            </a:pPr>
            <a:r>
              <a:rPr sz="1350" b="0">
                <a:solidFill>
                  <a:srgbClr val="3E4D50"/>
                </a:solidFill>
                <a:latin typeface="IBM Plex Sans"/>
              </a:rPr>
              <a:t>mayRead is asked for every stream in the plan; a sink is a standing write (mayWriteTo), audited by name.</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row-filtered principal cannot subscribe</a:t>
            </a:r>
          </a:p>
          <a:p>
            <a:pPr lvl="1">
              <a:lnSpc>
                <a:spcPct val="120000"/>
              </a:lnSpc>
              <a:spcBef>
                <a:spcPts val="0"/>
              </a:spcBef>
              <a:spcAft>
                <a:spcPts val="0"/>
              </a:spcAft>
            </a:pPr>
            <a:r>
              <a:rPr sz="1350" b="0">
                <a:solidFill>
                  <a:srgbClr val="3E4D50"/>
                </a:solidFill>
                <a:latin typeface="IBM Plex Sans"/>
              </a:rPr>
              <a:t>It reads the view instead, which honours the filter.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0F1A1C"/>
                </a:solidFill>
                <a:latin typeface="IBM Plex Sans Condensed"/>
              </a:rPr>
              <a:t>The engine keeps users, keys and sessions, and nothing reversible</a:t>
            </a:r>
          </a:p>
        </p:txBody>
      </p:sp>
      <p:sp>
        <p:nvSpPr>
          <p:cNvPr id="6" name="Rectangle 5"/>
          <p:cNvSpPr/>
          <p:nvPr/>
        </p:nvSpPr>
        <p:spPr>
          <a:xfrm>
            <a:off x="777240" y="1184757"/>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50</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IBM Plex Sans"/>
                        </a:rPr>
                        <a:t>Secret</a:t>
                      </a:r>
                    </a:p>
                  </a:txBody>
                  <a:tcPr marL="82296" marR="64008" marT="32004" marB="32004" anchor="ctr">
                    <a:solidFill>
                      <a:srgbClr val="0A5C5B"/>
                    </a:solidFill>
                  </a:tcPr>
                </a:tc>
                <a:tc>
                  <a:txBody>
                    <a:bodyPr wrap="square"/>
                    <a:lstStyle/>
                    <a:p>
                      <a:r>
                        <a:rPr sz="1300" b="1">
                          <a:solidFill>
                            <a:srgbClr val="FFFFFF"/>
                          </a:solidFill>
                          <a:latin typeface="IBM Plex Sans"/>
                        </a:rPr>
                        <a:t>Stored as</a:t>
                      </a:r>
                    </a:p>
                  </a:txBody>
                  <a:tcPr marL="82296" marR="64008" marT="32004" marB="32004" anchor="ctr">
                    <a:solidFill>
                      <a:srgbClr val="0A5C5B"/>
                    </a:solidFill>
                  </a:tcPr>
                </a:tc>
                <a:tc>
                  <a:txBody>
                    <a:bodyPr wrap="square"/>
                    <a:lstStyle/>
                    <a:p>
                      <a:r>
                        <a:rPr sz="1300" b="1">
                          <a:solidFill>
                            <a:srgbClr val="FFFFFF"/>
                          </a:solidFill>
                          <a:latin typeface="IBM Plex Sans"/>
                        </a:rPr>
                        <a:t>Rules</a:t>
                      </a:r>
                    </a:p>
                  </a:txBody>
                  <a:tcPr marL="82296" marR="64008" marT="32004" marB="32004" anchor="ctr">
                    <a:solidFill>
                      <a:srgbClr val="0A5C5B"/>
                    </a:solidFill>
                  </a:tcPr>
                </a:tc>
              </a:tr>
              <a:tr h="821283">
                <a:tc>
                  <a:txBody>
                    <a:bodyPr wrap="square"/>
                    <a:lstStyle/>
                    <a:p>
                      <a:r>
                        <a:rPr sz="1450" b="1">
                          <a:solidFill>
                            <a:srgbClr val="0A5C5B"/>
                          </a:solidFill>
                          <a:latin typeface="IBM Plex Sans"/>
                        </a:rPr>
                        <a:t>Password</a:t>
                      </a:r>
                    </a:p>
                  </a:txBody>
                  <a:tcPr marL="82296" marR="64008" marT="32004" marB="32004" anchor="ctr">
                    <a:solidFill>
                      <a:srgbClr val="FFFFFF"/>
                    </a:solidFill>
                  </a:tcPr>
                </a:tc>
                <a:tc>
                  <a:txBody>
                    <a:bodyPr wrap="square"/>
                    <a:lstStyle/>
                    <a:p>
                      <a:r>
                        <a:rPr sz="1450" b="0">
                          <a:solidFill>
                            <a:srgbClr val="0F1A1C"/>
                          </a:solidFill>
                          <a:latin typeface="IBM Plex Sans"/>
                        </a:rPr>
                        <a:t>Argon2id (64 MiB, t=3, p=4); PBKDF2 where Argon2 is unavailable</a:t>
                      </a:r>
                    </a:p>
                  </a:txBody>
                  <a:tcPr marL="82296" marR="64008" marT="32004" marB="32004" anchor="ctr">
                    <a:solidFill>
                      <a:srgbClr val="FFFFFF"/>
                    </a:solidFill>
                  </a:tcPr>
                </a:tc>
                <a:tc>
                  <a:txBody>
                    <a:bodyPr wrap="square"/>
                    <a:lstStyle/>
                    <a:p>
                      <a:r>
                        <a:rPr sz="1450" b="0">
                          <a:solidFill>
                            <a:srgbClr val="0F1A1C"/>
                          </a:solidFill>
                          <a:latin typeface="IBM Plex Sans"/>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0A5C5B"/>
                          </a:solidFill>
                          <a:latin typeface="IBM Plex Sans"/>
                        </a:rPr>
                        <a:t>API key</a:t>
                      </a:r>
                    </a:p>
                  </a:txBody>
                  <a:tcPr marL="82296" marR="64008" marT="32004" marB="32004" anchor="ctr">
                    <a:solidFill>
                      <a:srgbClr val="EEF6F5"/>
                    </a:solidFill>
                  </a:tcPr>
                </a:tc>
                <a:tc>
                  <a:txBody>
                    <a:bodyPr wrap="square"/>
                    <a:lstStyle/>
                    <a:p>
                      <a:r>
                        <a:rPr sz="1450" b="0">
                          <a:solidFill>
                            <a:srgbClr val="0F1A1C"/>
                          </a:solidFill>
                          <a:latin typeface="IBM Plex Sans"/>
                        </a:rPr>
                        <a:t>The same KDF; secret shown once</a:t>
                      </a:r>
                    </a:p>
                  </a:txBody>
                  <a:tcPr marL="82296" marR="64008" marT="32004" marB="32004" anchor="ctr">
                    <a:solidFill>
                      <a:srgbClr val="EEF6F5"/>
                    </a:solidFill>
                  </a:tcPr>
                </a:tc>
                <a:tc>
                  <a:txBody>
                    <a:bodyPr wrap="square"/>
                    <a:lstStyle/>
                    <a:p>
                      <a:r>
                        <a:rPr sz="1450" b="0">
                          <a:solidFill>
                            <a:srgbClr val="0F1A1C"/>
                          </a:solidFill>
                          <a:latin typeface="IBM Plex Sans"/>
                        </a:rPr>
                        <a:t>prv_&lt;env&gt;_&lt;keyid&gt;_&lt;secret&gt;; roles a subset of the holder's; expiry mandatory, 90 days default, 365 at most; 7-day rotation overlap</a:t>
                      </a:r>
                    </a:p>
                  </a:txBody>
                  <a:tcPr marL="82296" marR="64008" marT="32004" marB="32004" anchor="ctr">
                    <a:solidFill>
                      <a:srgbClr val="EEF6F5"/>
                    </a:solidFill>
                  </a:tcPr>
                </a:tc>
              </a:tr>
              <a:tr h="584098">
                <a:tc>
                  <a:txBody>
                    <a:bodyPr wrap="square"/>
                    <a:lstStyle/>
                    <a:p>
                      <a:r>
                        <a:rPr sz="1450" b="1">
                          <a:solidFill>
                            <a:srgbClr val="0A5C5B"/>
                          </a:solidFill>
                          <a:latin typeface="IBM Plex Sans"/>
                        </a:rPr>
                        <a:t>Session token</a:t>
                      </a:r>
                    </a:p>
                  </a:txBody>
                  <a:tcPr marL="82296" marR="64008" marT="32004" marB="32004" anchor="ctr">
                    <a:solidFill>
                      <a:srgbClr val="FFFFFF"/>
                    </a:solidFill>
                  </a:tcPr>
                </a:tc>
                <a:tc>
                  <a:txBody>
                    <a:bodyPr wrap="square"/>
                    <a:lstStyle/>
                    <a:p>
                      <a:r>
                        <a:rPr sz="1450" b="0">
                          <a:solidFill>
                            <a:srgbClr val="0F1A1C"/>
                          </a:solidFill>
                          <a:latin typeface="IBM Plex Sans"/>
                        </a:rPr>
                        <a:t>SHA-256 of 256 random bits</a:t>
                      </a:r>
                    </a:p>
                  </a:txBody>
                  <a:tcPr marL="82296" marR="64008" marT="32004" marB="32004" anchor="ctr">
                    <a:solidFill>
                      <a:srgbClr val="FFFFFF"/>
                    </a:solidFill>
                  </a:tcPr>
                </a:tc>
                <a:tc>
                  <a:txBody>
                    <a:bodyPr wrap="square"/>
                    <a:lstStyle/>
                    <a:p>
                      <a:r>
                        <a:rPr sz="1450" b="0">
                          <a:solidFill>
                            <a:srgbClr val="0F1A1C"/>
                          </a:solidFill>
                          <a:latin typeface="IBM Plex Sans"/>
                        </a:rPr>
                        <a:t>30 minutes idle, 12 hours absolute, at most 3 per person</a:t>
                      </a:r>
                    </a:p>
                  </a:txBody>
                  <a:tcPr marL="82296" marR="64008" marT="32004" marB="32004" anchor="ctr">
                    <a:solidFill>
                      <a:srgbClr val="FFFFFF"/>
                    </a:solidFill>
                  </a:tcPr>
                </a:tc>
              </a:tr>
              <a:tr h="584098">
                <a:tc>
                  <a:txBody>
                    <a:bodyPr wrap="square"/>
                    <a:lstStyle/>
                    <a:p>
                      <a:r>
                        <a:rPr sz="1450" b="1">
                          <a:solidFill>
                            <a:srgbClr val="0A5C5B"/>
                          </a:solidFill>
                          <a:latin typeface="IBM Plex Sans"/>
                        </a:rPr>
                        <a:t>Login failures</a:t>
                      </a:r>
                    </a:p>
                  </a:txBody>
                  <a:tcPr marL="82296" marR="64008" marT="32004" marB="32004" anchor="ctr">
                    <a:solidFill>
                      <a:srgbClr val="EEF6F5"/>
                    </a:solidFill>
                  </a:tcPr>
                </a:tc>
                <a:tc>
                  <a:txBody>
                    <a:bodyPr wrap="square"/>
                    <a:lstStyle/>
                    <a:p>
                      <a:r>
                        <a:rPr sz="1450" b="0">
                          <a:solidFill>
                            <a:srgbClr val="0F1A1C"/>
                          </a:solidFill>
                          <a:latin typeface="IBM Plex Sans"/>
                        </a:rPr>
                        <a:t>Recorded before the refusal is answered</a:t>
                      </a:r>
                    </a:p>
                  </a:txBody>
                  <a:tcPr marL="82296" marR="64008" marT="32004" marB="32004" anchor="ctr">
                    <a:solidFill>
                      <a:srgbClr val="EEF6F5"/>
                    </a:solidFill>
                  </a:tcPr>
                </a:tc>
                <a:tc>
                  <a:txBody>
                    <a:bodyPr wrap="square"/>
                    <a:lstStyle/>
                    <a:p>
                      <a:r>
                        <a:rPr sz="1450" b="0">
                          <a:solidFill>
                            <a:srgbClr val="0F1A1C"/>
                          </a:solidFill>
                          <a:latin typeface="IBM Plex Sans"/>
                        </a:rPr>
                        <a:t>5 inside 15 minutes lock the account for 30</a:t>
                      </a:r>
                    </a:p>
                  </a:txBody>
                  <a:tcPr marL="82296" marR="64008" marT="32004" marB="32004" anchor="ctr">
                    <a:solidFill>
                      <a:srgbClr val="EEF6F5"/>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TENANCY · ADR-050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A tenant owns names and state, and shares only with itself</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51</a:t>
            </a:r>
          </a:p>
        </p:txBody>
      </p:sp>
      <p:sp>
        <p:nvSpPr>
          <p:cNvPr id="10" name="Rectangle 9"/>
          <p:cNvSpPr/>
          <p:nvPr/>
        </p:nvSpPr>
        <p:spPr>
          <a:xfrm>
            <a:off x="777240" y="134548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Its names, and the computations behind them</a:t>
            </a:r>
          </a:p>
          <a:p>
            <a:pPr lvl="1">
              <a:lnSpc>
                <a:spcPct val="120000"/>
              </a:lnSpc>
              <a:spcBef>
                <a:spcPts val="0"/>
              </a:spcBef>
              <a:spcAft>
                <a:spcPts val="0"/>
              </a:spcAft>
            </a:pPr>
            <a:r>
              <a:rPr sz="1400" b="0">
                <a:solidFill>
                  <a:srgbClr val="3E4D50"/>
                </a:solidFill>
                <a:latin typeface="IBM Plex Sans"/>
              </a:rPr>
              <a:t>The tenant is in the fingerprint: the same SQL from two tenants is two computations.</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The keys those views hold</a:t>
            </a:r>
          </a:p>
          <a:p>
            <a:pPr lvl="1">
              <a:lnSpc>
                <a:spcPct val="120000"/>
              </a:lnSpc>
              <a:spcBef>
                <a:spcPts val="0"/>
              </a:spcBef>
              <a:spcAft>
                <a:spcPts val="0"/>
              </a:spcAft>
            </a:pPr>
            <a:r>
              <a:rPr sz="1400" b="0">
                <a:solidFill>
                  <a:srgbClr val="3E4D50"/>
                </a:solidFill>
                <a:latin typeface="IBM Plex Sans"/>
              </a:rPr>
              <a:t>What max-state-keys counts; max-queries counts names.</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Refused by name at registration</a:t>
            </a:r>
          </a:p>
          <a:p>
            <a:pPr lvl="1">
              <a:lnSpc>
                <a:spcPct val="120000"/>
              </a:lnSpc>
              <a:spcBef>
                <a:spcPts val="0"/>
              </a:spcBef>
              <a:spcAft>
                <a:spcPts val="0"/>
              </a:spcAft>
            </a:pPr>
            <a:r>
              <a:rPr sz="1400" b="0">
                <a:solidFill>
                  <a:srgbClr val="3E4D50"/>
                </a:solidFill>
                <a:latin typeface="IBM Plex Sans"/>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A tenant does not scope, by decision</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View names</a:t>
            </a:r>
          </a:p>
          <a:p>
            <a:pPr lvl="1">
              <a:lnSpc>
                <a:spcPct val="120000"/>
              </a:lnSpc>
              <a:spcBef>
                <a:spcPts val="0"/>
              </a:spcBef>
              <a:spcAft>
                <a:spcPts val="0"/>
              </a:spcAft>
            </a:pPr>
            <a:r>
              <a:rPr sz="1400" b="0">
                <a:solidFill>
                  <a:srgbClr val="3E4D50"/>
                </a:solidFill>
                <a:latin typeface="IBM Plex Sans"/>
              </a:rPr>
              <a:t>Unique on the node, whichever tenant holds them.</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Reads, sources and sinks</a:t>
            </a:r>
          </a:p>
          <a:p>
            <a:pPr lvl="1">
              <a:lnSpc>
                <a:spcPct val="120000"/>
              </a:lnSpc>
              <a:spcBef>
                <a:spcPts val="0"/>
              </a:spcBef>
              <a:spcAft>
                <a:spcPts val="0"/>
              </a:spcAft>
            </a:pPr>
            <a:r>
              <a:rPr sz="1400" b="0">
                <a:solidFill>
                  <a:srgbClr val="3E4D50"/>
                </a:solidFill>
                <a:latin typeface="IBM Plex Sans"/>
              </a:rPr>
              <a:t>The policy decides; no tenant boundary it did not draw.</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Lanes and CPU</a:t>
            </a:r>
          </a:p>
          <a:p>
            <a:pPr lvl="1">
              <a:lnSpc>
                <a:spcPct val="120000"/>
              </a:lnSpc>
              <a:spcBef>
                <a:spcPts val="0"/>
              </a:spcBef>
              <a:spcAft>
                <a:spcPts val="0"/>
              </a:spcAft>
            </a:pPr>
            <a:r>
              <a:rPr sz="1400" b="0">
                <a:solidFill>
                  <a:srgbClr val="3E4D50"/>
                </a:solidFill>
                <a:latin typeface="IBM Plex Sans"/>
              </a:rPr>
              <a:t>Shared; per-tenant CPU scheduling is not built.</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Operator state outside the view</a:t>
            </a:r>
          </a:p>
          <a:p>
            <a:pPr lvl="1">
              <a:lnSpc>
                <a:spcPct val="120000"/>
              </a:lnSpc>
              <a:spcBef>
                <a:spcPts val="0"/>
              </a:spcBef>
              <a:spcAft>
                <a:spcPts val="0"/>
              </a:spcAft>
            </a:pPr>
            <a:r>
              <a:rPr sz="1400" b="0">
                <a:solidFill>
                  <a:srgbClr val="3E4D50"/>
                </a:solidFill>
                <a:latin typeface="IBM Plex Sans"/>
              </a:rPr>
              <a:t>Bounded per query by its ceilings instead.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What the security model does not do yet</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8 · Security and identity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52</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Drop, pause and resume are authorized as reads</a:t>
            </a:r>
          </a:p>
          <a:p>
            <a:pPr lvl="1">
              <a:lnSpc>
                <a:spcPct val="120000"/>
              </a:lnSpc>
              <a:spcBef>
                <a:spcPts val="0"/>
              </a:spcBef>
              <a:spcAft>
                <a:spcPts val="0"/>
              </a:spcAft>
            </a:pPr>
            <a:r>
              <a:rPr sz="1550" b="0">
                <a:solidFill>
                  <a:srgbClr val="3E4D50"/>
                </a:solidFill>
                <a:latin typeface="IBM Plex Sans"/>
              </a:rPr>
              <a:t>mayAdminister defaults to mayRead: anyone entitled to any rows of a view may drop it for everyone. A deployment that needs ownership must override mayAdminister.</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The HTTP API's TLS is Spring Boot's</a:t>
            </a:r>
          </a:p>
          <a:p>
            <a:pPr lvl="1">
              <a:lnSpc>
                <a:spcPct val="120000"/>
              </a:lnSpc>
              <a:spcBef>
                <a:spcPts val="0"/>
              </a:spcBef>
              <a:spcAft>
                <a:spcPts val="0"/>
              </a:spcAft>
            </a:pPr>
            <a:r>
              <a:rPr sz="1550" b="0">
                <a:solidFill>
                  <a:srgbClr val="3E4D50"/>
                </a:solidFill>
                <a:latin typeface="IBM Plex Sans"/>
              </a:rPr>
              <a:t>Flight carries TLS by default; /api/v1 is reached over HTTPS only through server.ssl.*.</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No mTLS between nodes, no OIDC or JWT verifier out of the box</a:t>
            </a:r>
          </a:p>
          <a:p>
            <a:pPr lvl="1">
              <a:lnSpc>
                <a:spcPct val="120000"/>
              </a:lnSpc>
              <a:spcBef>
                <a:spcPts val="0"/>
              </a:spcBef>
              <a:spcAft>
                <a:spcPts val="0"/>
              </a:spcAft>
            </a:pPr>
            <a:r>
              <a:rPr sz="1550" b="0">
                <a:solidFill>
                  <a:srgbClr val="3E4D50"/>
                </a:solidFill>
                <a:latin typeface="IBM Plex Sans"/>
              </a:rPr>
              <a:t>There are no nodes yet; TokenVerifier is the seam for a verifier.</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No column masking; grants live in the deployment's policy</a:t>
            </a:r>
          </a:p>
          <a:p>
            <a:pPr lvl="1">
              <a:lnSpc>
                <a:spcPct val="120000"/>
              </a:lnSpc>
              <a:spcBef>
                <a:spcPts val="0"/>
              </a:spcBef>
              <a:spcAft>
                <a:spcPts val="0"/>
              </a:spcAft>
            </a:pPr>
            <a:r>
              <a:rPr sz="1550" b="0">
                <a:solidFill>
                  <a:srgbClr val="3E4D50"/>
                </a:solidFill>
                <a:latin typeface="IBM Plex Sans"/>
              </a:rPr>
              <a:t>The console shows grants and does not edit them.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9</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Operating it</a:t>
            </a:r>
          </a:p>
        </p:txBody>
      </p:sp>
      <p:sp>
        <p:nvSpPr>
          <p:cNvPr id="9" name="Rectangle 8"/>
          <p:cNvSpPr/>
          <p:nvPr/>
        </p:nvSpPr>
        <p:spPr>
          <a:xfrm>
            <a:off x="1005840" y="3123184"/>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Three ways to run one engine, a console that is a product and not a dashboard, two command lines, two SDKs that survive a restart,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Three ways to run it</a:t>
            </a:r>
          </a:p>
          <a:p>
            <a:pPr>
              <a:lnSpc>
                <a:spcPct val="115000"/>
              </a:lnSpc>
              <a:spcBef>
                <a:spcPts val="0"/>
              </a:spcBef>
              <a:spcAft>
                <a:spcPts val="600"/>
              </a:spcAft>
            </a:pPr>
            <a:r>
              <a:rPr sz="1250" b="0" i="0">
                <a:solidFill>
                  <a:srgbClr val="DCEBEA"/>
                </a:solidFill>
                <a:latin typeface="IBM Plex Sans"/>
              </a:rPr>
              <a:t>The console</a:t>
            </a:r>
          </a:p>
          <a:p>
            <a:pPr>
              <a:lnSpc>
                <a:spcPct val="115000"/>
              </a:lnSpc>
              <a:spcBef>
                <a:spcPts val="0"/>
              </a:spcBef>
              <a:spcAft>
                <a:spcPts val="600"/>
              </a:spcAft>
            </a:pPr>
            <a:r>
              <a:rPr sz="1250" b="0" i="0">
                <a:solidFill>
                  <a:srgbClr val="DCEBEA"/>
                </a:solidFill>
                <a:latin typeface="IBM Plex Sans"/>
              </a:rPr>
              <a:t>pravaha and pravaha-engine</a:t>
            </a:r>
          </a:p>
          <a:p>
            <a:pPr>
              <a:lnSpc>
                <a:spcPct val="115000"/>
              </a:lnSpc>
              <a:spcBef>
                <a:spcPts val="0"/>
              </a:spcBef>
              <a:spcAft>
                <a:spcPts val="600"/>
              </a:spcAft>
            </a:pPr>
            <a:r>
              <a:rPr sz="1250" b="0" i="0">
                <a:solidFill>
                  <a:srgbClr val="DCEBEA"/>
                </a:solidFill>
                <a:latin typeface="IBM Plex Sans"/>
              </a:rPr>
              <a:t>SDKs, and reconnecting</a:t>
            </a:r>
          </a:p>
          <a:p>
            <a:pPr>
              <a:lnSpc>
                <a:spcPct val="115000"/>
              </a:lnSpc>
              <a:spcBef>
                <a:spcPts val="0"/>
              </a:spcBef>
              <a:spcAft>
                <a:spcPts val="600"/>
              </a:spcAft>
            </a:pPr>
            <a:r>
              <a:rPr sz="1250" b="0" i="0">
                <a:solidFill>
                  <a:srgbClr val="DCEBEA"/>
                </a:solidFill>
                <a:latin typeface="IBM Plex Sans"/>
              </a:rPr>
              <a:t>What to watch</a:t>
            </a:r>
          </a:p>
          <a:p>
            <a:pPr>
              <a:lnSpc>
                <a:spcPct val="115000"/>
              </a:lnSpc>
              <a:spcBef>
                <a:spcPts val="0"/>
              </a:spcBef>
              <a:spcAft>
                <a:spcPts val="600"/>
              </a:spcAft>
            </a:pPr>
            <a:r>
              <a:rPr sz="1250" b="0" i="0">
                <a:solidFill>
                  <a:srgbClr val="DCEBEA"/>
                </a:solidFill>
                <a:latin typeface="IBM Plex Sans"/>
              </a:rPr>
              <a:t>The time-travel debugger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Three ways to run one engine</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54</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0F1A1C"/>
                </a:solidFill>
                <a:latin typeface="IBM Plex Sans Condensed"/>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CFDA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0E7C7B"/>
                </a:solidFill>
                <a:latin typeface="IBM Plex Sans"/>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0F1A1C"/>
                </a:solidFill>
                <a:latin typeface="IBM Plex Sans Condensed"/>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3E4D50"/>
                </a:solidFill>
                <a:latin typeface="IBM Plex Sans"/>
              </a:rPr>
              <a:t>The engine, Flight SQL, the PostgreSQL gateway and /status. A non-root image on a JDK 21 glibc base, and a Helm chart that installs one node as a StatefulSet.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Each persona lands on its own screen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55</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FastAPI, server-rendered, with every asset vendored so it runs air-gapped. All eight §23.18 journeys run in headless Chrome;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Analyst: the SQL Workbench</a:t>
            </a:r>
          </a:p>
          <a:p>
            <a:pPr lvl="1">
              <a:lnSpc>
                <a:spcPct val="120000"/>
              </a:lnSpc>
              <a:spcBef>
                <a:spcPts val="0"/>
              </a:spcBef>
              <a:spcAft>
                <a:spcPts val="0"/>
              </a:spcAft>
            </a:pPr>
            <a:r>
              <a:rPr sz="1550" b="0">
                <a:solidFill>
                  <a:srgbClr val="3E4D50"/>
                </a:solidFill>
                <a:latin typeface="IBM Plex Sans"/>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Developer: Views</a:t>
            </a:r>
          </a:p>
          <a:p>
            <a:pPr lvl="1">
              <a:lnSpc>
                <a:spcPct val="120000"/>
              </a:lnSpc>
              <a:spcBef>
                <a:spcPts val="0"/>
              </a:spcBef>
              <a:spcAft>
                <a:spcPts val="0"/>
              </a:spcAft>
            </a:pPr>
            <a:r>
              <a:rPr sz="1550" b="0">
                <a:solidFill>
                  <a:srgbClr val="3E4D50"/>
                </a:solidFill>
                <a:latin typeface="IBM Plex Sans"/>
              </a:rPr>
              <a:t>Point queries and copy-paste client code for both SDKs, psql and the CLI.</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Operator: Operations</a:t>
            </a:r>
          </a:p>
          <a:p>
            <a:pPr lvl="1">
              <a:lnSpc>
                <a:spcPct val="120000"/>
              </a:lnSpc>
              <a:spcBef>
                <a:spcPts val="0"/>
              </a:spcBef>
              <a:spcAft>
                <a:spcPts val="0"/>
              </a:spcAft>
            </a:pPr>
            <a:r>
              <a:rPr sz="1550" b="0">
                <a:solidFill>
                  <a:srgbClr val="3E4D50"/>
                </a:solidFill>
                <a:latin typeface="IBM Plex Sans"/>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Administrator: Admin</a:t>
            </a:r>
          </a:p>
          <a:p>
            <a:pPr lvl="1">
              <a:lnSpc>
                <a:spcPct val="120000"/>
              </a:lnSpc>
              <a:spcBef>
                <a:spcPts val="0"/>
              </a:spcBef>
              <a:spcAft>
                <a:spcPts val="0"/>
              </a:spcAft>
            </a:pPr>
            <a:r>
              <a:rPr sz="1550" b="0">
                <a:solidFill>
                  <a:srgbClr val="3E4D50"/>
                </a:solidFill>
                <a:latin typeface="IBM Plex Sans"/>
              </a:rPr>
              <a:t>Users, keys and sessions; the audit trail, filterable and paged; and Admin → Lanes.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pravaha talks to a node; pravaha-engine runs one in process</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56</a:t>
            </a:r>
          </a:p>
        </p:txBody>
      </p:sp>
      <p:sp>
        <p:nvSpPr>
          <p:cNvPr id="10" name="Rectangle 9"/>
          <p:cNvSpPr/>
          <p:nvPr/>
        </p:nvSpPr>
        <p:spPr>
          <a:xfrm>
            <a:off x="777240" y="134548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Every command that talks to a running engine</a:t>
            </a:r>
          </a:p>
          <a:p>
            <a:pPr lvl="1">
              <a:lnSpc>
                <a:spcPct val="120000"/>
              </a:lnSpc>
              <a:spcBef>
                <a:spcPts val="0"/>
              </a:spcBef>
              <a:spcAft>
                <a:spcPts val="0"/>
              </a:spcAft>
            </a:pPr>
            <a:r>
              <a:rPr sz="1450" b="0">
                <a:solidFill>
                  <a:srgbClr val="3E4D50"/>
                </a:solidFill>
                <a:latin typeface="IBM Plex Sans"/>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Installed with the SDK</a:t>
            </a:r>
          </a:p>
          <a:p>
            <a:pPr lvl="1">
              <a:lnSpc>
                <a:spcPct val="120000"/>
              </a:lnSpc>
              <a:spcBef>
                <a:spcPts val="0"/>
              </a:spcBef>
              <a:spcAft>
                <a:spcPts val="0"/>
              </a:spcAft>
            </a:pPr>
            <a:r>
              <a:rPr sz="1450" b="0">
                <a:solidFill>
                  <a:srgbClr val="3E4D50"/>
                </a:solidFill>
                <a:latin typeface="IBM Plex Sans"/>
              </a:rPr>
              <a:t>pip install './sdk/python[flight]'.</a:t>
            </a:r>
          </a:p>
        </p:txBody>
      </p:sp>
      <p:sp>
        <p:nvSpPr>
          <p:cNvPr id="14" name="Rectangle 13"/>
          <p:cNvSpPr/>
          <p:nvPr/>
        </p:nvSpPr>
        <p:spPr>
          <a:xfrm>
            <a:off x="6278727" y="1345488"/>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validate, explain, run, version</a:t>
            </a:r>
          </a:p>
          <a:p>
            <a:pPr lvl="1">
              <a:lnSpc>
                <a:spcPct val="120000"/>
              </a:lnSpc>
              <a:spcBef>
                <a:spcPts val="0"/>
              </a:spcBef>
              <a:spcAft>
                <a:spcPts val="0"/>
              </a:spcAft>
            </a:pPr>
            <a:r>
              <a:rPr sz="1450" b="0">
                <a:solidFill>
                  <a:srgbClr val="3E4D50"/>
                </a:solidFill>
                <a:latin typeface="IBM Plex Sans"/>
              </a:rPr>
              <a:t>What needs the engine in-process, and carries no token.</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A moved command says where it went</a:t>
            </a:r>
          </a:p>
          <a:p>
            <a:pPr lvl="1">
              <a:lnSpc>
                <a:spcPct val="120000"/>
              </a:lnSpc>
              <a:spcBef>
                <a:spcPts val="0"/>
              </a:spcBef>
              <a:spcAft>
                <a:spcPts val="0"/>
              </a:spcAft>
            </a:pPr>
            <a:r>
              <a:rPr sz="1450" b="0">
                <a:solidFill>
                  <a:srgbClr val="3E4D50"/>
                </a:solidFill>
                <a:latin typeface="IBM Plex Sans"/>
              </a:rPr>
              <a:t>Typing one of the server commands prints where it lives now and exits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subscription that survives a server restart</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57</a:t>
            </a:r>
          </a:p>
        </p:txBody>
      </p:sp>
      <p:sp>
        <p:nvSpPr>
          <p:cNvPr id="10" name="Rectangle 9"/>
          <p:cNvSpPr/>
          <p:nvPr/>
        </p:nvSpPr>
        <p:spPr>
          <a:xfrm>
            <a:off x="777240" y="1410919"/>
            <a:ext cx="5667588" cy="3264916"/>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6FD0C8"/>
                </a:solidFill>
                <a:latin typeface="Consolas"/>
              </a:rPr>
              <a:t># Python</a:t>
            </a:r>
          </a:p>
          <a:p>
            <a:pPr>
              <a:lnSpc>
                <a:spcPct val="100000"/>
              </a:lnSpc>
              <a:spcBef>
                <a:spcPts val="0"/>
              </a:spcBef>
              <a:spcAft>
                <a:spcPts val="0"/>
              </a:spcAft>
            </a:pPr>
            <a:r>
              <a:rPr sz="1250" b="0" i="0">
                <a:solidFill>
                  <a:srgbClr val="DCEBEA"/>
                </a:solidFill>
                <a:latin typeface="Consolas"/>
              </a:rPr>
              <a:t>for batch in client.subscribe("large_payments",</a:t>
            </a:r>
          </a:p>
          <a:p>
            <a:pPr>
              <a:lnSpc>
                <a:spcPct val="100000"/>
              </a:lnSpc>
              <a:spcBef>
                <a:spcPts val="0"/>
              </a:spcBef>
              <a:spcAft>
                <a:spcPts val="0"/>
              </a:spcAft>
            </a:pPr>
            <a:r>
              <a:rPr sz="1250" b="0" i="0">
                <a:solidFill>
                  <a:srgbClr val="DCEBEA"/>
                </a:solidFill>
                <a:latin typeface="Consolas"/>
              </a:rPr>
              <a:t>        snapshot=True, reconnect=True):</a:t>
            </a:r>
          </a:p>
          <a:p>
            <a:pPr>
              <a:lnSpc>
                <a:spcPct val="100000"/>
              </a:lnSpc>
              <a:spcBef>
                <a:spcPts val="0"/>
              </a:spcBef>
              <a:spcAft>
                <a:spcPts val="0"/>
              </a:spcAft>
            </a:pPr>
            <a:r>
              <a:rPr sz="1250" b="0" i="0">
                <a:solidFill>
                  <a:srgbClr val="DCEBEA"/>
                </a:solidFill>
                <a:latin typeface="Consolas"/>
              </a:rPr>
              <a:t>    if batch.snapshot:</a:t>
            </a:r>
          </a:p>
          <a:p>
            <a:pPr>
              <a:lnSpc>
                <a:spcPct val="100000"/>
              </a:lnSpc>
              <a:spcBef>
                <a:spcPts val="0"/>
              </a:spcBef>
              <a:spcAft>
                <a:spcPts val="0"/>
              </a:spcAft>
            </a:pPr>
            <a:r>
              <a:rPr sz="1250" b="0" i="0">
                <a:solidFill>
                  <a:srgbClr val="DCEBEA"/>
                </a:solidFill>
                <a:latin typeface="Consolas"/>
              </a:rPr>
              <a:t>        copy = {}   # a fresh snapshot: replace</a:t>
            </a:r>
          </a:p>
          <a:p>
            <a:pPr>
              <a:lnSpc>
                <a:spcPct val="100000"/>
              </a:lnSpc>
              <a:spcBef>
                <a:spcPts val="0"/>
              </a:spcBef>
              <a:spcAft>
                <a:spcPts val="0"/>
              </a:spcAft>
            </a:pPr>
            <a:r>
              <a:rPr sz="1250" b="0" i="0">
                <a:solidFill>
                  <a:srgbClr val="DCEBEA"/>
                </a:solidFill>
                <a:latin typeface="Consolas"/>
              </a:rPr>
              <a:t>    apply(copy, batch)</a:t>
            </a:r>
          </a:p>
          <a:p>
            <a:pPr>
              <a:lnSpc>
                <a:spcPct val="100000"/>
              </a:lnSpc>
              <a:spcBef>
                <a:spcPts val="0"/>
              </a:spcBef>
              <a:spcAft>
                <a:spcPts val="0"/>
              </a:spcAft>
            </a:pPr>
            <a:r>
              <a:rPr sz="1250" b="0" i="0">
                <a:solidFill>
                  <a:srgbClr val="DCEBEA"/>
                </a:solidFill>
                <a:latin typeface="Consolas"/>
              </a:rPr>
              <a:t> </a:t>
            </a:r>
          </a:p>
          <a:p>
            <a:pPr>
              <a:lnSpc>
                <a:spcPct val="100000"/>
              </a:lnSpc>
              <a:spcBef>
                <a:spcPts val="0"/>
              </a:spcBef>
              <a:spcAft>
                <a:spcPts val="0"/>
              </a:spcAft>
            </a:pPr>
            <a:r>
              <a:rPr sz="1250" b="0" i="0">
                <a:solidFill>
                  <a:srgbClr val="6FD0C8"/>
                </a:solidFill>
                <a:latin typeface="Consolas"/>
              </a:rPr>
              <a:t>// Java</a:t>
            </a:r>
          </a:p>
          <a:p>
            <a:pPr>
              <a:lnSpc>
                <a:spcPct val="100000"/>
              </a:lnSpc>
              <a:spcBef>
                <a:spcPts val="0"/>
              </a:spcBef>
              <a:spcAft>
                <a:spcPts val="0"/>
              </a:spcAft>
            </a:pPr>
            <a:r>
              <a:rPr sz="1250" b="0" i="0">
                <a:solidFill>
                  <a:srgbClr val="DCEBEA"/>
                </a:solidFill>
                <a:latin typeface="Consolas"/>
              </a:rPr>
              <a:t>ReconnectingSubscription s =</a:t>
            </a:r>
          </a:p>
          <a:p>
            <a:pPr>
              <a:lnSpc>
                <a:spcPct val="100000"/>
              </a:lnSpc>
              <a:spcBef>
                <a:spcPts val="0"/>
              </a:spcBef>
              <a:spcAft>
                <a:spcPts val="0"/>
              </a:spcAft>
            </a:pPr>
            <a:r>
              <a:rPr sz="1250" b="0" i="0">
                <a:solidFill>
                  <a:srgbClr val="DCEBEA"/>
                </a:solidFill>
                <a:latin typeface="Consolas"/>
              </a:rPr>
              <a:t>  client.subscribeFromSnapshot("large_payments",</a:t>
            </a:r>
          </a:p>
          <a:p>
            <a:pPr>
              <a:lnSpc>
                <a:spcPct val="100000"/>
              </a:lnSpc>
              <a:spcBef>
                <a:spcPts val="0"/>
              </a:spcBef>
              <a:spcAft>
                <a:spcPts val="0"/>
              </a:spcAft>
            </a:pPr>
            <a:r>
              <a:rPr sz="1250" b="0" i="0">
                <a:solidFill>
                  <a:srgbClr val="DCEBEA"/>
                </a:solidFill>
                <a:latin typeface="Consolas"/>
              </a:rPr>
              <a:t>    Map.of(),</a:t>
            </a:r>
          </a:p>
          <a:p>
            <a:pPr>
              <a:lnSpc>
                <a:spcPct val="100000"/>
              </a:lnSpc>
              <a:spcBef>
                <a:spcPts val="0"/>
              </a:spcBef>
              <a:spcAft>
                <a:spcPts val="0"/>
              </a:spcAft>
            </a:pPr>
            <a:r>
              <a:rPr sz="1250" b="0" i="0">
                <a:solidFill>
                  <a:srgbClr val="DCEBEA"/>
                </a:solidFill>
                <a:latin typeface="Consolas"/>
              </a:rPr>
              <a:t>    ReconnectingSubscription.Reconnect.defaults()</a:t>
            </a:r>
          </a:p>
          <a:p>
            <a:pPr>
              <a:lnSpc>
                <a:spcPct val="100000"/>
              </a:lnSpc>
              <a:spcBef>
                <a:spcPts val="0"/>
              </a:spcBef>
              <a:spcAft>
                <a:spcPts val="0"/>
              </a:spcAft>
            </a:pPr>
            <a:r>
              <a:rPr sz="1250" b="0" i="0">
                <a:solidFill>
                  <a:srgbClr val="DCEBEA"/>
                </a:solidFill>
                <a:latin typeface="Consolas"/>
              </a:rPr>
              <a:t>        .onReconnected(copy::clear), copy::apply);</a:t>
            </a:r>
          </a:p>
          <a:p>
            <a:pPr>
              <a:lnSpc>
                <a:spcPct val="100000"/>
              </a:lnSpc>
              <a:spcBef>
                <a:spcPts val="0"/>
              </a:spcBef>
              <a:spcAft>
                <a:spcPts val="0"/>
              </a:spcAft>
            </a:pPr>
            <a:r>
              <a:rPr sz="1250" b="0" i="0">
                <a:solidFill>
                  <a:srgbClr val="DCEBEA"/>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0E7C7B"/>
                </a:solidFill>
                <a:latin typeface="IBM Plex Sans"/>
              </a:rPr>
              <a:t>▪  </a:t>
            </a:r>
            <a:r>
              <a:rPr sz="1600" b="1">
                <a:solidFill>
                  <a:srgbClr val="0F1A1C"/>
                </a:solidFill>
                <a:latin typeface="IBM Plex Sans"/>
              </a:rPr>
              <a:t>Reopened with backoff</a:t>
            </a:r>
          </a:p>
          <a:p>
            <a:pPr lvl="1">
              <a:lnSpc>
                <a:spcPct val="120000"/>
              </a:lnSpc>
              <a:spcBef>
                <a:spcPts val="0"/>
              </a:spcBef>
              <a:spcAft>
                <a:spcPts val="0"/>
              </a:spcAft>
            </a:pPr>
            <a:r>
              <a:rPr sz="1450" b="0">
                <a:solidFill>
                  <a:srgbClr val="3E4D50"/>
                </a:solidFill>
                <a:latin typeface="IBM Plex Sans"/>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Pair it with a snapshot</a:t>
            </a:r>
          </a:p>
          <a:p>
            <a:pPr lvl="1">
              <a:lnSpc>
                <a:spcPct val="120000"/>
              </a:lnSpc>
              <a:spcBef>
                <a:spcPts val="0"/>
              </a:spcBef>
              <a:spcAft>
                <a:spcPts val="0"/>
              </a:spcAft>
            </a:pPr>
            <a:r>
              <a:rPr sz="1450" b="0">
                <a:solidFill>
                  <a:srgbClr val="3E4D50"/>
                </a:solidFill>
                <a:latin typeface="IBM Plex Sans"/>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0E7C7B"/>
                </a:solidFill>
                <a:latin typeface="IBM Plex Sans"/>
              </a:rPr>
              <a:t>▪  </a:t>
            </a:r>
            <a:r>
              <a:rPr sz="1600" b="1">
                <a:solidFill>
                  <a:srgbClr val="0F1A1C"/>
                </a:solidFill>
                <a:latin typeface="IBM Plex Sans"/>
              </a:rPr>
              <a:t>A permanent refusal is raised at once</a:t>
            </a:r>
          </a:p>
          <a:p>
            <a:pPr lvl="1">
              <a:lnSpc>
                <a:spcPct val="120000"/>
              </a:lnSpc>
              <a:spcBef>
                <a:spcPts val="0"/>
              </a:spcBef>
              <a:spcAft>
                <a:spcPts val="0"/>
              </a:spcAft>
            </a:pPr>
            <a:r>
              <a:rPr sz="1450" b="0">
                <a:solidFill>
                  <a:srgbClr val="3E4D50"/>
                </a:solidFill>
                <a:latin typeface="IBM Plex Sans"/>
              </a:rPr>
              <a:t>Other calls fail with PRV-1040, retryable, and work as soon as the node is back.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Per-query metrics, and the ones to alert on</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58</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Per-operator rows, state and sampled self time appear on GET /api/v1/queries/{name}/plan when pravaha.metrics.operators is on — off by default, as it costs about 8 % of throughput.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IBM Plex Sans"/>
                        </a:rPr>
                        <a:t>Metric</a:t>
                      </a:r>
                    </a:p>
                  </a:txBody>
                  <a:tcPr marL="82296" marR="64008" marT="32004" marB="32004" anchor="ctr">
                    <a:solidFill>
                      <a:srgbClr val="0A5C5B"/>
                    </a:solidFill>
                  </a:tcPr>
                </a:tc>
                <a:tc>
                  <a:txBody>
                    <a:bodyPr wrap="square"/>
                    <a:lstStyle/>
                    <a:p>
                      <a:r>
                        <a:rPr sz="1300" b="1">
                          <a:solidFill>
                            <a:srgbClr val="FFFFFF"/>
                          </a:solidFill>
                          <a:latin typeface="IBM Plex Sans"/>
                        </a:rPr>
                        <a:t>Answers</a:t>
                      </a:r>
                    </a:p>
                  </a:txBody>
                  <a:tcPr marL="82296" marR="64008" marT="32004" marB="32004" anchor="ctr">
                    <a:solidFill>
                      <a:srgbClr val="0A5C5B"/>
                    </a:solidFill>
                  </a:tcPr>
                </a:tc>
              </a:tr>
              <a:tr h="551383">
                <a:tc>
                  <a:txBody>
                    <a:bodyPr wrap="square"/>
                    <a:lstStyle/>
                    <a:p>
                      <a:r>
                        <a:rPr sz="1350" b="1">
                          <a:solidFill>
                            <a:srgbClr val="0A5C5B"/>
                          </a:solidFill>
                          <a:latin typeface="IBM Plex Sans"/>
                        </a:rPr>
                        <a:t>pravaha_query_feed_stopped</a:t>
                      </a:r>
                    </a:p>
                  </a:txBody>
                  <a:tcPr marL="82296" marR="64008" marT="32004" marB="32004" anchor="ctr">
                    <a:solidFill>
                      <a:srgbClr val="FFFFFF"/>
                    </a:solidFill>
                  </a:tcPr>
                </a:tc>
                <a:tc>
                  <a:txBody>
                    <a:bodyPr wrap="square"/>
                    <a:lstStyle/>
                    <a:p>
                      <a:r>
                        <a:rPr sz="1350" b="0">
                          <a:solidFill>
                            <a:srgbClr val="0F1A1C"/>
                          </a:solidFill>
                          <a:latin typeface="IBM Plex Sans"/>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0A5C5B"/>
                          </a:solidFill>
                          <a:latin typeface="IBM Plex Sans"/>
                        </a:rPr>
                        <a:t>pravaha_query_state_fraction</a:t>
                      </a:r>
                    </a:p>
                  </a:txBody>
                  <a:tcPr marL="82296" marR="64008" marT="32004" marB="32004" anchor="ctr">
                    <a:solidFill>
                      <a:srgbClr val="EEF6F5"/>
                    </a:solidFill>
                  </a:tcPr>
                </a:tc>
                <a:tc>
                  <a:txBody>
                    <a:bodyPr wrap="square"/>
                    <a:lstStyle/>
                    <a:p>
                      <a:r>
                        <a:rPr sz="1350" b="0">
                          <a:solidFill>
                            <a:srgbClr val="0F1A1C"/>
                          </a:solidFill>
                          <a:latin typeface="IBM Plex Sans"/>
                        </a:rPr>
                        <a:t>State held against its ceiling, 0 to 1 — before PRV-4001</a:t>
                      </a:r>
                    </a:p>
                  </a:txBody>
                  <a:tcPr marL="82296" marR="64008" marT="32004" marB="32004" anchor="ctr">
                    <a:solidFill>
                      <a:srgbClr val="EEF6F5"/>
                    </a:solidFill>
                  </a:tcPr>
                </a:tc>
              </a:tr>
              <a:tr h="551383">
                <a:tc>
                  <a:txBody>
                    <a:bodyPr wrap="square"/>
                    <a:lstStyle/>
                    <a:p>
                      <a:r>
                        <a:rPr sz="1350" b="1">
                          <a:solidFill>
                            <a:srgbClr val="0A5C5B"/>
                          </a:solidFill>
                          <a:latin typeface="IBM Plex Sans"/>
                        </a:rPr>
                        <a:t>pravaha_query_watermark_lag_seconds</a:t>
                      </a:r>
                    </a:p>
                  </a:txBody>
                  <a:tcPr marL="82296" marR="64008" marT="32004" marB="32004" anchor="ctr">
                    <a:solidFill>
                      <a:srgbClr val="FFFFFF"/>
                    </a:solidFill>
                  </a:tcPr>
                </a:tc>
                <a:tc>
                  <a:txBody>
                    <a:bodyPr wrap="square"/>
                    <a:lstStyle/>
                    <a:p>
                      <a:r>
                        <a:rPr sz="1350" b="0">
                          <a:solidFill>
                            <a:srgbClr val="0F1A1C"/>
                          </a:solidFill>
                          <a:latin typeface="IBM Plex Sans"/>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0A5C5B"/>
                          </a:solidFill>
                          <a:latin typeface="IBM Plex Sans"/>
                        </a:rPr>
                        <a:t>pravaha_query_backpressure_blocked_fraction</a:t>
                      </a:r>
                    </a:p>
                  </a:txBody>
                  <a:tcPr marL="82296" marR="64008" marT="32004" marB="32004" anchor="ctr">
                    <a:solidFill>
                      <a:srgbClr val="EEF6F5"/>
                    </a:solidFill>
                  </a:tcPr>
                </a:tc>
                <a:tc>
                  <a:txBody>
                    <a:bodyPr wrap="square"/>
                    <a:lstStyle/>
                    <a:p>
                      <a:r>
                        <a:rPr sz="1350" b="0">
                          <a:solidFill>
                            <a:srgbClr val="0F1A1C"/>
                          </a:solidFill>
                          <a:latin typeface="IBM Plex Sans"/>
                        </a:rPr>
                        <a:t>Is this query the limit, or blocked by a neighbour</a:t>
                      </a:r>
                    </a:p>
                  </a:txBody>
                  <a:tcPr marL="82296" marR="64008" marT="32004" marB="32004" anchor="ctr">
                    <a:solidFill>
                      <a:srgbClr val="EEF6F5"/>
                    </a:solidFill>
                  </a:tcPr>
                </a:tc>
              </a:tr>
              <a:tr h="330555">
                <a:tc>
                  <a:txBody>
                    <a:bodyPr wrap="square"/>
                    <a:lstStyle/>
                    <a:p>
                      <a:r>
                        <a:rPr sz="1350" b="1">
                          <a:solidFill>
                            <a:srgbClr val="0A5C5B"/>
                          </a:solidFill>
                          <a:latin typeface="IBM Plex Sans"/>
                        </a:rPr>
                        <a:t>pravaha_query_checkpoint_last_success_timestamp_seconds</a:t>
                      </a:r>
                    </a:p>
                  </a:txBody>
                  <a:tcPr marL="82296" marR="64008" marT="32004" marB="32004" anchor="ctr">
                    <a:solidFill>
                      <a:srgbClr val="FFFFFF"/>
                    </a:solidFill>
                  </a:tcPr>
                </a:tc>
                <a:tc>
                  <a:txBody>
                    <a:bodyPr wrap="square"/>
                    <a:lstStyle/>
                    <a:p>
                      <a:r>
                        <a:rPr sz="1350" b="0">
                          <a:solidFill>
                            <a:srgbClr val="0F1A1C"/>
                          </a:solidFill>
                          <a:latin typeface="IBM Plex Sans"/>
                        </a:rPr>
                        <a:t>How much recovery would replay now</a:t>
                      </a:r>
                    </a:p>
                  </a:txBody>
                  <a:tcPr marL="82296" marR="64008" marT="32004" marB="32004" anchor="ctr">
                    <a:solidFill>
                      <a:srgbClr val="FFFFFF"/>
                    </a:solidFill>
                  </a:tcPr>
                </a:tc>
              </a:tr>
              <a:tr h="551383">
                <a:tc>
                  <a:txBody>
                    <a:bodyPr wrap="square"/>
                    <a:lstStyle/>
                    <a:p>
                      <a:r>
                        <a:rPr sz="1350" b="1">
                          <a:solidFill>
                            <a:srgbClr val="0A5C5B"/>
                          </a:solidFill>
                          <a:latin typeface="IBM Plex Sans"/>
                        </a:rPr>
                        <a:t>pravaha_query_commit_latency_seconds (count, sum)</a:t>
                      </a:r>
                    </a:p>
                  </a:txBody>
                  <a:tcPr marL="82296" marR="64008" marT="32004" marB="32004" anchor="ctr">
                    <a:solidFill>
                      <a:srgbClr val="EEF6F5"/>
                    </a:solidFill>
                  </a:tcPr>
                </a:tc>
                <a:tc>
                  <a:txBody>
                    <a:bodyPr wrap="square"/>
                    <a:lstStyle/>
                    <a:p>
                      <a:r>
                        <a:rPr sz="1350" b="0">
                          <a:solidFill>
                            <a:srgbClr val="0F1A1C"/>
                          </a:solidFill>
                          <a:latin typeface="IBM Plex Sans"/>
                        </a:rPr>
                        <a:t>An exact mean; no percentiles are published, because none is measured</a:t>
                      </a:r>
                    </a:p>
                  </a:txBody>
                  <a:tcPr marL="82296" marR="64008" marT="32004" marB="32004" anchor="ctr">
                    <a:solidFill>
                      <a:srgbClr val="EEF6F5"/>
                    </a:solidFill>
                  </a:tcPr>
                </a:tc>
              </a:tr>
              <a:tr h="551383">
                <a:tc>
                  <a:txBody>
                    <a:bodyPr wrap="square"/>
                    <a:lstStyle/>
                    <a:p>
                      <a:r>
                        <a:rPr sz="1350" b="1">
                          <a:solidFill>
                            <a:srgbClr val="0A5C5B"/>
                          </a:solidFill>
                          <a:latin typeface="IBM Plex Sans"/>
                        </a:rPr>
                        <a:t>pravaha_lane_own_queries</a:t>
                      </a:r>
                    </a:p>
                  </a:txBody>
                  <a:tcPr marL="82296" marR="64008" marT="32004" marB="32004" anchor="ctr">
                    <a:solidFill>
                      <a:srgbClr val="FFFFFF"/>
                    </a:solidFill>
                  </a:tcPr>
                </a:tc>
                <a:tc>
                  <a:txBody>
                    <a:bodyPr wrap="square"/>
                    <a:lstStyle/>
                    <a:p>
                      <a:r>
                        <a:rPr sz="1350" b="0">
                          <a:solidFill>
                            <a:srgbClr val="0F1A1C"/>
                          </a:solidFill>
                          <a:latin typeface="IBM Plex Sans"/>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0F1A1C"/>
                </a:solidFill>
                <a:latin typeface="IBM Plex Sans Condensed"/>
              </a:rPr>
              <a:t>An incident, stepped by hand and exported as a test</a:t>
            </a:r>
          </a:p>
        </p:txBody>
      </p:sp>
      <p:sp>
        <p:nvSpPr>
          <p:cNvPr id="6" name="Rectangle 5"/>
          <p:cNvSpPr/>
          <p:nvPr/>
        </p:nvSpPr>
        <p:spPr>
          <a:xfrm>
            <a:off x="777240" y="126654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9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59</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A second computation nothing can read</a:t>
            </a:r>
          </a:p>
          <a:p>
            <a:pPr lvl="1">
              <a:lnSpc>
                <a:spcPct val="120000"/>
              </a:lnSpc>
              <a:spcBef>
                <a:spcPts val="0"/>
              </a:spcBef>
              <a:spcAft>
                <a:spcPts val="0"/>
              </a:spcAft>
            </a:pPr>
            <a:r>
              <a:rPr sz="1550" b="0">
                <a:solidFill>
                  <a:srgbClr val="3E4D50"/>
                </a:solidFill>
                <a:latin typeface="IBM Plex Sans"/>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Stepped one row, N rows, to a commit, a watermark or a value</a:t>
            </a:r>
          </a:p>
          <a:p>
            <a:pPr lvl="1">
              <a:lnSpc>
                <a:spcPct val="120000"/>
              </a:lnSpc>
              <a:spcBef>
                <a:spcPts val="0"/>
              </a:spcBef>
              <a:spcAft>
                <a:spcPts val="0"/>
              </a:spcAft>
            </a:pPr>
            <a:r>
              <a:rPr sz="1550" b="0">
                <a:solidFill>
                  <a:srgbClr val="3E4D50"/>
                </a:solidFill>
                <a:latin typeface="IBM Plex Sans"/>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Deterministic, then a regression test</a:t>
            </a:r>
          </a:p>
          <a:p>
            <a:pPr lvl="1">
              <a:lnSpc>
                <a:spcPct val="120000"/>
              </a:lnSpc>
              <a:spcBef>
                <a:spcPts val="0"/>
              </a:spcBef>
              <a:spcAft>
                <a:spcPts val="0"/>
              </a:spcAft>
            </a:pPr>
            <a:r>
              <a:rPr sz="1550" b="0">
                <a:solidFill>
                  <a:srgbClr val="3E4D50"/>
                </a:solidFill>
                <a:latin typeface="IBM Plex Sans"/>
              </a:rPr>
              <a:t>Two sessions over one checkpoint given the same steps report identically; the session exports as a self-contained JUnit test that compiles and passes.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10</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IBM Plex Sans Condensed"/>
              </a:rPr>
              <a:t>Thirteen worked systems</a:t>
            </a:r>
          </a:p>
        </p:txBody>
      </p:sp>
      <p:sp>
        <p:nvSpPr>
          <p:cNvPr id="9" name="Rectangle 8"/>
          <p:cNvSpPr/>
          <p:nvPr/>
        </p:nvSpPr>
        <p:spPr>
          <a:xfrm>
            <a:off x="1005840" y="3777488"/>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The thirteen, and what each shows</a:t>
            </a:r>
          </a:p>
          <a:p>
            <a:pPr>
              <a:lnSpc>
                <a:spcPct val="115000"/>
              </a:lnSpc>
              <a:spcBef>
                <a:spcPts val="0"/>
              </a:spcBef>
              <a:spcAft>
                <a:spcPts val="600"/>
              </a:spcAft>
            </a:pPr>
            <a:r>
              <a:rPr sz="1250" b="0" i="0">
                <a:solidFill>
                  <a:srgbClr val="DCEBEA"/>
                </a:solidFill>
                <a:latin typeface="IBM Plex Sans"/>
              </a:rPr>
              <a:t>How the build checks them</a:t>
            </a:r>
          </a:p>
          <a:p>
            <a:pPr>
              <a:lnSpc>
                <a:spcPct val="115000"/>
              </a:lnSpc>
              <a:spcBef>
                <a:spcPts val="0"/>
              </a:spcBef>
              <a:spcAft>
                <a:spcPts val="600"/>
              </a:spcAft>
            </a:pPr>
            <a:r>
              <a:rPr sz="1250" b="0" i="0">
                <a:solidFill>
                  <a:srgbClr val="DCEBEA"/>
                </a:solidFill>
                <a:latin typeface="IBM Plex Sans"/>
              </a:rPr>
              <a:t>Late data, corrected in place</a:t>
            </a:r>
          </a:p>
          <a:p>
            <a:pPr>
              <a:lnSpc>
                <a:spcPct val="115000"/>
              </a:lnSpc>
              <a:spcBef>
                <a:spcPts val="0"/>
              </a:spcBef>
              <a:spcAft>
                <a:spcPts val="600"/>
              </a:spcAft>
            </a:pPr>
            <a:r>
              <a:rPr sz="1250" b="0" i="0">
                <a:solidFill>
                  <a:srgbClr val="DCEBEA"/>
                </a:solidFill>
                <a:latin typeface="IBM Plex Sans"/>
              </a:rPr>
              <a:t>Change data capture from MySQL</a:t>
            </a:r>
          </a:p>
          <a:p>
            <a:pPr>
              <a:lnSpc>
                <a:spcPct val="115000"/>
              </a:lnSpc>
              <a:spcBef>
                <a:spcPts val="0"/>
              </a:spcBef>
              <a:spcAft>
                <a:spcPts val="600"/>
              </a:spcAft>
            </a:pPr>
            <a:r>
              <a:rPr sz="1250" b="0" i="0">
                <a:solidFill>
                  <a:srgbClr val="DCEBEA"/>
                </a:solidFill>
                <a:latin typeface="IBM Plex Sans"/>
              </a:rPr>
              <a:t>A continuous aggregate in Iceberg</a:t>
            </a:r>
          </a:p>
          <a:p>
            <a:pPr>
              <a:lnSpc>
                <a:spcPct val="115000"/>
              </a:lnSpc>
              <a:spcBef>
                <a:spcPts val="0"/>
              </a:spcBef>
              <a:spcAft>
                <a:spcPts val="600"/>
              </a:spcAft>
            </a:pPr>
            <a:r>
              <a:rPr sz="1250" b="0" i="0">
                <a:solidFill>
                  <a:srgbClr val="DCEBEA"/>
                </a:solidFill>
                <a:latin typeface="IBM Plex Sans"/>
              </a:rPr>
              <a:t>Many desks, one Kafka topic</a:t>
            </a:r>
          </a:p>
          <a:p>
            <a:pPr>
              <a:lnSpc>
                <a:spcPct val="115000"/>
              </a:lnSpc>
              <a:spcBef>
                <a:spcPts val="0"/>
              </a:spcBef>
              <a:spcAft>
                <a:spcPts val="600"/>
              </a:spcAft>
            </a:pPr>
            <a:r>
              <a:rPr sz="1250" b="0" i="0">
                <a:solidFill>
                  <a:srgbClr val="DCEBEA"/>
                </a:solidFill>
                <a:latin typeface="IBM Plex Sans"/>
              </a:rPr>
              <a:t>Two joins: attribution and absence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Thirteen systems, from a pass-through feed to a lakehouse</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61</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IBM Plex Sans"/>
                        </a:rPr>
                        <a:t>Study</a:t>
                      </a:r>
                    </a:p>
                  </a:txBody>
                  <a:tcPr marL="82296" marR="64008" marT="32004" marB="32004" anchor="ctr">
                    <a:solidFill>
                      <a:srgbClr val="0A5C5B"/>
                    </a:solidFill>
                  </a:tcPr>
                </a:tc>
                <a:tc>
                  <a:txBody>
                    <a:bodyPr wrap="square"/>
                    <a:lstStyle/>
                    <a:p>
                      <a:r>
                        <a:rPr sz="1250" b="1">
                          <a:solidFill>
                            <a:srgbClr val="FFFFFF"/>
                          </a:solidFill>
                          <a:latin typeface="IBM Plex Sans"/>
                        </a:rPr>
                        <a:t>Store</a:t>
                      </a:r>
                    </a:p>
                  </a:txBody>
                  <a:tcPr marL="82296" marR="64008" marT="32004" marB="32004" anchor="ctr">
                    <a:solidFill>
                      <a:srgbClr val="0A5C5B"/>
                    </a:solidFill>
                  </a:tcPr>
                </a:tc>
                <a:tc>
                  <a:txBody>
                    <a:bodyPr wrap="square"/>
                    <a:lstStyle/>
                    <a:p>
                      <a:r>
                        <a:rPr sz="1250" b="1">
                          <a:solidFill>
                            <a:srgbClr val="FFFFFF"/>
                          </a:solidFill>
                          <a:latin typeface="IBM Plex Sans"/>
                        </a:rPr>
                        <a:t>Shows</a:t>
                      </a:r>
                    </a:p>
                  </a:txBody>
                  <a:tcPr marL="82296" marR="64008" marT="32004" marB="32004" anchor="ctr">
                    <a:solidFill>
                      <a:srgbClr val="0A5C5B"/>
                    </a:solidFill>
                  </a:tcPr>
                </a:tc>
              </a:tr>
              <a:tr h="518667">
                <a:tc>
                  <a:txBody>
                    <a:bodyPr wrap="square"/>
                    <a:lstStyle/>
                    <a:p>
                      <a:r>
                        <a:rPr sz="1250" b="1">
                          <a:solidFill>
                            <a:srgbClr val="0A5C5B"/>
                          </a:solidFill>
                          <a:latin typeface="IBM Plex Sans"/>
                        </a:rPr>
                        <a:t>Trade processing</a:t>
                      </a:r>
                    </a:p>
                  </a:txBody>
                  <a:tcPr marL="82296" marR="64008" marT="32004" marB="32004" anchor="ctr">
                    <a:solidFill>
                      <a:srgbClr val="FFFFFF"/>
                    </a:solidFill>
                  </a:tcPr>
                </a:tc>
                <a:tc>
                  <a:txBody>
                    <a:bodyPr wrap="square"/>
                    <a:lstStyle/>
                    <a:p>
                      <a:r>
                        <a:rPr sz="1250" b="0">
                          <a:solidFill>
                            <a:srgbClr val="0F1A1C"/>
                          </a:solidFill>
                          <a:latin typeface="IBM Plex Sans"/>
                        </a:rPr>
                        <a:t>Aerospike</a:t>
                      </a:r>
                    </a:p>
                  </a:txBody>
                  <a:tcPr marL="82296" marR="64008" marT="32004" marB="32004" anchor="ctr">
                    <a:solidFill>
                      <a:srgbClr val="FFFFFF"/>
                    </a:solidFill>
                  </a:tcPr>
                </a:tc>
                <a:tc>
                  <a:txBody>
                    <a:bodyPr wrap="square"/>
                    <a:lstStyle/>
                    <a:p>
                      <a:r>
                        <a:rPr sz="1250" b="0">
                          <a:solidFill>
                            <a:srgbClr val="0F1A1C"/>
                          </a:solidFill>
                          <a:latin typeface="IBM Plex Sans"/>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0A5C5B"/>
                          </a:solidFill>
                          <a:latin typeface="IBM Plex Sans"/>
                        </a:rPr>
                        <a:t>Card authorisation velocity</a:t>
                      </a:r>
                    </a:p>
                  </a:txBody>
                  <a:tcPr marL="82296" marR="64008" marT="32004" marB="32004" anchor="ctr">
                    <a:solidFill>
                      <a:srgbClr val="EEF6F5"/>
                    </a:solidFill>
                  </a:tcPr>
                </a:tc>
                <a:tc>
                  <a:txBody>
                    <a:bodyPr wrap="square"/>
                    <a:lstStyle/>
                    <a:p>
                      <a:r>
                        <a:rPr sz="1250" b="0">
                          <a:solidFill>
                            <a:srgbClr val="0F1A1C"/>
                          </a:solidFill>
                          <a:latin typeface="IBM Plex Sans"/>
                        </a:rPr>
                        <a:t>Aerospike</a:t>
                      </a:r>
                    </a:p>
                  </a:txBody>
                  <a:tcPr marL="82296" marR="64008" marT="32004" marB="32004" anchor="ctr">
                    <a:solidFill>
                      <a:srgbClr val="EEF6F5"/>
                    </a:solidFill>
                  </a:tcPr>
                </a:tc>
                <a:tc>
                  <a:txBody>
                    <a:bodyPr wrap="square"/>
                    <a:lstStyle/>
                    <a:p>
                      <a:r>
                        <a:rPr sz="1250" b="0">
                          <a:solidFill>
                            <a:srgbClr val="0F1A1C"/>
                          </a:solidFill>
                          <a:latin typeface="IBM Plex Sans"/>
                        </a:rPr>
                        <a:t>Tumbling windows, temporal lookup join, filter pushdown</a:t>
                      </a:r>
                    </a:p>
                  </a:txBody>
                  <a:tcPr marL="82296" marR="64008" marT="32004" marB="32004" anchor="ctr">
                    <a:solidFill>
                      <a:srgbClr val="EEF6F5"/>
                    </a:solidFill>
                  </a:tcPr>
                </a:tc>
              </a:tr>
              <a:tr h="518667">
                <a:tc>
                  <a:txBody>
                    <a:bodyPr wrap="square"/>
                    <a:lstStyle/>
                    <a:p>
                      <a:r>
                        <a:rPr sz="1250" b="1">
                          <a:solidFill>
                            <a:srgbClr val="0A5C5B"/>
                          </a:solidFill>
                          <a:latin typeface="IBM Plex Sans"/>
                        </a:rPr>
                        <a:t>Intraday counterparty exposure</a:t>
                      </a:r>
                    </a:p>
                  </a:txBody>
                  <a:tcPr marL="82296" marR="64008" marT="32004" marB="32004" anchor="ctr">
                    <a:solidFill>
                      <a:srgbClr val="FFFFFF"/>
                    </a:solidFill>
                  </a:tcPr>
                </a:tc>
                <a:tc>
                  <a:txBody>
                    <a:bodyPr wrap="square"/>
                    <a:lstStyle/>
                    <a:p>
                      <a:r>
                        <a:rPr sz="1250" b="0">
                          <a:solidFill>
                            <a:srgbClr val="0F1A1C"/>
                          </a:solidFill>
                          <a:latin typeface="IBM Plex Sans"/>
                        </a:rPr>
                        <a:t>PostgreSQL</a:t>
                      </a:r>
                    </a:p>
                  </a:txBody>
                  <a:tcPr marL="82296" marR="64008" marT="32004" marB="32004" anchor="ctr">
                    <a:solidFill>
                      <a:srgbClr val="FFFFFF"/>
                    </a:solidFill>
                  </a:tcPr>
                </a:tc>
                <a:tc>
                  <a:txBody>
                    <a:bodyPr wrap="square"/>
                    <a:lstStyle/>
                    <a:p>
                      <a:r>
                        <a:rPr sz="1250" b="0">
                          <a:solidFill>
                            <a:srgbClr val="0F1A1C"/>
                          </a:solidFill>
                          <a:latin typeface="IBM Plex Sans"/>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0A5C5B"/>
                          </a:solidFill>
                          <a:latin typeface="IBM Plex Sans"/>
                        </a:rPr>
                        <a:t>Order flow surveillance</a:t>
                      </a:r>
                    </a:p>
                  </a:txBody>
                  <a:tcPr marL="82296" marR="64008" marT="32004" marB="32004" anchor="ctr">
                    <a:solidFill>
                      <a:srgbClr val="EEF6F5"/>
                    </a:solidFill>
                  </a:tcPr>
                </a:tc>
                <a:tc>
                  <a:txBody>
                    <a:bodyPr wrap="square"/>
                    <a:lstStyle/>
                    <a:p>
                      <a:r>
                        <a:rPr sz="1250" b="0">
                          <a:solidFill>
                            <a:srgbClr val="0F1A1C"/>
                          </a:solidFill>
                          <a:latin typeface="IBM Plex Sans"/>
                        </a:rPr>
                        <a:t>Aerospike</a:t>
                      </a:r>
                    </a:p>
                  </a:txBody>
                  <a:tcPr marL="82296" marR="64008" marT="32004" marB="32004" anchor="ctr">
                    <a:solidFill>
                      <a:srgbClr val="EEF6F5"/>
                    </a:solidFill>
                  </a:tcPr>
                </a:tc>
                <a:tc>
                  <a:txBody>
                    <a:bodyPr wrap="square"/>
                    <a:lstStyle/>
                    <a:p>
                      <a:r>
                        <a:rPr sz="1250" b="0">
                          <a:solidFill>
                            <a:srgbClr val="0F1A1C"/>
                          </a:solidFill>
                          <a:latin typeface="IBM Plex Sans"/>
                        </a:rPr>
                        <a:t>Hopping windows, and what to do without CASE</a:t>
                      </a:r>
                    </a:p>
                  </a:txBody>
                  <a:tcPr marL="82296" marR="64008" marT="32004" marB="32004" anchor="ctr">
                    <a:solidFill>
                      <a:srgbClr val="EEF6F5"/>
                    </a:solidFill>
                  </a:tcPr>
                </a:tc>
              </a:tr>
              <a:tr h="314198">
                <a:tc>
                  <a:txBody>
                    <a:bodyPr wrap="square"/>
                    <a:lstStyle/>
                    <a:p>
                      <a:r>
                        <a:rPr sz="1250" b="1">
                          <a:solidFill>
                            <a:srgbClr val="0A5C5B"/>
                          </a:solidFill>
                          <a:latin typeface="IBM Plex Sans"/>
                        </a:rPr>
                        <a:t>Sequencing run QC</a:t>
                      </a:r>
                    </a:p>
                  </a:txBody>
                  <a:tcPr marL="82296" marR="64008" marT="32004" marB="32004" anchor="ctr">
                    <a:solidFill>
                      <a:srgbClr val="FFFFFF"/>
                    </a:solidFill>
                  </a:tcPr>
                </a:tc>
                <a:tc>
                  <a:txBody>
                    <a:bodyPr wrap="square"/>
                    <a:lstStyle/>
                    <a:p>
                      <a:r>
                        <a:rPr sz="1250" b="0">
                          <a:solidFill>
                            <a:srgbClr val="0F1A1C"/>
                          </a:solidFill>
                          <a:latin typeface="IBM Plex Sans"/>
                        </a:rPr>
                        <a:t>Aerospike</a:t>
                      </a:r>
                    </a:p>
                  </a:txBody>
                  <a:tcPr marL="82296" marR="64008" marT="32004" marB="32004" anchor="ctr">
                    <a:solidFill>
                      <a:srgbClr val="FFFFFF"/>
                    </a:solidFill>
                  </a:tcPr>
                </a:tc>
                <a:tc>
                  <a:txBody>
                    <a:bodyPr wrap="square"/>
                    <a:lstStyle/>
                    <a:p>
                      <a:r>
                        <a:rPr sz="1250" b="0">
                          <a:solidFill>
                            <a:srgbClr val="0F1A1C"/>
                          </a:solidFill>
                          <a:latin typeface="IBM Plex Sans"/>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0A5C5B"/>
                          </a:solidFill>
                          <a:latin typeface="IBM Plex Sans"/>
                        </a:rPr>
                        <a:t>Machine sensor anomalies</a:t>
                      </a:r>
                    </a:p>
                  </a:txBody>
                  <a:tcPr marL="82296" marR="64008" marT="32004" marB="32004" anchor="ctr">
                    <a:solidFill>
                      <a:srgbClr val="EEF6F5"/>
                    </a:solidFill>
                  </a:tcPr>
                </a:tc>
                <a:tc>
                  <a:txBody>
                    <a:bodyPr wrap="square"/>
                    <a:lstStyle/>
                    <a:p>
                      <a:r>
                        <a:rPr sz="1250" b="0">
                          <a:solidFill>
                            <a:srgbClr val="0F1A1C"/>
                          </a:solidFill>
                          <a:latin typeface="IBM Plex Sans"/>
                        </a:rPr>
                        <a:t>CSV</a:t>
                      </a:r>
                    </a:p>
                  </a:txBody>
                  <a:tcPr marL="82296" marR="64008" marT="32004" marB="32004" anchor="ctr">
                    <a:solidFill>
                      <a:srgbClr val="EEF6F5"/>
                    </a:solidFill>
                  </a:tcPr>
                </a:tc>
                <a:tc>
                  <a:txBody>
                    <a:bodyPr wrap="square"/>
                    <a:lstStyle/>
                    <a:p>
                      <a:r>
                        <a:rPr sz="1250" b="0">
                          <a:solidFill>
                            <a:srgbClr val="0F1A1C"/>
                          </a:solidFill>
                          <a:latin typeface="IBM Plex Sans"/>
                        </a:rPr>
                        <a:t>A filter writing to a sink; late data and its correction</a:t>
                      </a:r>
                    </a:p>
                  </a:txBody>
                  <a:tcPr marL="82296" marR="64008" marT="32004" marB="32004" anchor="ctr">
                    <a:solidFill>
                      <a:srgbClr val="EEF6F5"/>
                    </a:solidFill>
                  </a:tcPr>
                </a:tc>
              </a:tr>
              <a:tr h="314198">
                <a:tc>
                  <a:txBody>
                    <a:bodyPr wrap="square"/>
                    <a:lstStyle/>
                    <a:p>
                      <a:r>
                        <a:rPr sz="1250" b="1">
                          <a:solidFill>
                            <a:srgbClr val="0A5C5B"/>
                          </a:solidFill>
                          <a:latin typeface="IBM Plex Sans"/>
                        </a:rPr>
                        <a:t>Checkout funnel</a:t>
                      </a:r>
                    </a:p>
                  </a:txBody>
                  <a:tcPr marL="82296" marR="64008" marT="32004" marB="32004" anchor="ctr">
                    <a:solidFill>
                      <a:srgbClr val="FFFFFF"/>
                    </a:solidFill>
                  </a:tcPr>
                </a:tc>
                <a:tc>
                  <a:txBody>
                    <a:bodyPr wrap="square"/>
                    <a:lstStyle/>
                    <a:p>
                      <a:r>
                        <a:rPr sz="1250" b="0">
                          <a:solidFill>
                            <a:srgbClr val="0F1A1C"/>
                          </a:solidFill>
                          <a:latin typeface="IBM Plex Sans"/>
                        </a:rPr>
                        <a:t>CSV</a:t>
                      </a:r>
                    </a:p>
                  </a:txBody>
                  <a:tcPr marL="82296" marR="64008" marT="32004" marB="32004" anchor="ctr">
                    <a:solidFill>
                      <a:srgbClr val="FFFFFF"/>
                    </a:solidFill>
                  </a:tcPr>
                </a:tc>
                <a:tc>
                  <a:txBody>
                    <a:bodyPr wrap="square"/>
                    <a:lstStyle/>
                    <a:p>
                      <a:r>
                        <a:rPr sz="1250" b="0">
                          <a:solidFill>
                            <a:srgbClr val="0F1A1C"/>
                          </a:solidFill>
                          <a:latin typeface="IBM Plex Sans"/>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0A5C5B"/>
                          </a:solidFill>
                          <a:latin typeface="IBM Plex Sans"/>
                        </a:rPr>
                        <a:t>Click attribution</a:t>
                      </a:r>
                    </a:p>
                  </a:txBody>
                  <a:tcPr marL="82296" marR="64008" marT="32004" marB="32004" anchor="ctr">
                    <a:solidFill>
                      <a:srgbClr val="EEF6F5"/>
                    </a:solidFill>
                  </a:tcPr>
                </a:tc>
                <a:tc>
                  <a:txBody>
                    <a:bodyPr wrap="square"/>
                    <a:lstStyle/>
                    <a:p>
                      <a:r>
                        <a:rPr sz="1250" b="0">
                          <a:solidFill>
                            <a:srgbClr val="0F1A1C"/>
                          </a:solidFill>
                          <a:latin typeface="IBM Plex Sans"/>
                        </a:rPr>
                        <a:t>CSV</a:t>
                      </a:r>
                    </a:p>
                  </a:txBody>
                  <a:tcPr marL="82296" marR="64008" marT="32004" marB="32004" anchor="ctr">
                    <a:solidFill>
                      <a:srgbClr val="EEF6F5"/>
                    </a:solidFill>
                  </a:tcPr>
                </a:tc>
                <a:tc>
                  <a:txBody>
                    <a:bodyPr wrap="square"/>
                    <a:lstStyle/>
                    <a:p>
                      <a:r>
                        <a:rPr sz="1250" b="0">
                          <a:solidFill>
                            <a:srgbClr val="0F1A1C"/>
                          </a:solidFill>
                          <a:latin typeface="IBM Plex Sans"/>
                        </a:rPr>
                        <a:t>A time-bounded join between two streams; a window over a join</a:t>
                      </a:r>
                    </a:p>
                  </a:txBody>
                  <a:tcPr marL="82296" marR="64008" marT="32004" marB="32004" anchor="ctr">
                    <a:solidFill>
                      <a:srgbClr val="EEF6F5"/>
                    </a:solidFill>
                  </a:tcPr>
                </a:tc>
              </a:tr>
              <a:tr h="314198">
                <a:tc>
                  <a:txBody>
                    <a:bodyPr wrap="square"/>
                    <a:lstStyle/>
                    <a:p>
                      <a:r>
                        <a:rPr sz="1250" b="1">
                          <a:solidFill>
                            <a:srgbClr val="0A5C5B"/>
                          </a:solidFill>
                          <a:latin typeface="IBM Plex Sans"/>
                        </a:rPr>
                        <a:t>Call-detail-record fraud</a:t>
                      </a:r>
                    </a:p>
                  </a:txBody>
                  <a:tcPr marL="82296" marR="64008" marT="32004" marB="32004" anchor="ctr">
                    <a:solidFill>
                      <a:srgbClr val="FFFFFF"/>
                    </a:solidFill>
                  </a:tcPr>
                </a:tc>
                <a:tc>
                  <a:txBody>
                    <a:bodyPr wrap="square"/>
                    <a:lstStyle/>
                    <a:p>
                      <a:r>
                        <a:rPr sz="1250" b="0">
                          <a:solidFill>
                            <a:srgbClr val="0F1A1C"/>
                          </a:solidFill>
                          <a:latin typeface="IBM Plex Sans"/>
                        </a:rPr>
                        <a:t>CSV</a:t>
                      </a:r>
                    </a:p>
                  </a:txBody>
                  <a:tcPr marL="82296" marR="64008" marT="32004" marB="32004" anchor="ctr">
                    <a:solidFill>
                      <a:srgbClr val="FFFFFF"/>
                    </a:solidFill>
                  </a:tcPr>
                </a:tc>
                <a:tc>
                  <a:txBody>
                    <a:bodyPr wrap="square"/>
                    <a:lstStyle/>
                    <a:p>
                      <a:r>
                        <a:rPr sz="1250" b="0">
                          <a:solidFill>
                            <a:srgbClr val="0F1A1C"/>
                          </a:solidFill>
                          <a:latin typeface="IBM Plex Sans"/>
                        </a:rPr>
                        <a:t>Sliding windows, an IN filter, a maintained top-N</a:t>
                      </a:r>
                    </a:p>
                  </a:txBody>
                  <a:tcPr marL="82296" marR="64008" marT="32004" marB="32004" anchor="ctr">
                    <a:solidFill>
                      <a:srgbClr val="FFFFFF"/>
                    </a:solidFill>
                  </a:tcPr>
                </a:tc>
              </a:tr>
              <a:tr h="314198">
                <a:tc>
                  <a:txBody>
                    <a:bodyPr wrap="square"/>
                    <a:lstStyle/>
                    <a:p>
                      <a:r>
                        <a:rPr sz="1250" b="1">
                          <a:solidFill>
                            <a:srgbClr val="0A5C5B"/>
                          </a:solidFill>
                          <a:latin typeface="IBM Plex Sans"/>
                        </a:rPr>
                        <a:t>Delivery SLA breaches</a:t>
                      </a:r>
                    </a:p>
                  </a:txBody>
                  <a:tcPr marL="82296" marR="64008" marT="32004" marB="32004" anchor="ctr">
                    <a:solidFill>
                      <a:srgbClr val="EEF6F5"/>
                    </a:solidFill>
                  </a:tcPr>
                </a:tc>
                <a:tc>
                  <a:txBody>
                    <a:bodyPr wrap="square"/>
                    <a:lstStyle/>
                    <a:p>
                      <a:r>
                        <a:rPr sz="1250" b="0">
                          <a:solidFill>
                            <a:srgbClr val="0F1A1C"/>
                          </a:solidFill>
                          <a:latin typeface="IBM Plex Sans"/>
                        </a:rPr>
                        <a:t>CSV</a:t>
                      </a:r>
                    </a:p>
                  </a:txBody>
                  <a:tcPr marL="82296" marR="64008" marT="32004" marB="32004" anchor="ctr">
                    <a:solidFill>
                      <a:srgbClr val="EEF6F5"/>
                    </a:solidFill>
                  </a:tcPr>
                </a:tc>
                <a:tc>
                  <a:txBody>
                    <a:bodyPr wrap="square"/>
                    <a:lstStyle/>
                    <a:p>
                      <a:r>
                        <a:rPr sz="1250" b="0">
                          <a:solidFill>
                            <a:srgbClr val="0F1A1C"/>
                          </a:solidFill>
                          <a:latin typeface="IBM Plex Sans"/>
                        </a:rPr>
                        <a:t>An interval join to a sink; a LEFT JOIN that reports an absence</a:t>
                      </a:r>
                    </a:p>
                  </a:txBody>
                  <a:tcPr marL="82296" marR="64008" marT="32004" marB="32004" anchor="ctr">
                    <a:solidFill>
                      <a:srgbClr val="EEF6F5"/>
                    </a:solidFill>
                  </a:tcPr>
                </a:tc>
              </a:tr>
              <a:tr h="314198">
                <a:tc>
                  <a:txBody>
                    <a:bodyPr wrap="square"/>
                    <a:lstStyle/>
                    <a:p>
                      <a:r>
                        <a:rPr sz="1250" b="1">
                          <a:solidFill>
                            <a:srgbClr val="0A5C5B"/>
                          </a:solidFill>
                          <a:latin typeface="IBM Plex Sans"/>
                        </a:rPr>
                        <a:t>Stock levels from MySQL</a:t>
                      </a:r>
                    </a:p>
                  </a:txBody>
                  <a:tcPr marL="82296" marR="64008" marT="32004" marB="32004" anchor="ctr">
                    <a:solidFill>
                      <a:srgbClr val="FFFFFF"/>
                    </a:solidFill>
                  </a:tcPr>
                </a:tc>
                <a:tc>
                  <a:txBody>
                    <a:bodyPr wrap="square"/>
                    <a:lstStyle/>
                    <a:p>
                      <a:r>
                        <a:rPr sz="1250" b="0">
                          <a:solidFill>
                            <a:srgbClr val="0F1A1C"/>
                          </a:solidFill>
                          <a:latin typeface="IBM Plex Sans"/>
                        </a:rPr>
                        <a:t>MySQL binlog</a:t>
                      </a:r>
                    </a:p>
                  </a:txBody>
                  <a:tcPr marL="82296" marR="64008" marT="32004" marB="32004" anchor="ctr">
                    <a:solidFill>
                      <a:srgbClr val="FFFFFF"/>
                    </a:solidFill>
                  </a:tcPr>
                </a:tc>
                <a:tc>
                  <a:txBody>
                    <a:bodyPr wrap="square"/>
                    <a:lstStyle/>
                    <a:p>
                      <a:r>
                        <a:rPr sz="1250" b="0">
                          <a:solidFill>
                            <a:srgbClr val="0F1A1C"/>
                          </a:solidFill>
                          <a:latin typeface="IBM Plex Sans"/>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0A5C5B"/>
                          </a:solidFill>
                          <a:latin typeface="IBM Plex Sans"/>
                        </a:rPr>
                        <a:t>Order revenue into Iceberg</a:t>
                      </a:r>
                    </a:p>
                  </a:txBody>
                  <a:tcPr marL="82296" marR="64008" marT="32004" marB="32004" anchor="ctr">
                    <a:solidFill>
                      <a:srgbClr val="EEF6F5"/>
                    </a:solidFill>
                  </a:tcPr>
                </a:tc>
                <a:tc>
                  <a:txBody>
                    <a:bodyPr wrap="square"/>
                    <a:lstStyle/>
                    <a:p>
                      <a:r>
                        <a:rPr sz="1250" b="0">
                          <a:solidFill>
                            <a:srgbClr val="0F1A1C"/>
                          </a:solidFill>
                          <a:latin typeface="IBM Plex Sans"/>
                        </a:rPr>
                        <a:t>CSV → Iceberg</a:t>
                      </a:r>
                    </a:p>
                  </a:txBody>
                  <a:tcPr marL="82296" marR="64008" marT="32004" marB="32004" anchor="ctr">
                    <a:solidFill>
                      <a:srgbClr val="EEF6F5"/>
                    </a:solidFill>
                  </a:tcPr>
                </a:tc>
                <a:tc>
                  <a:txBody>
                    <a:bodyPr wrap="square"/>
                    <a:lstStyle/>
                    <a:p>
                      <a:r>
                        <a:rPr sz="1250" b="0">
                          <a:solidFill>
                            <a:srgbClr val="0F1A1C"/>
                          </a:solidFill>
                          <a:latin typeface="IBM Plex Sans"/>
                        </a:rPr>
                        <a:t>iceberg-sink upsert; a late row corrects the table</a:t>
                      </a:r>
                    </a:p>
                  </a:txBody>
                  <a:tcPr marL="82296" marR="64008" marT="32004" marB="32004" anchor="ctr">
                    <a:solidFill>
                      <a:srgbClr val="EEF6F5"/>
                    </a:solidFill>
                  </a:tcPr>
                </a:tc>
              </a:tr>
              <a:tr h="314198">
                <a:tc>
                  <a:txBody>
                    <a:bodyPr wrap="square"/>
                    <a:lstStyle/>
                    <a:p>
                      <a:r>
                        <a:rPr sz="1250" b="1">
                          <a:solidFill>
                            <a:srgbClr val="0A5C5B"/>
                          </a:solidFill>
                          <a:latin typeface="IBM Plex Sans"/>
                        </a:rPr>
                        <a:t>Many desks, one topic</a:t>
                      </a:r>
                    </a:p>
                  </a:txBody>
                  <a:tcPr marL="82296" marR="64008" marT="32004" marB="32004" anchor="ctr">
                    <a:solidFill>
                      <a:srgbClr val="FFFFFF"/>
                    </a:solidFill>
                  </a:tcPr>
                </a:tc>
                <a:tc>
                  <a:txBody>
                    <a:bodyPr wrap="square"/>
                    <a:lstStyle/>
                    <a:p>
                      <a:r>
                        <a:rPr sz="1250" b="0">
                          <a:solidFill>
                            <a:srgbClr val="0F1A1C"/>
                          </a:solidFill>
                          <a:latin typeface="IBM Plex Sans"/>
                        </a:rPr>
                        <a:t>Kafka</a:t>
                      </a:r>
                    </a:p>
                  </a:txBody>
                  <a:tcPr marL="82296" marR="64008" marT="32004" marB="32004" anchor="ctr">
                    <a:solidFill>
                      <a:srgbClr val="FFFFFF"/>
                    </a:solidFill>
                  </a:tcPr>
                </a:tc>
                <a:tc>
                  <a:txBody>
                    <a:bodyPr wrap="square"/>
                    <a:lstStyle/>
                    <a:p>
                      <a:r>
                        <a:rPr sz="1250" b="0">
                          <a:solidFill>
                            <a:srgbClr val="0F1A1C"/>
                          </a:solidFill>
                          <a:latin typeface="IBM Plex Sans"/>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62</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CaseStudySqlTest plans every .sql file against the real engine</a:t>
            </a:r>
          </a:p>
          <a:p>
            <a:pPr lvl="1">
              <a:lnSpc>
                <a:spcPct val="120000"/>
              </a:lnSpc>
              <a:spcBef>
                <a:spcPts val="0"/>
              </a:spcBef>
              <a:spcAft>
                <a:spcPts val="0"/>
              </a:spcAft>
            </a:pPr>
            <a:r>
              <a:rPr sz="1550" b="0">
                <a:solidFill>
                  <a:srgbClr val="3E4D50"/>
                </a:solidFill>
                <a:latin typeface="IBM Plex Sans"/>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CaseStudyRunTest runs every study in an embedded engine</a:t>
            </a:r>
          </a:p>
          <a:p>
            <a:pPr lvl="1">
              <a:lnSpc>
                <a:spcPct val="120000"/>
              </a:lnSpc>
              <a:spcBef>
                <a:spcPts val="0"/>
              </a:spcBef>
              <a:spcAft>
                <a:spcPts val="0"/>
              </a:spcAft>
            </a:pPr>
            <a:r>
              <a:rPr sz="1550" b="0">
                <a:solidFill>
                  <a:srgbClr val="3E4D50"/>
                </a:solidFill>
                <a:latin typeface="IBM Plex Sans"/>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Running them found real defects, now fixed</a:t>
            </a:r>
          </a:p>
          <a:p>
            <a:pPr lvl="1">
              <a:lnSpc>
                <a:spcPct val="120000"/>
              </a:lnSpc>
              <a:spcBef>
                <a:spcPts val="0"/>
              </a:spcBef>
              <a:spcAft>
                <a:spcPts val="0"/>
              </a:spcAft>
            </a:pPr>
            <a:r>
              <a:rPr sz="1550" b="0">
                <a:solidFill>
                  <a:srgbClr val="3E4D50"/>
                </a:solidFill>
                <a:latin typeface="IBM Plex Sans"/>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Driven only through the published SDK or the CLI</a:t>
            </a:r>
          </a:p>
          <a:p>
            <a:pPr lvl="1">
              <a:lnSpc>
                <a:spcPct val="120000"/>
              </a:lnSpc>
              <a:spcBef>
                <a:spcPts val="0"/>
              </a:spcBef>
              <a:spcAft>
                <a:spcPts val="0"/>
              </a:spcAft>
            </a:pPr>
            <a:r>
              <a:rPr sz="1550" b="0">
                <a:solidFill>
                  <a:srgbClr val="3E4D50"/>
                </a:solidFill>
                <a:latin typeface="IBM Plex Sans"/>
              </a:rPr>
              <a:t>None reaches into the engine, so copying one into an application drags no engine with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A late reading corrects a closed minute</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63</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6FD0C8"/>
                </a:solidFill>
                <a:latin typeface="Consolas"/>
              </a:rPr>
              <a:t>-- snapshot</a:t>
            </a:r>
          </a:p>
          <a:p>
            <a:pPr>
              <a:lnSpc>
                <a:spcPct val="100000"/>
              </a:lnSpc>
              <a:spcBef>
                <a:spcPts val="0"/>
              </a:spcBef>
              <a:spcAft>
                <a:spcPts val="0"/>
              </a:spcAft>
            </a:pPr>
            <a:r>
              <a:rPr sz="1150" b="0" i="0">
                <a:solidFill>
                  <a:srgbClr val="DCEBEA"/>
                </a:solidFill>
                <a:latin typeface="Consolas"/>
              </a:rPr>
              <a:t>+1 {window_end 08:03, press-02, readings 6,</a:t>
            </a:r>
          </a:p>
          <a:p>
            <a:pPr>
              <a:lnSpc>
                <a:spcPct val="100000"/>
              </a:lnSpc>
              <a:spcBef>
                <a:spcPts val="0"/>
              </a:spcBef>
              <a:spcAft>
                <a:spcPts val="0"/>
              </a:spcAft>
            </a:pPr>
            <a:r>
              <a:rPr sz="1150" b="0" i="0">
                <a:solidFill>
                  <a:srgbClr val="DCEBEA"/>
                </a:solidFill>
                <a:latin typeface="Consolas"/>
              </a:rPr>
              <a:t>    min_temperature_dc 940, max_temperature_dc 980}</a:t>
            </a:r>
          </a:p>
          <a:p>
            <a:pPr>
              <a:lnSpc>
                <a:spcPct val="100000"/>
              </a:lnSpc>
              <a:spcBef>
                <a:spcPts val="0"/>
              </a:spcBef>
              <a:spcAft>
                <a:spcPts val="0"/>
              </a:spcAft>
            </a:pPr>
            <a:r>
              <a:rPr sz="1150" b="0" i="0">
                <a:solidFill>
                  <a:srgbClr val="6FD0C8"/>
                </a:solidFill>
                <a:latin typeface="Consolas"/>
              </a:rPr>
              <a:t>-- commit</a:t>
            </a:r>
          </a:p>
          <a:p>
            <a:pPr>
              <a:lnSpc>
                <a:spcPct val="100000"/>
              </a:lnSpc>
              <a:spcBef>
                <a:spcPts val="0"/>
              </a:spcBef>
              <a:spcAft>
                <a:spcPts val="0"/>
              </a:spcAft>
            </a:pPr>
            <a:r>
              <a:rPr sz="1150" b="0" i="0">
                <a:solidFill>
                  <a:srgbClr val="DCEBEA"/>
                </a:solidFill>
                <a:latin typeface="Consolas"/>
              </a:rPr>
              <a:t>-1 {window_end 08:03, press-02, readings 6,</a:t>
            </a:r>
          </a:p>
          <a:p>
            <a:pPr>
              <a:lnSpc>
                <a:spcPct val="100000"/>
              </a:lnSpc>
              <a:spcBef>
                <a:spcPts val="0"/>
              </a:spcBef>
              <a:spcAft>
                <a:spcPts val="0"/>
              </a:spcAft>
            </a:pPr>
            <a:r>
              <a:rPr sz="1150" b="0" i="0">
                <a:solidFill>
                  <a:srgbClr val="DCEBEA"/>
                </a:solidFill>
                <a:latin typeface="Consolas"/>
              </a:rPr>
              <a:t>    min_temperature_dc 940, max_temperature_dc 980}</a:t>
            </a:r>
          </a:p>
          <a:p>
            <a:pPr>
              <a:lnSpc>
                <a:spcPct val="100000"/>
              </a:lnSpc>
              <a:spcBef>
                <a:spcPts val="0"/>
              </a:spcBef>
              <a:spcAft>
                <a:spcPts val="0"/>
              </a:spcAft>
            </a:pPr>
            <a:r>
              <a:rPr sz="1150" b="0" i="0">
                <a:solidFill>
                  <a:srgbClr val="DCEBEA"/>
                </a:solidFill>
                <a:latin typeface="Consolas"/>
              </a:rPr>
              <a:t>+1 {window_end 08:03, press-02, readings 7,</a:t>
            </a:r>
          </a:p>
          <a:p>
            <a:pPr>
              <a:lnSpc>
                <a:spcPct val="100000"/>
              </a:lnSpc>
              <a:spcBef>
                <a:spcPts val="0"/>
              </a:spcBef>
              <a:spcAft>
                <a:spcPts val="0"/>
              </a:spcAft>
            </a:pPr>
            <a:r>
              <a:rPr sz="1150" b="0" i="0">
                <a:solidFill>
                  <a:srgbClr val="DCEBEA"/>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Inside the lateness: corrected</a:t>
            </a:r>
          </a:p>
          <a:p>
            <a:pPr lvl="1">
              <a:lnSpc>
                <a:spcPct val="120000"/>
              </a:lnSpc>
              <a:spcBef>
                <a:spcPts val="0"/>
              </a:spcBef>
              <a:spcAft>
                <a:spcPts val="0"/>
              </a:spcAft>
            </a:pPr>
            <a:r>
              <a:rPr sz="1400" b="0">
                <a:solidFill>
                  <a:srgbClr val="3E4D50"/>
                </a:solidFill>
                <a:latin typeface="IBM Plex Sans"/>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Outside it: dropped</a:t>
            </a:r>
          </a:p>
          <a:p>
            <a:pPr lvl="1">
              <a:lnSpc>
                <a:spcPct val="120000"/>
              </a:lnSpc>
              <a:spcBef>
                <a:spcPts val="0"/>
              </a:spcBef>
              <a:spcAft>
                <a:spcPts val="0"/>
              </a:spcAft>
            </a:pPr>
            <a:r>
              <a:rPr sz="1400" b="0">
                <a:solidFill>
                  <a:srgbClr val="3E4D50"/>
                </a:solidFill>
                <a:latin typeface="IBM Plex Sans"/>
              </a:rPr>
              <a:t>press-01-stale, for 08:00:45, arrived long after its lateness ran out at 08:01:30.</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Published when event time moves</a:t>
            </a:r>
          </a:p>
          <a:p>
            <a:pPr lvl="1">
              <a:lnSpc>
                <a:spcPct val="120000"/>
              </a:lnSpc>
              <a:spcBef>
                <a:spcPts val="0"/>
              </a:spcBef>
              <a:spcAft>
                <a:spcPts val="0"/>
              </a:spcAft>
            </a:pPr>
            <a:r>
              <a:rPr sz="1400" b="0">
                <a:solidFill>
                  <a:srgbClr val="3E4D50"/>
                </a:solidFill>
                <a:latin typeface="IBM Plex Sans"/>
              </a:rPr>
              <a:t>The second heartbeat carried the correction out.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Change data capture: an alert that clears itself</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IBM Plex Sans"/>
                        </a:rPr>
                        <a:t>Time</a:t>
                      </a:r>
                    </a:p>
                  </a:txBody>
                  <a:tcPr marL="82296" marR="64008" marT="32004" marB="32004" anchor="ctr">
                    <a:solidFill>
                      <a:srgbClr val="0A5C5B"/>
                    </a:solidFill>
                  </a:tcPr>
                </a:tc>
                <a:tc>
                  <a:txBody>
                    <a:bodyPr wrap="square"/>
                    <a:lstStyle/>
                    <a:p>
                      <a:r>
                        <a:rPr sz="1300" b="1">
                          <a:solidFill>
                            <a:srgbClr val="FFFFFF"/>
                          </a:solidFill>
                          <a:latin typeface="IBM Plex Sans"/>
                        </a:rPr>
                        <a:t>Change</a:t>
                      </a:r>
                    </a:p>
                  </a:txBody>
                  <a:tcPr marL="82296" marR="64008" marT="32004" marB="32004" anchor="ctr">
                    <a:solidFill>
                      <a:srgbClr val="0A5C5B"/>
                    </a:solidFill>
                  </a:tcPr>
                </a:tc>
                <a:tc>
                  <a:txBody>
                    <a:bodyPr wrap="square"/>
                    <a:lstStyle/>
                    <a:p>
                      <a:r>
                        <a:rPr sz="1300" b="1">
                          <a:solidFill>
                            <a:srgbClr val="FFFFFF"/>
                          </a:solidFill>
                          <a:latin typeface="IBM Plex Sans"/>
                        </a:rPr>
                        <a:t>Effect</a:t>
                      </a:r>
                    </a:p>
                  </a:txBody>
                  <a:tcPr marL="82296" marR="64008" marT="32004" marB="32004" anchor="ctr">
                    <a:solidFill>
                      <a:srgbClr val="0A5C5B"/>
                    </a:solidFill>
                  </a:tcPr>
                </a:tc>
              </a:tr>
              <a:tr h="796747">
                <a:tc>
                  <a:txBody>
                    <a:bodyPr wrap="square"/>
                    <a:lstStyle/>
                    <a:p>
                      <a:r>
                        <a:rPr sz="1400" b="1">
                          <a:solidFill>
                            <a:srgbClr val="0A5C5B"/>
                          </a:solidFill>
                          <a:latin typeface="IBM Plex Sans"/>
                        </a:rPr>
                        <a:t>09:05</a:t>
                      </a:r>
                    </a:p>
                  </a:txBody>
                  <a:tcPr marL="82296" marR="64008" marT="32004" marB="32004" anchor="ctr">
                    <a:solidFill>
                      <a:srgbClr val="FFFFFF"/>
                    </a:solidFill>
                  </a:tcPr>
                </a:tc>
                <a:tc>
                  <a:txBody>
                    <a:bodyPr wrap="square"/>
                    <a:lstStyle/>
                    <a:p>
                      <a:r>
                        <a:rPr sz="1400" b="0">
                          <a:solidFill>
                            <a:srgbClr val="0F1A1C"/>
                          </a:solidFill>
                          <a:latin typeface="IBM Plex Sans"/>
                        </a:rPr>
                        <a:t>UPDATE sku-200 LDN 12 → 7</a:t>
                      </a:r>
                    </a:p>
                  </a:txBody>
                  <a:tcPr marL="82296" marR="64008" marT="32004" marB="32004" anchor="ctr">
                    <a:solidFill>
                      <a:srgbClr val="FFFFFF"/>
                    </a:solidFill>
                  </a:tcPr>
                </a:tc>
                <a:tc>
                  <a:txBody>
                    <a:bodyPr wrap="square"/>
                    <a:lstStyle/>
                    <a:p>
                      <a:r>
                        <a:rPr sz="1400" b="0">
                          <a:solidFill>
                            <a:srgbClr val="0F1A1C"/>
                          </a:solidFill>
                          <a:latin typeface="IBM Plex Sans"/>
                        </a:rPr>
                        <a:t>Under reorder point 8: alert</a:t>
                      </a:r>
                    </a:p>
                  </a:txBody>
                  <a:tcPr marL="82296" marR="64008" marT="32004" marB="32004" anchor="ctr">
                    <a:solidFill>
                      <a:srgbClr val="FFFFFF"/>
                    </a:solidFill>
                  </a:tcPr>
                </a:tc>
              </a:tr>
              <a:tr h="796747">
                <a:tc>
                  <a:txBody>
                    <a:bodyPr wrap="square"/>
                    <a:lstStyle/>
                    <a:p>
                      <a:r>
                        <a:rPr sz="1400" b="1">
                          <a:solidFill>
                            <a:srgbClr val="0A5C5B"/>
                          </a:solidFill>
                          <a:latin typeface="IBM Plex Sans"/>
                        </a:rPr>
                        <a:t>09:20</a:t>
                      </a:r>
                    </a:p>
                  </a:txBody>
                  <a:tcPr marL="82296" marR="64008" marT="32004" marB="32004" anchor="ctr">
                    <a:solidFill>
                      <a:srgbClr val="EEF6F5"/>
                    </a:solidFill>
                  </a:tcPr>
                </a:tc>
                <a:tc>
                  <a:txBody>
                    <a:bodyPr wrap="square"/>
                    <a:lstStyle/>
                    <a:p>
                      <a:r>
                        <a:rPr sz="1400" b="0">
                          <a:solidFill>
                            <a:srgbClr val="0F1A1C"/>
                          </a:solidFill>
                          <a:latin typeface="IBM Plex Sans"/>
                        </a:rPr>
                        <a:t>UPDATE sku-200 LDN 7 → 27</a:t>
                      </a:r>
                    </a:p>
                  </a:txBody>
                  <a:tcPr marL="82296" marR="64008" marT="32004" marB="32004" anchor="ctr">
                    <a:solidFill>
                      <a:srgbClr val="EEF6F5"/>
                    </a:solidFill>
                  </a:tcPr>
                </a:tc>
                <a:tc>
                  <a:txBody>
                    <a:bodyPr wrap="square"/>
                    <a:lstStyle/>
                    <a:p>
                      <a:r>
                        <a:rPr sz="1400" b="0">
                          <a:solidFill>
                            <a:srgbClr val="0F1A1C"/>
                          </a:solidFill>
                          <a:latin typeface="IBM Plex Sans"/>
                        </a:rPr>
                        <a:t>A delivery: the alert is −1</a:t>
                      </a:r>
                    </a:p>
                  </a:txBody>
                  <a:tcPr marL="82296" marR="64008" marT="32004" marB="32004" anchor="ctr">
                    <a:solidFill>
                      <a:srgbClr val="EEF6F5"/>
                    </a:solidFill>
                  </a:tcPr>
                </a:tc>
              </a:tr>
              <a:tr h="796747">
                <a:tc>
                  <a:txBody>
                    <a:bodyPr wrap="square"/>
                    <a:lstStyle/>
                    <a:p>
                      <a:r>
                        <a:rPr sz="1400" b="1">
                          <a:solidFill>
                            <a:srgbClr val="0A5C5B"/>
                          </a:solidFill>
                          <a:latin typeface="IBM Plex Sans"/>
                        </a:rPr>
                        <a:t>09:25</a:t>
                      </a:r>
                    </a:p>
                  </a:txBody>
                  <a:tcPr marL="82296" marR="64008" marT="32004" marB="32004" anchor="ctr">
                    <a:solidFill>
                      <a:srgbClr val="FFFFFF"/>
                    </a:solidFill>
                  </a:tcPr>
                </a:tc>
                <a:tc>
                  <a:txBody>
                    <a:bodyPr wrap="square"/>
                    <a:lstStyle/>
                    <a:p>
                      <a:r>
                        <a:rPr sz="1400" b="0">
                          <a:solidFill>
                            <a:srgbClr val="0F1A1C"/>
                          </a:solidFill>
                          <a:latin typeface="IBM Plex Sans"/>
                        </a:rPr>
                        <a:t>DELETE sku-400 MAN</a:t>
                      </a:r>
                    </a:p>
                  </a:txBody>
                  <a:tcPr marL="82296" marR="64008" marT="32004" marB="32004" anchor="ctr">
                    <a:solidFill>
                      <a:srgbClr val="FFFFFF"/>
                    </a:solidFill>
                  </a:tcPr>
                </a:tc>
                <a:tc>
                  <a:txBody>
                    <a:bodyPr wrap="square"/>
                    <a:lstStyle/>
                    <a:p>
                      <a:r>
                        <a:rPr sz="1400" b="0">
                          <a:solidFill>
                            <a:srgbClr val="0F1A1C"/>
                          </a:solidFill>
                          <a:latin typeface="IBM Plex Sans"/>
                        </a:rPr>
                        <a:t>Discontinued: the row is −1</a:t>
                      </a:r>
                    </a:p>
                  </a:txBody>
                  <a:tcPr marL="82296" marR="64008" marT="32004" marB="32004" anchor="ctr">
                    <a:solidFill>
                      <a:srgbClr val="FFFFFF"/>
                    </a:solidFill>
                  </a:tcPr>
                </a:tc>
              </a:tr>
              <a:tr h="796747">
                <a:tc>
                  <a:txBody>
                    <a:bodyPr wrap="square"/>
                    <a:lstStyle/>
                    <a:p>
                      <a:r>
                        <a:rPr sz="1400" b="1">
                          <a:solidFill>
                            <a:srgbClr val="0A5C5B"/>
                          </a:solidFill>
                          <a:latin typeface="IBM Plex Sans"/>
                        </a:rPr>
                        <a:t>09:30</a:t>
                      </a:r>
                    </a:p>
                  </a:txBody>
                  <a:tcPr marL="82296" marR="64008" marT="32004" marB="32004" anchor="ctr">
                    <a:solidFill>
                      <a:srgbClr val="EEF6F5"/>
                    </a:solidFill>
                  </a:tcPr>
                </a:tc>
                <a:tc>
                  <a:txBody>
                    <a:bodyPr wrap="square"/>
                    <a:lstStyle/>
                    <a:p>
                      <a:r>
                        <a:rPr sz="1400" b="0">
                          <a:solidFill>
                            <a:srgbClr val="0F1A1C"/>
                          </a:solidFill>
                          <a:latin typeface="IBM Plex Sans"/>
                        </a:rPr>
                        <a:t>UPDATE sku-100 LDN 40 → 10</a:t>
                      </a:r>
                    </a:p>
                  </a:txBody>
                  <a:tcPr marL="82296" marR="64008" marT="32004" marB="32004" anchor="ctr">
                    <a:solidFill>
                      <a:srgbClr val="EEF6F5"/>
                    </a:solidFill>
                  </a:tcPr>
                </a:tc>
                <a:tc>
                  <a:txBody>
                    <a:bodyPr wrap="square"/>
                    <a:lstStyle/>
                    <a:p>
                      <a:r>
                        <a:rPr sz="1400" b="0">
                          <a:solidFill>
                            <a:srgbClr val="0F1A1C"/>
                          </a:solidFill>
                          <a:latin typeface="IBM Plex Sans"/>
                        </a:rPr>
                        <a:t>At reorder point 10: alert</a:t>
                      </a:r>
                    </a:p>
                  </a:txBody>
                  <a:tcPr marL="82296" marR="64008" marT="32004" marB="32004" anchor="ctr">
                    <a:solidFill>
                      <a:srgbClr val="EEF6F5"/>
                    </a:solidFill>
                  </a:tcPr>
                </a:tc>
              </a:tr>
            </a:tbl>
          </a:graphicData>
        </a:graphic>
      </p:graphicFrame>
      <p:sp>
        <p:nvSpPr>
          <p:cNvPr id="15" name="Rectangle 14"/>
          <p:cNvSpPr/>
          <p:nvPr/>
        </p:nvSpPr>
        <p:spPr>
          <a:xfrm>
            <a:off x="6278727" y="2073351"/>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0E7C7B"/>
                </a:solidFill>
                <a:latin typeface="IBM Plex Sans"/>
              </a:rPr>
              <a:t>▪  </a:t>
            </a:r>
            <a:r>
              <a:rPr sz="1500" b="1">
                <a:solidFill>
                  <a:srgbClr val="0F1A1C"/>
                </a:solidFill>
                <a:latin typeface="IBM Plex Sans"/>
              </a:rPr>
              <a:t>LDN holds 3 lines and 39 units</a:t>
            </a:r>
          </a:p>
          <a:p>
            <a:pPr lvl="1">
              <a:lnSpc>
                <a:spcPct val="120000"/>
              </a:lnSpc>
              <a:spcBef>
                <a:spcPts val="0"/>
              </a:spcBef>
              <a:spcAft>
                <a:spcPts val="0"/>
              </a:spcAft>
            </a:pPr>
            <a:r>
              <a:rPr sz="1350" b="0">
                <a:solidFill>
                  <a:srgbClr val="3E4D50"/>
                </a:solidFill>
                <a:latin typeface="IBM Plex Sans"/>
              </a:rPr>
              <a:t>39 is 10 + 27 + 2, today's numbers — not 40 + 12 + 6 plus the changes, because each update withdrew the row it replaced.</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A cleared alert is a −1</a:t>
            </a:r>
          </a:p>
          <a:p>
            <a:pPr lvl="1">
              <a:lnSpc>
                <a:spcPct val="120000"/>
              </a:lnSpc>
              <a:spcBef>
                <a:spcPts val="0"/>
              </a:spcBef>
              <a:spcAft>
                <a:spcPts val="0"/>
              </a:spcAft>
            </a:pPr>
            <a:r>
              <a:rPr sz="1350" b="0">
                <a:solidFill>
                  <a:srgbClr val="3E4D50"/>
                </a:solidFill>
                <a:latin typeface="IBM Plex Sans"/>
              </a:rPr>
              <a:t>“A consumer that only listened for rows arriving would page the buyer about toasters for ever.”</a:t>
            </a:r>
          </a:p>
          <a:p>
            <a:pPr>
              <a:lnSpc>
                <a:spcPct val="120000"/>
              </a:lnSpc>
              <a:spcBef>
                <a:spcPts val="500"/>
              </a:spcBef>
              <a:spcAft>
                <a:spcPts val="100"/>
              </a:spcAft>
            </a:pPr>
            <a:r>
              <a:rPr sz="1500" b="1">
                <a:solidFill>
                  <a:srgbClr val="0E7C7B"/>
                </a:solidFill>
                <a:latin typeface="IBM Plex Sans"/>
              </a:rPr>
              <a:t>▪  </a:t>
            </a:r>
            <a:r>
              <a:rPr sz="1500" b="1">
                <a:solidFill>
                  <a:srgbClr val="0F1A1C"/>
                </a:solidFill>
                <a:latin typeface="IBM Plex Sans"/>
              </a:rPr>
              <a:t>Exactly once from the binlog</a:t>
            </a:r>
          </a:p>
          <a:p>
            <a:pPr lvl="1">
              <a:lnSpc>
                <a:spcPct val="120000"/>
              </a:lnSpc>
              <a:spcBef>
                <a:spcPts val="0"/>
              </a:spcBef>
              <a:spcAft>
                <a:spcPts val="0"/>
              </a:spcAft>
            </a:pPr>
            <a:r>
              <a:rPr sz="1350" b="0">
                <a:solidFill>
                  <a:srgbClr val="3E4D50"/>
                </a:solidFill>
                <a:latin typeface="IBM Plex Sans"/>
              </a:rPr>
              <a:t>Resumes from the file and position its last checkpoint recorded.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A late line corrects a row in an Iceberg table, in place</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65</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0F1A1C"/>
                </a:solidFill>
                <a:latin typeface="IBM Plex Sans"/>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6FD0C8"/>
                </a:solidFill>
                <a:latin typeface="Consolas"/>
              </a:rPr>
              <a:t>-- commit</a:t>
            </a:r>
          </a:p>
          <a:p>
            <a:pPr>
              <a:lnSpc>
                <a:spcPct val="100000"/>
              </a:lnSpc>
              <a:spcBef>
                <a:spcPts val="0"/>
              </a:spcBef>
              <a:spcAft>
                <a:spcPts val="0"/>
              </a:spcAft>
            </a:pPr>
            <a:r>
              <a:rPr sz="1300" b="0" i="0">
                <a:solidFill>
                  <a:srgbClr val="DCEBEA"/>
                </a:solidFill>
                <a:latin typeface="Consolas"/>
              </a:rPr>
              <a:t>-1 {window_end 12:00, region UK, orders 4,</a:t>
            </a:r>
          </a:p>
          <a:p>
            <a:pPr>
              <a:lnSpc>
                <a:spcPct val="100000"/>
              </a:lnSpc>
              <a:spcBef>
                <a:spcPts val="0"/>
              </a:spcBef>
              <a:spcAft>
                <a:spcPts val="0"/>
              </a:spcAft>
            </a:pPr>
            <a:r>
              <a:rPr sz="1300" b="0" i="0">
                <a:solidFill>
                  <a:srgbClr val="DCEBEA"/>
                </a:solidFill>
                <a:latin typeface="Consolas"/>
              </a:rPr>
              <a:t>    revenue_minor 29970, customers 4}</a:t>
            </a:r>
          </a:p>
          <a:p>
            <a:pPr>
              <a:lnSpc>
                <a:spcPct val="100000"/>
              </a:lnSpc>
              <a:spcBef>
                <a:spcPts val="0"/>
              </a:spcBef>
              <a:spcAft>
                <a:spcPts val="0"/>
              </a:spcAft>
            </a:pPr>
            <a:r>
              <a:rPr sz="1300" b="0" i="0">
                <a:solidFill>
                  <a:srgbClr val="DCEBEA"/>
                </a:solidFill>
                <a:latin typeface="Consolas"/>
              </a:rPr>
              <a:t>+1 {window_end 12:00, region UK, orders 5,</a:t>
            </a:r>
          </a:p>
          <a:p>
            <a:pPr>
              <a:lnSpc>
                <a:spcPct val="100000"/>
              </a:lnSpc>
              <a:spcBef>
                <a:spcPts val="0"/>
              </a:spcBef>
              <a:spcAft>
                <a:spcPts val="0"/>
              </a:spcAft>
            </a:pPr>
            <a:r>
              <a:rPr sz="1300" b="0" i="0">
                <a:solidFill>
                  <a:srgbClr val="DCEBEA"/>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One row for the hour, not two</a:t>
            </a:r>
          </a:p>
          <a:p>
            <a:pPr lvl="1">
              <a:lnSpc>
                <a:spcPct val="120000"/>
              </a:lnSpc>
              <a:spcBef>
                <a:spcPts val="0"/>
              </a:spcBef>
              <a:spcAft>
                <a:spcPts val="0"/>
              </a:spcAft>
            </a:pPr>
            <a:r>
              <a:rPr sz="1400" b="0">
                <a:solidFill>
                  <a:srgbClr val="3E4D50"/>
                </a:solidFill>
                <a:latin typeface="IBM Plex Sans"/>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customers stays 4</a:t>
            </a:r>
          </a:p>
          <a:p>
            <a:pPr lvl="1">
              <a:lnSpc>
                <a:spcPct val="120000"/>
              </a:lnSpc>
              <a:spcBef>
                <a:spcPts val="0"/>
              </a:spcBef>
              <a:spcAft>
                <a:spcPts val="0"/>
              </a:spcAft>
            </a:pPr>
            <a:r>
              <a:rPr sz="1400" b="0">
                <a:solidFill>
                  <a:srgbClr val="3E4D50"/>
                </a:solidFill>
                <a:latin typeface="IBM Plex Sans"/>
              </a:rPr>
              <a:t>The late line's customer had already ordered in that hour.</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An append-only sink could not have done this</a:t>
            </a:r>
          </a:p>
          <a:p>
            <a:pPr lvl="1">
              <a:lnSpc>
                <a:spcPct val="120000"/>
              </a:lnSpc>
              <a:spcBef>
                <a:spcPts val="0"/>
              </a:spcBef>
              <a:spcAft>
                <a:spcPts val="0"/>
              </a:spcAft>
            </a:pPr>
            <a:r>
              <a:rPr sz="1400" b="0">
                <a:solidFill>
                  <a:srgbClr val="3E4D50"/>
                </a:solidFill>
                <a:latin typeface="IBM Plex Sans"/>
              </a:rPr>
              <a:t>Nor mode: changelog, which keeps the history with _op and _weight instead.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0F1A1C"/>
                </a:solidFill>
                <a:latin typeface="IBM Plex Sans Condensed"/>
              </a:rPr>
              <a:t>Three queries on one Kafka reader, and an index by merchant</a:t>
            </a:r>
          </a:p>
        </p:txBody>
      </p:sp>
      <p:sp>
        <p:nvSpPr>
          <p:cNvPr id="6" name="Rectangle 5"/>
          <p:cNvSpPr/>
          <p:nvPr/>
        </p:nvSpPr>
        <p:spPr>
          <a:xfrm>
            <a:off x="777240" y="121747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66</a:t>
            </a:r>
          </a:p>
        </p:txBody>
      </p:sp>
      <p:sp>
        <p:nvSpPr>
          <p:cNvPr id="10" name="Rectangle 9"/>
          <p:cNvSpPr/>
          <p:nvPr/>
        </p:nvSpPr>
        <p:spPr>
          <a:xfrm>
            <a:off x="777240" y="1345488"/>
            <a:ext cx="5348471" cy="3379419"/>
          </a:xfrm>
          <a:prstGeom prst="rect">
            <a:avLst/>
          </a:prstGeom>
          <a:solidFill>
            <a:srgbClr val="0F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DCEBEA"/>
                </a:solidFill>
                <a:latin typeface="Consolas"/>
              </a:rPr>
              <a:t>CREATE CONTINUOUS QUERY merchant_minute</a:t>
            </a:r>
          </a:p>
          <a:p>
            <a:pPr>
              <a:lnSpc>
                <a:spcPct val="100000"/>
              </a:lnSpc>
              <a:spcBef>
                <a:spcPts val="0"/>
              </a:spcBef>
              <a:spcAft>
                <a:spcPts val="0"/>
              </a:spcAft>
            </a:pPr>
            <a:r>
              <a:rPr sz="1300" b="0" i="0">
                <a:solidFill>
                  <a:srgbClr val="DCEBEA"/>
                </a:solidFill>
                <a:latin typeface="Consolas"/>
              </a:rPr>
              <a:t>  KEYED BY (window_end, merchant)</a:t>
            </a:r>
          </a:p>
          <a:p>
            <a:pPr>
              <a:lnSpc>
                <a:spcPct val="100000"/>
              </a:lnSpc>
              <a:spcBef>
                <a:spcPts val="0"/>
              </a:spcBef>
              <a:spcAft>
                <a:spcPts val="0"/>
              </a:spcAft>
            </a:pPr>
            <a:r>
              <a:rPr sz="1300" b="0" i="0">
                <a:solidFill>
                  <a:srgbClr val="DCEBEA"/>
                </a:solidFill>
                <a:latin typeface="Consolas"/>
              </a:rPr>
              <a:t>  INDEX (merchant)</a:t>
            </a:r>
          </a:p>
          <a:p>
            <a:pPr>
              <a:lnSpc>
                <a:spcPct val="100000"/>
              </a:lnSpc>
              <a:spcBef>
                <a:spcPts val="0"/>
              </a:spcBef>
              <a:spcAft>
                <a:spcPts val="0"/>
              </a:spcAft>
            </a:pPr>
            <a:r>
              <a:rPr sz="1300" b="0" i="0">
                <a:solidFill>
                  <a:srgbClr val="DCEBEA"/>
                </a:solidFill>
                <a:latin typeface="Consolas"/>
              </a:rPr>
              <a:t>AS</a:t>
            </a:r>
          </a:p>
          <a:p>
            <a:pPr>
              <a:lnSpc>
                <a:spcPct val="100000"/>
              </a:lnSpc>
              <a:spcBef>
                <a:spcPts val="0"/>
              </a:spcBef>
              <a:spcAft>
                <a:spcPts val="0"/>
              </a:spcAft>
            </a:pPr>
            <a:r>
              <a:rPr sz="1300" b="0" i="0">
                <a:solidFill>
                  <a:srgbClr val="DCEBEA"/>
                </a:solidFill>
                <a:latin typeface="Consolas"/>
              </a:rPr>
              <a:t>SELECT STREAM</a:t>
            </a:r>
          </a:p>
          <a:p>
            <a:pPr>
              <a:lnSpc>
                <a:spcPct val="100000"/>
              </a:lnSpc>
              <a:spcBef>
                <a:spcPts val="0"/>
              </a:spcBef>
              <a:spcAft>
                <a:spcPts val="0"/>
              </a:spcAft>
            </a:pPr>
            <a:r>
              <a:rPr sz="1300" b="0" i="0">
                <a:solidFill>
                  <a:srgbClr val="DCEBEA"/>
                </a:solidFill>
                <a:latin typeface="Consolas"/>
              </a:rPr>
              <a:t>  TUMBLE_END(paid_at, INTERVAL '1' MINUTE)</a:t>
            </a:r>
          </a:p>
          <a:p>
            <a:pPr>
              <a:lnSpc>
                <a:spcPct val="100000"/>
              </a:lnSpc>
              <a:spcBef>
                <a:spcPts val="0"/>
              </a:spcBef>
              <a:spcAft>
                <a:spcPts val="0"/>
              </a:spcAft>
            </a:pPr>
            <a:r>
              <a:rPr sz="1300" b="0" i="0">
                <a:solidFill>
                  <a:srgbClr val="DCEBEA"/>
                </a:solidFill>
                <a:latin typeface="Consolas"/>
              </a:rPr>
              <a:t>                    AS window_end,</a:t>
            </a:r>
          </a:p>
          <a:p>
            <a:pPr>
              <a:lnSpc>
                <a:spcPct val="100000"/>
              </a:lnSpc>
              <a:spcBef>
                <a:spcPts val="0"/>
              </a:spcBef>
              <a:spcAft>
                <a:spcPts val="0"/>
              </a:spcAft>
            </a:pPr>
            <a:r>
              <a:rPr sz="1300" b="0" i="0">
                <a:solidFill>
                  <a:srgbClr val="DCEBEA"/>
                </a:solidFill>
                <a:latin typeface="Consolas"/>
              </a:rPr>
              <a:t>  merchant,</a:t>
            </a:r>
          </a:p>
          <a:p>
            <a:pPr>
              <a:lnSpc>
                <a:spcPct val="100000"/>
              </a:lnSpc>
              <a:spcBef>
                <a:spcPts val="0"/>
              </a:spcBef>
              <a:spcAft>
                <a:spcPts val="0"/>
              </a:spcAft>
            </a:pPr>
            <a:r>
              <a:rPr sz="1300" b="0" i="0">
                <a:solidFill>
                  <a:srgbClr val="DCEBEA"/>
                </a:solidFill>
                <a:latin typeface="Consolas"/>
              </a:rPr>
              <a:t>  COUNT(*)          AS payments,</a:t>
            </a:r>
          </a:p>
          <a:p>
            <a:pPr>
              <a:lnSpc>
                <a:spcPct val="100000"/>
              </a:lnSpc>
              <a:spcBef>
                <a:spcPts val="0"/>
              </a:spcBef>
              <a:spcAft>
                <a:spcPts val="0"/>
              </a:spcAft>
            </a:pPr>
            <a:r>
              <a:rPr sz="1300" b="0" i="0">
                <a:solidFill>
                  <a:srgbClr val="DCEBEA"/>
                </a:solidFill>
                <a:latin typeface="Consolas"/>
              </a:rPr>
              <a:t>  SUM(amount_minor) AS amount_minor</a:t>
            </a:r>
          </a:p>
          <a:p>
            <a:pPr>
              <a:lnSpc>
                <a:spcPct val="100000"/>
              </a:lnSpc>
              <a:spcBef>
                <a:spcPts val="0"/>
              </a:spcBef>
              <a:spcAft>
                <a:spcPts val="0"/>
              </a:spcAft>
            </a:pPr>
            <a:r>
              <a:rPr sz="1300" b="0" i="0">
                <a:solidFill>
                  <a:srgbClr val="DCEBEA"/>
                </a:solidFill>
                <a:latin typeface="Consolas"/>
              </a:rPr>
              <a:t>FROM payment</a:t>
            </a:r>
          </a:p>
          <a:p>
            <a:pPr>
              <a:lnSpc>
                <a:spcPct val="100000"/>
              </a:lnSpc>
              <a:spcBef>
                <a:spcPts val="0"/>
              </a:spcBef>
              <a:spcAft>
                <a:spcPts val="0"/>
              </a:spcAft>
            </a:pPr>
            <a:r>
              <a:rPr sz="1300" b="0" i="0">
                <a:solidFill>
                  <a:srgbClr val="DCEBEA"/>
                </a:solidFill>
                <a:latin typeface="Consolas"/>
              </a:rPr>
              <a:t>WHERE status = 'APPROVED'</a:t>
            </a:r>
          </a:p>
          <a:p>
            <a:pPr>
              <a:lnSpc>
                <a:spcPct val="100000"/>
              </a:lnSpc>
              <a:spcBef>
                <a:spcPts val="0"/>
              </a:spcBef>
              <a:spcAft>
                <a:spcPts val="0"/>
              </a:spcAft>
            </a:pPr>
            <a:r>
              <a:rPr sz="1300" b="0" i="0">
                <a:solidFill>
                  <a:srgbClr val="DCEBEA"/>
                </a:solidFill>
                <a:latin typeface="Consolas"/>
              </a:rPr>
              <a:t>GROUP BY TUMBLE(paid_at, INTERVAL '1' MINUTE),</a:t>
            </a:r>
          </a:p>
          <a:p>
            <a:pPr>
              <a:lnSpc>
                <a:spcPct val="100000"/>
              </a:lnSpc>
              <a:spcBef>
                <a:spcPts val="0"/>
              </a:spcBef>
              <a:spcAft>
                <a:spcPts val="0"/>
              </a:spcAft>
            </a:pPr>
            <a:r>
              <a:rPr sz="1300" b="0" i="0">
                <a:solidFill>
                  <a:srgbClr val="DCEBEA"/>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One reader for all three queries</a:t>
            </a:r>
          </a:p>
          <a:p>
            <a:pPr lvl="1">
              <a:lnSpc>
                <a:spcPct val="120000"/>
              </a:lnSpc>
              <a:spcBef>
                <a:spcPts val="0"/>
              </a:spcBef>
              <a:spcAft>
                <a:spcPts val="0"/>
              </a:spcAft>
            </a:pPr>
            <a:r>
              <a:rPr sz="1400" b="0">
                <a:solidFill>
                  <a:srgbClr val="3E4D50"/>
                </a:solidFill>
                <a:latin typeface="IBM Plex Sans"/>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A lookup by merchant is a probe</a:t>
            </a:r>
          </a:p>
          <a:p>
            <a:pPr lvl="1">
              <a:lnSpc>
                <a:spcPct val="120000"/>
              </a:lnSpc>
              <a:spcBef>
                <a:spcPts val="0"/>
              </a:spcBef>
              <a:spcAft>
                <a:spcPts val="0"/>
              </a:spcAft>
            </a:pPr>
            <a:r>
              <a:rPr sz="1400" b="0">
                <a:solidFill>
                  <a:srgbClr val="3E4D50"/>
                </a:solidFill>
                <a:latin typeface="IBM Plex Sans"/>
              </a:rPr>
              <a:t>m-coffee reads 5 payments, 17578; m-books 5 payments, 81250. The build fails the study if no read went through the index.</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A join that attributes, and a join that sees an absence</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10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67</a:t>
            </a:r>
          </a:p>
        </p:txBody>
      </p:sp>
      <p:sp>
        <p:nvSpPr>
          <p:cNvPr id="10" name="Rectangle 9"/>
          <p:cNvSpPr/>
          <p:nvPr/>
        </p:nvSpPr>
        <p:spPr>
          <a:xfrm>
            <a:off x="777240" y="136184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A click is paid for only after an impression</a:t>
            </a:r>
          </a:p>
          <a:p>
            <a:pPr lvl="1">
              <a:lnSpc>
                <a:spcPct val="120000"/>
              </a:lnSpc>
              <a:spcBef>
                <a:spcPts val="0"/>
              </a:spcBef>
              <a:spcAft>
                <a:spcPts val="0"/>
              </a:spcAft>
            </a:pPr>
            <a:r>
              <a:rPr sz="1400" b="0">
                <a:solidFill>
                  <a:srgbClr val="3E4D50"/>
                </a:solidFill>
                <a:latin typeface="IBM Plex Sans"/>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61 impressions, 17 clicks, 14 attributed</a:t>
            </a:r>
          </a:p>
          <a:p>
            <a:pPr lvl="1">
              <a:lnSpc>
                <a:spcPct val="120000"/>
              </a:lnSpc>
              <a:spcBef>
                <a:spcPts val="0"/>
              </a:spcBef>
              <a:spcAft>
                <a:spcPts val="0"/>
              </a:spcAft>
            </a:pPr>
            <a:r>
              <a:rPr sz="1400" b="0">
                <a:solidFill>
                  <a:srgbClr val="3E4D50"/>
                </a:solidFill>
                <a:latin typeface="IBM Plex Sans"/>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“This is the query that sees an absence”</a:t>
            </a:r>
          </a:p>
          <a:p>
            <a:pPr lvl="1">
              <a:lnSpc>
                <a:spcPct val="120000"/>
              </a:lnSpc>
              <a:spcBef>
                <a:spcPts val="0"/>
              </a:spcBef>
              <a:spcAft>
                <a:spcPts val="0"/>
              </a:spcAft>
            </a:pPr>
            <a:r>
              <a:rPr sz="1400" b="0">
                <a:solidFill>
                  <a:srgbClr val="3E4D50"/>
                </a:solidFill>
                <a:latin typeface="IBM Plex Sans"/>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25 dispatches, 23 deliveries</a:t>
            </a:r>
          </a:p>
          <a:p>
            <a:pPr lvl="1">
              <a:lnSpc>
                <a:spcPct val="120000"/>
              </a:lnSpc>
              <a:spcBef>
                <a:spcPts val="0"/>
              </a:spcBef>
              <a:spcAft>
                <a:spcPts val="0"/>
              </a:spcAft>
            </a:pPr>
            <a:r>
              <a:rPr sz="1400" b="0">
                <a:solidFill>
                  <a:srgbClr val="3E4D50"/>
                </a:solidFill>
                <a:latin typeface="IBM Plex Sans"/>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744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37B0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37B0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37B0A8"/>
                </a:solidFill>
                <a:latin typeface="IBM Plex Sans"/>
              </a:rPr>
              <a:t>PART 11</a:t>
            </a:r>
          </a:p>
        </p:txBody>
      </p:sp>
      <p:sp>
        <p:nvSpPr>
          <p:cNvPr id="8" name="TextBox 7"/>
          <p:cNvSpPr txBox="1"/>
          <p:nvPr/>
        </p:nvSpPr>
        <p:spPr>
          <a:xfrm>
            <a:off x="1005840" y="2240280"/>
            <a:ext cx="6169584" cy="896315"/>
          </a:xfrm>
          <a:prstGeom prst="rect">
            <a:avLst/>
          </a:prstGeom>
          <a:noFill/>
        </p:spPr>
        <p:txBody>
          <a:bodyPr wrap="square" lIns="0" rIns="0" tIns="0" bIns="0" anchor="t">
            <a:spAutoFit/>
          </a:bodyPr>
          <a:lstStyle/>
          <a:p>
            <a:pPr algn="l">
              <a:lnSpc>
                <a:spcPct val="105000"/>
              </a:lnSpc>
              <a:spcBef>
                <a:spcPts val="0"/>
              </a:spcBef>
              <a:spcAft>
                <a:spcPts val="0"/>
              </a:spcAft>
            </a:pPr>
            <a:r>
              <a:rPr sz="2600" b="1" i="0">
                <a:solidFill>
                  <a:srgbClr val="FFFFFF"/>
                </a:solidFill>
                <a:latin typeface="IBM Plex Sans Condensed"/>
              </a:rPr>
              <a:t>What is measured, what is not built, and where to start</a:t>
            </a:r>
          </a:p>
        </p:txBody>
      </p:sp>
      <p:sp>
        <p:nvSpPr>
          <p:cNvPr id="9" name="Rectangle 8"/>
          <p:cNvSpPr/>
          <p:nvPr/>
        </p:nvSpPr>
        <p:spPr>
          <a:xfrm>
            <a:off x="1005840" y="3319475"/>
            <a:ext cx="1371600" cy="32004"/>
          </a:xfrm>
          <a:prstGeom prst="rect">
            <a:avLst/>
          </a:prstGeom>
          <a:solidFill>
            <a:srgbClr val="37B0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548075"/>
            <a:ext cx="6169584" cy="2212644"/>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DCEBEA"/>
                </a:solidFill>
                <a:latin typeface="IBM Plex Sans"/>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37B0A8"/>
                </a:solidFill>
                <a:latin typeface="IBM Plex Sans"/>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DCEBEA"/>
                </a:solidFill>
                <a:latin typeface="IBM Plex Sans"/>
              </a:rPr>
              <a:t>The requirement, and the gates kept beside it</a:t>
            </a:r>
          </a:p>
          <a:p>
            <a:pPr>
              <a:lnSpc>
                <a:spcPct val="115000"/>
              </a:lnSpc>
              <a:spcBef>
                <a:spcPts val="0"/>
              </a:spcBef>
              <a:spcAft>
                <a:spcPts val="600"/>
              </a:spcAft>
            </a:pPr>
            <a:r>
              <a:rPr sz="1250" b="0" i="0">
                <a:solidFill>
                  <a:srgbClr val="DCEBEA"/>
                </a:solidFill>
                <a:latin typeface="IBM Plex Sans"/>
              </a:rPr>
              <a:t>What the gates measured</a:t>
            </a:r>
          </a:p>
          <a:p>
            <a:pPr>
              <a:lnSpc>
                <a:spcPct val="115000"/>
              </a:lnSpc>
              <a:spcBef>
                <a:spcPts val="0"/>
              </a:spcBef>
              <a:spcAft>
                <a:spcPts val="600"/>
              </a:spcAft>
            </a:pPr>
            <a:r>
              <a:rPr sz="1250" b="0" i="0">
                <a:solidFill>
                  <a:srgbClr val="DCEBEA"/>
                </a:solidFill>
                <a:latin typeface="IBM Plex Sans"/>
              </a:rPr>
              <a:t>Nexmark: what runs</a:t>
            </a:r>
          </a:p>
          <a:p>
            <a:pPr>
              <a:lnSpc>
                <a:spcPct val="115000"/>
              </a:lnSpc>
              <a:spcBef>
                <a:spcPts val="0"/>
              </a:spcBef>
              <a:spcAft>
                <a:spcPts val="600"/>
              </a:spcAft>
            </a:pPr>
            <a:r>
              <a:rPr sz="1250" b="0" i="0">
                <a:solidFill>
                  <a:srgbClr val="DCEBEA"/>
                </a:solidFill>
                <a:latin typeface="IBM Plex Sans"/>
              </a:rPr>
              <a:t>What the micro-benchmarks say, and do not</a:t>
            </a:r>
          </a:p>
          <a:p>
            <a:pPr>
              <a:lnSpc>
                <a:spcPct val="115000"/>
              </a:lnSpc>
              <a:spcBef>
                <a:spcPts val="0"/>
              </a:spcBef>
              <a:spcAft>
                <a:spcPts val="600"/>
              </a:spcAft>
            </a:pPr>
            <a:r>
              <a:rPr sz="1250" b="0" i="0">
                <a:solidFill>
                  <a:srgbClr val="DCEBEA"/>
                </a:solidFill>
                <a:latin typeface="IBM Plex Sans"/>
              </a:rPr>
              <a:t>What is not built</a:t>
            </a:r>
          </a:p>
          <a:p>
            <a:pPr>
              <a:lnSpc>
                <a:spcPct val="115000"/>
              </a:lnSpc>
              <a:spcBef>
                <a:spcPts val="0"/>
              </a:spcBef>
              <a:spcAft>
                <a:spcPts val="600"/>
              </a:spcAft>
            </a:pPr>
            <a:r>
              <a:rPr sz="1250" b="0" i="0">
                <a:solidFill>
                  <a:srgbClr val="DCEBEA"/>
                </a:solidFill>
                <a:latin typeface="IBM Plex Sans"/>
              </a:rPr>
              <a:t>Boundaries</a:t>
            </a:r>
          </a:p>
          <a:p>
            <a:pPr>
              <a:lnSpc>
                <a:spcPct val="115000"/>
              </a:lnSpc>
              <a:spcBef>
                <a:spcPts val="0"/>
              </a:spcBef>
              <a:spcAft>
                <a:spcPts val="600"/>
              </a:spcAft>
            </a:pPr>
            <a:r>
              <a:rPr sz="1250" b="0" i="0">
                <a:solidFill>
                  <a:srgbClr val="DCEBEA"/>
                </a:solidFill>
                <a:latin typeface="IBM Plex Sans"/>
              </a:rPr>
              <a:t>Where to start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69</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Why so low</a:t>
            </a:r>
          </a:p>
          <a:p>
            <a:pPr lvl="1">
              <a:lnSpc>
                <a:spcPct val="120000"/>
              </a:lnSpc>
              <a:spcBef>
                <a:spcPts val="0"/>
              </a:spcBef>
              <a:spcAft>
                <a:spcPts val="0"/>
              </a:spcAft>
            </a:pPr>
            <a:r>
              <a:rPr sz="1550" b="0">
                <a:solidFill>
                  <a:srgbClr val="3E4D50"/>
                </a:solidFill>
                <a:latin typeface="IBM Plex Sans"/>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Restated, not redefined</a:t>
            </a:r>
          </a:p>
          <a:p>
            <a:pPr lvl="1">
              <a:lnSpc>
                <a:spcPct val="120000"/>
              </a:lnSpc>
              <a:spcBef>
                <a:spcPts val="0"/>
              </a:spcBef>
              <a:spcAft>
                <a:spcPts val="0"/>
              </a:spcAft>
            </a:pPr>
            <a:r>
              <a:rPr sz="1550" b="0">
                <a:solidFill>
                  <a:srgbClr val="3E4D50"/>
                </a:solidFill>
                <a:latin typeface="IBM Plex Sans"/>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What it does not license</a:t>
            </a:r>
          </a:p>
          <a:p>
            <a:pPr lvl="1">
              <a:lnSpc>
                <a:spcPct val="120000"/>
              </a:lnSpc>
              <a:spcBef>
                <a:spcPts val="0"/>
              </a:spcBef>
              <a:spcAft>
                <a:spcPts val="0"/>
              </a:spcAft>
            </a:pPr>
            <a:r>
              <a:rPr sz="1550" b="0">
                <a:solidFill>
                  <a:srgbClr val="3E4D50"/>
                </a:solidFill>
                <a:latin typeface="IBM Plex Sans"/>
              </a:rPr>
              <a:t>A number from this laptop is “this machine sustained that, under this load” — a floor, never the engine's ceiling.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0F1A1C"/>
                </a:solidFill>
                <a:latin typeface="IBM Plex Sans Condensed"/>
              </a:rPr>
              <a:t>Per-lane throughput reached; scaling not reached</a:t>
            </a:r>
          </a:p>
        </p:txBody>
      </p:sp>
      <p:sp>
        <p:nvSpPr>
          <p:cNvPr id="6" name="Rectangle 5"/>
          <p:cNvSpPr/>
          <p:nvPr/>
        </p:nvSpPr>
        <p:spPr>
          <a:xfrm>
            <a:off x="777240" y="1282903"/>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70</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2895953"/>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IBM Plex Sans"/>
                        </a:rPr>
                        <a:t>Gate</a:t>
                      </a:r>
                    </a:p>
                  </a:txBody>
                  <a:tcPr marL="82296" marR="64008" marT="32004" marB="32004" anchor="ctr">
                    <a:solidFill>
                      <a:srgbClr val="0A5C5B"/>
                    </a:solidFill>
                  </a:tcPr>
                </a:tc>
                <a:tc>
                  <a:txBody>
                    <a:bodyPr wrap="square"/>
                    <a:lstStyle/>
                    <a:p>
                      <a:r>
                        <a:rPr sz="1300" b="1">
                          <a:solidFill>
                            <a:srgbClr val="FFFFFF"/>
                          </a:solidFill>
                          <a:latin typeface="IBM Plex Sans"/>
                        </a:rPr>
                        <a:t>Target</a:t>
                      </a:r>
                    </a:p>
                  </a:txBody>
                  <a:tcPr marL="82296" marR="64008" marT="32004" marB="32004" anchor="ctr">
                    <a:solidFill>
                      <a:srgbClr val="0A5C5B"/>
                    </a:solidFill>
                  </a:tcPr>
                </a:tc>
                <a:tc>
                  <a:txBody>
                    <a:bodyPr wrap="square"/>
                    <a:lstStyle/>
                    <a:p>
                      <a:r>
                        <a:rPr sz="1300" b="1">
                          <a:solidFill>
                            <a:srgbClr val="FFFFFF"/>
                          </a:solidFill>
                          <a:latin typeface="IBM Plex Sans"/>
                        </a:rPr>
                        <a:t>Measured</a:t>
                      </a:r>
                    </a:p>
                  </a:txBody>
                  <a:tcPr marL="82296" marR="64008" marT="32004" marB="32004" anchor="ctr">
                    <a:solidFill>
                      <a:srgbClr val="0A5C5B"/>
                    </a:solidFill>
                  </a:tcPr>
                </a:tc>
                <a:tc>
                  <a:txBody>
                    <a:bodyPr wrap="square"/>
                    <a:lstStyle/>
                    <a:p>
                      <a:r>
                        <a:rPr sz="1300" b="1">
                          <a:solidFill>
                            <a:srgbClr val="FFFFFF"/>
                          </a:solidFill>
                          <a:latin typeface="IBM Plex Sans"/>
                        </a:rPr>
                        <a:t>Verdict</a:t>
                      </a:r>
                    </a:p>
                  </a:txBody>
                  <a:tcPr marL="82296" marR="64008" marT="32004" marB="32004" anchor="ctr">
                    <a:solidFill>
                      <a:srgbClr val="0A5C5B"/>
                    </a:solidFill>
                  </a:tcPr>
                </a:tc>
              </a:tr>
              <a:tr h="584098">
                <a:tc>
                  <a:txBody>
                    <a:bodyPr wrap="square"/>
                    <a:lstStyle/>
                    <a:p>
                      <a:r>
                        <a:rPr sz="1450" b="1">
                          <a:solidFill>
                            <a:srgbClr val="0A5C5B"/>
                          </a:solidFill>
                          <a:latin typeface="IBM Plex Sans"/>
                        </a:rPr>
                        <a:t>P2 · Profile A throughput</a:t>
                      </a:r>
                    </a:p>
                  </a:txBody>
                  <a:tcPr marL="82296" marR="64008" marT="32004" marB="32004" anchor="ctr">
                    <a:solidFill>
                      <a:srgbClr val="FFFFFF"/>
                    </a:solidFill>
                  </a:tcPr>
                </a:tc>
                <a:tc>
                  <a:txBody>
                    <a:bodyPr wrap="square"/>
                    <a:lstStyle/>
                    <a:p>
                      <a:r>
                        <a:rPr sz="1450" b="0">
                          <a:solidFill>
                            <a:srgbClr val="0F1A1C"/>
                          </a:solidFill>
                          <a:latin typeface="IBM Plex Sans"/>
                        </a:rPr>
                        <a:t>≥ 1.2 M rows/s per lane</a:t>
                      </a:r>
                    </a:p>
                  </a:txBody>
                  <a:tcPr marL="82296" marR="64008" marT="32004" marB="32004" anchor="ctr">
                    <a:solidFill>
                      <a:srgbClr val="FFFFFF"/>
                    </a:solidFill>
                  </a:tcPr>
                </a:tc>
                <a:tc>
                  <a:txBody>
                    <a:bodyPr wrap="square"/>
                    <a:lstStyle/>
                    <a:p>
                      <a:r>
                        <a:rPr sz="1450" b="0">
                          <a:solidFill>
                            <a:srgbClr val="0F1A1C"/>
                          </a:solidFill>
                          <a:latin typeface="IBM Plex Sans"/>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0F1A1C"/>
                          </a:solidFill>
                          <a:latin typeface="IBM Plex Sans"/>
                        </a:rPr>
                        <a:t>Reached</a:t>
                      </a:r>
                    </a:p>
                  </a:txBody>
                  <a:tcPr marL="82296" marR="64008" marT="32004" marB="32004" anchor="ctr">
                    <a:solidFill>
                      <a:srgbClr val="FFFFFF"/>
                    </a:solidFill>
                  </a:tcPr>
                </a:tc>
              </a:tr>
              <a:tr h="821283">
                <a:tc>
                  <a:txBody>
                    <a:bodyPr wrap="square"/>
                    <a:lstStyle/>
                    <a:p>
                      <a:r>
                        <a:rPr sz="1450" b="1">
                          <a:solidFill>
                            <a:srgbClr val="0A5C5B"/>
                          </a:solidFill>
                          <a:latin typeface="IBM Plex Sans"/>
                        </a:rPr>
                        <a:t>P2 · scaling, 1 → 8 lanes</a:t>
                      </a:r>
                    </a:p>
                  </a:txBody>
                  <a:tcPr marL="82296" marR="64008" marT="32004" marB="32004" anchor="ctr">
                    <a:solidFill>
                      <a:srgbClr val="EEF6F5"/>
                    </a:solidFill>
                  </a:tcPr>
                </a:tc>
                <a:tc>
                  <a:txBody>
                    <a:bodyPr wrap="square"/>
                    <a:lstStyle/>
                    <a:p>
                      <a:r>
                        <a:rPr sz="1450" b="0">
                          <a:solidFill>
                            <a:srgbClr val="0F1A1C"/>
                          </a:solidFill>
                          <a:latin typeface="IBM Plex Sans"/>
                        </a:rPr>
                        <a:t>≥ 90 % of linear</a:t>
                      </a:r>
                    </a:p>
                  </a:txBody>
                  <a:tcPr marL="82296" marR="64008" marT="32004" marB="32004" anchor="ctr">
                    <a:solidFill>
                      <a:srgbClr val="EEF6F5"/>
                    </a:solidFill>
                  </a:tcPr>
                </a:tc>
                <a:tc>
                  <a:txBody>
                    <a:bodyPr wrap="square"/>
                    <a:lstStyle/>
                    <a:p>
                      <a:r>
                        <a:rPr sz="1450" b="0">
                          <a:solidFill>
                            <a:srgbClr val="0F1A1C"/>
                          </a:solidFill>
                          <a:latin typeface="IBM Plex Sans"/>
                        </a:rPr>
                        <a:t>28–42 % (09-20); 33–46 % without the coverage agent (09-26); the machine's own ceiling for work sharing nothing: 51–55 %</a:t>
                      </a:r>
                    </a:p>
                  </a:txBody>
                  <a:tcPr marL="82296" marR="64008" marT="32004" marB="32004" anchor="ctr">
                    <a:solidFill>
                      <a:srgbClr val="EEF6F5"/>
                    </a:solidFill>
                  </a:tcPr>
                </a:tc>
                <a:tc>
                  <a:txBody>
                    <a:bodyPr wrap="square"/>
                    <a:lstStyle/>
                    <a:p>
                      <a:r>
                        <a:rPr sz="1450" b="0">
                          <a:solidFill>
                            <a:srgbClr val="0F1A1C"/>
                          </a:solidFill>
                          <a:latin typeface="IBM Plex Sans"/>
                        </a:rPr>
                        <a:t>Not reached</a:t>
                      </a:r>
                    </a:p>
                  </a:txBody>
                  <a:tcPr marL="82296" marR="64008" marT="32004" marB="32004" anchor="ctr">
                    <a:solidFill>
                      <a:srgbClr val="EEF6F5"/>
                    </a:solidFill>
                  </a:tcPr>
                </a:tc>
              </a:tr>
              <a:tr h="584098">
                <a:tc>
                  <a:txBody>
                    <a:bodyPr wrap="square"/>
                    <a:lstStyle/>
                    <a:p>
                      <a:r>
                        <a:rPr sz="1450" b="1">
                          <a:solidFill>
                            <a:srgbClr val="0A5C5B"/>
                          </a:solidFill>
                          <a:latin typeface="IBM Plex Sans"/>
                        </a:rPr>
                        <a:t>P3 · Profile B throughput</a:t>
                      </a:r>
                    </a:p>
                  </a:txBody>
                  <a:tcPr marL="82296" marR="64008" marT="32004" marB="32004" anchor="ctr">
                    <a:solidFill>
                      <a:srgbClr val="FFFFFF"/>
                    </a:solidFill>
                  </a:tcPr>
                </a:tc>
                <a:tc>
                  <a:txBody>
                    <a:bodyPr wrap="square"/>
                    <a:lstStyle/>
                    <a:p>
                      <a:r>
                        <a:rPr sz="1450" b="0">
                          <a:solidFill>
                            <a:srgbClr val="0F1A1C"/>
                          </a:solidFill>
                          <a:latin typeface="IBM Plex Sans"/>
                        </a:rPr>
                        <a:t>≥ 350 k rows/s per lane</a:t>
                      </a:r>
                    </a:p>
                  </a:txBody>
                  <a:tcPr marL="82296" marR="64008" marT="32004" marB="32004" anchor="ctr">
                    <a:solidFill>
                      <a:srgbClr val="FFFFFF"/>
                    </a:solidFill>
                  </a:tcPr>
                </a:tc>
                <a:tc>
                  <a:txBody>
                    <a:bodyPr wrap="square"/>
                    <a:lstStyle/>
                    <a:p>
                      <a:r>
                        <a:rPr sz="1450" b="0">
                          <a:solidFill>
                            <a:srgbClr val="0F1A1C"/>
                          </a:solidFill>
                          <a:latin typeface="IBM Plex Sans"/>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0F1A1C"/>
                          </a:solidFill>
                          <a:latin typeface="IBM Plex Sans"/>
                        </a:rPr>
                        <a:t>Reached</a:t>
                      </a:r>
                    </a:p>
                  </a:txBody>
                  <a:tcPr marL="82296" marR="64008" marT="32004" marB="32004" anchor="ctr">
                    <a:solidFill>
                      <a:srgbClr val="FFFFFF"/>
                    </a:solidFill>
                  </a:tcPr>
                </a:tc>
              </a:tr>
              <a:tr h="584098">
                <a:tc>
                  <a:txBody>
                    <a:bodyPr wrap="square"/>
                    <a:lstStyle/>
                    <a:p>
                      <a:r>
                        <a:rPr sz="1450" b="1">
                          <a:solidFill>
                            <a:srgbClr val="0A5C5B"/>
                          </a:solidFill>
                          <a:latin typeface="IBM Plex Sans"/>
                        </a:rPr>
                        <a:t>W5 · Nexmark vs Flink</a:t>
                      </a:r>
                    </a:p>
                  </a:txBody>
                  <a:tcPr marL="82296" marR="64008" marT="32004" marB="32004" anchor="ctr">
                    <a:solidFill>
                      <a:srgbClr val="EEF6F5"/>
                    </a:solidFill>
                  </a:tcPr>
                </a:tc>
                <a:tc>
                  <a:txBody>
                    <a:bodyPr wrap="square"/>
                    <a:lstStyle/>
                    <a:p>
                      <a:r>
                        <a:rPr sz="1450" b="0">
                          <a:solidFill>
                            <a:srgbClr val="0F1A1C"/>
                          </a:solidFill>
                          <a:latin typeface="IBM Plex Sans"/>
                        </a:rPr>
                        <a:t>Parity on ≥ 18 of 22</a:t>
                      </a:r>
                    </a:p>
                  </a:txBody>
                  <a:tcPr marL="82296" marR="64008" marT="32004" marB="32004" anchor="ctr">
                    <a:solidFill>
                      <a:srgbClr val="EEF6F5"/>
                    </a:solidFill>
                  </a:tcPr>
                </a:tc>
                <a:tc>
                  <a:txBody>
                    <a:bodyPr wrap="square"/>
                    <a:lstStyle/>
                    <a:p>
                      <a:r>
                        <a:rPr sz="1450" b="0">
                          <a:solidFill>
                            <a:srgbClr val="0F1A1C"/>
                          </a:solidFill>
                          <a:latin typeface="IBM Plex Sans"/>
                        </a:rPr>
                        <a:t>Not run: no Flink, no quiet machine, no reference generator here</a:t>
                      </a:r>
                    </a:p>
                  </a:txBody>
                  <a:tcPr marL="82296" marR="64008" marT="32004" marB="32004" anchor="ctr">
                    <a:solidFill>
                      <a:srgbClr val="EEF6F5"/>
                    </a:solidFill>
                  </a:tcPr>
                </a:tc>
                <a:tc>
                  <a:txBody>
                    <a:bodyPr wrap="square"/>
                    <a:lstStyle/>
                    <a:p>
                      <a:r>
                        <a:rPr sz="1450" b="0">
                          <a:solidFill>
                            <a:srgbClr val="0F1A1C"/>
                          </a:solidFill>
                          <a:latin typeface="IBM Plex Sans"/>
                        </a:rPr>
                        <a:t>Not reached</a:t>
                      </a:r>
                    </a:p>
                  </a:txBody>
                  <a:tcPr marL="82296" marR="64008" marT="32004" marB="32004" anchor="ctr">
                    <a:solidFill>
                      <a:srgbClr val="EEF6F5"/>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0F1A1C"/>
                </a:solidFill>
                <a:latin typeface="IBM Plex Sans Condensed"/>
              </a:rPr>
              <a:t>12 of Nexmark's 23 queries run; what is missing is SQL, not speed</a:t>
            </a:r>
          </a:p>
        </p:txBody>
      </p:sp>
      <p:sp>
        <p:nvSpPr>
          <p:cNvPr id="6" name="Rectangle 5"/>
          <p:cNvSpPr/>
          <p:nvPr/>
        </p:nvSpPr>
        <p:spPr>
          <a:xfrm>
            <a:off x="777240" y="1184757"/>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71</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IBM Plex Sans"/>
                        </a:rPr>
                        <a:t>Verdict</a:t>
                      </a:r>
                    </a:p>
                  </a:txBody>
                  <a:tcPr marL="82296" marR="64008" marT="32004" marB="32004" anchor="ctr">
                    <a:solidFill>
                      <a:srgbClr val="0A5C5B"/>
                    </a:solidFill>
                  </a:tcPr>
                </a:tc>
                <a:tc>
                  <a:txBody>
                    <a:bodyPr wrap="square"/>
                    <a:lstStyle/>
                    <a:p>
                      <a:r>
                        <a:rPr sz="1300" b="1">
                          <a:solidFill>
                            <a:srgbClr val="FFFFFF"/>
                          </a:solidFill>
                          <a:latin typeface="IBM Plex Sans"/>
                        </a:rPr>
                        <a:t>Queries</a:t>
                      </a:r>
                    </a:p>
                  </a:txBody>
                  <a:tcPr marL="82296" marR="64008" marT="32004" marB="32004" anchor="ctr">
                    <a:solidFill>
                      <a:srgbClr val="0A5C5B"/>
                    </a:solidFill>
                  </a:tcPr>
                </a:tc>
                <a:tc>
                  <a:txBody>
                    <a:bodyPr wrap="square"/>
                    <a:lstStyle/>
                    <a:p>
                      <a:r>
                        <a:rPr sz="1300" b="1">
                          <a:solidFill>
                            <a:srgbClr val="FFFFFF"/>
                          </a:solidFill>
                          <a:latin typeface="IBM Plex Sans"/>
                        </a:rPr>
                        <a:t>Why</a:t>
                      </a:r>
                    </a:p>
                  </a:txBody>
                  <a:tcPr marL="82296" marR="64008" marT="32004" marB="32004" anchor="ctr">
                    <a:solidFill>
                      <a:srgbClr val="0A5C5B"/>
                    </a:solidFill>
                  </a:tcPr>
                </a:tc>
              </a:tr>
              <a:tr h="821283">
                <a:tc>
                  <a:txBody>
                    <a:bodyPr wrap="square"/>
                    <a:lstStyle/>
                    <a:p>
                      <a:r>
                        <a:rPr sz="1450" b="1">
                          <a:solidFill>
                            <a:srgbClr val="0A5C5B"/>
                          </a:solidFill>
                          <a:latin typeface="IBM Plex Sans"/>
                        </a:rPr>
                        <a:t>Runs (2026-09-26)</a:t>
                      </a:r>
                    </a:p>
                  </a:txBody>
                  <a:tcPr marL="82296" marR="64008" marT="32004" marB="32004" anchor="ctr">
                    <a:solidFill>
                      <a:srgbClr val="FFFFFF"/>
                    </a:solidFill>
                  </a:tcPr>
                </a:tc>
                <a:tc>
                  <a:txBody>
                    <a:bodyPr wrap="square"/>
                    <a:lstStyle/>
                    <a:p>
                      <a:r>
                        <a:rPr sz="1450" b="0">
                          <a:solidFill>
                            <a:srgbClr val="0F1A1C"/>
                          </a:solidFill>
                          <a:latin typeface="IBM Plex Sans"/>
                        </a:rPr>
                        <a:t>q0, q1, q2, q3, q7, q8, q9, q18, q19, q20, q21, q22</a:t>
                      </a:r>
                    </a:p>
                  </a:txBody>
                  <a:tcPr marL="82296" marR="64008" marT="32004" marB="32004" anchor="ctr">
                    <a:solidFill>
                      <a:srgbClr val="FFFFFF"/>
                    </a:solidFill>
                  </a:tcPr>
                </a:tc>
                <a:tc>
                  <a:txBody>
                    <a:bodyPr wrap="square"/>
                    <a:lstStyle/>
                    <a:p>
                      <a:r>
                        <a:rPr sz="1450" b="0">
                          <a:solidFill>
                            <a:srgbClr val="0F1A1C"/>
                          </a:solidFill>
                          <a:latin typeface="IBM Plex Sans"/>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0A5C5B"/>
                          </a:solidFill>
                          <a:latin typeface="IBM Plex Sans"/>
                        </a:rPr>
                        <a:t>Refused</a:t>
                      </a:r>
                    </a:p>
                  </a:txBody>
                  <a:tcPr marL="82296" marR="64008" marT="32004" marB="32004" anchor="ctr">
                    <a:solidFill>
                      <a:srgbClr val="EEF6F5"/>
                    </a:solidFill>
                  </a:tcPr>
                </a:tc>
                <a:tc>
                  <a:txBody>
                    <a:bodyPr wrap="square"/>
                    <a:lstStyle/>
                    <a:p>
                      <a:r>
                        <a:rPr sz="1450" b="0">
                          <a:solidFill>
                            <a:srgbClr val="0F1A1C"/>
                          </a:solidFill>
                          <a:latin typeface="IBM Plex Sans"/>
                        </a:rPr>
                        <a:t>q4, q5, q15, q16, q17</a:t>
                      </a:r>
                    </a:p>
                  </a:txBody>
                  <a:tcPr marL="82296" marR="64008" marT="32004" marB="32004" anchor="ctr">
                    <a:solidFill>
                      <a:srgbClr val="EEF6F5"/>
                    </a:solidFill>
                  </a:tcPr>
                </a:tc>
                <a:tc>
                  <a:txBody>
                    <a:bodyPr wrap="square"/>
                    <a:lstStyle/>
                    <a:p>
                      <a:r>
                        <a:rPr sz="1450" b="0">
                          <a:solidFill>
                            <a:srgbClr val="0F1A1C"/>
                          </a:solidFill>
                          <a:latin typeface="IBM Plex Sans"/>
                        </a:rPr>
                        <a:t>Unwindowed GROUP BY or COUNT(DISTINCT): unbounded state (PRV-2050), refused on purpose</a:t>
                      </a:r>
                    </a:p>
                  </a:txBody>
                  <a:tcPr marL="82296" marR="64008" marT="32004" marB="32004" anchor="ctr">
                    <a:solidFill>
                      <a:srgbClr val="EEF6F5"/>
                    </a:solidFill>
                  </a:tcPr>
                </a:tc>
              </a:tr>
              <a:tr h="346913">
                <a:tc>
                  <a:txBody>
                    <a:bodyPr wrap="square"/>
                    <a:lstStyle/>
                    <a:p>
                      <a:r>
                        <a:rPr sz="1450" b="1">
                          <a:solidFill>
                            <a:srgbClr val="0A5C5B"/>
                          </a:solidFill>
                          <a:latin typeface="IBM Plex Sans"/>
                        </a:rPr>
                        <a:t>Refused</a:t>
                      </a:r>
                    </a:p>
                  </a:txBody>
                  <a:tcPr marL="82296" marR="64008" marT="32004" marB="32004" anchor="ctr">
                    <a:solidFill>
                      <a:srgbClr val="FFFFFF"/>
                    </a:solidFill>
                  </a:tcPr>
                </a:tc>
                <a:tc>
                  <a:txBody>
                    <a:bodyPr wrap="square"/>
                    <a:lstStyle/>
                    <a:p>
                      <a:r>
                        <a:rPr sz="1450" b="0">
                          <a:solidFill>
                            <a:srgbClr val="0F1A1C"/>
                          </a:solidFill>
                          <a:latin typeface="IBM Plex Sans"/>
                        </a:rPr>
                        <a:t>q6</a:t>
                      </a:r>
                    </a:p>
                  </a:txBody>
                  <a:tcPr marL="82296" marR="64008" marT="32004" marB="32004" anchor="ctr">
                    <a:solidFill>
                      <a:srgbClr val="FFFFFF"/>
                    </a:solidFill>
                  </a:tcPr>
                </a:tc>
                <a:tc>
                  <a:txBody>
                    <a:bodyPr wrap="square"/>
                    <a:lstStyle/>
                    <a:p>
                      <a:r>
                        <a:rPr sz="1450" b="0">
                          <a:solidFill>
                            <a:srgbClr val="0F1A1C"/>
                          </a:solidFill>
                          <a:latin typeface="IBM Plex Sans"/>
                        </a:rPr>
                        <a:t>An AVG over a row frame (PRV-2021)</a:t>
                      </a:r>
                    </a:p>
                  </a:txBody>
                  <a:tcPr marL="82296" marR="64008" marT="32004" marB="32004" anchor="ctr">
                    <a:solidFill>
                      <a:srgbClr val="FFFFFF"/>
                    </a:solidFill>
                  </a:tcPr>
                </a:tc>
              </a:tr>
              <a:tr h="346913">
                <a:tc>
                  <a:txBody>
                    <a:bodyPr wrap="square"/>
                    <a:lstStyle/>
                    <a:p>
                      <a:r>
                        <a:rPr sz="1450" b="1">
                          <a:solidFill>
                            <a:srgbClr val="0A5C5B"/>
                          </a:solidFill>
                          <a:latin typeface="IBM Plex Sans"/>
                        </a:rPr>
                        <a:t>Refused</a:t>
                      </a:r>
                    </a:p>
                  </a:txBody>
                  <a:tcPr marL="82296" marR="64008" marT="32004" marB="32004" anchor="ctr">
                    <a:solidFill>
                      <a:srgbClr val="EEF6F5"/>
                    </a:solidFill>
                  </a:tcPr>
                </a:tc>
                <a:tc>
                  <a:txBody>
                    <a:bodyPr wrap="square"/>
                    <a:lstStyle/>
                    <a:p>
                      <a:r>
                        <a:rPr sz="1450" b="0">
                          <a:solidFill>
                            <a:srgbClr val="0F1A1C"/>
                          </a:solidFill>
                          <a:latin typeface="IBM Plex Sans"/>
                        </a:rPr>
                        <a:t>q11</a:t>
                      </a:r>
                    </a:p>
                  </a:txBody>
                  <a:tcPr marL="82296" marR="64008" marT="32004" marB="32004" anchor="ctr">
                    <a:solidFill>
                      <a:srgbClr val="EEF6F5"/>
                    </a:solidFill>
                  </a:tcPr>
                </a:tc>
                <a:tc>
                  <a:txBody>
                    <a:bodyPr wrap="square"/>
                    <a:lstStyle/>
                    <a:p>
                      <a:r>
                        <a:rPr sz="1450" b="0">
                          <a:solidFill>
                            <a:srgbClr val="0F1A1C"/>
                          </a:solidFill>
                          <a:latin typeface="IBM Plex Sans"/>
                        </a:rPr>
                        <a:t>Session windows in SQL (PRV-2020)</a:t>
                      </a:r>
                    </a:p>
                  </a:txBody>
                  <a:tcPr marL="82296" marR="64008" marT="32004" marB="32004" anchor="ctr">
                    <a:solidFill>
                      <a:srgbClr val="EEF6F5"/>
                    </a:solidFill>
                  </a:tcPr>
                </a:tc>
              </a:tr>
              <a:tr h="584098">
                <a:tc>
                  <a:txBody>
                    <a:bodyPr wrap="square"/>
                    <a:lstStyle/>
                    <a:p>
                      <a:r>
                        <a:rPr sz="1450" b="1">
                          <a:solidFill>
                            <a:srgbClr val="0A5C5B"/>
                          </a:solidFill>
                          <a:latin typeface="IBM Plex Sans"/>
                        </a:rPr>
                        <a:t>Cannot be written here</a:t>
                      </a:r>
                    </a:p>
                  </a:txBody>
                  <a:tcPr marL="82296" marR="64008" marT="32004" marB="32004" anchor="ctr">
                    <a:solidFill>
                      <a:srgbClr val="FFFFFF"/>
                    </a:solidFill>
                  </a:tcPr>
                </a:tc>
                <a:tc>
                  <a:txBody>
                    <a:bodyPr wrap="square"/>
                    <a:lstStyle/>
                    <a:p>
                      <a:r>
                        <a:rPr sz="1450" b="0">
                          <a:solidFill>
                            <a:srgbClr val="0F1A1C"/>
                          </a:solidFill>
                          <a:latin typeface="IBM Plex Sans"/>
                        </a:rPr>
                        <a:t>q10, q12, q13, q14</a:t>
                      </a:r>
                    </a:p>
                  </a:txBody>
                  <a:tcPr marL="82296" marR="64008" marT="32004" marB="32004" anchor="ctr">
                    <a:solidFill>
                      <a:srgbClr val="FFFFFF"/>
                    </a:solidFill>
                  </a:tcPr>
                </a:tc>
                <a:tc>
                  <a:txBody>
                    <a:bodyPr wrap="square"/>
                    <a:lstStyle/>
                    <a:p>
                      <a:r>
                        <a:rPr sz="1450" b="0">
                          <a:solidFill>
                            <a:srgbClr val="0F1A1C"/>
                          </a:solidFill>
                          <a:latin typeface="IBM Plex Sans"/>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0F1A1C"/>
                </a:solidFill>
                <a:latin typeface="IBM Plex Sans Condensed"/>
              </a:rPr>
              <a:t>Ratios that decide design choices, not capabilities</a:t>
            </a:r>
          </a:p>
        </p:txBody>
      </p:sp>
      <p:sp>
        <p:nvSpPr>
          <p:cNvPr id="6" name="Rectangle 5"/>
          <p:cNvSpPr/>
          <p:nvPr/>
        </p:nvSpPr>
        <p:spPr>
          <a:xfrm>
            <a:off x="777240" y="1266545"/>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72</a:t>
            </a:r>
          </a:p>
        </p:txBody>
      </p:sp>
      <p:sp>
        <p:nvSpPr>
          <p:cNvPr id="10" name="Rectangle 9"/>
          <p:cNvSpPr/>
          <p:nvPr/>
        </p:nvSpPr>
        <p:spPr>
          <a:xfrm>
            <a:off x="777240" y="5835700"/>
            <a:ext cx="41148" cy="409651"/>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IBM Plex Sans"/>
                        </a:rPr>
                        <a:t>Measurement</a:t>
                      </a:r>
                    </a:p>
                  </a:txBody>
                  <a:tcPr marL="82296" marR="64008" marT="32004" marB="32004" anchor="ctr">
                    <a:solidFill>
                      <a:srgbClr val="0A5C5B"/>
                    </a:solidFill>
                  </a:tcPr>
                </a:tc>
                <a:tc>
                  <a:txBody>
                    <a:bodyPr wrap="square"/>
                    <a:lstStyle/>
                    <a:p>
                      <a:r>
                        <a:rPr sz="1300" b="1">
                          <a:solidFill>
                            <a:srgbClr val="FFFFFF"/>
                          </a:solidFill>
                          <a:latin typeface="IBM Plex Sans"/>
                        </a:rPr>
                        <a:t>Figure</a:t>
                      </a:r>
                    </a:p>
                  </a:txBody>
                  <a:tcPr marL="82296" marR="64008" marT="32004" marB="32004" anchor="ctr">
                    <a:solidFill>
                      <a:srgbClr val="0A5C5B"/>
                    </a:solidFill>
                  </a:tcPr>
                </a:tc>
                <a:tc>
                  <a:txBody>
                    <a:bodyPr wrap="square"/>
                    <a:lstStyle/>
                    <a:p>
                      <a:r>
                        <a:rPr sz="1300" b="1">
                          <a:solidFill>
                            <a:srgbClr val="FFFFFF"/>
                          </a:solidFill>
                          <a:latin typeface="IBM Plex Sans"/>
                        </a:rPr>
                        <a:t>What it is not</a:t>
                      </a:r>
                    </a:p>
                  </a:txBody>
                  <a:tcPr marL="82296" marR="64008" marT="32004" marB="32004" anchor="ctr">
                    <a:solidFill>
                      <a:srgbClr val="0A5C5B"/>
                    </a:solidFill>
                  </a:tcPr>
                </a:tc>
              </a:tr>
              <a:tr h="584098">
                <a:tc>
                  <a:txBody>
                    <a:bodyPr wrap="square"/>
                    <a:lstStyle/>
                    <a:p>
                      <a:r>
                        <a:rPr sz="1450" b="1">
                          <a:solidFill>
                            <a:srgbClr val="0A5C5B"/>
                          </a:solidFill>
                          <a:latin typeface="IBM Plex Sans"/>
                        </a:rPr>
                        <a:t>Generated vs interpreted, the fused operator alone</a:t>
                      </a:r>
                    </a:p>
                  </a:txBody>
                  <a:tcPr marL="82296" marR="64008" marT="32004" marB="32004" anchor="ctr">
                    <a:solidFill>
                      <a:srgbClr val="FFFFFF"/>
                    </a:solidFill>
                  </a:tcPr>
                </a:tc>
                <a:tc>
                  <a:txBody>
                    <a:bodyPr wrap="square"/>
                    <a:lstStyle/>
                    <a:p>
                      <a:r>
                        <a:rPr sz="1450" b="0">
                          <a:solidFill>
                            <a:srgbClr val="0F1A1C"/>
                          </a:solidFill>
                          <a:latin typeface="IBM Plex Sans"/>
                        </a:rPr>
                        <a:t>292 M vs 28.7 M rows/s — roughly 10×</a:t>
                      </a:r>
                    </a:p>
                  </a:txBody>
                  <a:tcPr marL="82296" marR="64008" marT="32004" marB="32004" anchor="ctr">
                    <a:solidFill>
                      <a:srgbClr val="FFFFFF"/>
                    </a:solidFill>
                  </a:tcPr>
                </a:tc>
                <a:tc>
                  <a:txBody>
                    <a:bodyPr wrap="square"/>
                    <a:lstStyle/>
                    <a:p>
                      <a:r>
                        <a:rPr sz="1450" b="0">
                          <a:solidFill>
                            <a:srgbClr val="0F1A1C"/>
                          </a:solidFill>
                          <a:latin typeface="IBM Plex Sans"/>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0A5C5B"/>
                          </a:solidFill>
                          <a:latin typeface="IBM Plex Sans"/>
                        </a:rPr>
                        <a:t>The same plan as a whole pipeline, one thread</a:t>
                      </a:r>
                    </a:p>
                  </a:txBody>
                  <a:tcPr marL="82296" marR="64008" marT="32004" marB="32004" anchor="ctr">
                    <a:solidFill>
                      <a:srgbClr val="EEF6F5"/>
                    </a:solidFill>
                  </a:tcPr>
                </a:tc>
                <a:tc>
                  <a:txBody>
                    <a:bodyPr wrap="square"/>
                    <a:lstStyle/>
                    <a:p>
                      <a:r>
                        <a:rPr sz="1450" b="0">
                          <a:solidFill>
                            <a:srgbClr val="0F1A1C"/>
                          </a:solidFill>
                          <a:latin typeface="IBM Plex Sans"/>
                        </a:rPr>
                        <a:t>106–118 M vs 60–66 M rows/s — 1.7×</a:t>
                      </a:r>
                    </a:p>
                  </a:txBody>
                  <a:tcPr marL="82296" marR="64008" marT="32004" marB="32004" anchor="ctr">
                    <a:solidFill>
                      <a:srgbClr val="EEF6F5"/>
                    </a:solidFill>
                  </a:tcPr>
                </a:tc>
                <a:tc>
                  <a:txBody>
                    <a:bodyPr wrap="square"/>
                    <a:lstStyle/>
                    <a:p>
                      <a:r>
                        <a:rPr sz="1450" b="0">
                          <a:solidFill>
                            <a:srgbClr val="0F1A1C"/>
                          </a:solidFill>
                          <a:latin typeface="IBM Plex Sans"/>
                        </a:rPr>
                        <a:t>End to end, where the two are level (0.95–1.13×): the producer is the bound</a:t>
                      </a:r>
                    </a:p>
                  </a:txBody>
                  <a:tcPr marL="82296" marR="64008" marT="32004" marB="32004" anchor="ctr">
                    <a:solidFill>
                      <a:srgbClr val="EEF6F5"/>
                    </a:solidFill>
                  </a:tcPr>
                </a:tc>
              </a:tr>
              <a:tr h="346913">
                <a:tc>
                  <a:txBody>
                    <a:bodyPr wrap="square"/>
                    <a:lstStyle/>
                    <a:p>
                      <a:r>
                        <a:rPr sz="1450" b="1">
                          <a:solidFill>
                            <a:srgbClr val="0A5C5B"/>
                          </a:solidFill>
                          <a:latin typeface="IBM Plex Sans"/>
                        </a:rPr>
                        <a:t>Lane machinery, one lane</a:t>
                      </a:r>
                    </a:p>
                  </a:txBody>
                  <a:tcPr marL="82296" marR="64008" marT="32004" marB="32004" anchor="ctr">
                    <a:solidFill>
                      <a:srgbClr val="FFFFFF"/>
                    </a:solidFill>
                  </a:tcPr>
                </a:tc>
                <a:tc>
                  <a:txBody>
                    <a:bodyPr wrap="square"/>
                    <a:lstStyle/>
                    <a:p>
                      <a:r>
                        <a:rPr sz="1450" b="0">
                          <a:solidFill>
                            <a:srgbClr val="0F1A1C"/>
                          </a:solidFill>
                          <a:latin typeface="IBM Plex Sans"/>
                        </a:rPr>
                        <a:t>21 M rows/s</a:t>
                      </a:r>
                    </a:p>
                  </a:txBody>
                  <a:tcPr marL="82296" marR="64008" marT="32004" marB="32004" anchor="ctr">
                    <a:solidFill>
                      <a:srgbClr val="FFFFFF"/>
                    </a:solidFill>
                  </a:tcPr>
                </a:tc>
                <a:tc>
                  <a:txBody>
                    <a:bodyPr wrap="square"/>
                    <a:lstStyle/>
                    <a:p>
                      <a:r>
                        <a:rPr sz="1450" b="0">
                          <a:solidFill>
                            <a:srgbClr val="0F1A1C"/>
                          </a:solidFill>
                          <a:latin typeface="IBM Plex Sans"/>
                        </a:rPr>
                        <a:t>Operators, decode or sinks</a:t>
                      </a:r>
                    </a:p>
                  </a:txBody>
                  <a:tcPr marL="82296" marR="64008" marT="32004" marB="32004" anchor="ctr">
                    <a:solidFill>
                      <a:srgbClr val="FFFFFF"/>
                    </a:solidFill>
                  </a:tcPr>
                </a:tc>
              </a:tr>
              <a:tr h="584098">
                <a:tc>
                  <a:txBody>
                    <a:bodyPr wrap="square"/>
                    <a:lstStyle/>
                    <a:p>
                      <a:r>
                        <a:rPr sz="1450" b="1">
                          <a:solidFill>
                            <a:srgbClr val="0A5C5B"/>
                          </a:solidFill>
                          <a:latin typeface="IBM Plex Sans"/>
                        </a:rPr>
                        <a:t>Padding between two cursors</a:t>
                      </a:r>
                    </a:p>
                  </a:txBody>
                  <a:tcPr marL="82296" marR="64008" marT="32004" marB="32004" anchor="ctr">
                    <a:solidFill>
                      <a:srgbClr val="EEF6F5"/>
                    </a:solidFill>
                  </a:tcPr>
                </a:tc>
                <a:tc>
                  <a:txBody>
                    <a:bodyPr wrap="square"/>
                    <a:lstStyle/>
                    <a:p>
                      <a:r>
                        <a:rPr sz="1450" b="0">
                          <a:solidFill>
                            <a:srgbClr val="0F1A1C"/>
                          </a:solidFill>
                          <a:latin typeface="IBM Plex Sans"/>
                        </a:rPr>
                        <a:t>453 M vs 110 M ops/s — roughly 4×</a:t>
                      </a:r>
                    </a:p>
                  </a:txBody>
                  <a:tcPr marL="82296" marR="64008" marT="32004" marB="32004" anchor="ctr">
                    <a:solidFill>
                      <a:srgbClr val="EEF6F5"/>
                    </a:solidFill>
                  </a:tcPr>
                </a:tc>
                <a:tc>
                  <a:txBody>
                    <a:bodyPr wrap="square"/>
                    <a:lstStyle/>
                    <a:p>
                      <a:r>
                        <a:rPr sz="1450" b="0">
                          <a:solidFill>
                            <a:srgbClr val="0F1A1C"/>
                          </a:solidFill>
                          <a:latin typeface="IBM Plex Sans"/>
                        </a:rPr>
                        <a:t>Precise: error bars are wide on this hardware; the gap is not</a:t>
                      </a:r>
                    </a:p>
                  </a:txBody>
                  <a:tcPr marL="82296" marR="64008" marT="32004" marB="32004" anchor="ctr">
                    <a:solidFill>
                      <a:srgbClr val="EEF6F5"/>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NOT BUILT</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Feature-complete for one node; these are deferred, or not yet done</a:t>
            </a:r>
          </a:p>
        </p:txBody>
      </p:sp>
      <p:sp>
        <p:nvSpPr>
          <p:cNvPr id="6" name="Rectangle 5"/>
          <p:cNvSpPr/>
          <p:nvPr/>
        </p:nvSpPr>
        <p:spPr>
          <a:xfrm>
            <a:off x="777240" y="116840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73</a:t>
            </a:r>
          </a:p>
        </p:txBody>
      </p:sp>
      <p:sp>
        <p:nvSpPr>
          <p:cNvPr id="10" name="Rectangle 9"/>
          <p:cNvSpPr/>
          <p:nvPr/>
        </p:nvSpPr>
        <p:spPr>
          <a:xfrm>
            <a:off x="777240" y="129641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29641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6956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Deferred or dropped by decision</a:t>
            </a:r>
          </a:p>
        </p:txBody>
      </p:sp>
      <p:sp>
        <p:nvSpPr>
          <p:cNvPr id="13" name="TextBox 12"/>
          <p:cNvSpPr txBox="1"/>
          <p:nvPr/>
        </p:nvSpPr>
        <p:spPr>
          <a:xfrm>
            <a:off x="777240" y="1808480"/>
            <a:ext cx="5135727" cy="4436872"/>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0E7C7B"/>
                </a:solidFill>
                <a:latin typeface="IBM Plex Sans"/>
              </a:rPr>
              <a:t>▪  </a:t>
            </a:r>
            <a:r>
              <a:rPr sz="1550" b="1">
                <a:solidFill>
                  <a:srgbClr val="0F1A1C"/>
                </a:solidFill>
                <a:latin typeface="IBM Plex Sans"/>
              </a:rPr>
              <a:t>Multi-node execution</a:t>
            </a:r>
          </a:p>
          <a:p>
            <a:pPr lvl="1">
              <a:lnSpc>
                <a:spcPct val="120000"/>
              </a:lnSpc>
              <a:spcBef>
                <a:spcPts val="0"/>
              </a:spcBef>
              <a:spcAft>
                <a:spcPts val="0"/>
              </a:spcAft>
            </a:pPr>
            <a:r>
              <a:rPr sz="1400" b="0">
                <a:solidFill>
                  <a:srgbClr val="3E4D50"/>
                </a:solidFill>
                <a:latin typeface="IBM Plex Sans"/>
              </a:rPr>
              <a:t>Membership, fenced leases and rebalance are built as libraries and no node consumes them; a node refuses PARTITIONED mode (PRV-9002).</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MFA and single sign-on</a:t>
            </a:r>
          </a:p>
          <a:p>
            <a:pPr lvl="1">
              <a:lnSpc>
                <a:spcPct val="120000"/>
              </a:lnSpc>
              <a:spcBef>
                <a:spcPts val="0"/>
              </a:spcBef>
              <a:spcAft>
                <a:spcPts val="0"/>
              </a:spcAft>
            </a:pPr>
            <a:r>
              <a:rPr sz="1400" b="0">
                <a:solidFill>
                  <a:srgbClr val="3E4D50"/>
                </a:solidFill>
                <a:latin typeface="IBM Plex Sans"/>
              </a:rPr>
              <a:t>Dropped by the owner: users, passwords, API keys and sessions are what Pravaha keeps.</a:t>
            </a:r>
          </a:p>
          <a:p>
            <a:pPr>
              <a:lnSpc>
                <a:spcPct val="120000"/>
              </a:lnSpc>
              <a:spcBef>
                <a:spcPts val="500"/>
              </a:spcBef>
              <a:spcAft>
                <a:spcPts val="100"/>
              </a:spcAft>
            </a:pPr>
            <a:r>
              <a:rPr sz="1550" b="1">
                <a:solidFill>
                  <a:srgbClr val="0E7C7B"/>
                </a:solidFill>
                <a:latin typeface="IBM Plex Sans"/>
              </a:rPr>
              <a:t>▪  </a:t>
            </a:r>
            <a:r>
              <a:rPr sz="1550" b="1">
                <a:solidFill>
                  <a:srgbClr val="0F1A1C"/>
                </a:solidFill>
                <a:latin typeface="IBM Plex Sans"/>
              </a:rPr>
              <a:t>Not yet proven</a:t>
            </a:r>
          </a:p>
          <a:p>
            <a:pPr lvl="1">
              <a:lnSpc>
                <a:spcPct val="120000"/>
              </a:lnSpc>
              <a:spcBef>
                <a:spcPts val="0"/>
              </a:spcBef>
              <a:spcAft>
                <a:spcPts val="0"/>
              </a:spcAft>
            </a:pPr>
            <a:r>
              <a:rPr sz="1400" b="0">
                <a:solidFill>
                  <a:srgbClr val="3E4D50"/>
                </a:solidFill>
                <a:latin typeface="IBM Plex Sans"/>
              </a:rPr>
              <a:t>The eight-lane scaling target; the manual WCAG 2.2 AA audit.</a:t>
            </a:r>
          </a:p>
        </p:txBody>
      </p:sp>
      <p:sp>
        <p:nvSpPr>
          <p:cNvPr id="14" name="Rectangle 13"/>
          <p:cNvSpPr/>
          <p:nvPr/>
        </p:nvSpPr>
        <p:spPr>
          <a:xfrm>
            <a:off x="6278727" y="1296416"/>
            <a:ext cx="5135727" cy="384048"/>
          </a:xfrm>
          <a:prstGeom prst="rect">
            <a:avLst/>
          </a:prstGeom>
          <a:solidFill>
            <a:srgbClr val="EE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296416"/>
            <a:ext cx="41148" cy="38404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6956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0A5C5B"/>
                </a:solidFill>
                <a:latin typeface="IBM Plex Sans"/>
              </a:rPr>
              <a:t>First versions: not yet</a:t>
            </a:r>
          </a:p>
        </p:txBody>
      </p:sp>
      <p:graphicFrame>
        <p:nvGraphicFramePr>
          <p:cNvPr id="17" name="Table 16"/>
          <p:cNvGraphicFramePr>
            <a:graphicFrameLocks noGrp="1"/>
          </p:cNvGraphicFramePr>
          <p:nvPr/>
        </p:nvGraphicFramePr>
        <p:xfrm>
          <a:off x="6278727" y="1808480"/>
          <a:ext cx="5135726" cy="2822343"/>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IBM Plex Sans"/>
                        </a:rPr>
                        <a:t>Piece</a:t>
                      </a:r>
                    </a:p>
                  </a:txBody>
                  <a:tcPr marL="82296" marR="64008" marT="32004" marB="32004" anchor="ctr">
                    <a:solidFill>
                      <a:srgbClr val="0A5C5B"/>
                    </a:solidFill>
                  </a:tcPr>
                </a:tc>
                <a:tc>
                  <a:txBody>
                    <a:bodyPr wrap="square"/>
                    <a:lstStyle/>
                    <a:p>
                      <a:r>
                        <a:rPr sz="1300" b="1">
                          <a:solidFill>
                            <a:srgbClr val="FFFFFF"/>
                          </a:solidFill>
                          <a:latin typeface="IBM Plex Sans"/>
                        </a:rPr>
                        <a:t>Not yet</a:t>
                      </a:r>
                    </a:p>
                  </a:txBody>
                  <a:tcPr marL="82296" marR="64008" marT="32004" marB="32004" anchor="ctr">
                    <a:solidFill>
                      <a:srgbClr val="0A5C5B"/>
                    </a:solidFill>
                  </a:tcPr>
                </a:tc>
              </a:tr>
              <a:tr h="567740">
                <a:tc>
                  <a:txBody>
                    <a:bodyPr wrap="square"/>
                    <a:lstStyle/>
                    <a:p>
                      <a:r>
                        <a:rPr sz="1400" b="1">
                          <a:solidFill>
                            <a:srgbClr val="0A5C5B"/>
                          </a:solidFill>
                          <a:latin typeface="IBM Plex Sans"/>
                        </a:rPr>
                        <a:t>mysql-cdc</a:t>
                      </a:r>
                    </a:p>
                  </a:txBody>
                  <a:tcPr marL="82296" marR="64008" marT="32004" marB="32004" anchor="ctr">
                    <a:solidFill>
                      <a:srgbClr val="FFFFFF"/>
                    </a:solidFill>
                  </a:tcPr>
                </a:tc>
                <a:tc>
                  <a:txBody>
                    <a:bodyPr wrap="square"/>
                    <a:lstStyle/>
                    <a:p>
                      <a:r>
                        <a:rPr sz="1400" b="0">
                          <a:solidFill>
                            <a:srgbClr val="0F1A1C"/>
                          </a:solidFill>
                          <a:latin typeface="IBM Plex Sans"/>
                        </a:rPr>
                        <a:t>An initial snapshot, TLS, GTID positions across a failover</a:t>
                      </a:r>
                    </a:p>
                  </a:txBody>
                  <a:tcPr marL="82296" marR="64008" marT="32004" marB="32004" anchor="ctr">
                    <a:solidFill>
                      <a:srgbClr val="FFFFFF"/>
                    </a:solidFill>
                  </a:tcPr>
                </a:tc>
              </a:tr>
              <a:tr h="796747">
                <a:tc>
                  <a:txBody>
                    <a:bodyPr wrap="square"/>
                    <a:lstStyle/>
                    <a:p>
                      <a:r>
                        <a:rPr sz="1400" b="1">
                          <a:solidFill>
                            <a:srgbClr val="0A5C5B"/>
                          </a:solidFill>
                          <a:latin typeface="IBM Plex Sans"/>
                        </a:rPr>
                        <a:t>iceberg-sink</a:t>
                      </a:r>
                    </a:p>
                  </a:txBody>
                  <a:tcPr marL="82296" marR="64008" marT="32004" marB="32004" anchor="ctr">
                    <a:solidFill>
                      <a:srgbClr val="EEF6F5"/>
                    </a:solidFill>
                  </a:tcPr>
                </a:tc>
                <a:tc>
                  <a:txBody>
                    <a:bodyPr wrap="square"/>
                    <a:lstStyle/>
                    <a:p>
                      <a:r>
                        <a:rPr sz="1400" b="0">
                          <a:solidFill>
                            <a:srgbClr val="0F1A1C"/>
                          </a:solidFill>
                          <a:latin typeface="IBM Plex Sans"/>
                        </a:rPr>
                        <a:t>Object stores, catalogs, partitioned tables, schema evolution</a:t>
                      </a:r>
                    </a:p>
                  </a:txBody>
                  <a:tcPr marL="82296" marR="64008" marT="32004" marB="32004" anchor="ctr">
                    <a:solidFill>
                      <a:srgbClr val="EEF6F5"/>
                    </a:solidFill>
                  </a:tcPr>
                </a:tc>
              </a:tr>
              <a:tr h="567740">
                <a:tc>
                  <a:txBody>
                    <a:bodyPr wrap="square"/>
                    <a:lstStyle/>
                    <a:p>
                      <a:r>
                        <a:rPr sz="1400" b="1">
                          <a:solidFill>
                            <a:srgbClr val="0A5C5B"/>
                          </a:solidFill>
                          <a:latin typeface="IBM Plex Sans"/>
                        </a:rPr>
                        <a:t>One reader per ordered source</a:t>
                      </a:r>
                    </a:p>
                  </a:txBody>
                  <a:tcPr marL="82296" marR="64008" marT="32004" marB="32004" anchor="ctr">
                    <a:solidFill>
                      <a:srgbClr val="FFFFFF"/>
                    </a:solidFill>
                  </a:tcPr>
                </a:tc>
                <a:tc>
                  <a:txBody>
                    <a:bodyPr wrap="square"/>
                    <a:lstStyle/>
                    <a:p>
                      <a:r>
                        <a:rPr sz="1400" b="0">
                          <a:solidFill>
                            <a:srgbClr val="0F1A1C"/>
                          </a:solidFill>
                          <a:latin typeface="IBM Plex Sans"/>
                        </a:rPr>
                        <a:t>Delta and JDBC; CDC keeps a reader per query</a:t>
                      </a:r>
                    </a:p>
                  </a:txBody>
                  <a:tcPr marL="82296" marR="64008" marT="32004" marB="32004" anchor="ctr">
                    <a:solidFill>
                      <a:srgbClr val="FFFFFF"/>
                    </a:solidFill>
                  </a:tcPr>
                </a:tc>
              </a:tr>
              <a:tr h="567740">
                <a:tc>
                  <a:txBody>
                    <a:bodyPr wrap="square"/>
                    <a:lstStyle/>
                    <a:p>
                      <a:r>
                        <a:rPr sz="1400" b="1">
                          <a:solidFill>
                            <a:srgbClr val="0A5C5B"/>
                          </a:solidFill>
                          <a:latin typeface="IBM Plex Sans"/>
                        </a:rPr>
                        <a:t>Equality index</a:t>
                      </a:r>
                    </a:p>
                  </a:txBody>
                  <a:tcPr marL="82296" marR="64008" marT="32004" marB="32004" anchor="ctr">
                    <a:solidFill>
                      <a:srgbClr val="EEF6F5"/>
                    </a:solidFill>
                  </a:tcPr>
                </a:tc>
                <a:tc>
                  <a:txBody>
                    <a:bodyPr wrap="square"/>
                    <a:lstStyle/>
                    <a:p>
                      <a:r>
                        <a:rPr sz="1400" b="0">
                          <a:solidFill>
                            <a:srgbClr val="0F1A1C"/>
                          </a:solidFill>
                          <a:latin typeface="IBM Plex Sans"/>
                        </a:rPr>
                        <a:t>A way to see which access path a read took</a:t>
                      </a:r>
                    </a:p>
                  </a:txBody>
                  <a:tcPr marL="82296" marR="64008" marT="32004" marB="32004" anchor="ctr">
                    <a:solidFill>
                      <a:srgbClr val="EEF6F5"/>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0F1A1C"/>
                </a:solidFill>
                <a:latin typeface="IBM Plex Sans Condensed"/>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74</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0E7C7B"/>
                </a:solidFill>
                <a:latin typeface="IBM Plex Sans"/>
              </a:rPr>
              <a:t>▪  </a:t>
            </a:r>
            <a:r>
              <a:rPr sz="1700" b="1">
                <a:solidFill>
                  <a:srgbClr val="0F1A1C"/>
                </a:solidFill>
                <a:latin typeface="IBM Plex Sans"/>
              </a:rPr>
              <a:t>MIN and MAX cannot be retracted incrementally</a:t>
            </a:r>
          </a:p>
          <a:p>
            <a:pPr lvl="1">
              <a:lnSpc>
                <a:spcPct val="120000"/>
              </a:lnSpc>
              <a:spcBef>
                <a:spcPts val="0"/>
              </a:spcBef>
              <a:spcAft>
                <a:spcPts val="0"/>
              </a:spcAft>
            </a:pPr>
            <a:r>
              <a:rPr sz="1550" b="0">
                <a:solidFill>
                  <a:srgbClr val="3E4D50"/>
                </a:solidFill>
                <a:latin typeface="IBM Plex Sans"/>
              </a:rPr>
              <a:t>So they are never pre-combined at a source; an Aerospike partial would need UDFs on the customer's cluster.</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End-to-end delivery is capped by the source</a:t>
            </a:r>
          </a:p>
          <a:p>
            <a:pPr lvl="1">
              <a:lnSpc>
                <a:spcPct val="120000"/>
              </a:lnSpc>
              <a:spcBef>
                <a:spcPts val="0"/>
              </a:spcBef>
              <a:spcAft>
                <a:spcPts val="0"/>
              </a:spcAft>
            </a:pPr>
            <a:r>
              <a:rPr sz="1550" b="0">
                <a:solidFill>
                  <a:srgbClr val="3E4D50"/>
                </a:solidFill>
                <a:latin typeface="IBM Plex Sans"/>
              </a:rPr>
              <a:t>Transactional sinks stage each checkpoint; a source that cannot rewind caps them.</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No RocksDB (ADR-044); no lz4 (ADR-053)</a:t>
            </a:r>
          </a:p>
          <a:p>
            <a:pPr lvl="1">
              <a:lnSpc>
                <a:spcPct val="120000"/>
              </a:lnSpc>
              <a:spcBef>
                <a:spcPts val="0"/>
              </a:spcBef>
              <a:spcAft>
                <a:spcPts val="0"/>
              </a:spcAft>
            </a:pPr>
            <a:r>
              <a:rPr sz="1550" b="0">
                <a:solidFill>
                  <a:srgbClr val="3E4D50"/>
                </a:solidFill>
                <a:latin typeface="IBM Plex Sans"/>
              </a:rPr>
              <a:t>The memory-mapped tier is for surviving state larger than memory, not for capacity.</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Formats say what they say</a:t>
            </a:r>
          </a:p>
          <a:p>
            <a:pPr lvl="1">
              <a:lnSpc>
                <a:spcPct val="120000"/>
              </a:lnSpc>
              <a:spcBef>
                <a:spcPts val="0"/>
              </a:spcBef>
              <a:spcAft>
                <a:spcPts val="0"/>
              </a:spcAft>
            </a:pPr>
            <a:r>
              <a:rPr sz="1550" b="0">
                <a:solidFill>
                  <a:srgbClr val="3E4D50"/>
                </a:solidFill>
                <a:latin typeface="IBM Plex Sans"/>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0E7C7B"/>
                </a:solidFill>
                <a:latin typeface="IBM Plex Sans"/>
              </a:rPr>
              <a:t>▪  </a:t>
            </a:r>
            <a:r>
              <a:rPr sz="1700" b="1">
                <a:solidFill>
                  <a:srgbClr val="0F1A1C"/>
                </a:solidFill>
                <a:latin typeface="IBM Plex Sans"/>
              </a:rPr>
              <a:t>Grants live in the deployment's policy</a:t>
            </a:r>
          </a:p>
          <a:p>
            <a:pPr lvl="1">
              <a:lnSpc>
                <a:spcPct val="120000"/>
              </a:lnSpc>
              <a:spcBef>
                <a:spcPts val="0"/>
              </a:spcBef>
              <a:spcAft>
                <a:spcPts val="0"/>
              </a:spcAft>
            </a:pPr>
            <a:r>
              <a:rPr sz="1550" b="0">
                <a:solidFill>
                  <a:srgbClr val="3E4D50"/>
                </a:solidFill>
                <a:latin typeface="IBM Plex Sans"/>
              </a:rPr>
              <a:t>The console shows them and does not edit them.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0E7C7B"/>
                </a:solidFill>
                <a:latin typeface="IBM Plex Sans"/>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0F1A1C"/>
                </a:solidFill>
                <a:latin typeface="IBM Plex Sans Condensed"/>
              </a:rPr>
              <a:t>From a clone to a changing view, then the whole surface</a:t>
            </a:r>
          </a:p>
        </p:txBody>
      </p:sp>
      <p:sp>
        <p:nvSpPr>
          <p:cNvPr id="6" name="Rectangle 5"/>
          <p:cNvSpPr/>
          <p:nvPr/>
        </p:nvSpPr>
        <p:spPr>
          <a:xfrm>
            <a:off x="777240" y="1233830"/>
            <a:ext cx="10637215" cy="10972"/>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CFDA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5F6E71"/>
                </a:solidFill>
                <a:latin typeface="IBM Plex Sans"/>
              </a:rPr>
              <a:t>Part 11 · What is measured, what is not built,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5F6E71"/>
                </a:solidFill>
                <a:latin typeface="IBM Plex Sans"/>
              </a:rPr>
              <a:t>75</a:t>
            </a:r>
          </a:p>
        </p:txBody>
      </p:sp>
      <p:sp>
        <p:nvSpPr>
          <p:cNvPr id="10" name="Rectangle 9"/>
          <p:cNvSpPr/>
          <p:nvPr/>
        </p:nvSpPr>
        <p:spPr>
          <a:xfrm>
            <a:off x="777240" y="6040526"/>
            <a:ext cx="41148" cy="204825"/>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3E4D50"/>
                </a:solidFill>
                <a:latin typeface="IBM Plex Sans"/>
              </a:rPr>
              <a:t>Ask once. Answer always.</a:t>
            </a:r>
          </a:p>
        </p:txBody>
      </p:sp>
      <p:graphicFrame>
        <p:nvGraphicFramePr>
          <p:cNvPr id="12" name="Table 11"/>
          <p:cNvGraphicFramePr>
            <a:graphicFrameLocks noGrp="1"/>
          </p:cNvGraphicFramePr>
          <p:nvPr/>
        </p:nvGraphicFramePr>
        <p:xfrm>
          <a:off x="777240" y="1361846"/>
          <a:ext cx="10637214" cy="4132981"/>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IBM Plex Sans"/>
                        </a:rPr>
                        <a:t>Read</a:t>
                      </a:r>
                    </a:p>
                  </a:txBody>
                  <a:tcPr marL="82296" marR="64008" marT="32004" marB="32004" anchor="ctr">
                    <a:solidFill>
                      <a:srgbClr val="0A5C5B"/>
                    </a:solidFill>
                  </a:tcPr>
                </a:tc>
                <a:tc>
                  <a:txBody>
                    <a:bodyPr wrap="square"/>
                    <a:lstStyle/>
                    <a:p>
                      <a:r>
                        <a:rPr sz="1300" b="1">
                          <a:solidFill>
                            <a:srgbClr val="FFFFFF"/>
                          </a:solidFill>
                          <a:latin typeface="IBM Plex Sans"/>
                        </a:rPr>
                        <a:t>For</a:t>
                      </a:r>
                    </a:p>
                  </a:txBody>
                  <a:tcPr marL="82296" marR="64008" marT="32004" marB="32004" anchor="ctr">
                    <a:solidFill>
                      <a:srgbClr val="0A5C5B"/>
                    </a:solidFill>
                  </a:tcPr>
                </a:tc>
              </a:tr>
              <a:tr h="363270">
                <a:tc>
                  <a:txBody>
                    <a:bodyPr wrap="square"/>
                    <a:lstStyle/>
                    <a:p>
                      <a:r>
                        <a:rPr sz="1550" b="1">
                          <a:solidFill>
                            <a:srgbClr val="0A5C5B"/>
                          </a:solidFill>
                          <a:latin typeface="IBM Plex Sans"/>
                        </a:rPr>
                        <a:t>docs/QUICKSTART.md</a:t>
                      </a:r>
                    </a:p>
                  </a:txBody>
                  <a:tcPr marL="82296" marR="64008" marT="32004" marB="32004" anchor="ctr">
                    <a:solidFill>
                      <a:srgbClr val="FFFFFF"/>
                    </a:solidFill>
                  </a:tcPr>
                </a:tc>
                <a:tc>
                  <a:txBody>
                    <a:bodyPr wrap="square"/>
                    <a:lstStyle/>
                    <a:p>
                      <a:r>
                        <a:rPr sz="1550" b="0">
                          <a:solidFill>
                            <a:srgbClr val="0F1A1C"/>
                          </a:solidFill>
                          <a:latin typeface="IBM Plex Sans"/>
                        </a:rPr>
                        <a:t>Clone to a running, changing view in about ten minutes</a:t>
                      </a:r>
                    </a:p>
                  </a:txBody>
                  <a:tcPr marL="82296" marR="64008" marT="32004" marB="32004" anchor="ctr">
                    <a:solidFill>
                      <a:srgbClr val="FFFFFF"/>
                    </a:solidFill>
                  </a:tcPr>
                </a:tc>
              </a:tr>
              <a:tr h="616813">
                <a:tc>
                  <a:txBody>
                    <a:bodyPr wrap="square"/>
                    <a:lstStyle/>
                    <a:p>
                      <a:r>
                        <a:rPr sz="1550" b="1">
                          <a:solidFill>
                            <a:srgbClr val="0A5C5B"/>
                          </a:solidFill>
                          <a:latin typeface="IBM Plex Sans"/>
                        </a:rPr>
                        <a:t>docs/CONCEPTS.md</a:t>
                      </a:r>
                    </a:p>
                  </a:txBody>
                  <a:tcPr marL="82296" marR="64008" marT="32004" marB="32004" anchor="ctr">
                    <a:solidFill>
                      <a:srgbClr val="EEF6F5"/>
                    </a:solidFill>
                  </a:tcPr>
                </a:tc>
                <a:tc>
                  <a:txBody>
                    <a:bodyPr wrap="square"/>
                    <a:lstStyle/>
                    <a:p>
                      <a:r>
                        <a:rPr sz="1550" b="0">
                          <a:solidFill>
                            <a:srgbClr val="0F1A1C"/>
                          </a:solidFill>
                          <a:latin typeface="IBM Plex Sans"/>
                        </a:rPr>
                        <a:t>The eight ideas; most surprises are one of them working correctly</a:t>
                      </a:r>
                    </a:p>
                  </a:txBody>
                  <a:tcPr marL="82296" marR="64008" marT="32004" marB="32004" anchor="ctr">
                    <a:solidFill>
                      <a:srgbClr val="EEF6F5"/>
                    </a:solidFill>
                  </a:tcPr>
                </a:tc>
              </a:tr>
              <a:tr h="616813">
                <a:tc>
                  <a:txBody>
                    <a:bodyPr wrap="square"/>
                    <a:lstStyle/>
                    <a:p>
                      <a:r>
                        <a:rPr sz="1550" b="1">
                          <a:solidFill>
                            <a:srgbClr val="0A5C5B"/>
                          </a:solidFill>
                          <a:latin typeface="IBM Plex Sans"/>
                        </a:rPr>
                        <a:t>docs/tutorials/</a:t>
                      </a:r>
                    </a:p>
                  </a:txBody>
                  <a:tcPr marL="82296" marR="64008" marT="32004" marB="32004" anchor="ctr">
                    <a:solidFill>
                      <a:srgbClr val="FFFFFF"/>
                    </a:solidFill>
                  </a:tcPr>
                </a:tc>
                <a:tc>
                  <a:txBody>
                    <a:bodyPr wrap="square"/>
                    <a:lstStyle/>
                    <a:p>
                      <a:r>
                        <a:rPr sz="1550" b="0">
                          <a:solidFill>
                            <a:srgbClr val="0F1A1C"/>
                          </a:solidFill>
                          <a:latin typeface="IBM Plex Sans"/>
                        </a:rPr>
                        <a:t>Four lessons: registering, following, replacing and debugging a query</a:t>
                      </a:r>
                    </a:p>
                  </a:txBody>
                  <a:tcPr marL="82296" marR="64008" marT="32004" marB="32004" anchor="ctr">
                    <a:solidFill>
                      <a:srgbClr val="FFFFFF"/>
                    </a:solidFill>
                  </a:tcPr>
                </a:tc>
              </a:tr>
              <a:tr h="363270">
                <a:tc>
                  <a:txBody>
                    <a:bodyPr wrap="square"/>
                    <a:lstStyle/>
                    <a:p>
                      <a:r>
                        <a:rPr sz="1550" b="1">
                          <a:solidFill>
                            <a:srgbClr val="0A5C5B"/>
                          </a:solidFill>
                          <a:latin typeface="IBM Plex Sans"/>
                        </a:rPr>
                        <a:t>examples/case-studies/</a:t>
                      </a:r>
                    </a:p>
                  </a:txBody>
                  <a:tcPr marL="82296" marR="64008" marT="32004" marB="32004" anchor="ctr">
                    <a:solidFill>
                      <a:srgbClr val="EEF6F5"/>
                    </a:solidFill>
                  </a:tcPr>
                </a:tc>
                <a:tc>
                  <a:txBody>
                    <a:bodyPr wrap="square"/>
                    <a:lstStyle/>
                    <a:p>
                      <a:r>
                        <a:rPr sz="1550" b="0">
                          <a:solidFill>
                            <a:srgbClr val="0F1A1C"/>
                          </a:solidFill>
                          <a:latin typeface="IBM Plex Sans"/>
                        </a:rPr>
                        <a:t>Thirteen worked systems to copy, each checked by the build</a:t>
                      </a:r>
                    </a:p>
                  </a:txBody>
                  <a:tcPr marL="82296" marR="64008" marT="32004" marB="32004" anchor="ctr">
                    <a:solidFill>
                      <a:srgbClr val="EEF6F5"/>
                    </a:solidFill>
                  </a:tcPr>
                </a:tc>
              </a:tr>
              <a:tr h="616813">
                <a:tc>
                  <a:txBody>
                    <a:bodyPr wrap="square"/>
                    <a:lstStyle/>
                    <a:p>
                      <a:r>
                        <a:rPr sz="1550" b="1">
                          <a:solidFill>
                            <a:srgbClr val="0A5C5B"/>
                          </a:solidFill>
                          <a:latin typeface="IBM Plex Sans"/>
                        </a:rPr>
                        <a:t>docs/CONTINUOUS_QUERIES.md</a:t>
                      </a:r>
                    </a:p>
                  </a:txBody>
                  <a:tcPr marL="82296" marR="64008" marT="32004" marB="32004" anchor="ctr">
                    <a:solidFill>
                      <a:srgbClr val="FFFFFF"/>
                    </a:solidFill>
                  </a:tcPr>
                </a:tc>
                <a:tc>
                  <a:txBody>
                    <a:bodyPr wrap="square"/>
                    <a:lstStyle/>
                    <a:p>
                      <a:r>
                        <a:rPr sz="1550" b="0">
                          <a:solidFill>
                            <a:srgbClr val="0F1A1C"/>
                          </a:solidFill>
                          <a:latin typeface="IBM Plex Sans"/>
                        </a:rPr>
                        <a:t>Streams, sources, registration, reading, and every SQL construct that works or is refused</a:t>
                      </a:r>
                    </a:p>
                  </a:txBody>
                  <a:tcPr marL="82296" marR="64008" marT="32004" marB="32004" anchor="ctr">
                    <a:solidFill>
                      <a:srgbClr val="FFFFFF"/>
                    </a:solidFill>
                  </a:tcPr>
                </a:tc>
              </a:tr>
              <a:tr h="616813">
                <a:tc>
                  <a:txBody>
                    <a:bodyPr wrap="square"/>
                    <a:lstStyle/>
                    <a:p>
                      <a:r>
                        <a:rPr sz="1550" b="1">
                          <a:solidFill>
                            <a:srgbClr val="0A5C5B"/>
                          </a:solidFill>
                          <a:latin typeface="IBM Plex Sans"/>
                        </a:rPr>
                        <a:t>docs/OPERATIONS.md · SECURITY.md</a:t>
                      </a:r>
                    </a:p>
                  </a:txBody>
                  <a:tcPr marL="82296" marR="64008" marT="32004" marB="32004" anchor="ctr">
                    <a:solidFill>
                      <a:srgbClr val="EEF6F5"/>
                    </a:solidFill>
                  </a:tcPr>
                </a:tc>
                <a:tc>
                  <a:txBody>
                    <a:bodyPr wrap="square"/>
                    <a:lstStyle/>
                    <a:p>
                      <a:r>
                        <a:rPr sz="1550" b="0">
                          <a:solidFill>
                            <a:srgbClr val="0F1A1C"/>
                          </a:solidFill>
                          <a:latin typeface="IBM Plex Sans"/>
                        </a:rPr>
                        <a:t>Sizing, lanes, recovery, what to watch; authentication, authorization, audit</a:t>
                      </a:r>
                    </a:p>
                  </a:txBody>
                  <a:tcPr marL="82296" marR="64008" marT="32004" marB="32004" anchor="ctr">
                    <a:solidFill>
                      <a:srgbClr val="EEF6F5"/>
                    </a:solidFill>
                  </a:tcPr>
                </a:tc>
              </a:tr>
              <a:tr h="616813">
                <a:tc>
                  <a:txBody>
                    <a:bodyPr wrap="square"/>
                    <a:lstStyle/>
                    <a:p>
                      <a:r>
                        <a:rPr sz="1550" b="1">
                          <a:solidFill>
                            <a:srgbClr val="0A5C5B"/>
                          </a:solidFill>
                          <a:latin typeface="IBM Plex Sans"/>
                        </a:rPr>
                        <a:t>docs/adr/</a:t>
                      </a:r>
                    </a:p>
                  </a:txBody>
                  <a:tcPr marL="82296" marR="64008" marT="32004" marB="32004" anchor="ctr">
                    <a:solidFill>
                      <a:srgbClr val="FFFFFF"/>
                    </a:solidFill>
                  </a:tcPr>
                </a:tc>
                <a:tc>
                  <a:txBody>
                    <a:bodyPr wrap="square"/>
                    <a:lstStyle/>
                    <a:p>
                      <a:r>
                        <a:rPr sz="1550" b="0">
                          <a:solidFill>
                            <a:srgbClr val="0F1A1C"/>
                          </a:solidFill>
                          <a:latin typeface="IBM Plex Sans"/>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2026-09-28T12:00:00Z</dcterms:created>
  <dcterms:modified xsi:type="dcterms:W3CDTF">2026-09-28T12:00:00Z</dcterms:modified>
  <cp:category/>
</cp:coreProperties>
</file>