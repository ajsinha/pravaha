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21 or later, tested on 21 and 25); brand/README.md (the slogan and 'Continuous SQL where your data already lives'); docs/project/RELEASE_NOTES.md '2.4.1 — 2026-10-06'; docs/operations/COMPATIBILITY.md (2.x is a one-node line).</a:t>
            </a:r>
          </a:p>
          <a:p/>
          <a:p>
            <a:r>
              <a:t>Talk track: Pravaha is Sanskrit for continuous, uninterrupted flow. The promise is on the slide: you ask a question once, as SQL, and the engine keeps the answer current for as long as you need it — over the databases you already run. Five acts: the idea, the product, security, the evidence, and where it is going.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and §4 (computation not request; weights); README.md 'What it is', 'Sources', 'What works', 'What is not built'; docs/project/RELEASE_NOTES.md 'Unreleased' register line (582 findings — 563 fixed, 0 open); docs/development/REMAINING.md 'What is genuinely left'; examples/case-studies/*/README.md (batch and polling).</a:t>
            </a:r>
          </a:p>
          <a:p/>
          <a:p>
            <a:r>
              <a:t>Talk track: If you remember one slide, make it this one. Five questions, five short answers. The rest of the deck earns each answer: the idea first, because the category is less familiar than the product, then the product, then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README.md 'What it is'.</a:t>
            </a:r>
          </a:p>
          <a:p/>
          <a:p>
            <a:r>
              <a:t>Talk track: Before Pravaha, the category. Most people have met materialised views and stream processors; fewer have met an engine whose whole job is to keep the answers to registered SQL current, and to serve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(registering expensive, querying cheap, a hash probe), §2–§4 (event time, watermarks, weights); README.md 'What it is' (registered by name with key columns; +1 / −1).</a:t>
            </a:r>
          </a:p>
          <a:p/>
          <a:p>
            <a:r>
              <a:t>Talk track: Define the words once. A continuous query is registered, not asked. Its answer is a view the engine keeps current by applying deltas. You then read it by key, or subscribe to its changes. Time is the data's time, so the same input gives the same answer however fast it arrives.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lakehouse-orders-iceberg/README.md, retail-inventory-mysql/README.md (problem statements, quoted).</a:t>
            </a:r>
          </a:p>
          <a:p/>
          <a:p>
            <a:r>
              <a:t>Talk track: These are quotations from the worked systems in the repository, not invented customers. Batch is late by construction. Polling buys freshness by reading everything again, and still cannot see what happened between two polls.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'The landscape' (dataflow SQL engines 'compute and write: the answer goes to a sink, and reading it means running another store') and 'Serving its own results', 'Store-native pushdown', 'Sharing identical queries'; README.md 'What it is' (the result needs no second database to live in).</a:t>
            </a:r>
          </a:p>
          <a:p/>
          <a:p>
            <a:r>
              <a:t>Talk track: The top row is the usual arrangement: every question gets a job, the job writes to a sink, and something else has to serve the result. The bottom row is the arrangement this category offers: one engine reads the stores where they are, keeps the answer, and serves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§1–§10 (one principle per section, in its order).</a:t>
            </a:r>
          </a:p>
          <a:p/>
          <a:p>
            <a:r>
              <a:t>Talk track: These ten come straight from the concepts guide, one per section. Most surprises a new user meets are one of these working correctly — a window that has not closed because the watermark has not passed, or a filter refused because the view aggregated its column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'The landscape' (the seven families, their examples and limits, and the closing pattern, quoted) and 'Disclaimer' (categories, not vendors; no product measured). No quotation from a person is used: the repository cites none.</a:t>
            </a:r>
          </a:p>
          <a:p/>
          <a:p>
            <a:r>
              <a:t>Talk track: Instead of quotes from industry figures — the repository cites none, and we do not invent them — here is the field as the competitive landscape describes it, by category, not vendor. Every family is good at what it does; the gap is the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and §2–§3; docs/guides/CONCEPTS.md §2–§4, §8; docs/design/EXECUTION_MODEL.md §1 (lane); README.md 'Sinks', 'Serving', 'Lanes' (subscribeFromSnapshot, snapshot=True).</a:t>
            </a:r>
          </a:p>
          <a:p/>
          <a:p>
            <a:r>
              <a:t>Talk track: Eight words, and every later slide uses only these. A stream is bound to a source; a continuous query reads streams; its answer is a keyed view; event time and the watermark decide when windows close; every change carries a weight and arrives per commit; a lane runs it; a sink receives it; a subscription follows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docs/design/ARCHITECTURE.md §1 'The system in one picture' and §2 (layers; plugin table); README.md 'What works' (SQL, Sources, Serving, Sinks, Governed catalogue).</a:t>
            </a:r>
          </a:p>
          <a:p/>
          <a:p>
            <a:r>
              <a:t>Talk track: Left, the stores Pravaha reads where they are. Middle, the engine: plan once, run on lanes, keep state off-heap, checkpoint everything at one cut, and govern every read. Right, the four ways an application takes the answer: the SDKs over Flight SQL, any PostgreSQL client, the console and CLI, and sinks.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§2–§3 (declaring, registering); docs/guides/USER_GUIDE.md 'Subscribing to a registered query', 'Surviving a restart: reconnect'; README.md 'Blue/green replacement' (ADR-046), 'Observability', 'Alerts', 'Time-travel debugger'; pravaha-console/content/topics/cli-reference.md 'Doctor', 'Top'.</a:t>
            </a:r>
          </a:p>
          <a:p/>
          <a:p>
            <a:r>
              <a:t>Talk track: This is the whole user journey. Declare, register, read or subscribe, change safely, operate. Step four is where most systems cut over at a moment and silently lose or double count; Pravaha meets the running version at a 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a:p/>
          <a:p>
            <a:r>
              <a:t>Talk track: One real statement, from the README, run by an integration test against a real Aerospike. Note the filter: it is evaluated inside the store, so the engine never reads the rows it would throw away.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docs/guides/USER_GUIDE.md 'Subscribing to a registered query' (per commit); examples/case-studies/manufacturing-sensor-anomalies/README.md step 5 (snapshot and commit lines, columns trimmed).</a:t>
            </a:r>
          </a:p>
          <a:p/>
          <a:p>
            <a:r>
              <a:t>Talk track: This is incremental maintenance in one picture. The window had closed with six readings; a late seventh arrives inside the allowed lateness; the old row is withdrawn and the new one inserted, in one commit.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'What the rows have in common'; docs/guides/CONCEPTS.md §1, §5; README.md 'Serving', 'Recovery', 'Governed catalogue'; docs/design/adr/008, 046, 050, 054, 059.</a:t>
            </a:r>
          </a:p>
          <a:p/>
          <a:p>
            <a:r>
              <a:t>Talk track: Each benefit on the left names the mechanism that holds it on the right, so none of them is a slogan. That ends the idea. Next: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'2.4.0 — 2026-10-05', '2.4.1 — 2026-10-06'.</a:t>
            </a:r>
          </a:p>
          <a:p/>
          <a:p>
            <a:r>
              <a:t>Talk track: Now the product itself, as it stands in the 2.4 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'Building' (module list, checked by DocumentationFreshnessTest; plugin list), 'What works' (SQL, Serving), 'What is not built' (PRV-9002); docs/guides/TROUBLESHOOTING.md 'Every code' (291 rows, held to the declared codes by a test); docs/development/TESTING.md 'Where the numbers come from' (5,112 tests, 0 failures, 0 errors, 122 skipped); docs/project/gates/measured-2026-09-20/README.md (Nexmark 12 of 23); docs/project/qa/FINDINGS.md header (582, 563, 0).</a:t>
            </a:r>
          </a:p>
          <a:p/>
          <a:p>
            <a:r>
              <a:t>Talk track: Four numbers, each with a file behind it. Twenty-six modules, ten connector plugins, 291 error codes each documented, and the full build's 5,112 tests. Below them: what SQL runs, how you reach it, and the register — every finding ever recorded, and none open.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docs/publications/COMPETITIVE_LANDSCAPE.md 'Where Pravaha shines, and how' (Serving its own results; Refusing unbounded state at plan time; Blue/green replacement with backfill; A governed catalogue of live answers; Store-native pushdown; Native change data capture; Time-travel debugging); README.md 'What works'; docs/design/adr/041, 046, 048, 059.</a:t>
            </a:r>
          </a:p>
          <a:p/>
          <a:p>
            <a:r>
              <a:t>Talk track: Six claims, each one a row the competitive landscape scores Yes for Pravaha and holds to a decision record or test. If an audience asks why not Flink or a streaming database, these six are the answer — and the landscape is equally plain about where those win.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docs/design/ARCHITECTURE.md §1 (ways to run it); docs/operations/RUNNING_IN_DOCKER.md 'One root: PRAVAHA_HOME'; docs/project/RELEASE_NOTES.md '2.3.0' (eclipse-temurin:21-jre); docs/design/adr/019-spring-free-engine-core.md.</a:t>
            </a:r>
          </a:p>
          <a:p/>
          <a:p>
            <a:r>
              <a:t>Talk track: The same engine three ways: a library in a plain Java process, a bean in a Spring Boot application, or a server with an image and a Helm chart. Whichever you pick, it lives in one directory.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(thirteen screenshots and captions); docs/project/RELEASE_NOTES.md '2.4.0' ('About this page' on every page) and 'Unreleased' (the console on a phone at 360 and 390 px; listens on 0.0.0.0, sign-in required); README.md 'How it is built' (the console is a separate process on the SDK, ADR-024).</a:t>
            </a:r>
          </a:p>
          <a:p/>
          <a:p>
            <a:r>
              <a:t>Talk track: Thirteen screens in the documentation, each with one job. The next slides show them as they are: these are real screenshots of the real console, driven over the test suite's fake engine, which is why the names are big_txn and hot.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docs/operations/OPERATIONS.md 'Watching a running node'.</a:t>
            </a:r>
          </a:p>
          <a:p/>
          <a:p>
            <a:r>
              <a:t>Talk track: The operator's screen. It does not show every metric; it reads them into a verdict. Here two problems: one query near its state ceiling, and one that cannot be fed fast enough.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'The assistant' (ADR-058).</a:t>
            </a:r>
          </a:p>
          <a:p/>
          <a:p>
            <a:r>
              <a:t>Talk track: The analyst's screen. The streams on the left, the editor in the middle, and the output schema from the engine's planner underneath. Describe it is the assistant — experimental, and the engine judges every draft.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a:t>
            </a:r>
          </a:p>
          <a:p/>
          <a:p>
            <a:r>
              <a:t>Talk track: Left, everything about one registered query on one page, including a sink that failed and was detached while the query kept running. Right, the developer's view: a point read and the client code to paste.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'Blue/green replacement' (ADR-046).</a:t>
            </a:r>
          </a:p>
          <a:p/>
          <a:p>
            <a:r>
              <a:t>Talk track: Live shows the weights from act one, on screen. Replacement is blue/green: the new version replays, catches up to the running one's position, and only then takes the name.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README.md 'Time-travel debugger' (ADR-048), 'Governed catalogue' (ADR-059).</a:t>
            </a:r>
          </a:p>
          <a:p/>
          <a:p>
            <a:r>
              <a:t>Talk track: The debugger is a second computation nobody can read: the live query never notices. The catalogue answers the governance question — what exists, who owns it, and what reads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docs/design/architecture/console-screens.md (the screens and their captions); the images are docs/assets/screenshots/*.png, made by pravaha-console/tools/docs_screenshots.py with the real console in real Chrome over the fake engine the product tests use, so names and numbers are the fake's (big_txn, hot); docs/operations/SECURITY.md 'The console acts as the person signed in'.</a:t>
            </a:r>
          </a:p>
          <a:p/>
          <a:p>
            <a:r>
              <a:t>Talk track: The console holds no credential of its own; it acts as the person signed in, and the engine authorises every action. Help carries every guide and every code, so an operator never leaves the console during an incident.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'Doctor' (the captured block, lines trimmed with …) and 'Captured output'; docs/project/RELEASE_NOTES.md '2.4.0' (pravaha doctor).</a:t>
            </a:r>
          </a:p>
          <a:p/>
          <a:p>
            <a:r>
              <a:t>Talk track: New in 2.4. The first thing to run on a new machine or when a call fails: it walks the whole path from Python to the node and tells you the fix. The output is captured from a real node by a tool, and a test fails if the documentation drifts from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'Contexts' (the commands) and 'Dry runs'; the drop block is the captured 'drop-dry-run' output, owner, fingerprint and sink lines trimmed and the effect lines wrapped for the slide; docs/project/RELEASE_NOTES.md '2.4.0'.</a:t>
            </a:r>
          </a:p>
          <a:p/>
          <a:p>
            <a:r>
              <a:t>Talk track: Two habits from mature tools. Contexts save a connection by name. Dry run makes every destructive command show what it would touch — sharing, dependants, subscribers — and change nothing.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pravaha-console/content/topics/cli-reference.md 'Top' (captured 'top-once', columns after ROWS/S trimmed), 'Starting a project', 'A connector project', 'Exit codes'; docs/project/RELEASE_NOTES.md '2.4.0' (test_cli_init.py; the TCK passes).</a:t>
            </a:r>
          </a:p>
          <a:p/>
          <a:p>
            <a:r>
              <a:t>Talk track: The rest of the 2.4 command line. top is the node's queries live. init writes a project that runs as generated, and plugin new a connector whose test kit passes before you write a 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docs/design/ARCHITECTURE.md §2 plugin table (which plugin registers which names); README.md 'Sources', 'Sinks'; docs/guides/CONNECTORS.md §1; docs/design/adr/041-change-data-capture-without-debezium.md.</a:t>
            </a:r>
          </a:p>
          <a:p/>
          <a:p>
            <a:r>
              <a:t>Talk track: Only what is in the plugins directory. Nine sources, six sinks, two lookups across ten plugins, and each says what it can promise. A transactional sink commits with the checkpoint, so it is exactly once.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'Serving', 'BI tools'; docs/project/RELEASE_NOTES.md '1.0.0' (SDKSTANDALONE-1; the -all jar); docs/operations/SECURITY.md 'Transport'; docs/development/TESTING.md 'The SDKs on their own'.</a:t>
            </a:r>
          </a:p>
          <a:p/>
          <a:p>
            <a:r>
              <a:t>Talk track: The SDKs ship and run without the server — a test makes sure of it. And because the gateway speaks PostgreSQL, a BI tool reads a live view as if it were a table, under the same security.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'2.2.0' (SDK deadline, PRV-1045).</a:t>
            </a:r>
          </a:p>
          <a:p/>
          <a:p>
            <a:r>
              <a:t>Talk track: What an application developer writes. Subscribe from a snapshot with reconnect on, and a node restart costs you nothing: you get a fresh snapshot and carry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docs/design/adr/031, 052, 059.</a:t>
            </a:r>
          </a:p>
          <a:p/>
          <a:p>
            <a:r>
              <a:t>Talk track: Security is easiest to trust when you can follow it. This act draws each flow as the steps it takes, with the code each refusal carries.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three seams', 'Authorization is enforced here, not in the store'; docs/design/adr/031-authorization-at-the-pravaha-layer.md 'Why it cannot be delegated to the store'.</a:t>
            </a:r>
          </a:p>
          <a:p/>
          <a:p>
            <a:r>
              <a:t>Talk track: Three seams, kept apart so you can bring your own identity provider without rewriting the rules. And the reason the engine enforces it rather than the database: the answer is something the database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console acts as the person signed in' (login endpoint, opaque id, cookie flags, CSRF, headers, LOGOUTREPLAY-1), 'Users, passwords, API keys and sessions (ADR-052)' (Argon2id, sessions 30 min idle, 12 h, lockout LOCKENUM-1, SSO and MFA not built); docs/guides/TROUBLESHOOTING.md (PRV-7010).</a:t>
            </a:r>
          </a:p>
          <a:p/>
          <a:p>
            <a:r>
              <a:t>Talk track: Follow the numbers. The console never holds a credential of its own: it signs you in against the engine and keeps only the session token, in its own memory. Your browser gets an opaque id. From then on the engine checks and records every action as you.</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'Users, passwords, API keys and sessions (ADR-052)' (key format, shown once, roles subset, expiry, 7-day rotation, revocation reaches open connections: Flight every two seconds, pgwire every statement, PRV-6218), 'Transport' (SDKs refuse a token over plaintext); pravaha-console/content/topics/cli-reference.md 'Identity' (pravaha key create &lt;name&gt; --days N, revoke &lt;keyId&gt;); docs/project/RELEASE_NOTES.md '2.4.0' (J21-1: PRV-7001 on every surface).</a:t>
            </a:r>
          </a:p>
          <a:p/>
          <a:p>
            <a:r>
              <a:t>Talk track: Automation uses keys, not passwords. Note step three: a long-lived connection does not get to keep reading after the key is revoked. That was a real defect in 2.0.0, found by the adversarial round, and fixed.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'The three seams', 'Row filters, and the rule that bounds them', 'Tenants', 'What a registration is allowed to read', 'Row filters and masks as catalogue objects'; docs/guides/CONCEPTS.md §6 (the soundness rule); docs/guides/TROUBLESHOOTING.md (PRV-7001, 7002, 7003, 7006); docs/design/adr/059 'Phase 1, as built' (mid-stream revocation every two seconds).</a:t>
            </a:r>
          </a:p>
          <a:p/>
          <a:p>
            <a:r>
              <a:t>Talk track: This is the one path every read takes, whatever protocol it arrives on. Step five is the soundness rule from the principles: if the query aggregated the filter's column away, the engine cannot separate the rows any more, so it refuses rather than guess.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'Audit' (allows as well as denials; one sink, both transports, CFG-5; audit: file, CFG-23; AUDITROTATE-1: audit.lost, DEGRADED, pravaha_audit_failing; audit.dropped) and 'Reading the audit trail: GET /api/v1/audit'; 'Users, passwords, API keys and sessions' (sign-ins are audit events).</a:t>
            </a:r>
          </a:p>
          <a:p/>
          <a:p>
            <a:r>
              <a:t>Talk track: The trail records what was allowed as well as what was refused, because the question an auditor asks is who read something. And when the trail cannot be written, the node says so loudly instead of carrying on with a gap.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'Users, passwords, API keys and sessions (ADR-052)' (the credentials table, lockout, PRV-7019, the CLI commands); docs/design/adr/052-the-engine-is-the-identity-authority.md (journal store).</a:t>
            </a:r>
          </a:p>
          <a:p/>
          <a:p>
            <a:r>
              <a:t>Talk track: Pravaha is its own identity authority. Nothing is stored that could be turned back into a secret. And the default admin password cannot reach production: the node refuses to start with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README.md 'Governed catalogue' (nine privileges, inherited, SHOW EFFECTIVE ACCESS); docs/project/RELEASE_NOTES.md '1.0.0' (PRV-7006; TAUTOFILTER-1) and commit af5ee635 (VACUITYGAP-1).</a:t>
            </a:r>
          </a:p>
          <a:p/>
          <a:p>
            <a:r>
              <a:t>Talk track: Policies are objects in the catalogue: bind a row filter to a stream, a mask to a tag, and every path a row can leave by applies them. A filter that would let everything through is refused, because it would only look like security.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(P-3 --insecure-token; PGTLSONLY-1, PRV-6221; CERTEXP-1, PRV-6104, PRV-6206, 30-day WARN; MTLSDOC-1; server.ssl.*); pravaha-console/content/topics/cli-reference.md 'Doctor' (tls checks); README.md 'Sources' (CONNECTOR_TLS.md); docs/project/RELEASE_NOTES.md 'Unreleased' (console on 0.0.0.0, TLS terminator).</a:t>
            </a:r>
          </a:p>
          <a:p/>
          <a:p>
            <a:r>
              <a:t>Talk track: Encryption is the default and plaintext is a decision someone has to type. The last bullet is deliberately candid: where TLS is somebody else's job, the documentation says whose.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 docs/project/qa/FINDINGS.md; docs/development/TESTING.md; docs/operations/COMPATIBILITY.md.</a:t>
            </a:r>
          </a:p>
          <a:p/>
          <a:p>
            <a:r>
              <a:t>Talk track: Claims are cheap. Each slide in this act carries one number, where it came from, and what it does not mean.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docs/guides/TROUBLESHOOTING.md 'Every code' (291 rows, counted by range); pravaha-it/.../ErrorCodeUniquenessTest.java (one meaning per code, ranges by thousand); README.md 'Documentation' (the code table must match the declared codes in both directions); pravaha-console/content/topics/cli-reference.md captured 'validate-refused' (wrapped, one sentence elided with …).</a:t>
            </a:r>
          </a:p>
          <a:p/>
          <a:p>
            <a:r>
              <a:t>Talk track: Every refusal carries a code, and every code has a page: what it means and what to change. The panel is a real refusal, captured from a node: an unbounded GROUP BY refused at registration, with the fix in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docs/project/gates/measured-2026-10-04-jdk21/README.md (both tables, the machine, JDKs, load, verdict, 'What these numbers are not'); benchmarks/baselines/*-jdk21-2026-10.json.</a:t>
            </a:r>
          </a:p>
          <a:p/>
          <a:p>
            <a:r>
              <a:t>Talk track: From 2.3, Pravaha runs on Java 21 or later, so one jar can be measured on both. The generated path — the one a node actually runs — is level. Every figure says the machine and the load it was taken at, and none of them is a capability claim.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docs/project/gates/measured-2026-10-04-jdk25/README.md (Gate P2: all thirty passes above, verdict REACHED; P3; scaling 32–37 %); docs/project/gates/measured-2026-09-20/README.md (JDK 21 figures; machineScalingReference 50–55 %; W5); docs/design/adr/042-the-throughput-bar-is-the-requirement.md; README.md 'Not yet proven'.</a:t>
            </a:r>
          </a:p>
          <a:p/>
          <a:p>
            <a:r>
              <a:t>Talk track: Two gates reached, two not, and the slide says which. Scaling across eight lanes reaches about a third of linear on this laptop — and the laptop's own ceiling for perfectly independent work is about half, so better hardware is needed before anyone can call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(200 queries add 24 platform threads on 24 cores; about 1 MiB off-heap per idle query; 1,000 queries over one source on 8 lanes, each row written 8 times), 'Lanes' (64, auto, dedicated, rebalance), 'State'; docs/design/adr/036-one-node-thousands-of-queries.md.</a:t>
            </a:r>
          </a:p>
          <a:p/>
          <a:p>
            <a:r>
              <a:t>Talk track: The engine is built to hold many registered questions on one machine. Threads follow the cores, not the query count, and lane sharing means a thousand queries over one source write each row eight times, not a thousand.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a:p/>
          <a:p>
            <a:r>
              <a:t>Talk track: Nexmark is the standard streaming benchmark. Twelve of its queries run; five are refused deliberately because their state is unbounded; the rest need SQL that is not built yet.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what held); docs/project/qa/logs/ADV-ENGINE.md (differential volume; 19 SIGKILLs); docs/project/qa/cases/ADV-ENGINE.md (stance); docs/development/TESTING.md (the whole reactor on 25, 2026-10-01: 4,832 tests, 0 failures).</a:t>
            </a:r>
          </a:p>
          <a:p/>
          <a:p>
            <a:r>
              <a:t>Talk track: After 2.0.0 shipped, a round of testing was written specifically to break its promises. It found forty-six defects in a release whose ordinary build was green. All fifty findings were fixed within a day, each with its reproduction kept as a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(FIXED).</a:t>
            </a:r>
          </a:p>
          <a:p/>
          <a:p>
            <a:r>
              <a:t>Talk track: The ten worst, by name. Two families stand out: answers at the edge of the value domain, and what an unauthenticated stranger could make a node hold. Every one is fixed and has a test.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(582 findings carrying a status — 563 FIXED, 0 OPEN, 10 BY DESIGN, 9 SUPERSEDED; 0 GA-BLOCKER, 0 GA-REQUIRED, 0 POST-GA; FindingsRegisterTest) and 'The commonest defect in this register'; docs/project/RELEASE_NOTES.md '2.4.0' (ADV-JDK21: J21-1 to J21-3 fixed, four open) and '2.4.1' (J21-4 to J21-7 fixed).</a:t>
            </a:r>
          </a:p>
          <a:p/>
          <a:p>
            <a:r>
              <a:t>Talk track: Every defect ever found is in one file, with what happened to it. Today none is open. The takeaway is the honest one: zero open describes what we have looked for so far.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'2.3.0' (Java 21 or later; CI 21/25 matrix; ReentrantLock; tracePinnedThreads; temurin:21-jre; ZGC caveat) and '2.4.0' (enforce-java-21-bytecode; 42 jars, about 128,600 classes); docs/design/adr/062-java-21-or-later.md; docs/operations/COMPATIBILITY.md 'Java 21 or later'.</a:t>
            </a:r>
          </a:p>
          <a:p/>
          <a:p>
            <a:r>
              <a:t>Talk track: 2.0 required Java 25; 2.3 brought the floor back to 21 so it runs where production runs. The build now guarantees it, down to every library inside the jar.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(5,112 tests, 0 failures, 0 errors, 122 skipped; SDK 432 and console 1,957 collected on 2026-10-02) and 'The tiers at a glance' (960; 211 container tests across 6 plugins and 3 in pravaha-it; adversarial 110 and 21; four standalone clients; axe); docs/project/RELEASE_NOTES.md '1.0.0' (PERF-1).</a:t>
            </a:r>
          </a:p>
          <a:p/>
          <a:p>
            <a:r>
              <a:t>Talk track: The number in the title is the full build. Around it: integration against real nodes, every connector against its real store in containers, the adversarial suites, and the SDKs built and run from outside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(Stable in 2.x; Experimental; Java 21 or later; a patch changes an answer only where the old behaviour was the defect).</a:t>
            </a:r>
          </a:p>
          <a:p/>
          <a:p>
            <a:r>
              <a:t>Talk track: The promise a user can plan around. What is stable is listed, what is experimental is labelled, and a patch only changes an answer when the old answer was wrong.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docs/development/REMAINING.md 'What is genuinely left (2026-10-02)'; README.md 'Roadmap'.</a:t>
            </a:r>
          </a:p>
          <a:p/>
          <a:p>
            <a:r>
              <a:t>Talk track: Finally, the road ahead — only what the repository's own plan says.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docs/development/REMAINING.md 'What is genuinely left (2026-10-02)' (the table) and the 'Done, 2026-09-27' paragraph; README.md 'Roadmap' (wave 11 not started — on hold), 'What is not built, or not finished'; docs/design/adr/045-cluster-mode-assigns-queries-not-rows.md.</a:t>
            </a:r>
          </a:p>
          <a:p/>
          <a:p>
            <a:r>
              <a:t>Talk track: Nothing here is a promise of a date. Cluster mode is designed and partly built as libraries, and on hold by decision. The rest are named follow-ups and one audit only a person can do.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(sections 1–10); examples/case-studies/README.md (thirteen studies; CaseStudyRunTest); pravaha-console/content/topics/cli-reference.md 'Starting a project'.</a:t>
            </a:r>
          </a:p>
          <a:p/>
          <a:p>
            <a:r>
              <a:t>Talk track: If this was interesting, here is the order to read in: the quick start, then the concepts, then a case study close to your own problem.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brand/README.md (the slogan and line); README.md (author).</a:t>
            </a:r>
          </a:p>
          <a:p/>
          <a:p>
            <a:r>
              <a:t>Talk track: Thank you. Questions — and if there is time, a live demo from pravaha init to a changing 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400" b="1" i="0">
                <a:solidFill>
                  <a:srgbClr val="FFFFFF"/>
                </a:solidFill>
                <a:latin typeface="Source Sans 3"/>
              </a:rPr>
              <a:t>Pravaha</a:t>
            </a:r>
          </a:p>
          <a:p>
            <a:pPr>
              <a:lnSpc>
                <a:spcPct val="108000"/>
              </a:lnSpc>
              <a:spcBef>
                <a:spcPts val="0"/>
              </a:spcBef>
              <a:spcAft>
                <a:spcPts val="0"/>
              </a:spcAft>
            </a:pPr>
            <a:r>
              <a:rPr sz="3400" b="1" i="0">
                <a:solidFill>
                  <a:srgbClr val="FFFFFF"/>
                </a:solidFill>
                <a:latin typeface="Source Sans 3"/>
              </a:rPr>
              <a:t>Continuous SQL where your data already lives</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October 2026</a:t>
            </a:r>
          </a:p>
          <a:p>
            <a:pPr>
              <a:lnSpc>
                <a:spcPct val="120000"/>
              </a:lnSpc>
              <a:spcBef>
                <a:spcPts val="0"/>
              </a:spcBef>
              <a:spcAft>
                <a:spcPts val="0"/>
              </a:spcAft>
            </a:pPr>
            <a:r>
              <a:rPr sz="1100" b="0" i="0">
                <a:solidFill>
                  <a:srgbClr val="4A5058"/>
                </a:solidFill>
                <a:latin typeface="Source Sans 3"/>
              </a:rPr>
              <a:t>Release 2.4 · one node · Java 21 or later, tested on 21 and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The idea: continuous SQL</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Pravaha 2.4: the product</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Security, drawn as flows</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Evidence, by the numbers</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Where it is going</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TL;DR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Executive summary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410919"/>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1410919"/>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158143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is continuous SQL?</a:t>
            </a:r>
          </a:p>
        </p:txBody>
      </p:sp>
      <p:sp>
        <p:nvSpPr>
          <p:cNvPr id="14" name="TextBox 13"/>
          <p:cNvSpPr txBox="1"/>
          <p:nvPr/>
        </p:nvSpPr>
        <p:spPr>
          <a:xfrm>
            <a:off x="3703320" y="1515861"/>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300" b="0" i="0">
                <a:solidFill>
                  <a:srgbClr val="1A1A1A"/>
                </a:solidFill>
                <a:latin typeface="Source Sans 3"/>
              </a:rPr>
              <a:t>A SQL question registered once whose answer the engine keeps current as data changes — incremental view maintenance: each change is applied as a +1 or −1, never a recompute, so reading the answer is a lookup by key, not a scan.</a:t>
            </a:r>
          </a:p>
        </p:txBody>
      </p:sp>
      <p:sp>
        <p:nvSpPr>
          <p:cNvPr id="15" name="Rectangle 14"/>
          <p:cNvSpPr/>
          <p:nvPr/>
        </p:nvSpPr>
        <p:spPr>
          <a:xfrm>
            <a:off x="777240" y="240340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40340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240340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704785"/>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is Pravaha?</a:t>
            </a:r>
          </a:p>
        </p:txBody>
      </p:sp>
      <p:sp>
        <p:nvSpPr>
          <p:cNvPr id="19" name="TextBox 18"/>
          <p:cNvSpPr txBox="1"/>
          <p:nvPr/>
        </p:nvSpPr>
        <p:spPr>
          <a:xfrm>
            <a:off x="3703320" y="2533528"/>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200" b="0" i="0">
                <a:solidFill>
                  <a:srgbClr val="1A1A1A"/>
                </a:solidFill>
                <a:latin typeface="Source Sans 3"/>
              </a:rPr>
              <a:t>An embeddable, store-native engine that runs continuous SQL over Kafka, PostgreSQL and MySQL change logs, any JDBC database, Aerospike, Cassandra, files and Delta tables — and serves each answer back itself, so it needs no second database.</a:t>
            </a:r>
          </a:p>
        </p:txBody>
      </p:sp>
      <p:sp>
        <p:nvSpPr>
          <p:cNvPr id="20" name="Rectangle 19"/>
          <p:cNvSpPr/>
          <p:nvPr/>
        </p:nvSpPr>
        <p:spPr>
          <a:xfrm>
            <a:off x="777240" y="339589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39589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39589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6641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Why does it matter?</a:t>
            </a:r>
          </a:p>
        </p:txBody>
      </p:sp>
      <p:sp>
        <p:nvSpPr>
          <p:cNvPr id="24" name="TextBox 23"/>
          <p:cNvSpPr txBox="1"/>
          <p:nvPr/>
        </p:nvSpPr>
        <p:spPr>
          <a:xfrm>
            <a:off x="3703320" y="3475664"/>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400" b="0" i="0">
                <a:solidFill>
                  <a:srgbClr val="1A1A1A"/>
                </a:solidFill>
                <a:latin typeface="Source Sans 3"/>
              </a:rPr>
              <a:t>A batch answer is as old as its last run, and polling re-reads everything to stay fresh. A maintained answer is current when someone acts on it, and is governed where it lives.</a:t>
            </a:r>
          </a:p>
        </p:txBody>
      </p:sp>
      <p:sp>
        <p:nvSpPr>
          <p:cNvPr id="25" name="Rectangle 24"/>
          <p:cNvSpPr/>
          <p:nvPr/>
        </p:nvSpPr>
        <p:spPr>
          <a:xfrm>
            <a:off x="777240" y="438838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38838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38838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558903"/>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What can it do today?</a:t>
            </a:r>
          </a:p>
        </p:txBody>
      </p:sp>
      <p:sp>
        <p:nvSpPr>
          <p:cNvPr id="29" name="TextBox 28"/>
          <p:cNvSpPr txBox="1"/>
          <p:nvPr/>
        </p:nvSpPr>
        <p:spPr>
          <a:xfrm>
            <a:off x="3703320" y="4493331"/>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300" b="0" i="0">
                <a:solidFill>
                  <a:srgbClr val="1A1A1A"/>
                </a:solidFill>
                <a:latin typeface="Source Sans 3"/>
              </a:rPr>
              <a:t>Release 2.4 on one node, Java 21 or later: windows, joins, late-data corrections, exactly-once sinks, blue/green replacement, a governed catalogue, a console, a CLI and Java and Python SDKs. 582 findings recorded, 0 open.</a:t>
            </a:r>
          </a:p>
        </p:txBody>
      </p:sp>
      <p:sp>
        <p:nvSpPr>
          <p:cNvPr id="30" name="Rectangle 29"/>
          <p:cNvSpPr/>
          <p:nvPr/>
        </p:nvSpPr>
        <p:spPr>
          <a:xfrm>
            <a:off x="777240" y="5380878"/>
            <a:ext cx="10637215" cy="864473"/>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380878"/>
            <a:ext cx="2651760" cy="864473"/>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380878"/>
            <a:ext cx="54864" cy="86447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5840" y="5682254"/>
            <a:ext cx="2286000" cy="718169"/>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8A1626"/>
                </a:solidFill>
                <a:latin typeface="Source Sans 3"/>
              </a:rPr>
              <a:t>Where is it going?</a:t>
            </a:r>
          </a:p>
        </p:txBody>
      </p:sp>
      <p:sp>
        <p:nvSpPr>
          <p:cNvPr id="34" name="TextBox 33"/>
          <p:cNvSpPr txBox="1"/>
          <p:nvPr/>
        </p:nvSpPr>
        <p:spPr>
          <a:xfrm>
            <a:off x="3703320" y="5460644"/>
            <a:ext cx="7528255" cy="718169"/>
          </a:xfrm>
          <a:prstGeom prst="rect">
            <a:avLst/>
          </a:prstGeom>
          <a:noFill/>
        </p:spPr>
        <p:txBody>
          <a:bodyPr wrap="square" lIns="0" rIns="0" tIns="0" bIns="0" anchor="t">
            <a:spAutoFit/>
          </a:bodyPr>
          <a:lstStyle/>
          <a:p>
            <a:pPr algn="l">
              <a:lnSpc>
                <a:spcPct val="118000"/>
              </a:lnSpc>
              <a:spcBef>
                <a:spcPts val="0"/>
              </a:spcBef>
              <a:spcAft>
                <a:spcPts val="0"/>
              </a:spcAft>
            </a:pPr>
            <a:r>
              <a:rPr sz="1400" b="0" i="0">
                <a:solidFill>
                  <a:srgbClr val="1A1A1A"/>
                </a:solidFill>
                <a:latin typeface="Source Sans 3"/>
              </a:rPr>
              <a:t>Feature-complete for one node. Cluster mode is deferred; what is left is the eight-lane scaling target, more Nexmark SQL and the first versions' follow-ups.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201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201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8201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215" y="502920"/>
            <a:ext cx="4206240" cy="2834640"/>
          </a:xfrm>
          <a:prstGeom prst="rect">
            <a:avLst/>
          </a:prstGeom>
          <a:noFill/>
        </p:spPr>
        <p:txBody>
          <a:bodyPr wrap="square" lIns="0" rIns="0" tIns="0" bIns="0" anchor="t">
            <a:spAutoFit/>
          </a:bodyPr>
          <a:lstStyle/>
          <a:p>
            <a:pPr algn="r">
              <a:lnSpc>
                <a:spcPct val="90000"/>
              </a:lnSpc>
              <a:spcBef>
                <a:spcPts val="0"/>
              </a:spcBef>
              <a:spcAft>
                <a:spcPts val="0"/>
              </a:spcAft>
            </a:pPr>
            <a:r>
              <a:rPr sz="17000" b="1" i="0">
                <a:solidFill>
                  <a:srgbClr val="8A1626"/>
                </a:solidFill>
                <a:latin typeface="Source Sans 3"/>
              </a:rPr>
              <a:t>01</a:t>
            </a:r>
          </a:p>
        </p:txBody>
      </p:sp>
      <p:sp>
        <p:nvSpPr>
          <p:cNvPr id="8" name="Rectangle 7"/>
          <p:cNvSpPr/>
          <p:nvPr/>
        </p:nvSpPr>
        <p:spPr>
          <a:xfrm>
            <a:off x="777240" y="2697480"/>
            <a:ext cx="1463040" cy="45720"/>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9722815"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idea: continuous SQL</a:t>
            </a:r>
          </a:p>
        </p:txBody>
      </p:sp>
      <p:sp>
        <p:nvSpPr>
          <p:cNvPr id="10" name="TextBox 9"/>
          <p:cNvSpPr txBox="1"/>
          <p:nvPr/>
        </p:nvSpPr>
        <p:spPr>
          <a:xfrm>
            <a:off x="777240" y="3808984"/>
            <a:ext cx="8808415" cy="1280160"/>
          </a:xfrm>
          <a:prstGeom prst="rect">
            <a:avLst/>
          </a:prstGeom>
          <a:noFill/>
        </p:spPr>
        <p:txBody>
          <a:bodyPr wrap="square" lIns="0" rIns="0" tIns="0" bIns="0" anchor="t">
            <a:spAutoFit/>
          </a:bodyPr>
          <a:lstStyle/>
          <a:p>
            <a:pPr algn="l">
              <a:lnSpc>
                <a:spcPct val="130000"/>
              </a:lnSpc>
              <a:spcBef>
                <a:spcPts val="0"/>
              </a:spcBef>
              <a:spcAft>
                <a:spcPts val="0"/>
              </a:spcAft>
            </a:pPr>
            <a:r>
              <a:rPr sz="1900" b="0" i="1">
                <a:solidFill>
                  <a:srgbClr val="F6E6E9"/>
                </a:solidFill>
                <a:latin typeface="Source Sans 3"/>
              </a:rPr>
              <a:t>Register the question once. Let the engine keep the answer current.</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CATEGORY</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What is continuous SQL — incremental view maintenance?</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Registering is the expensive act; asking becomes cheap — the opposite of a database.</a:t>
            </a:r>
          </a:p>
        </p:txBody>
      </p:sp>
      <p:sp>
        <p:nvSpPr>
          <p:cNvPr id="13" name="TextBox 12"/>
          <p:cNvSpPr txBox="1"/>
          <p:nvPr/>
        </p:nvSpPr>
        <p:spPr>
          <a:xfrm>
            <a:off x="777240" y="1378204"/>
            <a:ext cx="10637215" cy="400517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question registered once, not asked again and again</a:t>
            </a:r>
          </a:p>
          <a:p>
            <a:pPr lvl="1">
              <a:lnSpc>
                <a:spcPct val="120000"/>
              </a:lnSpc>
              <a:spcBef>
                <a:spcPts val="0"/>
              </a:spcBef>
              <a:spcAft>
                <a:spcPts val="0"/>
              </a:spcAft>
            </a:pPr>
            <a:r>
              <a:rPr sz="1550" b="0">
                <a:solidFill>
                  <a:srgbClr val="4A5058"/>
                </a:solidFill>
                <a:latin typeface="Source Sans 3"/>
              </a:rPr>
              <a:t>A continuous query is a computation, not a request: registered by name with the columns its answer is keyed by, it keeps running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answer is a view the engine maintains</a:t>
            </a:r>
          </a:p>
          <a:p>
            <a:pPr lvl="1">
              <a:lnSpc>
                <a:spcPct val="120000"/>
              </a:lnSpc>
              <a:spcBef>
                <a:spcPts val="0"/>
              </a:spcBef>
              <a:spcAft>
                <a:spcPts val="0"/>
              </a:spcAft>
            </a:pPr>
            <a:r>
              <a:rPr sz="1550" b="0">
                <a:solidFill>
                  <a:srgbClr val="4A5058"/>
                </a:solidFill>
                <a:latin typeface="Source Sans 3"/>
              </a:rPr>
              <a:t>Each change in the input is applied as a change to the answer — a row appearing (+1) or withdrawn (−1) — instead of recomputing the whole result.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Reading is a lookup; following is a subscription</a:t>
            </a:r>
          </a:p>
          <a:p>
            <a:pPr lvl="1">
              <a:lnSpc>
                <a:spcPct val="120000"/>
              </a:lnSpc>
              <a:spcBef>
                <a:spcPts val="0"/>
              </a:spcBef>
              <a:spcAft>
                <a:spcPts val="0"/>
              </a:spcAft>
            </a:pPr>
            <a:r>
              <a:rPr sz="1550" b="0">
                <a:solidFill>
                  <a:srgbClr val="4A5058"/>
                </a:solidFill>
                <a:latin typeface="Source Sans 3"/>
              </a:rPr>
              <a:t>Read the view by key or with SQL, as a hash probe rather than a scan; or subscribe and receive every commit as a batch of weighted changes.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Correct in event time</a:t>
            </a:r>
          </a:p>
          <a:p>
            <a:pPr lvl="1">
              <a:lnSpc>
                <a:spcPct val="120000"/>
              </a:lnSpc>
              <a:spcBef>
                <a:spcPts val="0"/>
              </a:spcBef>
              <a:spcAft>
                <a:spcPts val="0"/>
              </a:spcAft>
            </a:pPr>
            <a:r>
              <a:rPr sz="1550" b="0">
                <a:solidFill>
                  <a:srgbClr val="4A5058"/>
                </a:solidFill>
                <a:latin typeface="Source Sans 3"/>
              </a:rPr>
              <a:t>Windows close because the data's own timestamps say so, and late data corrects a closed window as a retraction plus the new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batch answer is as old as its last run; polling re-reads to stay fresh</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Nobody here is short of data — they are short of an answer that is current when someone has to act on it.</a:t>
            </a:r>
          </a:p>
        </p:txBody>
      </p:sp>
      <p:sp>
        <p:nvSpPr>
          <p:cNvPr id="13" name="Rectangle 12"/>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Batch, in the case studies' own words</a:t>
            </a:r>
          </a:p>
        </p:txBody>
      </p:sp>
      <p:sp>
        <p:nvSpPr>
          <p:cNvPr id="16" name="TextBox 15"/>
          <p:cNvSpPr txBox="1"/>
          <p:nvPr/>
        </p:nvSpPr>
        <p:spPr>
          <a:xfrm>
            <a:off x="777240" y="2135632"/>
            <a:ext cx="5135727" cy="32477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Card authorisation velocity</a:t>
            </a:r>
          </a:p>
          <a:p>
            <a:pPr lvl="1">
              <a:lnSpc>
                <a:spcPct val="120000"/>
              </a:lnSpc>
              <a:spcBef>
                <a:spcPts val="0"/>
              </a:spcBef>
              <a:spcAft>
                <a:spcPts val="0"/>
              </a:spcAft>
            </a:pPr>
            <a:r>
              <a:rPr sz="1350" b="0">
                <a:solidFill>
                  <a:srgbClr val="4A5058"/>
                </a:solidFill>
                <a:latin typeface="Source Sans 3"/>
              </a:rPr>
              <a:t>“The fraud is detected four minutes after the fourth authorisation cleared.”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Intraday counterparty exposure</a:t>
            </a:r>
          </a:p>
          <a:p>
            <a:pPr lvl="1">
              <a:lnSpc>
                <a:spcPct val="120000"/>
              </a:lnSpc>
              <a:spcBef>
                <a:spcPts val="0"/>
              </a:spcBef>
              <a:spcAft>
                <a:spcPts val="0"/>
              </a:spcAft>
            </a:pPr>
            <a:r>
              <a:rPr sz="1350" b="0">
                <a:solidFill>
                  <a:srgbClr val="4A5058"/>
                </a:solidFill>
                <a:latin typeface="Source Sans 3"/>
              </a:rPr>
              <a:t>“The number on the risk screen is as old as the last run.”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Order revenue into Iceberg</a:t>
            </a:r>
          </a:p>
          <a:p>
            <a:pPr lvl="1">
              <a:lnSpc>
                <a:spcPct val="120000"/>
              </a:lnSpc>
              <a:spcBef>
                <a:spcPts val="0"/>
              </a:spcBef>
              <a:spcAft>
                <a:spcPts val="0"/>
              </a:spcAft>
            </a:pPr>
            <a:r>
              <a:rPr sz="1350" b="0">
                <a:solidFill>
                  <a:srgbClr val="4A5058"/>
                </a:solidFill>
                <a:latin typeface="Source Sans 3"/>
              </a:rPr>
              <a:t>“By mid-morning the analysts are looking at yesterday.”</a:t>
            </a:r>
          </a:p>
        </p:txBody>
      </p:sp>
      <p:sp>
        <p:nvSpPr>
          <p:cNvPr id="17" name="Rectangle 16"/>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Polling, and what it still misses</a:t>
            </a:r>
          </a:p>
        </p:txBody>
      </p:sp>
      <p:sp>
        <p:nvSpPr>
          <p:cNvPr id="20" name="TextBox 19"/>
          <p:cNvSpPr txBox="1"/>
          <p:nvPr/>
        </p:nvSpPr>
        <p:spPr>
          <a:xfrm>
            <a:off x="6278727" y="2135632"/>
            <a:ext cx="5135727" cy="324774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job re-reads rows it has already read, every run, forever.”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load on the database that serves the tills</a:t>
            </a:r>
          </a:p>
          <a:p>
            <a:pPr lvl="1">
              <a:lnSpc>
                <a:spcPct val="120000"/>
              </a:lnSpc>
              <a:spcBef>
                <a:spcPts val="0"/>
              </a:spcBef>
              <a:spcAft>
                <a:spcPts val="0"/>
              </a:spcAft>
            </a:pPr>
            <a:r>
              <a:rPr sz="1350" b="0">
                <a:solidFill>
                  <a:srgbClr val="4A5058"/>
                </a:solidFill>
                <a:latin typeface="Source Sans 3"/>
              </a:rPr>
              <a:t>Polling for low stock “puts a scan on the database that serves the tills.”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happens between two polls</a:t>
            </a:r>
          </a:p>
          <a:p>
            <a:pPr lvl="1">
              <a:lnSpc>
                <a:spcPct val="120000"/>
              </a:lnSpc>
              <a:spcBef>
                <a:spcPts val="0"/>
              </a:spcBef>
              <a:spcAft>
                <a:spcPts val="0"/>
              </a:spcAft>
            </a:pPr>
            <a:r>
              <a:rPr sz="1350" b="0">
                <a:solidFill>
                  <a:srgbClr val="4A5058"/>
                </a:solidFill>
                <a:latin typeface="Source Sans 3"/>
              </a:rPr>
              <a:t>It “misses a line that dips and recovers between polls.”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SHAPE OF THE FIX</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From a job, a sink and a second store — to one engine that keeps and serves</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Dataflow engines compute and write; reading the answer means running another store. Pravaha serves its own results.</a:t>
            </a:r>
          </a:p>
        </p:txBody>
      </p:sp>
      <p:cxnSp>
        <p:nvCxnSpPr>
          <p:cNvPr id="13" name="Connector 12"/>
          <p:cNvCxnSpPr/>
          <p:nvPr/>
        </p:nvCxnSpPr>
        <p:spPr>
          <a:xfrm>
            <a:off x="2418542"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865101"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311661"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545476" y="237552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418542" y="455621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45476" y="4556219"/>
            <a:ext cx="54679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77240" y="1698764"/>
            <a:ext cx="1595582"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698764"/>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1863356"/>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Your stores</a:t>
            </a:r>
          </a:p>
        </p:txBody>
      </p:sp>
      <p:sp>
        <p:nvSpPr>
          <p:cNvPr id="22" name="TextBox 21"/>
          <p:cNvSpPr txBox="1"/>
          <p:nvPr/>
        </p:nvSpPr>
        <p:spPr>
          <a:xfrm>
            <a:off x="960120" y="2494596"/>
            <a:ext cx="1229822" cy="429682"/>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Tables, topics, change logs</a:t>
            </a:r>
          </a:p>
        </p:txBody>
      </p:sp>
      <p:sp>
        <p:nvSpPr>
          <p:cNvPr id="23" name="Rectangle 22"/>
          <p:cNvSpPr/>
          <p:nvPr/>
        </p:nvSpPr>
        <p:spPr>
          <a:xfrm>
            <a:off x="3011055" y="1698764"/>
            <a:ext cx="1808326"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1055" y="1698764"/>
            <a:ext cx="180832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193935" y="1863356"/>
            <a:ext cx="144256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job per question</a:t>
            </a:r>
          </a:p>
        </p:txBody>
      </p:sp>
      <p:sp>
        <p:nvSpPr>
          <p:cNvPr id="26" name="TextBox 25"/>
          <p:cNvSpPr txBox="1"/>
          <p:nvPr/>
        </p:nvSpPr>
        <p:spPr>
          <a:xfrm>
            <a:off x="3193935" y="2494596"/>
            <a:ext cx="1442566" cy="42968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Computes, then writes</a:t>
            </a:r>
          </a:p>
        </p:txBody>
      </p:sp>
      <p:sp>
        <p:nvSpPr>
          <p:cNvPr id="27" name="Rectangle 26"/>
          <p:cNvSpPr/>
          <p:nvPr/>
        </p:nvSpPr>
        <p:spPr>
          <a:xfrm>
            <a:off x="5457614" y="1698764"/>
            <a:ext cx="1808326"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57614" y="1698764"/>
            <a:ext cx="180832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40494" y="1863356"/>
            <a:ext cx="144256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sink</a:t>
            </a:r>
          </a:p>
        </p:txBody>
      </p:sp>
      <p:sp>
        <p:nvSpPr>
          <p:cNvPr id="30" name="TextBox 29"/>
          <p:cNvSpPr txBox="1"/>
          <p:nvPr/>
        </p:nvSpPr>
        <p:spPr>
          <a:xfrm>
            <a:off x="5640494" y="2224696"/>
            <a:ext cx="1442566" cy="69958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Where the answer lands</a:t>
            </a:r>
          </a:p>
        </p:txBody>
      </p:sp>
      <p:sp>
        <p:nvSpPr>
          <p:cNvPr id="31" name="Rectangle 30"/>
          <p:cNvSpPr/>
          <p:nvPr/>
        </p:nvSpPr>
        <p:spPr>
          <a:xfrm>
            <a:off x="7904174" y="1698764"/>
            <a:ext cx="1595582"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904174" y="1698764"/>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87054" y="1863356"/>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Another store</a:t>
            </a:r>
          </a:p>
        </p:txBody>
      </p:sp>
      <p:sp>
        <p:nvSpPr>
          <p:cNvPr id="34" name="TextBox 33"/>
          <p:cNvSpPr txBox="1"/>
          <p:nvPr/>
        </p:nvSpPr>
        <p:spPr>
          <a:xfrm>
            <a:off x="8087054" y="2494596"/>
            <a:ext cx="1229822" cy="429682"/>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To serve the answer</a:t>
            </a:r>
          </a:p>
        </p:txBody>
      </p:sp>
      <p:sp>
        <p:nvSpPr>
          <p:cNvPr id="35" name="Rectangle 34"/>
          <p:cNvSpPr/>
          <p:nvPr/>
        </p:nvSpPr>
        <p:spPr>
          <a:xfrm>
            <a:off x="10137989" y="1698764"/>
            <a:ext cx="1276465" cy="1353531"/>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137989" y="1698764"/>
            <a:ext cx="127646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20869" y="1863356"/>
            <a:ext cx="91070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app</a:t>
            </a:r>
          </a:p>
        </p:txBody>
      </p:sp>
      <p:sp>
        <p:nvSpPr>
          <p:cNvPr id="38" name="Rectangle 37"/>
          <p:cNvSpPr/>
          <p:nvPr/>
        </p:nvSpPr>
        <p:spPr>
          <a:xfrm>
            <a:off x="777240" y="3804257"/>
            <a:ext cx="1595582"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7240" y="3804257"/>
            <a:ext cx="159558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3968849"/>
            <a:ext cx="1229822"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Your stores</a:t>
            </a:r>
          </a:p>
        </p:txBody>
      </p:sp>
      <p:sp>
        <p:nvSpPr>
          <p:cNvPr id="41" name="TextBox 40"/>
          <p:cNvSpPr txBox="1"/>
          <p:nvPr/>
        </p:nvSpPr>
        <p:spPr>
          <a:xfrm>
            <a:off x="960120" y="4600090"/>
            <a:ext cx="1229822" cy="58007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Read where they are</a:t>
            </a:r>
          </a:p>
        </p:txBody>
      </p:sp>
      <p:sp>
        <p:nvSpPr>
          <p:cNvPr id="42" name="Rectangle 41"/>
          <p:cNvSpPr/>
          <p:nvPr/>
        </p:nvSpPr>
        <p:spPr>
          <a:xfrm>
            <a:off x="3011055" y="3804257"/>
            <a:ext cx="6488701"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011055" y="3804257"/>
            <a:ext cx="648870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193935" y="3968849"/>
            <a:ext cx="612294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PRAVAHA</a:t>
            </a:r>
          </a:p>
        </p:txBody>
      </p:sp>
      <p:sp>
        <p:nvSpPr>
          <p:cNvPr id="45" name="TextBox 44"/>
          <p:cNvSpPr txBox="1"/>
          <p:nvPr/>
        </p:nvSpPr>
        <p:spPr>
          <a:xfrm>
            <a:off x="3193935" y="4224881"/>
            <a:ext cx="612294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Maintains the answer and serves it by key</a:t>
            </a:r>
          </a:p>
        </p:txBody>
      </p:sp>
      <p:sp>
        <p:nvSpPr>
          <p:cNvPr id="46" name="TextBox 45"/>
          <p:cNvSpPr txBox="1"/>
          <p:nvPr/>
        </p:nvSpPr>
        <p:spPr>
          <a:xfrm>
            <a:off x="3193935" y="4586221"/>
            <a:ext cx="6122941" cy="5939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Filters pushed into the store; one read shared by identical questions; the view is the thing that is read</a:t>
            </a:r>
          </a:p>
        </p:txBody>
      </p:sp>
      <p:sp>
        <p:nvSpPr>
          <p:cNvPr id="47" name="Rectangle 46"/>
          <p:cNvSpPr/>
          <p:nvPr/>
        </p:nvSpPr>
        <p:spPr>
          <a:xfrm>
            <a:off x="10137989" y="3804257"/>
            <a:ext cx="1276465" cy="150392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137989" y="3804257"/>
            <a:ext cx="127646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20869" y="3968849"/>
            <a:ext cx="91070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app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 PRINCIPLES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Ten principles: why a live answer should be maintained, not recomputed</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Oval 9"/>
          <p:cNvSpPr/>
          <p:nvPr/>
        </p:nvSpPr>
        <p:spPr>
          <a:xfrm>
            <a:off x="777240" y="167843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a:t>
            </a:r>
          </a:p>
        </p:txBody>
      </p:sp>
      <p:sp>
        <p:nvSpPr>
          <p:cNvPr id="11" name="TextBox 10"/>
          <p:cNvSpPr txBox="1"/>
          <p:nvPr/>
        </p:nvSpPr>
        <p:spPr>
          <a:xfrm>
            <a:off x="1463040" y="167843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A query is a computation, not a request</a:t>
            </a:r>
          </a:p>
          <a:p>
            <a:pPr>
              <a:lnSpc>
                <a:spcPct val="120000"/>
              </a:lnSpc>
              <a:spcBef>
                <a:spcPts val="0"/>
              </a:spcBef>
              <a:spcAft>
                <a:spcPts val="0"/>
              </a:spcAft>
            </a:pPr>
            <a:r>
              <a:rPr sz="1200" b="0" i="0">
                <a:solidFill>
                  <a:srgbClr val="4A5058"/>
                </a:solidFill>
                <a:latin typeface="Source Sans 3"/>
              </a:rPr>
              <a:t>Registered once, it keeps a view current; asking is a probe.</a:t>
            </a:r>
          </a:p>
        </p:txBody>
      </p:sp>
      <p:sp>
        <p:nvSpPr>
          <p:cNvPr id="12" name="Rectangle 11"/>
          <p:cNvSpPr/>
          <p:nvPr/>
        </p:nvSpPr>
        <p:spPr>
          <a:xfrm>
            <a:off x="1463040" y="254426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602788"/>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2</a:t>
            </a:r>
          </a:p>
        </p:txBody>
      </p:sp>
      <p:sp>
        <p:nvSpPr>
          <p:cNvPr id="14" name="TextBox 13"/>
          <p:cNvSpPr txBox="1"/>
          <p:nvPr/>
        </p:nvSpPr>
        <p:spPr>
          <a:xfrm>
            <a:off x="1463040" y="2602788"/>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Event time, not clock time</a:t>
            </a:r>
          </a:p>
          <a:p>
            <a:pPr>
              <a:lnSpc>
                <a:spcPct val="120000"/>
              </a:lnSpc>
              <a:spcBef>
                <a:spcPts val="0"/>
              </a:spcBef>
              <a:spcAft>
                <a:spcPts val="0"/>
              </a:spcAft>
            </a:pPr>
            <a:r>
              <a:rPr sz="1200" b="0" i="0">
                <a:solidFill>
                  <a:srgbClr val="4A5058"/>
                </a:solidFill>
                <a:latin typeface="Source Sans 3"/>
              </a:rPr>
              <a:t>Same rows, any order or speed, same answer.</a:t>
            </a:r>
          </a:p>
        </p:txBody>
      </p:sp>
      <p:sp>
        <p:nvSpPr>
          <p:cNvPr id="15" name="Rectangle 14"/>
          <p:cNvSpPr/>
          <p:nvPr/>
        </p:nvSpPr>
        <p:spPr>
          <a:xfrm>
            <a:off x="1463040" y="3468624"/>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352714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3</a:t>
            </a:r>
          </a:p>
        </p:txBody>
      </p:sp>
      <p:sp>
        <p:nvSpPr>
          <p:cNvPr id="17" name="TextBox 16"/>
          <p:cNvSpPr txBox="1"/>
          <p:nvPr/>
        </p:nvSpPr>
        <p:spPr>
          <a:xfrm>
            <a:off x="1463040" y="3527145"/>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Watermarks: “nothing earlier is coming”</a:t>
            </a:r>
          </a:p>
          <a:p>
            <a:pPr>
              <a:lnSpc>
                <a:spcPct val="120000"/>
              </a:lnSpc>
              <a:spcBef>
                <a:spcPts val="0"/>
              </a:spcBef>
              <a:spcAft>
                <a:spcPts val="0"/>
              </a:spcAft>
            </a:pPr>
            <a:r>
              <a:rPr sz="1200" b="0" i="0">
                <a:solidFill>
                  <a:srgbClr val="4A5058"/>
                </a:solidFill>
                <a:latin typeface="Source Sans 3"/>
              </a:rPr>
              <a:t>Windows close because the data says so.</a:t>
            </a:r>
          </a:p>
        </p:txBody>
      </p:sp>
      <p:sp>
        <p:nvSpPr>
          <p:cNvPr id="18" name="Rectangle 17"/>
          <p:cNvSpPr/>
          <p:nvPr/>
        </p:nvSpPr>
        <p:spPr>
          <a:xfrm>
            <a:off x="1463040" y="4392980"/>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445150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4</a:t>
            </a:r>
          </a:p>
        </p:txBody>
      </p:sp>
      <p:sp>
        <p:nvSpPr>
          <p:cNvPr id="20" name="TextBox 19"/>
          <p:cNvSpPr txBox="1"/>
          <p:nvPr/>
        </p:nvSpPr>
        <p:spPr>
          <a:xfrm>
            <a:off x="1463040" y="445150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Changes carry weights</a:t>
            </a:r>
          </a:p>
          <a:p>
            <a:pPr>
              <a:lnSpc>
                <a:spcPct val="120000"/>
              </a:lnSpc>
              <a:spcBef>
                <a:spcPts val="0"/>
              </a:spcBef>
              <a:spcAft>
                <a:spcPts val="0"/>
              </a:spcAft>
            </a:pPr>
            <a:r>
              <a:rPr sz="1200" b="0" i="0">
                <a:solidFill>
                  <a:srgbClr val="4A5058"/>
                </a:solidFill>
                <a:latin typeface="Source Sans 3"/>
              </a:rPr>
              <a:t>A correction is a retraction (−1) plus an insert (+1).</a:t>
            </a:r>
          </a:p>
        </p:txBody>
      </p:sp>
      <p:sp>
        <p:nvSpPr>
          <p:cNvPr id="21" name="Rectangle 20"/>
          <p:cNvSpPr/>
          <p:nvPr/>
        </p:nvSpPr>
        <p:spPr>
          <a:xfrm>
            <a:off x="1463040" y="531733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5375859"/>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5</a:t>
            </a:r>
          </a:p>
        </p:txBody>
      </p:sp>
      <p:sp>
        <p:nvSpPr>
          <p:cNvPr id="23" name="TextBox 22"/>
          <p:cNvSpPr txBox="1"/>
          <p:nvPr/>
        </p:nvSpPr>
        <p:spPr>
          <a:xfrm>
            <a:off x="1463040" y="5375859"/>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Share by fingerprint, not by name</a:t>
            </a:r>
          </a:p>
          <a:p>
            <a:pPr>
              <a:lnSpc>
                <a:spcPct val="120000"/>
              </a:lnSpc>
              <a:spcBef>
                <a:spcPts val="0"/>
              </a:spcBef>
              <a:spcAft>
                <a:spcPts val="0"/>
              </a:spcAft>
            </a:pPr>
            <a:r>
              <a:rPr sz="1200" b="0" i="0">
                <a:solidFill>
                  <a:srgbClr val="4A5058"/>
                </a:solidFill>
                <a:latin typeface="Source Sans 3"/>
              </a:rPr>
              <a:t>Identical plans are one computation, per tenant.</a:t>
            </a:r>
          </a:p>
        </p:txBody>
      </p:sp>
      <p:sp>
        <p:nvSpPr>
          <p:cNvPr id="24" name="Oval 23"/>
          <p:cNvSpPr/>
          <p:nvPr/>
        </p:nvSpPr>
        <p:spPr>
          <a:xfrm>
            <a:off x="6278727" y="167843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6</a:t>
            </a:r>
          </a:p>
        </p:txBody>
      </p:sp>
      <p:sp>
        <p:nvSpPr>
          <p:cNvPr id="25" name="TextBox 24"/>
          <p:cNvSpPr txBox="1"/>
          <p:nvPr/>
        </p:nvSpPr>
        <p:spPr>
          <a:xfrm>
            <a:off x="6964527" y="167843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One soundness rule</a:t>
            </a:r>
          </a:p>
          <a:p>
            <a:pPr>
              <a:lnSpc>
                <a:spcPct val="120000"/>
              </a:lnSpc>
              <a:spcBef>
                <a:spcPts val="0"/>
              </a:spcBef>
              <a:spcAft>
                <a:spcPts val="0"/>
              </a:spcAft>
            </a:pPr>
            <a:r>
              <a:rPr sz="1200" b="0" i="0">
                <a:solidFill>
                  <a:srgbClr val="4A5058"/>
                </a:solidFill>
                <a:latin typeface="Source Sans 3"/>
              </a:rPr>
              <a:t>A filter applies only if the view keeps every column it names.</a:t>
            </a:r>
          </a:p>
        </p:txBody>
      </p:sp>
      <p:sp>
        <p:nvSpPr>
          <p:cNvPr id="26" name="Rectangle 25"/>
          <p:cNvSpPr/>
          <p:nvPr/>
        </p:nvSpPr>
        <p:spPr>
          <a:xfrm>
            <a:off x="6964527" y="254426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278727" y="2602788"/>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7</a:t>
            </a:r>
          </a:p>
        </p:txBody>
      </p:sp>
      <p:sp>
        <p:nvSpPr>
          <p:cNvPr id="28" name="TextBox 27"/>
          <p:cNvSpPr txBox="1"/>
          <p:nvPr/>
        </p:nvSpPr>
        <p:spPr>
          <a:xfrm>
            <a:off x="6964527" y="2602788"/>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Bounds belong in the query or the config</a:t>
            </a:r>
          </a:p>
          <a:p>
            <a:pPr>
              <a:lnSpc>
                <a:spcPct val="120000"/>
              </a:lnSpc>
              <a:spcBef>
                <a:spcPts val="0"/>
              </a:spcBef>
              <a:spcAft>
                <a:spcPts val="0"/>
              </a:spcAft>
            </a:pPr>
            <a:r>
              <a:rPr sz="1200" b="0" i="0">
                <a:solidFill>
                  <a:srgbClr val="4A5058"/>
                </a:solidFill>
                <a:latin typeface="Source Sans 3"/>
              </a:rPr>
              <a:t>Retention changes meaning; a ceiling refuses loudly.</a:t>
            </a:r>
          </a:p>
        </p:txBody>
      </p:sp>
      <p:sp>
        <p:nvSpPr>
          <p:cNvPr id="29" name="Rectangle 28"/>
          <p:cNvSpPr/>
          <p:nvPr/>
        </p:nvSpPr>
        <p:spPr>
          <a:xfrm>
            <a:off x="6964527" y="3468624"/>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278727" y="3527145"/>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8</a:t>
            </a:r>
          </a:p>
        </p:txBody>
      </p:sp>
      <p:sp>
        <p:nvSpPr>
          <p:cNvPr id="31" name="TextBox 30"/>
          <p:cNvSpPr txBox="1"/>
          <p:nvPr/>
        </p:nvSpPr>
        <p:spPr>
          <a:xfrm>
            <a:off x="6964527" y="3527145"/>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Registration and subscription are separate</a:t>
            </a:r>
          </a:p>
          <a:p>
            <a:pPr>
              <a:lnSpc>
                <a:spcPct val="120000"/>
              </a:lnSpc>
              <a:spcBef>
                <a:spcPts val="0"/>
              </a:spcBef>
              <a:spcAft>
                <a:spcPts val="0"/>
              </a:spcAft>
            </a:pPr>
            <a:r>
              <a:rPr sz="1200" b="0" i="0">
                <a:solidFill>
                  <a:srgbClr val="4A5058"/>
                </a:solidFill>
                <a:latin typeface="Source Sans 3"/>
              </a:rPr>
              <a:t>Many watchers, one computation, warm state.</a:t>
            </a:r>
          </a:p>
        </p:txBody>
      </p:sp>
      <p:sp>
        <p:nvSpPr>
          <p:cNvPr id="32" name="Rectangle 31"/>
          <p:cNvSpPr/>
          <p:nvPr/>
        </p:nvSpPr>
        <p:spPr>
          <a:xfrm>
            <a:off x="6964527" y="4392980"/>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78727" y="445150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9</a:t>
            </a:r>
          </a:p>
        </p:txBody>
      </p:sp>
      <p:sp>
        <p:nvSpPr>
          <p:cNvPr id="34" name="TextBox 33"/>
          <p:cNvSpPr txBox="1"/>
          <p:nvPr/>
        </p:nvSpPr>
        <p:spPr>
          <a:xfrm>
            <a:off x="6964527" y="4451502"/>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Governance is kept with the answer</a:t>
            </a:r>
          </a:p>
          <a:p>
            <a:pPr>
              <a:lnSpc>
                <a:spcPct val="120000"/>
              </a:lnSpc>
              <a:spcBef>
                <a:spcPts val="0"/>
              </a:spcBef>
              <a:spcAft>
                <a:spcPts val="0"/>
              </a:spcAft>
            </a:pPr>
            <a:r>
              <a:rPr sz="1200" b="0" i="0">
                <a:solidFill>
                  <a:srgbClr val="4A5058"/>
                </a:solidFill>
                <a:latin typeface="Source Sans 3"/>
              </a:rPr>
              <a:t>Who may read, subscribe or build on a live view.</a:t>
            </a:r>
          </a:p>
        </p:txBody>
      </p:sp>
      <p:sp>
        <p:nvSpPr>
          <p:cNvPr id="35" name="Rectangle 34"/>
          <p:cNvSpPr/>
          <p:nvPr/>
        </p:nvSpPr>
        <p:spPr>
          <a:xfrm>
            <a:off x="6964527" y="5317337"/>
            <a:ext cx="4449927"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278727" y="5375859"/>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10</a:t>
            </a:r>
          </a:p>
        </p:txBody>
      </p:sp>
      <p:sp>
        <p:nvSpPr>
          <p:cNvPr id="37" name="TextBox 36"/>
          <p:cNvSpPr txBox="1"/>
          <p:nvPr/>
        </p:nvSpPr>
        <p:spPr>
          <a:xfrm>
            <a:off x="6964527" y="5375859"/>
            <a:ext cx="4449927" cy="832916"/>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Source Sans 3"/>
              </a:rPr>
              <a:t>Alerts say enter and leave</a:t>
            </a:r>
          </a:p>
          <a:p>
            <a:pPr>
              <a:lnSpc>
                <a:spcPct val="120000"/>
              </a:lnSpc>
              <a:spcBef>
                <a:spcPts val="0"/>
              </a:spcBef>
              <a:spcAft>
                <a:spcPts val="0"/>
              </a:spcAft>
            </a:pPr>
            <a:r>
              <a:rPr sz="1200" b="0" i="0">
                <a:solidFill>
                  <a:srgbClr val="4A5058"/>
                </a:solidFill>
                <a:latin typeface="Source Sans 3"/>
              </a:rPr>
              <a:t>A row leaving the answer clears the alert.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THE FIELD SAYS · SEVEN FAMILIES OF PRODUCT</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Each family does part of the job, and is good at it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engines that keep an answer current do not govern it, and the catalogues that govern data do not see an answer that is still moving.</a:t>
            </a:r>
          </a:p>
        </p:txBody>
      </p:sp>
      <p:graphicFrame>
        <p:nvGraphicFramePr>
          <p:cNvPr id="13" name="Table 12"/>
          <p:cNvGraphicFramePr>
            <a:graphicFrameLocks noGrp="1"/>
          </p:cNvGraphicFramePr>
          <p:nvPr/>
        </p:nvGraphicFramePr>
        <p:xfrm>
          <a:off x="777240" y="1394561"/>
          <a:ext cx="10637214" cy="3270804"/>
        </p:xfrm>
        <a:graphic>
          <a:graphicData uri="http://schemas.openxmlformats.org/drawingml/2006/table">
            <a:tbl>
              <a:tblPr firstRow="1">
                <a:tableStyleId>{5C22544A-7EE6-4342-B048-85BDC9FD1C3A}</a:tableStyleId>
              </a:tblPr>
              <a:tblGrid>
                <a:gridCol w="2532670"/>
                <a:gridCol w="3714583"/>
                <a:gridCol w="4389961"/>
              </a:tblGrid>
              <a:tr h="322376">
                <a:tc>
                  <a:txBody>
                    <a:bodyPr wrap="square"/>
                    <a:lstStyle/>
                    <a:p>
                      <a:r>
                        <a:rPr sz="1300" b="1">
                          <a:solidFill>
                            <a:srgbClr val="FFFFFF"/>
                          </a:solidFill>
                          <a:latin typeface="Source Sans 3"/>
                        </a:rPr>
                        <a:t>Family</a:t>
                      </a:r>
                    </a:p>
                  </a:txBody>
                  <a:tcPr marL="82296" marR="64008" marT="32004" marB="32004" anchor="ctr">
                    <a:solidFill>
                      <a:srgbClr val="8A1626"/>
                    </a:solidFill>
                  </a:tcPr>
                </a:tc>
                <a:tc>
                  <a:txBody>
                    <a:bodyPr wrap="square"/>
                    <a:lstStyle/>
                    <a:p>
                      <a:r>
                        <a:rPr sz="1300" b="1">
                          <a:solidFill>
                            <a:srgbClr val="FFFFFF"/>
                          </a:solidFill>
                          <a:latin typeface="Source Sans 3"/>
                        </a:rPr>
                        <a:t>Well-known examples</a:t>
                      </a:r>
                    </a:p>
                  </a:txBody>
                  <a:tcPr marL="82296" marR="64008" marT="32004" marB="32004" anchor="ctr">
                    <a:solidFill>
                      <a:srgbClr val="8A1626"/>
                    </a:solidFill>
                  </a:tcPr>
                </a:tc>
                <a:tc>
                  <a:txBody>
                    <a:bodyPr wrap="square"/>
                    <a:lstStyle/>
                    <a:p>
                      <a:r>
                        <a:rPr sz="1300" b="1">
                          <a:solidFill>
                            <a:srgbClr val="FFFFFF"/>
                          </a:solidFill>
                          <a:latin typeface="Source Sans 3"/>
                        </a:rPr>
                        <a:t>What it leaves to you</a:t>
                      </a:r>
                    </a:p>
                  </a:txBody>
                  <a:tcPr marL="82296" marR="64008" marT="32004" marB="32004" anchor="ctr">
                    <a:solidFill>
                      <a:srgbClr val="8A1626"/>
                    </a:solidFill>
                  </a:tcPr>
                </a:tc>
              </a:tr>
              <a:tr h="567740">
                <a:tc>
                  <a:txBody>
                    <a:bodyPr wrap="square"/>
                    <a:lstStyle/>
                    <a:p>
                      <a:r>
                        <a:rPr sz="1400" b="1">
                          <a:solidFill>
                            <a:srgbClr val="8A1626"/>
                          </a:solidFill>
                          <a:latin typeface="Source Sans 3"/>
                        </a:rPr>
                        <a:t>Distributed dataflow SQL</a:t>
                      </a:r>
                    </a:p>
                  </a:txBody>
                  <a:tcPr marL="82296" marR="64008" marT="32004" marB="32004" anchor="ctr">
                    <a:solidFill>
                      <a:srgbClr val="FFFFFF"/>
                    </a:solidFill>
                  </a:tcPr>
                </a:tc>
                <a:tc>
                  <a:txBody>
                    <a:bodyPr wrap="square"/>
                    <a:lstStyle/>
                    <a:p>
                      <a:r>
                        <a:rPr sz="1400" b="0">
                          <a:solidFill>
                            <a:srgbClr val="1A1A1A"/>
                          </a:solidFill>
                          <a:latin typeface="Source Sans 3"/>
                        </a:rPr>
                        <a:t>Flink SQL, Spark Structured Streaming, Arroyo</a:t>
                      </a:r>
                    </a:p>
                  </a:txBody>
                  <a:tcPr marL="82296" marR="64008" marT="32004" marB="32004" anchor="ctr">
                    <a:solidFill>
                      <a:srgbClr val="FFFFFF"/>
                    </a:solidFill>
                  </a:tcPr>
                </a:tc>
                <a:tc>
                  <a:txBody>
                    <a:bodyPr wrap="square"/>
                    <a:lstStyle/>
                    <a:p>
                      <a:r>
                        <a:rPr sz="1400" b="0">
                          <a:solidFill>
                            <a:srgbClr val="1A1A1A"/>
                          </a:solidFill>
                          <a:latin typeface="Source Sans 3"/>
                        </a:rPr>
                        <a:t>Computes and writes; another store serves the answer</a:t>
                      </a:r>
                    </a:p>
                  </a:txBody>
                  <a:tcPr marL="82296" marR="64008" marT="32004" marB="32004" anchor="ctr">
                    <a:solidFill>
                      <a:srgbClr val="FFFFFF"/>
                    </a:solidFill>
                  </a:tcPr>
                </a:tc>
              </a:tr>
              <a:tr h="567740">
                <a:tc>
                  <a:txBody>
                    <a:bodyPr wrap="square"/>
                    <a:lstStyle/>
                    <a:p>
                      <a:r>
                        <a:rPr sz="1400" b="1">
                          <a:solidFill>
                            <a:srgbClr val="8A1626"/>
                          </a:solidFill>
                          <a:latin typeface="Source Sans 3"/>
                        </a:rPr>
                        <a:t>Streaming databases</a:t>
                      </a:r>
                    </a:p>
                  </a:txBody>
                  <a:tcPr marL="82296" marR="64008" marT="32004" marB="32004" anchor="ctr">
                    <a:solidFill>
                      <a:srgbClr val="F7F5F2"/>
                    </a:solidFill>
                  </a:tcPr>
                </a:tc>
                <a:tc>
                  <a:txBody>
                    <a:bodyPr wrap="square"/>
                    <a:lstStyle/>
                    <a:p>
                      <a:r>
                        <a:rPr sz="1400" b="0">
                          <a:solidFill>
                            <a:srgbClr val="1A1A1A"/>
                          </a:solidFill>
                          <a:latin typeface="Source Sans 3"/>
                        </a:rPr>
                        <a:t>Materialize, RisingWave, Feldera</a:t>
                      </a:r>
                    </a:p>
                  </a:txBody>
                  <a:tcPr marL="82296" marR="64008" marT="32004" marB="32004" anchor="ctr">
                    <a:solidFill>
                      <a:srgbClr val="F7F5F2"/>
                    </a:solidFill>
                  </a:tcPr>
                </a:tc>
                <a:tc>
                  <a:txBody>
                    <a:bodyPr wrap="square"/>
                    <a:lstStyle/>
                    <a:p>
                      <a:r>
                        <a:rPr sz="1400" b="0">
                          <a:solidFill>
                            <a:srgbClr val="1A1A1A"/>
                          </a:solidFill>
                          <a:latin typeface="Source Sans 3"/>
                        </a:rPr>
                        <a:t>A server you move data into, fed by change feeds and topics</a:t>
                      </a:r>
                    </a:p>
                  </a:txBody>
                  <a:tcPr marL="82296" marR="64008" marT="32004" marB="32004" anchor="ctr">
                    <a:solidFill>
                      <a:srgbClr val="F7F5F2"/>
                    </a:solidFill>
                  </a:tcPr>
                </a:tc>
              </a:tr>
              <a:tr h="338734">
                <a:tc>
                  <a:txBody>
                    <a:bodyPr wrap="square"/>
                    <a:lstStyle/>
                    <a:p>
                      <a:r>
                        <a:rPr sz="1400" b="1">
                          <a:solidFill>
                            <a:srgbClr val="8A1626"/>
                          </a:solidFill>
                          <a:latin typeface="Source Sans 3"/>
                        </a:rPr>
                        <a:t>Kafka-native</a:t>
                      </a:r>
                    </a:p>
                  </a:txBody>
                  <a:tcPr marL="82296" marR="64008" marT="32004" marB="32004" anchor="ctr">
                    <a:solidFill>
                      <a:srgbClr val="FFFFFF"/>
                    </a:solidFill>
                  </a:tcPr>
                </a:tc>
                <a:tc>
                  <a:txBody>
                    <a:bodyPr wrap="square"/>
                    <a:lstStyle/>
                    <a:p>
                      <a:r>
                        <a:rPr sz="1400" b="0">
                          <a:solidFill>
                            <a:srgbClr val="1A1A1A"/>
                          </a:solidFill>
                          <a:latin typeface="Source Sans 3"/>
                        </a:rPr>
                        <a:t>ksqlDB, Kafka Streams</a:t>
                      </a:r>
                    </a:p>
                  </a:txBody>
                  <a:tcPr marL="82296" marR="64008" marT="32004" marB="32004" anchor="ctr">
                    <a:solidFill>
                      <a:srgbClr val="FFFFFF"/>
                    </a:solidFill>
                  </a:tcPr>
                </a:tc>
                <a:tc>
                  <a:txBody>
                    <a:bodyPr wrap="square"/>
                    <a:lstStyle/>
                    <a:p>
                      <a:r>
                        <a:rPr sz="1400" b="0">
                          <a:solidFill>
                            <a:srgbClr val="1A1A1A"/>
                          </a:solidFill>
                          <a:latin typeface="Source Sans 3"/>
                        </a:rPr>
                        <a:t>Everything passes through a topic first</a:t>
                      </a:r>
                    </a:p>
                  </a:txBody>
                  <a:tcPr marL="82296" marR="64008" marT="32004" marB="32004" anchor="ctr">
                    <a:solidFill>
                      <a:srgbClr val="FFFFFF"/>
                    </a:solidFill>
                  </a:tcPr>
                </a:tc>
              </a:tr>
              <a:tr h="567740">
                <a:tc>
                  <a:txBody>
                    <a:bodyPr wrap="square"/>
                    <a:lstStyle/>
                    <a:p>
                      <a:r>
                        <a:rPr sz="1400" b="1">
                          <a:solidFill>
                            <a:srgbClr val="8A1626"/>
                          </a:solidFill>
                          <a:latin typeface="Source Sans 3"/>
                        </a:rPr>
                        <a:t>Dataflow libraries</a:t>
                      </a:r>
                    </a:p>
                  </a:txBody>
                  <a:tcPr marL="82296" marR="64008" marT="32004" marB="32004" anchor="ctr">
                    <a:solidFill>
                      <a:srgbClr val="F7F5F2"/>
                    </a:solidFill>
                  </a:tcPr>
                </a:tc>
                <a:tc>
                  <a:txBody>
                    <a:bodyPr wrap="square"/>
                    <a:lstStyle/>
                    <a:p>
                      <a:r>
                        <a:rPr sz="1400" b="0">
                          <a:solidFill>
                            <a:srgbClr val="1A1A1A"/>
                          </a:solidFill>
                          <a:latin typeface="Source Sans 3"/>
                        </a:rPr>
                        <a:t>Timely and Differential Dataflow, DBSP</a:t>
                      </a:r>
                    </a:p>
                  </a:txBody>
                  <a:tcPr marL="82296" marR="64008" marT="32004" marB="32004" anchor="ctr">
                    <a:solidFill>
                      <a:srgbClr val="F7F5F2"/>
                    </a:solidFill>
                  </a:tcPr>
                </a:tc>
                <a:tc>
                  <a:txBody>
                    <a:bodyPr wrap="square"/>
                    <a:lstStyle/>
                    <a:p>
                      <a:r>
                        <a:rPr sz="1400" b="0">
                          <a:solidFill>
                            <a:srgbClr val="1A1A1A"/>
                          </a:solidFill>
                          <a:latin typeface="Source Sans 3"/>
                        </a:rPr>
                        <a:t>No SQL surface, connectors or operations</a:t>
                      </a:r>
                    </a:p>
                  </a:txBody>
                  <a:tcPr marL="82296" marR="64008" marT="32004" marB="32004" anchor="ctr">
                    <a:solidFill>
                      <a:srgbClr val="F7F5F2"/>
                    </a:solidFill>
                  </a:tcPr>
                </a:tc>
              </a:tr>
              <a:tr h="338734">
                <a:tc>
                  <a:txBody>
                    <a:bodyPr wrap="square"/>
                    <a:lstStyle/>
                    <a:p>
                      <a:r>
                        <a:rPr sz="1400" b="1">
                          <a:solidFill>
                            <a:srgbClr val="8A1626"/>
                          </a:solidFill>
                          <a:latin typeface="Source Sans 3"/>
                        </a:rPr>
                        <a:t>Embeddable JVM</a:t>
                      </a:r>
                    </a:p>
                  </a:txBody>
                  <a:tcPr marL="82296" marR="64008" marT="32004" marB="32004" anchor="ctr">
                    <a:solidFill>
                      <a:srgbClr val="FFFFFF"/>
                    </a:solidFill>
                  </a:tcPr>
                </a:tc>
                <a:tc>
                  <a:txBody>
                    <a:bodyPr wrap="square"/>
                    <a:lstStyle/>
                    <a:p>
                      <a:r>
                        <a:rPr sz="1400" b="0">
                          <a:solidFill>
                            <a:srgbClr val="1A1A1A"/>
                          </a:solidFill>
                          <a:latin typeface="Source Sans 3"/>
                        </a:rPr>
                        <a:t>Hazelcast Jet</a:t>
                      </a:r>
                    </a:p>
                  </a:txBody>
                  <a:tcPr marL="82296" marR="64008" marT="32004" marB="32004" anchor="ctr">
                    <a:solidFill>
                      <a:srgbClr val="FFFFFF"/>
                    </a:solidFill>
                  </a:tcPr>
                </a:tc>
                <a:tc>
                  <a:txBody>
                    <a:bodyPr wrap="square"/>
                    <a:lstStyle/>
                    <a:p>
                      <a:r>
                        <a:rPr sz="1400" b="0">
                          <a:solidFill>
                            <a:srgbClr val="1A1A1A"/>
                          </a:solidFill>
                          <a:latin typeface="Source Sans 3"/>
                        </a:rPr>
                        <a:t>Not an incremental view engine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Governance catalogues</a:t>
                      </a:r>
                    </a:p>
                  </a:txBody>
                  <a:tcPr marL="82296" marR="64008" marT="32004" marB="32004" anchor="ctr">
                    <a:solidFill>
                      <a:srgbClr val="F7F5F2"/>
                    </a:solidFill>
                  </a:tcPr>
                </a:tc>
                <a:tc>
                  <a:txBody>
                    <a:bodyPr wrap="square"/>
                    <a:lstStyle/>
                    <a:p>
                      <a:r>
                        <a:rPr sz="1400" b="0">
                          <a:solidFill>
                            <a:srgbClr val="1A1A1A"/>
                          </a:solidFill>
                          <a:latin typeface="Source Sans 3"/>
                        </a:rPr>
                        <a:t>Unity Catalog, Polaris, Lake Formation</a:t>
                      </a:r>
                    </a:p>
                  </a:txBody>
                  <a:tcPr marL="82296" marR="64008" marT="32004" marB="32004" anchor="ctr">
                    <a:solidFill>
                      <a:srgbClr val="F7F5F2"/>
                    </a:solidFill>
                  </a:tcPr>
                </a:tc>
                <a:tc>
                  <a:txBody>
                    <a:bodyPr wrap="square"/>
                    <a:lstStyle/>
                    <a:p>
                      <a:r>
                        <a:rPr sz="1400" b="0">
                          <a:solidFill>
                            <a:srgbClr val="1A1A1A"/>
                          </a:solidFill>
                          <a:latin typeface="Source Sans 3"/>
                        </a:rPr>
                        <a:t>Governs data at rest, not an answer still being computed</a:t>
                      </a:r>
                    </a:p>
                  </a:txBody>
                  <a:tcPr marL="82296" marR="64008" marT="32004" marB="32004" anchor="ctr">
                    <a:solidFill>
                      <a:srgbClr val="F7F5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PRIMITIVES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Eight primitives carry the whole model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a:t>
            </a:r>
          </a:p>
        </p:txBody>
      </p:sp>
      <p:graphicFrame>
        <p:nvGraphicFramePr>
          <p:cNvPr id="10" name="Table 9"/>
          <p:cNvGraphicFramePr>
            <a:graphicFrameLocks noGrp="1"/>
          </p:cNvGraphicFramePr>
          <p:nvPr/>
        </p:nvGraphicFramePr>
        <p:xfrm>
          <a:off x="777240" y="1410919"/>
          <a:ext cx="10637214" cy="4733440"/>
        </p:xfrm>
        <a:graphic>
          <a:graphicData uri="http://schemas.openxmlformats.org/drawingml/2006/table">
            <a:tbl>
              <a:tblPr firstRow="1">
                <a:tableStyleId>{5C22544A-7EE6-4342-B048-85BDC9FD1C3A}</a:tableStyleId>
              </a:tblPr>
              <a:tblGrid>
                <a:gridCol w="2354803"/>
                <a:gridCol w="5196807"/>
                <a:gridCol w="3085604"/>
              </a:tblGrid>
              <a:tr h="322376">
                <a:tc>
                  <a:txBody>
                    <a:bodyPr wrap="square"/>
                    <a:lstStyle/>
                    <a:p>
                      <a:r>
                        <a:rPr sz="1300" b="1">
                          <a:solidFill>
                            <a:srgbClr val="FFFFFF"/>
                          </a:solidFill>
                          <a:latin typeface="Source Sans 3"/>
                        </a:rPr>
                        <a:t>Primitive</a:t>
                      </a:r>
                    </a:p>
                  </a:txBody>
                  <a:tcPr marL="82296" marR="64008" marT="32004" marB="32004" anchor="ctr">
                    <a:solidFill>
                      <a:srgbClr val="8A1626"/>
                    </a:solidFill>
                  </a:tcPr>
                </a:tc>
                <a:tc>
                  <a:txBody>
                    <a:bodyPr wrap="square"/>
                    <a:lstStyle/>
                    <a:p>
                      <a:r>
                        <a:rPr sz="1300" b="1">
                          <a:solidFill>
                            <a:srgbClr val="FFFFFF"/>
                          </a:solidFill>
                          <a:latin typeface="Source Sans 3"/>
                        </a:rPr>
                        <a:t>What it is</a:t>
                      </a:r>
                    </a:p>
                  </a:txBody>
                  <a:tcPr marL="82296" marR="64008" marT="32004" marB="32004" anchor="ctr">
                    <a:solidFill>
                      <a:srgbClr val="8A1626"/>
                    </a:solidFill>
                  </a:tcPr>
                </a:tc>
                <a:tc>
                  <a:txBody>
                    <a:bodyPr wrap="square"/>
                    <a:lstStyle/>
                    <a:p>
                      <a:r>
                        <a:rPr sz="1300" b="1">
                          <a:solidFill>
                            <a:srgbClr val="FFFFFF"/>
                          </a:solidFill>
                          <a:latin typeface="Source Sans 3"/>
                        </a:rPr>
                        <a:t>Where you meet it</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Stream and source</a:t>
                      </a:r>
                    </a:p>
                  </a:txBody>
                  <a:tcPr marL="82296" marR="64008" marT="32004" marB="32004" anchor="ctr">
                    <a:solidFill>
                      <a:srgbClr val="FFFFFF"/>
                    </a:solidFill>
                  </a:tcPr>
                </a:tc>
                <a:tc>
                  <a:txBody>
                    <a:bodyPr wrap="square"/>
                    <a:lstStyle/>
                    <a:p>
                      <a:r>
                        <a:rPr sz="1350" b="0">
                          <a:solidFill>
                            <a:srgbClr val="1A1A1A"/>
                          </a:solidFill>
                          <a:latin typeface="Source Sans 3"/>
                        </a:rPr>
                        <a:t>A named, typed, unbounded sequence of rows, bound to a plugin that produces them</a:t>
                      </a:r>
                    </a:p>
                  </a:txBody>
                  <a:tcPr marL="82296" marR="64008" marT="32004" marB="32004" anchor="ctr">
                    <a:solidFill>
                      <a:srgbClr val="FFFFFF"/>
                    </a:solidFill>
                  </a:tcPr>
                </a:tc>
                <a:tc>
                  <a:txBody>
                    <a:bodyPr wrap="square"/>
                    <a:lstStyle/>
                    <a:p>
                      <a:r>
                        <a:rPr sz="1350" b="0">
                          <a:solidFill>
                            <a:srgbClr val="1A1A1A"/>
                          </a:solidFill>
                          <a:latin typeface="Source Sans 3"/>
                        </a:rPr>
                        <a:t>pravaha.streams / pravaha.sources</a:t>
                      </a:r>
                    </a:p>
                  </a:txBody>
                  <a:tcPr marL="82296" marR="64008" marT="32004" marB="32004" anchor="ctr">
                    <a:solidFill>
                      <a:srgbClr val="FFFFFF"/>
                    </a:solidFill>
                  </a:tcPr>
                </a:tc>
              </a:tr>
              <a:tr h="551383">
                <a:tc>
                  <a:txBody>
                    <a:bodyPr wrap="square"/>
                    <a:lstStyle/>
                    <a:p>
                      <a:r>
                        <a:rPr sz="1350" b="1">
                          <a:solidFill>
                            <a:srgbClr val="8A1626"/>
                          </a:solidFill>
                          <a:latin typeface="Source Sans 3"/>
                        </a:rPr>
                        <a:t>Continuous query</a:t>
                      </a:r>
                    </a:p>
                  </a:txBody>
                  <a:tcPr marL="82296" marR="64008" marT="32004" marB="32004" anchor="ctr">
                    <a:solidFill>
                      <a:srgbClr val="F7F5F2"/>
                    </a:solidFill>
                  </a:tcPr>
                </a:tc>
                <a:tc>
                  <a:txBody>
                    <a:bodyPr wrap="square"/>
                    <a:lstStyle/>
                    <a:p>
                      <a:r>
                        <a:rPr sz="1350" b="0">
                          <a:solidFill>
                            <a:srgbClr val="1A1A1A"/>
                          </a:solidFill>
                          <a:latin typeface="Source Sans 3"/>
                        </a:rPr>
                        <a:t>A registered computation over one or more streams</a:t>
                      </a:r>
                    </a:p>
                  </a:txBody>
                  <a:tcPr marL="82296" marR="64008" marT="32004" marB="32004" anchor="ctr">
                    <a:solidFill>
                      <a:srgbClr val="F7F5F2"/>
                    </a:solidFill>
                  </a:tcPr>
                </a:tc>
                <a:tc>
                  <a:txBody>
                    <a:bodyPr wrap="square"/>
                    <a:lstStyle/>
                    <a:p>
                      <a:r>
                        <a:rPr sz="1350" b="0">
                          <a:solidFill>
                            <a:srgbClr val="1A1A1A"/>
                          </a:solidFill>
                          <a:latin typeface="Source Sans 3"/>
                        </a:rPr>
                        <a:t>CREATE CONTINUOUS QUERY … AS SELECT</a:t>
                      </a:r>
                    </a:p>
                  </a:txBody>
                  <a:tcPr marL="82296" marR="64008" marT="32004" marB="32004" anchor="ctr">
                    <a:solidFill>
                      <a:srgbClr val="F7F5F2"/>
                    </a:solidFill>
                  </a:tcPr>
                </a:tc>
              </a:tr>
              <a:tr h="551383">
                <a:tc>
                  <a:txBody>
                    <a:bodyPr wrap="square"/>
                    <a:lstStyle/>
                    <a:p>
                      <a:r>
                        <a:rPr sz="1350" b="1">
                          <a:solidFill>
                            <a:srgbClr val="8A1626"/>
                          </a:solidFill>
                          <a:latin typeface="Source Sans 3"/>
                        </a:rPr>
                        <a:t>View and key</a:t>
                      </a:r>
                    </a:p>
                  </a:txBody>
                  <a:tcPr marL="82296" marR="64008" marT="32004" marB="32004" anchor="ctr">
                    <a:solidFill>
                      <a:srgbClr val="FFFFFF"/>
                    </a:solidFill>
                  </a:tcPr>
                </a:tc>
                <a:tc>
                  <a:txBody>
                    <a:bodyPr wrap="square"/>
                    <a:lstStyle/>
                    <a:p>
                      <a:r>
                        <a:rPr sz="1350" b="0">
                          <a:solidFill>
                            <a:srgbClr val="1A1A1A"/>
                          </a:solidFill>
                          <a:latin typeface="Source Sans 3"/>
                        </a:rPr>
                        <a:t>The query's answer, maintained incrementally; a row with the same key replaces the last</a:t>
                      </a:r>
                    </a:p>
                  </a:txBody>
                  <a:tcPr marL="82296" marR="64008" marT="32004" marB="32004" anchor="ctr">
                    <a:solidFill>
                      <a:srgbClr val="FFFFFF"/>
                    </a:solidFill>
                  </a:tcPr>
                </a:tc>
                <a:tc>
                  <a:txBody>
                    <a:bodyPr wrap="square"/>
                    <a:lstStyle/>
                    <a:p>
                      <a:r>
                        <a:rPr sz="1350" b="0">
                          <a:solidFill>
                            <a:srgbClr val="1A1A1A"/>
                          </a:solidFill>
                          <a:latin typeface="Source Sans 3"/>
                        </a:rPr>
                        <a:t>KEYED BY (…), RETAIN FOR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Event time and watermark</a:t>
                      </a:r>
                    </a:p>
                  </a:txBody>
                  <a:tcPr marL="82296" marR="64008" marT="32004" marB="32004" anchor="ctr">
                    <a:solidFill>
                      <a:srgbClr val="F7F5F2"/>
                    </a:solidFill>
                  </a:tcPr>
                </a:tc>
                <a:tc>
                  <a:txBody>
                    <a:bodyPr wrap="square"/>
                    <a:lstStyle/>
                    <a:p>
                      <a:r>
                        <a:rPr sz="1350" b="0">
                          <a:solidFill>
                            <a:srgbClr val="1A1A1A"/>
                          </a:solidFill>
                          <a:latin typeface="Source Sans 3"/>
                        </a:rPr>
                        <a:t>The data's own timestamp; “no row earlier than T is coming”</a:t>
                      </a:r>
                    </a:p>
                  </a:txBody>
                  <a:tcPr marL="82296" marR="64008" marT="32004" marB="32004" anchor="ctr">
                    <a:solidFill>
                      <a:srgbClr val="F7F5F2"/>
                    </a:solidFill>
                  </a:tcPr>
                </a:tc>
                <a:tc>
                  <a:txBody>
                    <a:bodyPr wrap="square"/>
                    <a:lstStyle/>
                    <a:p>
                      <a:r>
                        <a:rPr sz="1350" b="0">
                          <a:solidFill>
                            <a:srgbClr val="1A1A1A"/>
                          </a:solidFill>
                          <a:latin typeface="Source Sans 3"/>
                        </a:rPr>
                        <a:t>event-time, out-of-orderness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Weight and commit</a:t>
                      </a:r>
                    </a:p>
                  </a:txBody>
                  <a:tcPr marL="82296" marR="64008" marT="32004" marB="32004" anchor="ctr">
                    <a:solidFill>
                      <a:srgbClr val="FFFFFF"/>
                    </a:solidFill>
                  </a:tcPr>
                </a:tc>
                <a:tc>
                  <a:txBody>
                    <a:bodyPr wrap="square"/>
                    <a:lstStyle/>
                    <a:p>
                      <a:r>
                        <a:rPr sz="1350" b="0">
                          <a:solidFill>
                            <a:srgbClr val="1A1A1A"/>
                          </a:solidFill>
                          <a:latin typeface="Source Sans 3"/>
                        </a:rPr>
                        <a:t>+1 a row appears, −1 it is withdrawn; changes arrive per commit, never per row</a:t>
                      </a:r>
                    </a:p>
                  </a:txBody>
                  <a:tcPr marL="82296" marR="64008" marT="32004" marB="32004" anchor="ctr">
                    <a:solidFill>
                      <a:srgbClr val="FFFFFF"/>
                    </a:solidFill>
                  </a:tcPr>
                </a:tc>
                <a:tc>
                  <a:txBody>
                    <a:bodyPr wrap="square"/>
                    <a:lstStyle/>
                    <a:p>
                      <a:r>
                        <a:rPr sz="1350" b="0">
                          <a:solidFill>
                            <a:srgbClr val="1A1A1A"/>
                          </a:solidFill>
                          <a:latin typeface="Source Sans 3"/>
                        </a:rPr>
                        <a:t>Every subscription batch</a:t>
                      </a:r>
                    </a:p>
                  </a:txBody>
                  <a:tcPr marL="82296" marR="64008" marT="32004" marB="32004" anchor="ctr">
                    <a:solidFill>
                      <a:srgbClr val="FFFFFF"/>
                    </a:solidFill>
                  </a:tcPr>
                </a:tc>
              </a:tr>
              <a:tr h="551383">
                <a:tc>
                  <a:txBody>
                    <a:bodyPr wrap="square"/>
                    <a:lstStyle/>
                    <a:p>
                      <a:r>
                        <a:rPr sz="1350" b="1">
                          <a:solidFill>
                            <a:srgbClr val="8A1626"/>
                          </a:solidFill>
                          <a:latin typeface="Source Sans 3"/>
                        </a:rPr>
                        <a:t>Lane</a:t>
                      </a:r>
                    </a:p>
                  </a:txBody>
                  <a:tcPr marL="82296" marR="64008" marT="32004" marB="32004" anchor="ctr">
                    <a:solidFill>
                      <a:srgbClr val="F7F5F2"/>
                    </a:solidFill>
                  </a:tcPr>
                </a:tc>
                <a:tc>
                  <a:txBody>
                    <a:bodyPr wrap="square"/>
                    <a:lstStyle/>
                    <a:p>
                      <a:r>
                        <a:rPr sz="1350" b="0">
                          <a:solidFill>
                            <a:srgbClr val="1A1A1A"/>
                          </a:solidFill>
                          <a:latin typeface="Source Sans 3"/>
                        </a:rPr>
                        <a:t>One thread at a time, one inbox, one arena: the unit of execution</a:t>
                      </a:r>
                    </a:p>
                  </a:txBody>
                  <a:tcPr marL="82296" marR="64008" marT="32004" marB="32004" anchor="ctr">
                    <a:solidFill>
                      <a:srgbClr val="F7F5F2"/>
                    </a:solidFill>
                  </a:tcPr>
                </a:tc>
                <a:tc>
                  <a:txBody>
                    <a:bodyPr wrap="square"/>
                    <a:lstStyle/>
                    <a:p>
                      <a:r>
                        <a:rPr sz="1350" b="0">
                          <a:solidFill>
                            <a:srgbClr val="1A1A1A"/>
                          </a:solidFill>
                          <a:latin typeface="Source Sans 3"/>
                        </a:rPr>
                        <a:t>WITH (lane = 'dedicated')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Sink</a:t>
                      </a:r>
                    </a:p>
                  </a:txBody>
                  <a:tcPr marL="82296" marR="64008" marT="32004" marB="32004" anchor="ctr">
                    <a:solidFill>
                      <a:srgbClr val="FFFFFF"/>
                    </a:solidFill>
                  </a:tcPr>
                </a:tc>
                <a:tc>
                  <a:txBody>
                    <a:bodyPr wrap="square"/>
                    <a:lstStyle/>
                    <a:p>
                      <a:r>
                        <a:rPr sz="1350" b="0">
                          <a:solidFill>
                            <a:srgbClr val="1A1A1A"/>
                          </a:solidFill>
                          <a:latin typeface="Source Sans 3"/>
                        </a:rPr>
                        <a:t>Where every commit is also written, retractions included</a:t>
                      </a:r>
                    </a:p>
                  </a:txBody>
                  <a:tcPr marL="82296" marR="64008" marT="32004" marB="32004" anchor="ctr">
                    <a:solidFill>
                      <a:srgbClr val="FFFFFF"/>
                    </a:solidFill>
                  </a:tcPr>
                </a:tc>
                <a:tc>
                  <a:txBody>
                    <a:bodyPr wrap="square"/>
                    <a:lstStyle/>
                    <a:p>
                      <a:r>
                        <a:rPr sz="1350" b="0">
                          <a:solidFill>
                            <a:srgbClr val="1A1A1A"/>
                          </a:solidFill>
                          <a:latin typeface="Source Sans 3"/>
                        </a:rPr>
                        <a:t>pravaha register --sink</a:t>
                      </a:r>
                    </a:p>
                  </a:txBody>
                  <a:tcPr marL="82296" marR="64008" marT="32004" marB="32004" anchor="ctr">
                    <a:solidFill>
                      <a:srgbClr val="FFFFFF"/>
                    </a:solidFill>
                  </a:tcPr>
                </a:tc>
              </a:tr>
              <a:tr h="551383">
                <a:tc>
                  <a:txBody>
                    <a:bodyPr wrap="square"/>
                    <a:lstStyle/>
                    <a:p>
                      <a:r>
                        <a:rPr sz="1350" b="1">
                          <a:solidFill>
                            <a:srgbClr val="8A1626"/>
                          </a:solidFill>
                          <a:latin typeface="Source Sans 3"/>
                        </a:rPr>
                        <a:t>Subscription</a:t>
                      </a:r>
                    </a:p>
                  </a:txBody>
                  <a:tcPr marL="82296" marR="64008" marT="32004" marB="32004" anchor="ctr">
                    <a:solidFill>
                      <a:srgbClr val="F7F5F2"/>
                    </a:solidFill>
                  </a:tcPr>
                </a:tc>
                <a:tc>
                  <a:txBody>
                    <a:bodyPr wrap="square"/>
                    <a:lstStyle/>
                    <a:p>
                      <a:r>
                        <a:rPr sz="1350" b="0">
                          <a:solidFill>
                            <a:srgbClr val="1A1A1A"/>
                          </a:solidFill>
                          <a:latin typeface="Source Sans 3"/>
                        </a:rPr>
                        <a:t>A consumer attached to a view, from a snapshot, nothing lost between</a:t>
                      </a:r>
                    </a:p>
                  </a:txBody>
                  <a:tcPr marL="82296" marR="64008" marT="32004" marB="32004" anchor="ctr">
                    <a:solidFill>
                      <a:srgbClr val="F7F5F2"/>
                    </a:solidFill>
                  </a:tcPr>
                </a:tc>
                <a:tc>
                  <a:txBody>
                    <a:bodyPr wrap="square"/>
                    <a:lstStyle/>
                    <a:p>
                      <a:r>
                        <a:rPr sz="1350" b="0">
                          <a:solidFill>
                            <a:srgbClr val="1A1A1A"/>
                          </a:solidFill>
                          <a:latin typeface="Source Sans 3"/>
                        </a:rPr>
                        <a:t>subscribe(snapshot=True)</a:t>
                      </a:r>
                    </a:p>
                  </a:txBody>
                  <a:tcPr marL="82296" marR="64008" marT="32004" marB="32004" anchor="ctr">
                    <a:solidFill>
                      <a:srgbClr val="F7F5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ARCHITECTURE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How an application uses a maintained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cxnSp>
        <p:nvCxnSpPr>
          <p:cNvPr id="10" name="Connector 9"/>
          <p:cNvCxnSpPr/>
          <p:nvPr/>
        </p:nvCxnSpPr>
        <p:spPr>
          <a:xfrm>
            <a:off x="3056775" y="1942706"/>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056775" y="3199659"/>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6775" y="426323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056775" y="571356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989475" y="4647364"/>
            <a:ext cx="0" cy="392004"/>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162638" y="1942706"/>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162638" y="3199659"/>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162638" y="426323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162638" y="5713564"/>
            <a:ext cx="759537"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77240" y="1410919"/>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410919"/>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1575511"/>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Kafka</a:t>
            </a:r>
          </a:p>
        </p:txBody>
      </p:sp>
      <p:sp>
        <p:nvSpPr>
          <p:cNvPr id="22" name="TextBox 21"/>
          <p:cNvSpPr txBox="1"/>
          <p:nvPr/>
        </p:nvSpPr>
        <p:spPr>
          <a:xfrm>
            <a:off x="960120" y="1936851"/>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One reader per partition</a:t>
            </a:r>
          </a:p>
        </p:txBody>
      </p:sp>
      <p:sp>
        <p:nvSpPr>
          <p:cNvPr id="23" name="Rectangle 22"/>
          <p:cNvSpPr/>
          <p:nvPr/>
        </p:nvSpPr>
        <p:spPr>
          <a:xfrm>
            <a:off x="777240" y="2667871"/>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2667871"/>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2832463"/>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CDC</a:t>
            </a:r>
          </a:p>
        </p:txBody>
      </p:sp>
      <p:sp>
        <p:nvSpPr>
          <p:cNvPr id="26" name="TextBox 25"/>
          <p:cNvSpPr txBox="1"/>
          <p:nvPr/>
        </p:nvSpPr>
        <p:spPr>
          <a:xfrm>
            <a:off x="960120" y="3193804"/>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PostgreSQL and MySQL logs</a:t>
            </a:r>
          </a:p>
        </p:txBody>
      </p:sp>
      <p:sp>
        <p:nvSpPr>
          <p:cNvPr id="27" name="Rectangle 26"/>
          <p:cNvSpPr/>
          <p:nvPr/>
        </p:nvSpPr>
        <p:spPr>
          <a:xfrm>
            <a:off x="777240" y="3924824"/>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924824"/>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089416"/>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Databases</a:t>
            </a:r>
          </a:p>
        </p:txBody>
      </p:sp>
      <p:sp>
        <p:nvSpPr>
          <p:cNvPr id="30" name="TextBox 29"/>
          <p:cNvSpPr txBox="1"/>
          <p:nvPr/>
        </p:nvSpPr>
        <p:spPr>
          <a:xfrm>
            <a:off x="960120" y="4450756"/>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JDBC, Aerospike, Cassandra</a:t>
            </a:r>
          </a:p>
        </p:txBody>
      </p:sp>
      <p:sp>
        <p:nvSpPr>
          <p:cNvPr id="31" name="Rectangle 30"/>
          <p:cNvSpPr/>
          <p:nvPr/>
        </p:nvSpPr>
        <p:spPr>
          <a:xfrm>
            <a:off x="777240" y="5181776"/>
            <a:ext cx="2233815"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5181776"/>
            <a:ext cx="223381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0120" y="5346368"/>
            <a:ext cx="1868055"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Files · Delta</a:t>
            </a:r>
          </a:p>
        </p:txBody>
      </p:sp>
      <p:sp>
        <p:nvSpPr>
          <p:cNvPr id="34" name="TextBox 33"/>
          <p:cNvSpPr txBox="1"/>
          <p:nvPr/>
        </p:nvSpPr>
        <p:spPr>
          <a:xfrm>
            <a:off x="960120" y="5707709"/>
            <a:ext cx="1868055" cy="409626"/>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Bounded or followed</a:t>
            </a:r>
          </a:p>
        </p:txBody>
      </p:sp>
      <p:sp>
        <p:nvSpPr>
          <p:cNvPr id="35" name="Rectangle 34"/>
          <p:cNvSpPr/>
          <p:nvPr/>
        </p:nvSpPr>
        <p:spPr>
          <a:xfrm>
            <a:off x="3862032" y="1410919"/>
            <a:ext cx="4254886" cy="319072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62032" y="1410919"/>
            <a:ext cx="425488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44912" y="1575511"/>
            <a:ext cx="3889126"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PRAVAHA ENGINE</a:t>
            </a:r>
          </a:p>
        </p:txBody>
      </p:sp>
      <p:sp>
        <p:nvSpPr>
          <p:cNvPr id="38" name="TextBox 37"/>
          <p:cNvSpPr txBox="1"/>
          <p:nvPr/>
        </p:nvSpPr>
        <p:spPr>
          <a:xfrm>
            <a:off x="4044912" y="1831543"/>
            <a:ext cx="388912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once, run on lanes, keep state, checkpoint at one cut</a:t>
            </a:r>
          </a:p>
        </p:txBody>
      </p:sp>
      <p:sp>
        <p:nvSpPr>
          <p:cNvPr id="39" name="TextBox 38"/>
          <p:cNvSpPr txBox="1"/>
          <p:nvPr/>
        </p:nvSpPr>
        <p:spPr>
          <a:xfrm>
            <a:off x="4044912" y="2462784"/>
            <a:ext cx="3889126" cy="201084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Calcite plans; Pravaha's own operators run over off-heap rows. Every read, subscription and registration passes the same grants, row filters and masks.</a:t>
            </a:r>
          </a:p>
        </p:txBody>
      </p:sp>
      <p:sp>
        <p:nvSpPr>
          <p:cNvPr id="40" name="Rectangle 39"/>
          <p:cNvSpPr/>
          <p:nvPr/>
        </p:nvSpPr>
        <p:spPr>
          <a:xfrm>
            <a:off x="3862032" y="5085088"/>
            <a:ext cx="4254886" cy="1160263"/>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862032" y="5085088"/>
            <a:ext cx="4254886"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44912" y="5249680"/>
            <a:ext cx="3889126"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Views, keyed and current</a:t>
            </a:r>
          </a:p>
        </p:txBody>
      </p:sp>
      <p:sp>
        <p:nvSpPr>
          <p:cNvPr id="43" name="TextBox 42"/>
          <p:cNvSpPr txBox="1"/>
          <p:nvPr/>
        </p:nvSpPr>
        <p:spPr>
          <a:xfrm>
            <a:off x="4044912" y="5611020"/>
            <a:ext cx="3889126" cy="506315"/>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Read by key, scanned with SQL, or followed per commit</a:t>
            </a:r>
          </a:p>
        </p:txBody>
      </p:sp>
      <p:sp>
        <p:nvSpPr>
          <p:cNvPr id="44" name="Rectangle 43"/>
          <p:cNvSpPr/>
          <p:nvPr/>
        </p:nvSpPr>
        <p:spPr>
          <a:xfrm>
            <a:off x="8967895" y="1410919"/>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967895" y="1410919"/>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50775" y="1575511"/>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a:t>
            </a:r>
          </a:p>
        </p:txBody>
      </p:sp>
      <p:sp>
        <p:nvSpPr>
          <p:cNvPr id="47" name="TextBox 46"/>
          <p:cNvSpPr txBox="1"/>
          <p:nvPr/>
        </p:nvSpPr>
        <p:spPr>
          <a:xfrm>
            <a:off x="9150775" y="1936851"/>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Java, Python, over Flight SQL</a:t>
            </a:r>
          </a:p>
        </p:txBody>
      </p:sp>
      <p:sp>
        <p:nvSpPr>
          <p:cNvPr id="48" name="Rectangle 47"/>
          <p:cNvSpPr/>
          <p:nvPr/>
        </p:nvSpPr>
        <p:spPr>
          <a:xfrm>
            <a:off x="8967895" y="2667871"/>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67895" y="2667871"/>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50775" y="2832463"/>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PostgreSQL wire</a:t>
            </a:r>
          </a:p>
        </p:txBody>
      </p:sp>
      <p:sp>
        <p:nvSpPr>
          <p:cNvPr id="51" name="TextBox 50"/>
          <p:cNvSpPr txBox="1"/>
          <p:nvPr/>
        </p:nvSpPr>
        <p:spPr>
          <a:xfrm>
            <a:off x="9150775" y="3193804"/>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psql, Power BI, Grafana</a:t>
            </a:r>
          </a:p>
        </p:txBody>
      </p:sp>
      <p:sp>
        <p:nvSpPr>
          <p:cNvPr id="52" name="Rectangle 51"/>
          <p:cNvSpPr/>
          <p:nvPr/>
        </p:nvSpPr>
        <p:spPr>
          <a:xfrm>
            <a:off x="8967895" y="3924824"/>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67895" y="3924824"/>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50775" y="4089416"/>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Console · CLI</a:t>
            </a:r>
          </a:p>
        </p:txBody>
      </p:sp>
      <p:sp>
        <p:nvSpPr>
          <p:cNvPr id="55" name="TextBox 54"/>
          <p:cNvSpPr txBox="1"/>
          <p:nvPr/>
        </p:nvSpPr>
        <p:spPr>
          <a:xfrm>
            <a:off x="9150775" y="4450756"/>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REST under /api/v1 too</a:t>
            </a:r>
          </a:p>
        </p:txBody>
      </p:sp>
      <p:sp>
        <p:nvSpPr>
          <p:cNvPr id="56" name="Rectangle 55"/>
          <p:cNvSpPr/>
          <p:nvPr/>
        </p:nvSpPr>
        <p:spPr>
          <a:xfrm>
            <a:off x="8967895" y="5181776"/>
            <a:ext cx="2446559" cy="106357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967895" y="5181776"/>
            <a:ext cx="24465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150775" y="5346368"/>
            <a:ext cx="20807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Sinks</a:t>
            </a:r>
          </a:p>
        </p:txBody>
      </p:sp>
      <p:sp>
        <p:nvSpPr>
          <p:cNvPr id="59" name="TextBox 58"/>
          <p:cNvSpPr txBox="1"/>
          <p:nvPr/>
        </p:nvSpPr>
        <p:spPr>
          <a:xfrm>
            <a:off x="9150775" y="5707709"/>
            <a:ext cx="2080799" cy="409626"/>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Kafka, JDBC, Delta, Iceberg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FIVE STEPS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How applications use Pravaha</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5786932"/>
            <a:ext cx="10637215" cy="458419"/>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786932"/>
            <a:ext cx="54864" cy="4584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896660"/>
            <a:ext cx="10180015" cy="275539"/>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application never polls: it asks once, then reads or listens.</a:t>
            </a:r>
          </a:p>
        </p:txBody>
      </p:sp>
      <p:sp>
        <p:nvSpPr>
          <p:cNvPr id="13" name="Oval 12"/>
          <p:cNvSpPr/>
          <p:nvPr/>
        </p:nvSpPr>
        <p:spPr>
          <a:xfrm>
            <a:off x="777240" y="1465783"/>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1</a:t>
            </a:r>
          </a:p>
        </p:txBody>
      </p:sp>
      <p:sp>
        <p:nvSpPr>
          <p:cNvPr id="14" name="TextBox 13"/>
          <p:cNvSpPr txBox="1"/>
          <p:nvPr/>
        </p:nvSpPr>
        <p:spPr>
          <a:xfrm>
            <a:off x="1463040" y="1465783"/>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Declare a stream, bind a source</a:t>
            </a:r>
          </a:p>
          <a:p>
            <a:pPr>
              <a:lnSpc>
                <a:spcPct val="120000"/>
              </a:lnSpc>
              <a:spcBef>
                <a:spcPts val="0"/>
              </a:spcBef>
              <a:spcAft>
                <a:spcPts val="0"/>
              </a:spcAft>
            </a:pPr>
            <a:r>
              <a:rPr sz="1150" b="0" i="0">
                <a:solidFill>
                  <a:srgbClr val="4A5058"/>
                </a:solidFill>
                <a:latin typeface="Source Sans 3"/>
              </a:rPr>
              <a:t>A schema and its event-time column under pravaha.streams; a plugin and its options under pravaha.sources — enough to plan with nothing attached.</a:t>
            </a:r>
          </a:p>
        </p:txBody>
      </p:sp>
      <p:sp>
        <p:nvSpPr>
          <p:cNvPr id="15" name="Rectangle 14"/>
          <p:cNvSpPr/>
          <p:nvPr/>
        </p:nvSpPr>
        <p:spPr>
          <a:xfrm>
            <a:off x="1463040" y="2249545"/>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2308067"/>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2</a:t>
            </a:r>
          </a:p>
        </p:txBody>
      </p:sp>
      <p:sp>
        <p:nvSpPr>
          <p:cNvPr id="17" name="TextBox 16"/>
          <p:cNvSpPr txBox="1"/>
          <p:nvPr/>
        </p:nvSpPr>
        <p:spPr>
          <a:xfrm>
            <a:off x="1463040" y="2308067"/>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Register the question</a:t>
            </a:r>
          </a:p>
          <a:p>
            <a:pPr>
              <a:lnSpc>
                <a:spcPct val="120000"/>
              </a:lnSpc>
              <a:spcBef>
                <a:spcPts val="0"/>
              </a:spcBef>
              <a:spcAft>
                <a:spcPts val="0"/>
              </a:spcAft>
            </a:pPr>
            <a:r>
              <a:rPr sz="1150" b="0" i="0">
                <a:solidFill>
                  <a:srgbClr val="4A5058"/>
                </a:solidFill>
                <a:latin typeface="Source Sans 3"/>
              </a:rPr>
              <a:t>CREATE CONTINUOUS QUERY name KEYED BY (…) AS SELECT … — from SQL, the CLI, an SDK, the console or the embedded engine. What cannot work is refused here, by code.</a:t>
            </a:r>
          </a:p>
        </p:txBody>
      </p:sp>
      <p:sp>
        <p:nvSpPr>
          <p:cNvPr id="18" name="Rectangle 17"/>
          <p:cNvSpPr/>
          <p:nvPr/>
        </p:nvSpPr>
        <p:spPr>
          <a:xfrm>
            <a:off x="1463040" y="3091830"/>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77240" y="3150351"/>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3</a:t>
            </a:r>
          </a:p>
        </p:txBody>
      </p:sp>
      <p:sp>
        <p:nvSpPr>
          <p:cNvPr id="20" name="TextBox 19"/>
          <p:cNvSpPr txBox="1"/>
          <p:nvPr/>
        </p:nvSpPr>
        <p:spPr>
          <a:xfrm>
            <a:off x="1463040" y="3150351"/>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Read it, or subscribe</a:t>
            </a:r>
          </a:p>
          <a:p>
            <a:pPr>
              <a:lnSpc>
                <a:spcPct val="120000"/>
              </a:lnSpc>
              <a:spcBef>
                <a:spcPts val="0"/>
              </a:spcBef>
              <a:spcAft>
                <a:spcPts val="0"/>
              </a:spcAft>
            </a:pPr>
            <a:r>
              <a:rPr sz="1150" b="0" i="0">
                <a:solidFill>
                  <a:srgbClr val="4A5058"/>
                </a:solidFill>
                <a:latin typeface="Source Sans 3"/>
              </a:rPr>
              <a:t>Point reads and SQL over the view; or a subscription from a snapshot, then every commit with its weights, reconnecting across a restart.</a:t>
            </a:r>
          </a:p>
        </p:txBody>
      </p:sp>
      <p:sp>
        <p:nvSpPr>
          <p:cNvPr id="21" name="Rectangle 20"/>
          <p:cNvSpPr/>
          <p:nvPr/>
        </p:nvSpPr>
        <p:spPr>
          <a:xfrm>
            <a:off x="1463040" y="3934114"/>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399263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4</a:t>
            </a:r>
          </a:p>
        </p:txBody>
      </p:sp>
      <p:sp>
        <p:nvSpPr>
          <p:cNvPr id="23" name="TextBox 22"/>
          <p:cNvSpPr txBox="1"/>
          <p:nvPr/>
        </p:nvSpPr>
        <p:spPr>
          <a:xfrm>
            <a:off x="1463040" y="3992636"/>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Change it safely</a:t>
            </a:r>
          </a:p>
          <a:p>
            <a:pPr>
              <a:lnSpc>
                <a:spcPct val="120000"/>
              </a:lnSpc>
              <a:spcBef>
                <a:spcPts val="0"/>
              </a:spcBef>
              <a:spcAft>
                <a:spcPts val="0"/>
              </a:spcAft>
            </a:pPr>
            <a:r>
              <a:rPr sz="1150" b="0" i="0">
                <a:solidFill>
                  <a:srgbClr val="4A5058"/>
                </a:solidFill>
                <a:latin typeface="Source Sans 3"/>
              </a:rPr>
              <a:t>CREATE OR REPLACE runs the new version beside the old, replays, and swaps at the exact position the running one reached — no gap, nothing counted twice.</a:t>
            </a:r>
          </a:p>
        </p:txBody>
      </p:sp>
      <p:sp>
        <p:nvSpPr>
          <p:cNvPr id="24" name="Rectangle 23"/>
          <p:cNvSpPr/>
          <p:nvPr/>
        </p:nvSpPr>
        <p:spPr>
          <a:xfrm>
            <a:off x="1463040" y="4776398"/>
            <a:ext cx="99514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77240" y="4834920"/>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00" b="1">
                <a:solidFill>
                  <a:srgbClr val="FFFFFF"/>
                </a:solidFill>
                <a:latin typeface="Source Sans 3"/>
              </a:rPr>
              <a:t>5</a:t>
            </a:r>
          </a:p>
        </p:txBody>
      </p:sp>
      <p:sp>
        <p:nvSpPr>
          <p:cNvPr id="26" name="TextBox 25"/>
          <p:cNvSpPr txBox="1"/>
          <p:nvPr/>
        </p:nvSpPr>
        <p:spPr>
          <a:xfrm>
            <a:off x="1463040" y="4834920"/>
            <a:ext cx="9951415" cy="750844"/>
          </a:xfrm>
          <a:prstGeom prst="rect">
            <a:avLst/>
          </a:prstGeom>
          <a:noFill/>
        </p:spPr>
        <p:txBody>
          <a:bodyPr wrap="square" lIns="0" rIns="0" tIns="0" bIns="0" anchor="t">
            <a:spAutoFit/>
          </a:bodyPr>
          <a:lstStyle/>
          <a:p>
            <a:pPr algn="l">
              <a:lnSpc>
                <a:spcPct val="110000"/>
              </a:lnSpc>
              <a:spcBef>
                <a:spcPts val="0"/>
              </a:spcBef>
              <a:spcAft>
                <a:spcPts val="100"/>
              </a:spcAft>
            </a:pPr>
            <a:r>
              <a:rPr sz="1350" b="1" i="0">
                <a:solidFill>
                  <a:srgbClr val="1A1A1A"/>
                </a:solidFill>
                <a:latin typeface="Source Sans 3"/>
              </a:rPr>
              <a:t>Operate it</a:t>
            </a:r>
          </a:p>
          <a:p>
            <a:pPr>
              <a:lnSpc>
                <a:spcPct val="120000"/>
              </a:lnSpc>
              <a:spcBef>
                <a:spcPts val="0"/>
              </a:spcBef>
              <a:spcAft>
                <a:spcPts val="0"/>
              </a:spcAft>
            </a:pPr>
            <a:r>
              <a:rPr sz="1150" b="0" i="0">
                <a:solidFill>
                  <a:srgbClr val="4A5058"/>
                </a:solidFill>
                <a:latin typeface="Source Sans 3"/>
              </a:rPr>
              <a:t>pravaha doctor and top, per-query metrics and dashboards, alerts that fire and clear, and a time-travel debugger that forks a query from a checkpoint.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Four things in one statement</a:t>
            </a:r>
          </a:p>
          <a:p>
            <a:pPr lvl="1">
              <a:lnSpc>
                <a:spcPct val="120000"/>
              </a:lnSpc>
              <a:spcBef>
                <a:spcPts val="0"/>
              </a:spcBef>
              <a:spcAft>
                <a:spcPts val="0"/>
              </a:spcAft>
            </a:pPr>
            <a:r>
              <a:rPr sz="13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Run against a real Aerospike</a:t>
            </a:r>
          </a:p>
          <a:p>
            <a:pPr lvl="1">
              <a:lnSpc>
                <a:spcPct val="120000"/>
              </a:lnSpc>
              <a:spcBef>
                <a:spcPts val="0"/>
              </a:spcBef>
              <a:spcAft>
                <a:spcPts val="0"/>
              </a:spcAft>
            </a:pPr>
            <a:r>
              <a:rPr sz="1350" b="0">
                <a:solidFill>
                  <a:srgbClr val="4A5058"/>
                </a:solidFill>
                <a:latin typeface="Source Sans 3"/>
              </a:rPr>
              <a:t>By AerospikeContinuousQueryIT, over a binding with deletes: detect — without it the aggregate is refused (PRV-2042) rather than count a record twice.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Every query is continuous</a:t>
            </a:r>
          </a:p>
          <a:p>
            <a:pPr lvl="1">
              <a:lnSpc>
                <a:spcPct val="120000"/>
              </a:lnSpc>
              <a:spcBef>
                <a:spcPts val="0"/>
              </a:spcBef>
              <a:spcAft>
                <a:spcPts val="0"/>
              </a:spcAft>
            </a:pPr>
            <a:r>
              <a:rPr sz="1350" b="0">
                <a:solidFill>
                  <a:srgbClr val="4A5058"/>
                </a:solidFill>
                <a:latin typeface="Source Sans 3"/>
              </a:rPr>
              <a:t>SELECT STREAM is accepted and redundant; registered as CREATE CONTINUOUS QUERY txn_volume KEYED BY (window_end, user_id).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late reading corrects a closed window: −1 then +1</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real run: a late reading from press-02 corrected the 08:03 minute (machine sensor anomalies, step 5), trimmed to the columns that changed.</a:t>
            </a:r>
          </a:p>
        </p:txBody>
      </p:sp>
      <p:sp>
        <p:nvSpPr>
          <p:cNvPr id="12" name="Rectangle 11"/>
          <p:cNvSpPr/>
          <p:nvPr/>
        </p:nvSpPr>
        <p:spPr>
          <a:xfrm>
            <a:off x="777240" y="1394561"/>
            <a:ext cx="10637215" cy="142468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94561"/>
            <a:ext cx="45720" cy="142468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95729"/>
            <a:ext cx="10234879" cy="102234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snapshot</a:t>
            </a:r>
          </a:p>
          <a:p>
            <a:pPr>
              <a:lnSpc>
                <a:spcPct val="100000"/>
              </a:lnSpc>
              <a:spcBef>
                <a:spcPts val="0"/>
              </a:spcBef>
              <a:spcAft>
                <a:spcPts val="0"/>
              </a:spcAft>
            </a:pPr>
            <a:r>
              <a:rPr sz="1250" b="0" i="0">
                <a:solidFill>
                  <a:srgbClr val="F1EEE9"/>
                </a:solidFill>
                <a:latin typeface="Consolas"/>
              </a:rPr>
              <a:t>+1 {window_end 08:03, press-02, readings 6, max 980}</a:t>
            </a:r>
          </a:p>
          <a:p>
            <a:pPr>
              <a:lnSpc>
                <a:spcPct val="100000"/>
              </a:lnSpc>
              <a:spcBef>
                <a:spcPts val="0"/>
              </a:spcBef>
              <a:spcAft>
                <a:spcPts val="0"/>
              </a:spcAft>
            </a:pPr>
            <a:r>
              <a:rPr sz="1250" b="0" i="0">
                <a:solidFill>
                  <a:srgbClr val="E8B8C0"/>
                </a:solidFill>
                <a:latin typeface="Consolas"/>
              </a:rPr>
              <a:t>-- commit</a:t>
            </a:r>
          </a:p>
          <a:p>
            <a:pPr>
              <a:lnSpc>
                <a:spcPct val="100000"/>
              </a:lnSpc>
              <a:spcBef>
                <a:spcPts val="0"/>
              </a:spcBef>
              <a:spcAft>
                <a:spcPts val="0"/>
              </a:spcAft>
            </a:pPr>
            <a:r>
              <a:rPr sz="1250" b="0" i="0">
                <a:solidFill>
                  <a:srgbClr val="F1EEE9"/>
                </a:solidFill>
                <a:latin typeface="Consolas"/>
              </a:rPr>
              <a:t>-1 {window_end 08:03, press-02, readings 6, max 980}</a:t>
            </a:r>
          </a:p>
          <a:p>
            <a:pPr>
              <a:lnSpc>
                <a:spcPct val="100000"/>
              </a:lnSpc>
              <a:spcBef>
                <a:spcPts val="0"/>
              </a:spcBef>
              <a:spcAft>
                <a:spcPts val="0"/>
              </a:spcAft>
            </a:pPr>
            <a:r>
              <a:rPr sz="1250" b="0" i="0">
                <a:solidFill>
                  <a:srgbClr val="F1EEE9"/>
                </a:solidFill>
                <a:latin typeface="Consolas"/>
              </a:rPr>
              <a:t>+1 {window_end 08:03, press-02, readings 7, max 991}</a:t>
            </a:r>
          </a:p>
        </p:txBody>
      </p:sp>
      <p:sp>
        <p:nvSpPr>
          <p:cNvPr id="15" name="TextBox 14"/>
          <p:cNvSpPr txBox="1"/>
          <p:nvPr/>
        </p:nvSpPr>
        <p:spPr>
          <a:xfrm>
            <a:off x="777240" y="3029559"/>
            <a:ext cx="10637215" cy="264154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Weight: the Z-set row</a:t>
            </a:r>
          </a:p>
          <a:p>
            <a:pPr lvl="1">
              <a:lnSpc>
                <a:spcPct val="120000"/>
              </a:lnSpc>
              <a:spcBef>
                <a:spcPts val="0"/>
              </a:spcBef>
              <a:spcAft>
                <a:spcPts val="0"/>
              </a:spcAft>
            </a:pPr>
            <a:r>
              <a:rPr sz="1350" b="0">
                <a:solidFill>
                  <a:srgbClr val="4A5058"/>
                </a:solidFill>
                <a:latin typeface="Source Sans 3"/>
              </a:rPr>
              <a:t>+1 is a row appearing, −1 one being withdrawn; a change of weight zero is never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Commit</a:t>
            </a:r>
          </a:p>
          <a:p>
            <a:pPr lvl="1">
              <a:lnSpc>
                <a:spcPct val="120000"/>
              </a:lnSpc>
              <a:spcBef>
                <a:spcPts val="0"/>
              </a:spcBef>
              <a:spcAft>
                <a:spcPts val="0"/>
              </a:spcAft>
            </a:pPr>
            <a:r>
              <a:rPr sz="1350" b="0">
                <a:solidFill>
                  <a:srgbClr val="4A5058"/>
                </a:solidFill>
                <a:latin typeface="Source Sans 3"/>
              </a:rPr>
              <a:t>Changes arrive per commit, never per row, so nobody acts on a total still being assembled.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a consumer does</a:t>
            </a:r>
          </a:p>
          <a:p>
            <a:pPr lvl="1">
              <a:lnSpc>
                <a:spcPct val="120000"/>
              </a:lnSpc>
              <a:spcBef>
                <a:spcPts val="0"/>
              </a:spcBef>
              <a:spcAft>
                <a:spcPts val="0"/>
              </a:spcAft>
            </a:pPr>
            <a:r>
              <a:rPr sz="1350" b="0">
                <a:solidFill>
                  <a:srgbClr val="4A5058"/>
                </a:solidFill>
                <a:latin typeface="Source Sans 3"/>
              </a:rPr>
              <a:t>Wants current values: ignore −1 and overwrite by key. Keeps its own aggregate: apply the weights, or it drifts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BENEFITS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maintaining the answer buys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graphicFrame>
        <p:nvGraphicFramePr>
          <p:cNvPr id="10" name="Table 9"/>
          <p:cNvGraphicFramePr>
            <a:graphicFrameLocks noGrp="1"/>
          </p:cNvGraphicFramePr>
          <p:nvPr/>
        </p:nvGraphicFramePr>
        <p:xfrm>
          <a:off x="777240" y="1410919"/>
          <a:ext cx="10637213" cy="4291784"/>
        </p:xfrm>
        <a:graphic>
          <a:graphicData uri="http://schemas.openxmlformats.org/drawingml/2006/table">
            <a:tbl>
              <a:tblPr firstRow="1">
                <a:tableStyleId>{5C22544A-7EE6-4342-B048-85BDC9FD1C3A}</a:tableStyleId>
              </a:tblPr>
              <a:tblGrid>
                <a:gridCol w="2618391"/>
                <a:gridCol w="5236782"/>
                <a:gridCol w="2782040"/>
              </a:tblGrid>
              <a:tr h="322376">
                <a:tc>
                  <a:txBody>
                    <a:bodyPr wrap="square"/>
                    <a:lstStyle/>
                    <a:p>
                      <a:r>
                        <a:rPr sz="1300" b="1">
                          <a:solidFill>
                            <a:srgbClr val="FFFFFF"/>
                          </a:solidFill>
                          <a:latin typeface="Source Sans 3"/>
                        </a:rPr>
                        <a:t>Benefit</a:t>
                      </a:r>
                    </a:p>
                  </a:txBody>
                  <a:tcPr marL="82296" marR="64008" marT="32004" marB="32004" anchor="ctr">
                    <a:solidFill>
                      <a:srgbClr val="8A1626"/>
                    </a:solidFill>
                  </a:tcPr>
                </a:tc>
                <a:tc>
                  <a:txBody>
                    <a:bodyPr wrap="square"/>
                    <a:lstStyle/>
                    <a:p>
                      <a:r>
                        <a:rPr sz="1300" b="1">
                          <a:solidFill>
                            <a:srgbClr val="FFFFFF"/>
                          </a:solidFill>
                          <a:latin typeface="Source Sans 3"/>
                        </a:rPr>
                        <a:t>What it means</a:t>
                      </a:r>
                    </a:p>
                  </a:txBody>
                  <a:tcPr marL="82296" marR="64008" marT="32004" marB="32004" anchor="ctr">
                    <a:solidFill>
                      <a:srgbClr val="8A1626"/>
                    </a:solidFill>
                  </a:tcPr>
                </a:tc>
                <a:tc>
                  <a:txBody>
                    <a:bodyPr wrap="square"/>
                    <a:lstStyle/>
                    <a:p>
                      <a:r>
                        <a:rPr sz="1300" b="1">
                          <a:solidFill>
                            <a:srgbClr val="FFFFFF"/>
                          </a:solidFill>
                          <a:latin typeface="Source Sans 3"/>
                        </a:rPr>
                        <a:t>Held by</a:t>
                      </a:r>
                    </a:p>
                  </a:txBody>
                  <a:tcPr marL="82296" marR="64008" marT="32004" marB="32004" anchor="ctr">
                    <a:solidFill>
                      <a:srgbClr val="8A1626"/>
                    </a:solidFill>
                  </a:tcPr>
                </a:tc>
              </a:tr>
              <a:tr h="551383">
                <a:tc>
                  <a:txBody>
                    <a:bodyPr wrap="square"/>
                    <a:lstStyle/>
                    <a:p>
                      <a:r>
                        <a:rPr sz="1350" b="1">
                          <a:solidFill>
                            <a:srgbClr val="8A1626"/>
                          </a:solidFill>
                          <a:latin typeface="Source Sans 3"/>
                        </a:rPr>
                        <a:t>Current answers</a:t>
                      </a:r>
                    </a:p>
                  </a:txBody>
                  <a:tcPr marL="82296" marR="64008" marT="32004" marB="32004" anchor="ctr">
                    <a:solidFill>
                      <a:srgbClr val="FFFFFF"/>
                    </a:solidFill>
                  </a:tcPr>
                </a:tc>
                <a:tc>
                  <a:txBody>
                    <a:bodyPr wrap="square"/>
                    <a:lstStyle/>
                    <a:p>
                      <a:r>
                        <a:rPr sz="1350" b="0">
                          <a:solidFill>
                            <a:srgbClr val="1A1A1A"/>
                          </a:solidFill>
                          <a:latin typeface="Source Sans 3"/>
                        </a:rPr>
                        <a:t>A view moves with every commit of its input</a:t>
                      </a:r>
                    </a:p>
                  </a:txBody>
                  <a:tcPr marL="82296" marR="64008" marT="32004" marB="32004" anchor="ctr">
                    <a:solidFill>
                      <a:srgbClr val="FFFFFF"/>
                    </a:solidFill>
                  </a:tcPr>
                </a:tc>
                <a:tc>
                  <a:txBody>
                    <a:bodyPr wrap="square"/>
                    <a:lstStyle/>
                    <a:p>
                      <a:r>
                        <a:rPr sz="1350" b="0">
                          <a:solidFill>
                            <a:srgbClr val="1A1A1A"/>
                          </a:solidFill>
                          <a:latin typeface="Source Sans 3"/>
                        </a:rPr>
                        <a:t>Watermarks, per-commit delivery</a:t>
                      </a:r>
                    </a:p>
                  </a:txBody>
                  <a:tcPr marL="82296" marR="64008" marT="32004" marB="32004" anchor="ctr">
                    <a:solidFill>
                      <a:srgbClr val="FFFFFF"/>
                    </a:solidFill>
                  </a:tcPr>
                </a:tc>
              </a:tr>
              <a:tr h="330555">
                <a:tc>
                  <a:txBody>
                    <a:bodyPr wrap="square"/>
                    <a:lstStyle/>
                    <a:p>
                      <a:r>
                        <a:rPr sz="1350" b="1">
                          <a:solidFill>
                            <a:srgbClr val="8A1626"/>
                          </a:solidFill>
                          <a:latin typeface="Source Sans 3"/>
                        </a:rPr>
                        <a:t>No second database</a:t>
                      </a:r>
                    </a:p>
                  </a:txBody>
                  <a:tcPr marL="82296" marR="64008" marT="32004" marB="32004" anchor="ctr">
                    <a:solidFill>
                      <a:srgbClr val="F7F5F2"/>
                    </a:solidFill>
                  </a:tcPr>
                </a:tc>
                <a:tc>
                  <a:txBody>
                    <a:bodyPr wrap="square"/>
                    <a:lstStyle/>
                    <a:p>
                      <a:r>
                        <a:rPr sz="1350" b="0">
                          <a:solidFill>
                            <a:srgbClr val="1A1A1A"/>
                          </a:solidFill>
                          <a:latin typeface="Source Sans 3"/>
                        </a:rPr>
                        <a:t>The answer is served by key where it is kept</a:t>
                      </a:r>
                    </a:p>
                  </a:txBody>
                  <a:tcPr marL="82296" marR="64008" marT="32004" marB="32004" anchor="ctr">
                    <a:solidFill>
                      <a:srgbClr val="F7F5F2"/>
                    </a:solidFill>
                  </a:tcPr>
                </a:tc>
                <a:tc>
                  <a:txBody>
                    <a:bodyPr wrap="square"/>
                    <a:lstStyle/>
                    <a:p>
                      <a:r>
                        <a:rPr sz="1350" b="0">
                          <a:solidFill>
                            <a:srgbClr val="1A1A1A"/>
                          </a:solidFill>
                          <a:latin typeface="Source Sans 3"/>
                        </a:rPr>
                        <a:t>Flight SQL, pgwire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Cheap reads</a:t>
                      </a:r>
                    </a:p>
                  </a:txBody>
                  <a:tcPr marL="82296" marR="64008" marT="32004" marB="32004" anchor="ctr">
                    <a:solidFill>
                      <a:srgbClr val="FFFFFF"/>
                    </a:solidFill>
                  </a:tcPr>
                </a:tc>
                <a:tc>
                  <a:txBody>
                    <a:bodyPr wrap="square"/>
                    <a:lstStyle/>
                    <a:p>
                      <a:r>
                        <a:rPr sz="1350" b="0">
                          <a:solidFill>
                            <a:srgbClr val="1A1A1A"/>
                          </a:solidFill>
                          <a:latin typeface="Source Sans 3"/>
                        </a:rPr>
                        <a:t>A point read is a hash probe, not a scan</a:t>
                      </a:r>
                    </a:p>
                  </a:txBody>
                  <a:tcPr marL="82296" marR="64008" marT="32004" marB="32004" anchor="ctr">
                    <a:solidFill>
                      <a:srgbClr val="FFFFFF"/>
                    </a:solidFill>
                  </a:tcPr>
                </a:tc>
                <a:tc>
                  <a:txBody>
                    <a:bodyPr wrap="square"/>
                    <a:lstStyle/>
                    <a:p>
                      <a:r>
                        <a:rPr sz="1350" b="0">
                          <a:solidFill>
                            <a:srgbClr val="1A1A1A"/>
                          </a:solidFill>
                          <a:latin typeface="Source Sans 3"/>
                        </a:rPr>
                        <a:t>The maintained view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One computation per question</a:t>
                      </a:r>
                    </a:p>
                  </a:txBody>
                  <a:tcPr marL="82296" marR="64008" marT="32004" marB="32004" anchor="ctr">
                    <a:solidFill>
                      <a:srgbClr val="F7F5F2"/>
                    </a:solidFill>
                  </a:tcPr>
                </a:tc>
                <a:tc>
                  <a:txBody>
                    <a:bodyPr wrap="square"/>
                    <a:lstStyle/>
                    <a:p>
                      <a:r>
                        <a:rPr sz="1350" b="0">
                          <a:solidFill>
                            <a:srgbClr val="1A1A1A"/>
                          </a:solidFill>
                          <a:latin typeface="Source Sans 3"/>
                        </a:rPr>
                        <a:t>Identical plans share state and one read of the source</a:t>
                      </a:r>
                    </a:p>
                  </a:txBody>
                  <a:tcPr marL="82296" marR="64008" marT="32004" marB="32004" anchor="ctr">
                    <a:solidFill>
                      <a:srgbClr val="F7F5F2"/>
                    </a:solidFill>
                  </a:tcPr>
                </a:tc>
                <a:tc>
                  <a:txBody>
                    <a:bodyPr wrap="square"/>
                    <a:lstStyle/>
                    <a:p>
                      <a:r>
                        <a:rPr sz="1350" b="0">
                          <a:solidFill>
                            <a:srgbClr val="1A1A1A"/>
                          </a:solidFill>
                          <a:latin typeface="Source Sans 3"/>
                        </a:rPr>
                        <a:t>Fingerprints (ADR-050)</a:t>
                      </a:r>
                    </a:p>
                  </a:txBody>
                  <a:tcPr marL="82296" marR="64008" marT="32004" marB="32004" anchor="ctr">
                    <a:solidFill>
                      <a:srgbClr val="F7F5F2"/>
                    </a:solidFill>
                  </a:tcPr>
                </a:tc>
              </a:tr>
              <a:tr h="551383">
                <a:tc>
                  <a:txBody>
                    <a:bodyPr wrap="square"/>
                    <a:lstStyle/>
                    <a:p>
                      <a:r>
                        <a:rPr sz="1350" b="1">
                          <a:solidFill>
                            <a:srgbClr val="8A1626"/>
                          </a:solidFill>
                          <a:latin typeface="Source Sans 3"/>
                        </a:rPr>
                        <a:t>Exact hand-overs</a:t>
                      </a:r>
                    </a:p>
                  </a:txBody>
                  <a:tcPr marL="82296" marR="64008" marT="32004" marB="32004" anchor="ctr">
                    <a:solidFill>
                      <a:srgbClr val="FFFFFF"/>
                    </a:solidFill>
                  </a:tcPr>
                </a:tc>
                <a:tc>
                  <a:txBody>
                    <a:bodyPr wrap="square"/>
                    <a:lstStyle/>
                    <a:p>
                      <a:r>
                        <a:rPr sz="1350" b="0">
                          <a:solidFill>
                            <a:srgbClr val="1A1A1A"/>
                          </a:solidFill>
                          <a:latin typeface="Source Sans 3"/>
                        </a:rPr>
                        <a:t>Subscribers, restarts, sharing and replacement meet at a position</a:t>
                      </a:r>
                    </a:p>
                  </a:txBody>
                  <a:tcPr marL="82296" marR="64008" marT="32004" marB="32004" anchor="ctr">
                    <a:solidFill>
                      <a:srgbClr val="FFFFFF"/>
                    </a:solidFill>
                  </a:tcPr>
                </a:tc>
                <a:tc>
                  <a:txBody>
                    <a:bodyPr wrap="square"/>
                    <a:lstStyle/>
                    <a:p>
                      <a:r>
                        <a:rPr sz="1350" b="0">
                          <a:solidFill>
                            <a:srgbClr val="1A1A1A"/>
                          </a:solidFill>
                          <a:latin typeface="Source Sans 3"/>
                        </a:rPr>
                        <a:t>ADR-008, ADR-046, ADR-054</a:t>
                      </a:r>
                    </a:p>
                  </a:txBody>
                  <a:tcPr marL="82296" marR="64008" marT="32004" marB="32004" anchor="ctr">
                    <a:solidFill>
                      <a:srgbClr val="FFFFFF"/>
                    </a:solidFill>
                  </a:tcPr>
                </a:tc>
              </a:tr>
              <a:tr h="551383">
                <a:tc>
                  <a:txBody>
                    <a:bodyPr wrap="square"/>
                    <a:lstStyle/>
                    <a:p>
                      <a:r>
                        <a:rPr sz="1350" b="1">
                          <a:solidFill>
                            <a:srgbClr val="8A1626"/>
                          </a:solidFill>
                          <a:latin typeface="Source Sans 3"/>
                        </a:rPr>
                        <a:t>Refusal before the fact</a:t>
                      </a:r>
                    </a:p>
                  </a:txBody>
                  <a:tcPr marL="82296" marR="64008" marT="32004" marB="32004" anchor="ctr">
                    <a:solidFill>
                      <a:srgbClr val="F7F5F2"/>
                    </a:solidFill>
                  </a:tcPr>
                </a:tc>
                <a:tc>
                  <a:txBody>
                    <a:bodyPr wrap="square"/>
                    <a:lstStyle/>
                    <a:p>
                      <a:r>
                        <a:rPr sz="1350" b="0">
                          <a:solidFill>
                            <a:srgbClr val="1A1A1A"/>
                          </a:solidFill>
                          <a:latin typeface="Source Sans 3"/>
                        </a:rPr>
                        <a:t>Unbounded state, unusable sinks, vacuous filters: refused by code</a:t>
                      </a:r>
                    </a:p>
                  </a:txBody>
                  <a:tcPr marL="82296" marR="64008" marT="32004" marB="32004" anchor="ctr">
                    <a:solidFill>
                      <a:srgbClr val="F7F5F2"/>
                    </a:solidFill>
                  </a:tcPr>
                </a:tc>
                <a:tc>
                  <a:txBody>
                    <a:bodyPr wrap="square"/>
                    <a:lstStyle/>
                    <a:p>
                      <a:r>
                        <a:rPr sz="1350" b="0">
                          <a:solidFill>
                            <a:srgbClr val="1A1A1A"/>
                          </a:solidFill>
                          <a:latin typeface="Source Sans 3"/>
                        </a:rPr>
                        <a:t>Registration checks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Governed where it lives</a:t>
                      </a:r>
                    </a:p>
                  </a:txBody>
                  <a:tcPr marL="82296" marR="64008" marT="32004" marB="32004" anchor="ctr">
                    <a:solidFill>
                      <a:srgbClr val="FFFFFF"/>
                    </a:solidFill>
                  </a:tcPr>
                </a:tc>
                <a:tc>
                  <a:txBody>
                    <a:bodyPr wrap="square"/>
                    <a:lstStyle/>
                    <a:p>
                      <a:r>
                        <a:rPr sz="1350" b="0">
                          <a:solidFill>
                            <a:srgbClr val="1A1A1A"/>
                          </a:solidFill>
                          <a:latin typeface="Source Sans 3"/>
                        </a:rPr>
                        <a:t>Grants, row filters and masks on the live view and open stream</a:t>
                      </a:r>
                    </a:p>
                  </a:txBody>
                  <a:tcPr marL="82296" marR="64008" marT="32004" marB="32004" anchor="ctr">
                    <a:solidFill>
                      <a:srgbClr val="FFFFFF"/>
                    </a:solidFill>
                  </a:tcPr>
                </a:tc>
                <a:tc>
                  <a:txBody>
                    <a:bodyPr wrap="square"/>
                    <a:lstStyle/>
                    <a:p>
                      <a:r>
                        <a:rPr sz="1350" b="0">
                          <a:solidFill>
                            <a:srgbClr val="1A1A1A"/>
                          </a:solidFill>
                          <a:latin typeface="Source Sans 3"/>
                        </a:rPr>
                        <a:t>The catalogue (ADR-059)</a:t>
                      </a:r>
                    </a:p>
                  </a:txBody>
                  <a:tcPr marL="82296" marR="64008" marT="32004" marB="32004" anchor="ctr">
                    <a:solidFill>
                      <a:srgbClr val="FFFFFF"/>
                    </a:solidFill>
                  </a:tcPr>
                </a:tc>
              </a:tr>
              <a:tr h="551383">
                <a:tc>
                  <a:txBody>
                    <a:bodyPr wrap="square"/>
                    <a:lstStyle/>
                    <a:p>
                      <a:r>
                        <a:rPr sz="1350" b="1">
                          <a:solidFill>
                            <a:srgbClr val="8A1626"/>
                          </a:solidFill>
                          <a:latin typeface="Source Sans 3"/>
                        </a:rPr>
                        <a:t>Survives restart</a:t>
                      </a:r>
                    </a:p>
                  </a:txBody>
                  <a:tcPr marL="82296" marR="64008" marT="32004" marB="32004" anchor="ctr">
                    <a:solidFill>
                      <a:srgbClr val="F7F5F2"/>
                    </a:solidFill>
                  </a:tcPr>
                </a:tc>
                <a:tc>
                  <a:txBody>
                    <a:bodyPr wrap="square"/>
                    <a:lstStyle/>
                    <a:p>
                      <a:r>
                        <a:rPr sz="1350" b="0">
                          <a:solidFill>
                            <a:srgbClr val="1A1A1A"/>
                          </a:solidFill>
                          <a:latin typeface="Source Sans 3"/>
                        </a:rPr>
                        <a:t>State, offsets and view at one cut; resume, not replay</a:t>
                      </a:r>
                    </a:p>
                  </a:txBody>
                  <a:tcPr marL="82296" marR="64008" marT="32004" marB="32004" anchor="ctr">
                    <a:solidFill>
                      <a:srgbClr val="F7F5F2"/>
                    </a:solidFill>
                  </a:tcPr>
                </a:tc>
                <a:tc>
                  <a:txBody>
                    <a:bodyPr wrap="square"/>
                    <a:lstStyle/>
                    <a:p>
                      <a:r>
                        <a:rPr sz="1350" b="0">
                          <a:solidFill>
                            <a:srgbClr val="1A1A1A"/>
                          </a:solidFill>
                          <a:latin typeface="Source Sans 3"/>
                        </a:rPr>
                        <a:t>Checkpoints (ADR-008)</a:t>
                      </a:r>
                    </a:p>
                  </a:txBody>
                  <a:tcPr marL="82296" marR="64008" marT="32004" marB="32004" anchor="ctr">
                    <a:solidFill>
                      <a:srgbClr val="F7F5F2"/>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201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201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8201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215" y="502920"/>
            <a:ext cx="4206240" cy="2834640"/>
          </a:xfrm>
          <a:prstGeom prst="rect">
            <a:avLst/>
          </a:prstGeom>
          <a:noFill/>
        </p:spPr>
        <p:txBody>
          <a:bodyPr wrap="square" lIns="0" rIns="0" tIns="0" bIns="0" anchor="t">
            <a:spAutoFit/>
          </a:bodyPr>
          <a:lstStyle/>
          <a:p>
            <a:pPr algn="r">
              <a:lnSpc>
                <a:spcPct val="90000"/>
              </a:lnSpc>
              <a:spcBef>
                <a:spcPts val="0"/>
              </a:spcBef>
              <a:spcAft>
                <a:spcPts val="0"/>
              </a:spcAft>
            </a:pPr>
            <a:r>
              <a:rPr sz="17000" b="1" i="0">
                <a:solidFill>
                  <a:srgbClr val="8A1626"/>
                </a:solidFill>
                <a:latin typeface="Source Sans 3"/>
              </a:rPr>
              <a:t>02</a:t>
            </a:r>
          </a:p>
        </p:txBody>
      </p:sp>
      <p:sp>
        <p:nvSpPr>
          <p:cNvPr id="8" name="Rectangle 7"/>
          <p:cNvSpPr/>
          <p:nvPr/>
        </p:nvSpPr>
        <p:spPr>
          <a:xfrm>
            <a:off x="777240" y="2697480"/>
            <a:ext cx="1463040" cy="45720"/>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9722815"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Pravaha 2.4: the product</a:t>
            </a:r>
          </a:p>
        </p:txBody>
      </p:sp>
      <p:sp>
        <p:nvSpPr>
          <p:cNvPr id="10" name="TextBox 9"/>
          <p:cNvSpPr txBox="1"/>
          <p:nvPr/>
        </p:nvSpPr>
        <p:spPr>
          <a:xfrm>
            <a:off x="777240" y="3808984"/>
            <a:ext cx="8808415" cy="1280160"/>
          </a:xfrm>
          <a:prstGeom prst="rect">
            <a:avLst/>
          </a:prstGeom>
          <a:noFill/>
        </p:spPr>
        <p:txBody>
          <a:bodyPr wrap="square" lIns="0" rIns="0" tIns="0" bIns="0" anchor="t">
            <a:spAutoFit/>
          </a:bodyPr>
          <a:lstStyle/>
          <a:p>
            <a:pPr algn="l">
              <a:lnSpc>
                <a:spcPct val="130000"/>
              </a:lnSpc>
              <a:spcBef>
                <a:spcPts val="0"/>
              </a:spcBef>
              <a:spcAft>
                <a:spcPts val="0"/>
              </a:spcAft>
            </a:pPr>
            <a:r>
              <a:rPr sz="1900" b="0" i="1">
                <a:solidFill>
                  <a:srgbClr val="F6E6E9"/>
                </a:solidFill>
                <a:latin typeface="Source Sans 3"/>
              </a:rPr>
              <a:t>One engine, three ways to run it, a console, a command line, connectors and SDKs.</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2.4 · ONE NODE · JAVA 21 OR LATER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Pravaha 2.4 — Overview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26 modules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In the reactor's build order, each described and checked against pom.xml</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150" b="1" i="0">
                <a:solidFill>
                  <a:srgbClr val="8A1626"/>
                </a:solidFill>
                <a:latin typeface="Source Sans 3"/>
              </a:rPr>
              <a:t>10 connectors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Plugins under plugins/: nine sources, six sinks, two lookups</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291 codes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PRV error codes, every one in the troubleshooting table</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5,112 tests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Full build after the 2.0 QA's three fix waves: 0 failures</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SQL</a:t>
            </a:r>
          </a:p>
          <a:p>
            <a:pPr lvl="1">
              <a:lnSpc>
                <a:spcPct val="120000"/>
              </a:lnSpc>
              <a:spcBef>
                <a:spcPts val="0"/>
              </a:spcBef>
              <a:spcAft>
                <a:spcPts val="0"/>
              </a:spcAft>
            </a:pPr>
            <a:r>
              <a:rPr sz="1300" b="0">
                <a:solidFill>
                  <a:srgbClr val="4A5058"/>
                </a:solidFill>
                <a:latin typeface="Source Sans 3"/>
              </a:rPr>
              <a:t>Calcite parses and plans; Pravaha's own operators run over off-heap rows, with whole-stage code generation. Tumbling and hopping windows, stream-stream and temporal lookup joins, aggregates, top-N; 12 of Nexmark's 23 queries run.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Reached by</a:t>
            </a:r>
          </a:p>
          <a:p>
            <a:pPr lvl="1">
              <a:lnSpc>
                <a:spcPct val="120000"/>
              </a:lnSpc>
              <a:spcBef>
                <a:spcPts val="0"/>
              </a:spcBef>
              <a:spcAft>
                <a:spcPts val="0"/>
              </a:spcAft>
            </a:pPr>
            <a:r>
              <a:rPr sz="1300" b="0">
                <a:solidFill>
                  <a:srgbClr val="4A5058"/>
                </a:solidFill>
                <a:latin typeface="Source Sans 3"/>
              </a:rPr>
              <a:t>Arrow Flight SQL and the PostgreSQL wire protocol for rows; REST under /api/v1 for everything else; Java and Python SDKs; a console; a CLI; or in process.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Kept honest</a:t>
            </a:r>
          </a:p>
          <a:p>
            <a:pPr lvl="1">
              <a:lnSpc>
                <a:spcPct val="120000"/>
              </a:lnSpc>
              <a:spcBef>
                <a:spcPts val="0"/>
              </a:spcBef>
              <a:spcAft>
                <a:spcPts val="0"/>
              </a:spcAft>
            </a:pPr>
            <a:r>
              <a:rPr sz="1300" b="0">
                <a:solidFill>
                  <a:srgbClr val="4A5058"/>
                </a:solidFill>
                <a:latin typeface="Source Sans 3"/>
              </a:rPr>
              <a:t>582 findings recorded, 563 fixed, 0 open. One node: a node refuses PARTITIONED mode (PRV-9002) rather than pretend to be a cluster.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WHY PRAVAHA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Why Pravaha — what makes this different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 serves its own results.</a:t>
            </a:r>
          </a:p>
          <a:p>
            <a:pPr lvl="1">
              <a:lnSpc>
                <a:spcPct val="120000"/>
              </a:lnSpc>
              <a:spcBef>
                <a:spcPts val="0"/>
              </a:spcBef>
              <a:spcAft>
                <a:spcPts val="0"/>
              </a:spcAft>
            </a:pPr>
            <a:r>
              <a:rPr sz="1350" b="0">
                <a:solidFill>
                  <a:srgbClr val="4A5058"/>
                </a:solidFill>
                <a:latin typeface="Source Sans 3"/>
              </a:rPr>
              <a:t>The maintained view is read by key over Flight SQL or the PostgreSQL protocol — no second database to keep in step.</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refuses unbounded state at plan time.</a:t>
            </a:r>
          </a:p>
          <a:p>
            <a:pPr lvl="1">
              <a:lnSpc>
                <a:spcPct val="120000"/>
              </a:lnSpc>
              <a:spcBef>
                <a:spcPts val="0"/>
              </a:spcBef>
              <a:spcAft>
                <a:spcPts val="0"/>
              </a:spcAft>
            </a:pPr>
            <a:r>
              <a:rPr sz="1350" b="0">
                <a:solidFill>
                  <a:srgbClr val="4A5058"/>
                </a:solidFill>
                <a:latin typeface="Source Sans 3"/>
              </a:rPr>
              <a:t>GROUP BY with no window, a session window, a sink that cannot take a retraction: refused with a code at registration, not discovered weeks later.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changes a running query without a gap.</a:t>
            </a:r>
          </a:p>
          <a:p>
            <a:pPr lvl="1">
              <a:lnSpc>
                <a:spcPct val="120000"/>
              </a:lnSpc>
              <a:spcBef>
                <a:spcPts val="0"/>
              </a:spcBef>
              <a:spcAft>
                <a:spcPts val="0"/>
              </a:spcAft>
            </a:pPr>
            <a:r>
              <a:rPr sz="1350" b="0">
                <a:solidFill>
                  <a:srgbClr val="4A5058"/>
                </a:solidFill>
                <a:latin typeface="Source Sans 3"/>
              </a:rPr>
              <a:t>Blue/green replacement replays and swaps at the exact position the running version reached; a rollback is one swap.</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governs the live answer.</a:t>
            </a:r>
          </a:p>
          <a:p>
            <a:pPr lvl="1">
              <a:lnSpc>
                <a:spcPct val="120000"/>
              </a:lnSpc>
              <a:spcBef>
                <a:spcPts val="0"/>
              </a:spcBef>
              <a:spcAft>
                <a:spcPts val="0"/>
              </a:spcAft>
            </a:pPr>
            <a:r>
              <a:rPr sz="1350" b="0">
                <a:solidFill>
                  <a:srgbClr val="4A5058"/>
                </a:solidFill>
                <a:latin typeface="Source Sans 3"/>
              </a:rPr>
              <a:t>Grants, row filters and masks apply to every read, subscription and chained query; a revoke ends an open stream.</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reads stores where they are.</a:t>
            </a:r>
          </a:p>
          <a:p>
            <a:pPr lvl="1">
              <a:lnSpc>
                <a:spcPct val="120000"/>
              </a:lnSpc>
              <a:spcBef>
                <a:spcPts val="0"/>
              </a:spcBef>
              <a:spcAft>
                <a:spcPts val="0"/>
              </a:spcAft>
            </a:pPr>
            <a:r>
              <a:rPr sz="1350" b="0">
                <a:solidFill>
                  <a:srgbClr val="4A5058"/>
                </a:solidFill>
                <a:latin typeface="Source Sans 3"/>
              </a:rPr>
              <a:t>Filters pushed into JDBC, Aerospike and Cassandra; change data capture on PostgreSQL's and MySQL's own protocols, without Debezium.</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It debugs an incident by replaying it.</a:t>
            </a:r>
          </a:p>
          <a:p>
            <a:pPr lvl="1">
              <a:lnSpc>
                <a:spcPct val="120000"/>
              </a:lnSpc>
              <a:spcBef>
                <a:spcPts val="0"/>
              </a:spcBef>
              <a:spcAft>
                <a:spcPts val="0"/>
              </a:spcAft>
            </a:pPr>
            <a:r>
              <a:rPr sz="1350" b="0">
                <a:solidFill>
                  <a:srgbClr val="4A5058"/>
                </a:solidFill>
                <a:latin typeface="Source Sans 3"/>
              </a:rPr>
              <a:t>Fork a query from a checkpoint, step it row by row, and export the session as a JUnit test that compiles and passes.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Start embedded in a test, ship it as a server: the SQL, the state and the answers are the same engine's.</a:t>
            </a:r>
          </a:p>
        </p:txBody>
      </p:sp>
      <p:sp>
        <p:nvSpPr>
          <p:cNvPr id="13" name="Rectangle 12"/>
          <p:cNvSpPr/>
          <p:nvPr/>
        </p:nvSpPr>
        <p:spPr>
          <a:xfrm>
            <a:off x="777240"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6" name="TextBox 15"/>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7" name="TextBox 16"/>
          <p:cNvSpPr txBox="1"/>
          <p:nvPr/>
        </p:nvSpPr>
        <p:spPr>
          <a:xfrm>
            <a:off x="960120" y="2192883"/>
            <a:ext cx="3070250" cy="306247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8" name="Rectangle 17"/>
          <p:cNvSpPr/>
          <p:nvPr/>
        </p:nvSpPr>
        <p:spPr>
          <a:xfrm>
            <a:off x="4377842"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1" name="TextBox 20"/>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2" name="TextBox 21"/>
          <p:cNvSpPr txBox="1"/>
          <p:nvPr/>
        </p:nvSpPr>
        <p:spPr>
          <a:xfrm>
            <a:off x="4560722" y="2160168"/>
            <a:ext cx="3070250" cy="309519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3" name="Rectangle 22"/>
          <p:cNvSpPr/>
          <p:nvPr/>
        </p:nvSpPr>
        <p:spPr>
          <a:xfrm>
            <a:off x="7978444" y="1410919"/>
            <a:ext cx="3436010" cy="397245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6" name="TextBox 25"/>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7" name="TextBox 26"/>
          <p:cNvSpPr txBox="1"/>
          <p:nvPr/>
        </p:nvSpPr>
        <p:spPr>
          <a:xfrm>
            <a:off x="8161324" y="2192883"/>
            <a:ext cx="3070250" cy="306247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Flight SQL, the PostgreSQL gateway, REST and /status. A non-root image on eclipse-temurin:21-jre, a compose stack, and a Helm chart for one node.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 · A SEPARATE PROCESS ON THE PUBLISHED SDK</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The console — thirteen screens, one job each</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Every page ends with “About this page”; every page works at 360 px on a phone; the console listens on every interface and every page but the landing page and the docs needs a sign-in.</a:t>
            </a:r>
          </a:p>
        </p:txBody>
      </p:sp>
      <p:graphicFrame>
        <p:nvGraphicFramePr>
          <p:cNvPr id="12" name="Table 11"/>
          <p:cNvGraphicFramePr>
            <a:graphicFrameLocks noGrp="1"/>
          </p:cNvGraphicFramePr>
          <p:nvPr/>
        </p:nvGraphicFramePr>
        <p:xfrm>
          <a:off x="777240" y="1410919"/>
          <a:ext cx="10637214" cy="4069582"/>
        </p:xfrm>
        <a:graphic>
          <a:graphicData uri="http://schemas.openxmlformats.org/drawingml/2006/table">
            <a:tbl>
              <a:tblPr firstRow="1">
                <a:tableStyleId>{5C22544A-7EE6-4342-B048-85BDC9FD1C3A}</a:tableStyleId>
              </a:tblPr>
              <a:tblGrid>
                <a:gridCol w="2615708"/>
                <a:gridCol w="8021506"/>
              </a:tblGrid>
              <a:tr h="322376">
                <a:tc>
                  <a:txBody>
                    <a:bodyPr wrap="square"/>
                    <a:lstStyle/>
                    <a:p>
                      <a:r>
                        <a:rPr sz="1300" b="1">
                          <a:solidFill>
                            <a:srgbClr val="FFFFFF"/>
                          </a:solidFill>
                          <a:latin typeface="Source Sans 3"/>
                        </a:rPr>
                        <a:t>Screen</a:t>
                      </a:r>
                    </a:p>
                  </a:txBody>
                  <a:tcPr marL="82296" marR="64008" marT="32004" marB="32004" anchor="ctr">
                    <a:solidFill>
                      <a:srgbClr val="8A1626"/>
                    </a:solidFill>
                  </a:tcPr>
                </a:tc>
                <a:tc>
                  <a:txBody>
                    <a:bodyPr wrap="square"/>
                    <a:lstStyle/>
                    <a:p>
                      <a:r>
                        <a:rPr sz="1300" b="1">
                          <a:solidFill>
                            <a:srgbClr val="FFFFFF"/>
                          </a:solidFill>
                          <a:latin typeface="Source Sans 3"/>
                        </a:rPr>
                        <a:t>What it is for</a:t>
                      </a:r>
                    </a:p>
                  </a:txBody>
                  <a:tcPr marL="82296" marR="64008" marT="32004" marB="32004" anchor="ctr">
                    <a:solidFill>
                      <a:srgbClr val="8A1626"/>
                    </a:solidFill>
                  </a:tcPr>
                </a:tc>
              </a:tr>
              <a:tr h="551383">
                <a:tc>
                  <a:txBody>
                    <a:bodyPr wrap="square"/>
                    <a:lstStyle/>
                    <a:p>
                      <a:r>
                        <a:rPr sz="1350" b="1">
                          <a:solidFill>
                            <a:srgbClr val="8A1626"/>
                          </a:solidFill>
                          <a:latin typeface="Source Sans 3"/>
                        </a:rPr>
                        <a:t>Overview</a:t>
                      </a:r>
                    </a:p>
                  </a:txBody>
                  <a:tcPr marL="82296" marR="64008" marT="32004" marB="32004" anchor="ctr">
                    <a:solidFill>
                      <a:srgbClr val="FFFFFF"/>
                    </a:solidFill>
                  </a:tcPr>
                </a:tc>
                <a:tc>
                  <a:txBody>
                    <a:bodyPr wrap="square"/>
                    <a:lstStyle/>
                    <a:p>
                      <a:r>
                        <a:rPr sz="1350" b="0">
                          <a:solidFill>
                            <a:srgbClr val="1A1A1A"/>
                          </a:solidFill>
                          <a:latin typeface="Source Sans 3"/>
                        </a:rPr>
                        <a:t>The engine at a glance: queries registered, running and sharing, and the busiest</a:t>
                      </a:r>
                    </a:p>
                  </a:txBody>
                  <a:tcPr marL="82296" marR="64008" marT="32004" marB="32004" anchor="ctr">
                    <a:solidFill>
                      <a:srgbClr val="FFFFFF"/>
                    </a:solidFill>
                  </a:tcPr>
                </a:tc>
              </a:tr>
              <a:tr h="551383">
                <a:tc>
                  <a:txBody>
                    <a:bodyPr wrap="square"/>
                    <a:lstStyle/>
                    <a:p>
                      <a:r>
                        <a:rPr sz="1350" b="1">
                          <a:solidFill>
                            <a:srgbClr val="8A1626"/>
                          </a:solidFill>
                          <a:latin typeface="Source Sans 3"/>
                        </a:rPr>
                        <a:t>Operations</a:t>
                      </a:r>
                    </a:p>
                  </a:txBody>
                  <a:tcPr marL="82296" marR="64008" marT="32004" marB="32004" anchor="ctr">
                    <a:solidFill>
                      <a:srgbClr val="F7F5F2"/>
                    </a:solidFill>
                  </a:tcPr>
                </a:tc>
                <a:tc>
                  <a:txBody>
                    <a:bodyPr wrap="square"/>
                    <a:lstStyle/>
                    <a:p>
                      <a:r>
                        <a:rPr sz="1350" b="0">
                          <a:solidFill>
                            <a:srgbClr val="1A1A1A"/>
                          </a:solidFill>
                          <a:latin typeface="Source Sans 3"/>
                        </a:rPr>
                        <a:t>Is everything healthy — and if not, where: state, backpressure, lag, checkpoints</a:t>
                      </a:r>
                    </a:p>
                  </a:txBody>
                  <a:tcPr marL="82296" marR="64008" marT="32004" marB="32004" anchor="ctr">
                    <a:solidFill>
                      <a:srgbClr val="F7F5F2"/>
                    </a:solidFill>
                  </a:tcPr>
                </a:tc>
              </a:tr>
              <a:tr h="330555">
                <a:tc>
                  <a:txBody>
                    <a:bodyPr wrap="square"/>
                    <a:lstStyle/>
                    <a:p>
                      <a:r>
                        <a:rPr sz="1350" b="1">
                          <a:solidFill>
                            <a:srgbClr val="8A1626"/>
                          </a:solidFill>
                          <a:latin typeface="Source Sans 3"/>
                        </a:rPr>
                        <a:t>Queries · a query</a:t>
                      </a:r>
                    </a:p>
                  </a:txBody>
                  <a:tcPr marL="82296" marR="64008" marT="32004" marB="32004" anchor="ctr">
                    <a:solidFill>
                      <a:srgbClr val="FFFFFF"/>
                    </a:solidFill>
                  </a:tcPr>
                </a:tc>
                <a:tc>
                  <a:txBody>
                    <a:bodyPr wrap="square"/>
                    <a:lstStyle/>
                    <a:p>
                      <a:r>
                        <a:rPr sz="1350" b="0">
                          <a:solidFill>
                            <a:srgbClr val="1A1A1A"/>
                          </a:solidFill>
                          <a:latin typeface="Source Sans 3"/>
                        </a:rPr>
                        <a:t>Every query you may see; one query's SQL, key, owner, sink, feed and controls</a:t>
                      </a:r>
                    </a:p>
                  </a:txBody>
                  <a:tcPr marL="82296" marR="64008" marT="32004" marB="32004" anchor="ctr">
                    <a:solidFill>
                      <a:srgbClr val="FFFFFF"/>
                    </a:solidFill>
                  </a:tcPr>
                </a:tc>
              </a:tr>
              <a:tr h="330555">
                <a:tc>
                  <a:txBody>
                    <a:bodyPr wrap="square"/>
                    <a:lstStyle/>
                    <a:p>
                      <a:r>
                        <a:rPr sz="1350" b="1">
                          <a:solidFill>
                            <a:srgbClr val="8A1626"/>
                          </a:solidFill>
                          <a:latin typeface="Source Sans 3"/>
                        </a:rPr>
                        <a:t>Workbench</a:t>
                      </a:r>
                    </a:p>
                  </a:txBody>
                  <a:tcPr marL="82296" marR="64008" marT="32004" marB="32004" anchor="ctr">
                    <a:solidFill>
                      <a:srgbClr val="F7F5F2"/>
                    </a:solidFill>
                  </a:tcPr>
                </a:tc>
                <a:tc>
                  <a:txBody>
                    <a:bodyPr wrap="square"/>
                    <a:lstStyle/>
                    <a:p>
                      <a:r>
                        <a:rPr sz="1350" b="0">
                          <a:solidFill>
                            <a:srgbClr val="1A1A1A"/>
                          </a:solidFill>
                          <a:latin typeface="Source Sans 3"/>
                        </a:rPr>
                        <a:t>Write, validate, explain, run and register against the engine's own planner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view · Live</a:t>
                      </a:r>
                    </a:p>
                  </a:txBody>
                  <a:tcPr marL="82296" marR="64008" marT="32004" marB="32004" anchor="ctr">
                    <a:solidFill>
                      <a:srgbClr val="FFFFFF"/>
                    </a:solidFill>
                  </a:tcPr>
                </a:tc>
                <a:tc>
                  <a:txBody>
                    <a:bodyPr wrap="square"/>
                    <a:lstStyle/>
                    <a:p>
                      <a:r>
                        <a:rPr sz="1350" b="0">
                          <a:solidFill>
                            <a:srgbClr val="1A1A1A"/>
                          </a:solidFill>
                          <a:latin typeface="Source Sans 3"/>
                        </a:rPr>
                        <a:t>Read by key with copy-paste client code; watch commits arrive with weights</a:t>
                      </a:r>
                    </a:p>
                  </a:txBody>
                  <a:tcPr marL="82296" marR="64008" marT="32004" marB="32004" anchor="ctr">
                    <a:solidFill>
                      <a:srgbClr val="FFFFFF"/>
                    </a:solidFill>
                  </a:tcPr>
                </a:tc>
              </a:tr>
              <a:tr h="330555">
                <a:tc>
                  <a:txBody>
                    <a:bodyPr wrap="square"/>
                    <a:lstStyle/>
                    <a:p>
                      <a:r>
                        <a:rPr sz="1350" b="1">
                          <a:solidFill>
                            <a:srgbClr val="8A1626"/>
                          </a:solidFill>
                          <a:latin typeface="Source Sans 3"/>
                        </a:rPr>
                        <a:t>Replacement</a:t>
                      </a:r>
                    </a:p>
                  </a:txBody>
                  <a:tcPr marL="82296" marR="64008" marT="32004" marB="32004" anchor="ctr">
                    <a:solidFill>
                      <a:srgbClr val="F7F5F2"/>
                    </a:solidFill>
                  </a:tcPr>
                </a:tc>
                <a:tc>
                  <a:txBody>
                    <a:bodyPr wrap="square"/>
                    <a:lstStyle/>
                    <a:p>
                      <a:r>
                        <a:rPr sz="1350" b="0">
                          <a:solidFill>
                            <a:srgbClr val="1A1A1A"/>
                          </a:solidFill>
                          <a:latin typeface="Source Sans 3"/>
                        </a:rPr>
                        <a:t>A new version beside the running one, replayed, cut over when caught up</a:t>
                      </a:r>
                    </a:p>
                  </a:txBody>
                  <a:tcPr marL="82296" marR="64008" marT="32004" marB="32004" anchor="ctr">
                    <a:solidFill>
                      <a:srgbClr val="F7F5F2"/>
                    </a:solidFill>
                  </a:tcPr>
                </a:tc>
              </a:tr>
              <a:tr h="330555">
                <a:tc>
                  <a:txBody>
                    <a:bodyPr wrap="square"/>
                    <a:lstStyle/>
                    <a:p>
                      <a:r>
                        <a:rPr sz="1350" b="1">
                          <a:solidFill>
                            <a:srgbClr val="8A1626"/>
                          </a:solidFill>
                          <a:latin typeface="Source Sans 3"/>
                        </a:rPr>
                        <a:t>Debugger</a:t>
                      </a:r>
                    </a:p>
                  </a:txBody>
                  <a:tcPr marL="82296" marR="64008" marT="32004" marB="32004" anchor="ctr">
                    <a:solidFill>
                      <a:srgbClr val="FFFFFF"/>
                    </a:solidFill>
                  </a:tcPr>
                </a:tc>
                <a:tc>
                  <a:txBody>
                    <a:bodyPr wrap="square"/>
                    <a:lstStyle/>
                    <a:p>
                      <a:r>
                        <a:rPr sz="1350" b="0">
                          <a:solidFill>
                            <a:srgbClr val="1A1A1A"/>
                          </a:solidFill>
                          <a:latin typeface="Source Sans 3"/>
                        </a:rPr>
                        <a:t>Fork a query from a retained checkpoint and step it</a:t>
                      </a:r>
                    </a:p>
                  </a:txBody>
                  <a:tcPr marL="82296" marR="64008" marT="32004" marB="32004" anchor="ctr">
                    <a:solidFill>
                      <a:srgbClr val="FFFFFF"/>
                    </a:solidFill>
                  </a:tcPr>
                </a:tc>
              </a:tr>
              <a:tr h="330555">
                <a:tc>
                  <a:txBody>
                    <a:bodyPr wrap="square"/>
                    <a:lstStyle/>
                    <a:p>
                      <a:r>
                        <a:rPr sz="1350" b="1">
                          <a:solidFill>
                            <a:srgbClr val="8A1626"/>
                          </a:solidFill>
                          <a:latin typeface="Source Sans 3"/>
                        </a:rPr>
                        <a:t>Catalogue · Plugins</a:t>
                      </a:r>
                    </a:p>
                  </a:txBody>
                  <a:tcPr marL="82296" marR="64008" marT="32004" marB="32004" anchor="ctr">
                    <a:solidFill>
                      <a:srgbClr val="F7F5F2"/>
                    </a:solidFill>
                  </a:tcPr>
                </a:tc>
                <a:tc>
                  <a:txBody>
                    <a:bodyPr wrap="square"/>
                    <a:lstStyle/>
                    <a:p>
                      <a:r>
                        <a:rPr sz="1350" b="0">
                          <a:solidFill>
                            <a:srgbClr val="1A1A1A"/>
                          </a:solidFill>
                          <a:latin typeface="Source Sans 3"/>
                        </a:rPr>
                        <a:t>What exists and what reads it; what the node can load</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Admin · access</a:t>
                      </a:r>
                    </a:p>
                  </a:txBody>
                  <a:tcPr marL="82296" marR="64008" marT="32004" marB="32004" anchor="ctr">
                    <a:solidFill>
                      <a:srgbClr val="FFFFFF"/>
                    </a:solidFill>
                  </a:tcPr>
                </a:tc>
                <a:tc>
                  <a:txBody>
                    <a:bodyPr wrap="square"/>
                    <a:lstStyle/>
                    <a:p>
                      <a:r>
                        <a:rPr sz="1350" b="0">
                          <a:solidFill>
                            <a:srgbClr val="1A1A1A"/>
                          </a:solidFill>
                          <a:latin typeface="Source Sans 3"/>
                        </a:rPr>
                        <a:t>What the policy lets each principal do; users, keys, grants, audit</a:t>
                      </a:r>
                    </a:p>
                  </a:txBody>
                  <a:tcPr marL="82296" marR="64008" marT="32004" marB="32004" anchor="ctr">
                    <a:solidFill>
                      <a:srgbClr val="FFFFFF"/>
                    </a:solidFill>
                  </a:tcPr>
                </a:tc>
              </a:tr>
              <a:tr h="330555">
                <a:tc>
                  <a:txBody>
                    <a:bodyPr wrap="square"/>
                    <a:lstStyle/>
                    <a:p>
                      <a:r>
                        <a:rPr sz="1350" b="1">
                          <a:solidFill>
                            <a:srgbClr val="8A1626"/>
                          </a:solidFill>
                          <a:latin typeface="Source Sans 3"/>
                        </a:rPr>
                        <a:t>Help</a:t>
                      </a:r>
                    </a:p>
                  </a:txBody>
                  <a:tcPr marL="82296" marR="64008" marT="32004" marB="32004" anchor="ctr">
                    <a:solidFill>
                      <a:srgbClr val="F7F5F2"/>
                    </a:solidFill>
                  </a:tcPr>
                </a:tc>
                <a:tc>
                  <a:txBody>
                    <a:bodyPr wrap="square"/>
                    <a:lstStyle/>
                    <a:p>
                      <a:r>
                        <a:rPr sz="1350" b="0">
                          <a:solidFill>
                            <a:srgbClr val="1A1A1A"/>
                          </a:solidFill>
                          <a:latin typeface="Source Sans 3"/>
                        </a:rPr>
                        <a:t>Topics, the long-form guides, and every error code</a:t>
                      </a:r>
                    </a:p>
                  </a:txBody>
                  <a:tcPr marL="82296" marR="64008" marT="32004" marB="32004" anchor="ctr">
                    <a:solidFill>
                      <a:srgbClr val="F7F5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OPERATIONS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Is everything healthy — and if not, where?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pic>
        <p:nvPicPr>
          <p:cNvPr id="10" name="Picture 9" descr="console-operations.png"/>
          <p:cNvPicPr>
            <a:picLocks noChangeAspect="1"/>
          </p:cNvPicPr>
          <p:nvPr/>
        </p:nvPicPr>
        <p:blipFill>
          <a:blip r:embed="rId2"/>
          <a:stretch>
            <a:fillRect/>
          </a:stretch>
        </p:blipFill>
        <p:spPr>
          <a:xfrm>
            <a:off x="777240" y="1410919"/>
            <a:ext cx="7020562" cy="4513218"/>
          </a:xfrm>
          <a:prstGeom prst="rect">
            <a:avLst/>
          </a:prstGeom>
        </p:spPr>
      </p:pic>
      <p:sp>
        <p:nvSpPr>
          <p:cNvPr id="11" name="Rectangle 10"/>
          <p:cNvSpPr/>
          <p:nvPr/>
        </p:nvSpPr>
        <p:spPr>
          <a:xfrm>
            <a:off x="777240" y="1410919"/>
            <a:ext cx="7020562" cy="4513218"/>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7842" y="1410919"/>
            <a:ext cx="3296613" cy="483443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A verdict, not a wall of graphs</a:t>
            </a:r>
          </a:p>
          <a:p>
            <a:pPr lvl="1">
              <a:lnSpc>
                <a:spcPct val="120000"/>
              </a:lnSpc>
              <a:spcBef>
                <a:spcPts val="0"/>
              </a:spcBef>
              <a:spcAft>
                <a:spcPts val="0"/>
              </a:spcAft>
            </a:pPr>
            <a:r>
              <a:rPr sz="1250" b="0">
                <a:solidFill>
                  <a:srgbClr val="4A5058"/>
                </a:solidFill>
                <a:latin typeface="Source Sans 3"/>
              </a:rPr>
              <a:t>The engine's metrics read into what needs attention, most severe first, each saying why.</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Per query</a:t>
            </a:r>
          </a:p>
          <a:p>
            <a:pPr lvl="1">
              <a:lnSpc>
                <a:spcPct val="120000"/>
              </a:lnSpc>
              <a:spcBef>
                <a:spcPts val="0"/>
              </a:spcBef>
              <a:spcAft>
                <a:spcPts val="0"/>
              </a:spcAft>
            </a:pPr>
            <a:r>
              <a:rPr sz="1250" b="0">
                <a:solidFill>
                  <a:srgbClr val="4A5058"/>
                </a:solidFill>
                <a:latin typeface="Source Sans 3"/>
              </a:rPr>
              <a:t>State against its ceiling, rows in, watermark lag, backpressure, checkpoints.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Shared lanes</a:t>
            </a:r>
          </a:p>
          <a:p>
            <a:pPr lvl="1">
              <a:lnSpc>
                <a:spcPct val="120000"/>
              </a:lnSpc>
              <a:spcBef>
                <a:spcPts val="0"/>
              </a:spcBef>
              <a:spcAft>
                <a:spcPts val="0"/>
              </a:spcAft>
            </a:pPr>
            <a:r>
              <a:rPr sz="1250" b="0">
                <a:solidFill>
                  <a:srgbClr val="4A5058"/>
                </a:solidFill>
                <a:latin typeface="Source Sans 3"/>
              </a:rPr>
              <a:t>Which queries share a lane, and whose neighbour is the bottleneck.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WORKBENCH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Write it, check it, see its plan, register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21</a:t>
            </a:r>
          </a:p>
        </p:txBody>
      </p:sp>
      <p:pic>
        <p:nvPicPr>
          <p:cNvPr id="10" name="Picture 9" descr="console-workbench.png"/>
          <p:cNvPicPr>
            <a:picLocks noChangeAspect="1"/>
          </p:cNvPicPr>
          <p:nvPr/>
        </p:nvPicPr>
        <p:blipFill>
          <a:blip r:embed="rId2"/>
          <a:stretch>
            <a:fillRect/>
          </a:stretch>
        </p:blipFill>
        <p:spPr>
          <a:xfrm>
            <a:off x="777240" y="1410919"/>
            <a:ext cx="7020562" cy="4513218"/>
          </a:xfrm>
          <a:prstGeom prst="rect">
            <a:avLst/>
          </a:prstGeom>
        </p:spPr>
      </p:pic>
      <p:sp>
        <p:nvSpPr>
          <p:cNvPr id="11" name="Rectangle 10"/>
          <p:cNvSpPr/>
          <p:nvPr/>
        </p:nvSpPr>
        <p:spPr>
          <a:xfrm>
            <a:off x="777240" y="1410919"/>
            <a:ext cx="7020562" cy="4513218"/>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7842" y="1410919"/>
            <a:ext cx="3296613" cy="483443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engine's own planner</a:t>
            </a:r>
          </a:p>
          <a:p>
            <a:pPr lvl="1">
              <a:lnSpc>
                <a:spcPct val="120000"/>
              </a:lnSpc>
              <a:spcBef>
                <a:spcPts val="0"/>
              </a:spcBef>
              <a:spcAft>
                <a:spcPts val="0"/>
              </a:spcAft>
            </a:pPr>
            <a:r>
              <a:rPr sz="1250" b="0">
                <a:solidFill>
                  <a:srgbClr val="4A5058"/>
                </a:solidFill>
                <a:latin typeface="Source Sans 3"/>
              </a:rPr>
              <a:t>Validate as you type; diagnostics are the engine's, not a guess.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Explain and register</a:t>
            </a:r>
          </a:p>
          <a:p>
            <a:pPr lvl="1">
              <a:lnSpc>
                <a:spcPct val="120000"/>
              </a:lnSpc>
              <a:spcBef>
                <a:spcPts val="0"/>
              </a:spcBef>
              <a:spcAft>
                <a:spcPts val="0"/>
              </a:spcAft>
            </a:pPr>
            <a:r>
              <a:rPr sz="1250" b="0">
                <a:solidFill>
                  <a:srgbClr val="4A5058"/>
                </a:solidFill>
                <a:latin typeface="Source Sans 3"/>
              </a:rPr>
              <a:t>The plan as a graph; registration with keys picked by name.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Describe it</a:t>
            </a:r>
          </a:p>
          <a:p>
            <a:pPr lvl="1">
              <a:lnSpc>
                <a:spcPct val="120000"/>
              </a:lnSpc>
              <a:spcBef>
                <a:spcPts val="0"/>
              </a:spcBef>
              <a:spcAft>
                <a:spcPts val="0"/>
              </a:spcAft>
            </a:pPr>
            <a:r>
              <a:rPr sz="1250" b="0">
                <a:solidFill>
                  <a:srgbClr val="4A5058"/>
                </a:solidFill>
                <a:latin typeface="Source Sans 3"/>
              </a:rPr>
              <a:t>Plain English to SQL through any model, with the engine as the judge and a person confirming.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A QUERY AND ITS VIEW</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One query, and the view it keeps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pic>
        <p:nvPicPr>
          <p:cNvPr id="10" name="Picture 9" descr="console-query.png"/>
          <p:cNvPicPr>
            <a:picLocks noChangeAspect="1"/>
          </p:cNvPicPr>
          <p:nvPr/>
        </p:nvPicPr>
        <p:blipFill>
          <a:blip r:embed="rId2"/>
          <a:stretch>
            <a:fillRect/>
          </a:stretch>
        </p:blipFill>
        <p:spPr>
          <a:xfrm>
            <a:off x="777240" y="1410919"/>
            <a:ext cx="5135727" cy="3301539"/>
          </a:xfrm>
          <a:prstGeom prst="rect">
            <a:avLst/>
          </a:prstGeom>
        </p:spPr>
      </p:pic>
      <p:sp>
        <p:nvSpPr>
          <p:cNvPr id="11" name="Rectangle 10"/>
          <p:cNvSpPr/>
          <p:nvPr/>
        </p:nvSpPr>
        <p:spPr>
          <a:xfrm>
            <a:off x="777240"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 query</a:t>
            </a:r>
          </a:p>
          <a:p>
            <a:pPr>
              <a:lnSpc>
                <a:spcPct val="120000"/>
              </a:lnSpc>
              <a:spcBef>
                <a:spcPts val="0"/>
              </a:spcBef>
              <a:spcAft>
                <a:spcPts val="0"/>
              </a:spcAft>
            </a:pPr>
            <a:r>
              <a:rPr sz="1350" b="0" i="0">
                <a:solidFill>
                  <a:srgbClr val="4A5058"/>
                </a:solidFill>
                <a:latin typeface="Source Sans 3"/>
              </a:rPr>
              <a:t>Its SQL, state, rows in, fingerprint, key, retention, owner, sink — here a PRV-8009 detach — feed and controls.</a:t>
            </a:r>
          </a:p>
        </p:txBody>
      </p:sp>
      <p:pic>
        <p:nvPicPr>
          <p:cNvPr id="13" name="Picture 12" descr="console-view.png"/>
          <p:cNvPicPr>
            <a:picLocks noChangeAspect="1"/>
          </p:cNvPicPr>
          <p:nvPr/>
        </p:nvPicPr>
        <p:blipFill>
          <a:blip r:embed="rId3"/>
          <a:stretch>
            <a:fillRect/>
          </a:stretch>
        </p:blipFill>
        <p:spPr>
          <a:xfrm>
            <a:off x="6278727" y="1410919"/>
            <a:ext cx="5135727" cy="3301539"/>
          </a:xfrm>
          <a:prstGeom prst="rect">
            <a:avLst/>
          </a:prstGeom>
        </p:spPr>
      </p:pic>
      <p:sp>
        <p:nvSpPr>
          <p:cNvPr id="14" name="Rectangle 13"/>
          <p:cNvSpPr/>
          <p:nvPr/>
        </p:nvSpPr>
        <p:spPr>
          <a:xfrm>
            <a:off x="6278727"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 view</a:t>
            </a:r>
          </a:p>
          <a:p>
            <a:pPr>
              <a:lnSpc>
                <a:spcPct val="120000"/>
              </a:lnSpc>
              <a:spcBef>
                <a:spcPts val="0"/>
              </a:spcBef>
              <a:spcAft>
                <a:spcPts val="0"/>
              </a:spcAft>
            </a:pPr>
            <a:r>
              <a:rPr sz="1350" b="0" i="0">
                <a:solidFill>
                  <a:srgbClr val="4A5058"/>
                </a:solidFill>
                <a:latin typeface="Source Sans 3"/>
              </a:rPr>
              <a:t>Read it by key, and copy the code to do the same from each SDK, psql or HTTP.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LIVE CHANGES AND REPLACEMENT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Watch the answer move; change the query without a gap</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pic>
        <p:nvPicPr>
          <p:cNvPr id="10" name="Picture 9" descr="console-live.png"/>
          <p:cNvPicPr>
            <a:picLocks noChangeAspect="1"/>
          </p:cNvPicPr>
          <p:nvPr/>
        </p:nvPicPr>
        <p:blipFill>
          <a:blip r:embed="rId2"/>
          <a:stretch>
            <a:fillRect/>
          </a:stretch>
        </p:blipFill>
        <p:spPr>
          <a:xfrm>
            <a:off x="777240" y="1378204"/>
            <a:ext cx="5135727" cy="3301539"/>
          </a:xfrm>
          <a:prstGeom prst="rect">
            <a:avLst/>
          </a:prstGeom>
        </p:spPr>
      </p:pic>
      <p:sp>
        <p:nvSpPr>
          <p:cNvPr id="11" name="Rectangle 10"/>
          <p:cNvSpPr/>
          <p:nvPr/>
        </p:nvSpPr>
        <p:spPr>
          <a:xfrm>
            <a:off x="777240" y="1378204"/>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07759"/>
            <a:ext cx="5135727" cy="1437592"/>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Live</a:t>
            </a:r>
          </a:p>
          <a:p>
            <a:pPr>
              <a:lnSpc>
                <a:spcPct val="120000"/>
              </a:lnSpc>
              <a:spcBef>
                <a:spcPts val="0"/>
              </a:spcBef>
              <a:spcAft>
                <a:spcPts val="0"/>
              </a:spcAft>
            </a:pPr>
            <a:r>
              <a:rPr sz="1350" b="0" i="0">
                <a:solidFill>
                  <a:srgbClr val="4A5058"/>
                </a:solidFill>
                <a:latin typeface="Source Sans 3"/>
              </a:rPr>
              <a:t>A view's committed changes as they arrive, weights included: +1 appearing, −1 withdrawn.</a:t>
            </a:r>
          </a:p>
        </p:txBody>
      </p:sp>
      <p:pic>
        <p:nvPicPr>
          <p:cNvPr id="13" name="Picture 12" descr="console-replacement.png"/>
          <p:cNvPicPr>
            <a:picLocks noChangeAspect="1"/>
          </p:cNvPicPr>
          <p:nvPr/>
        </p:nvPicPr>
        <p:blipFill>
          <a:blip r:embed="rId3"/>
          <a:stretch>
            <a:fillRect/>
          </a:stretch>
        </p:blipFill>
        <p:spPr>
          <a:xfrm>
            <a:off x="6278727" y="1378204"/>
            <a:ext cx="5135727" cy="3301539"/>
          </a:xfrm>
          <a:prstGeom prst="rect">
            <a:avLst/>
          </a:prstGeom>
        </p:spPr>
      </p:pic>
      <p:sp>
        <p:nvSpPr>
          <p:cNvPr id="14" name="Rectangle 13"/>
          <p:cNvSpPr/>
          <p:nvPr/>
        </p:nvSpPr>
        <p:spPr>
          <a:xfrm>
            <a:off x="6278727" y="1378204"/>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07759"/>
            <a:ext cx="5135727" cy="1437592"/>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Replacement</a:t>
            </a:r>
          </a:p>
          <a:p>
            <a:pPr>
              <a:lnSpc>
                <a:spcPct val="120000"/>
              </a:lnSpc>
              <a:spcBef>
                <a:spcPts val="0"/>
              </a:spcBef>
              <a:spcAft>
                <a:spcPts val="0"/>
              </a:spcAft>
            </a:pPr>
            <a:r>
              <a:rPr sz="1350" b="0" i="0">
                <a:solidFill>
                  <a:srgbClr val="4A5058"/>
                </a:solidFill>
                <a:latin typeface="Source Sans 3"/>
              </a:rPr>
              <a:t>A new version beside the running one, its history replayed, cut over when caught up.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DEBUGGER AND CATALOGUE</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Step an incident; see what exists and what reads it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pic>
        <p:nvPicPr>
          <p:cNvPr id="10" name="Picture 9" descr="console-debug.png"/>
          <p:cNvPicPr>
            <a:picLocks noChangeAspect="1"/>
          </p:cNvPicPr>
          <p:nvPr/>
        </p:nvPicPr>
        <p:blipFill>
          <a:blip r:embed="rId2"/>
          <a:stretch>
            <a:fillRect/>
          </a:stretch>
        </p:blipFill>
        <p:spPr>
          <a:xfrm>
            <a:off x="777240" y="1394561"/>
            <a:ext cx="5135727" cy="3301539"/>
          </a:xfrm>
          <a:prstGeom prst="rect">
            <a:avLst/>
          </a:prstGeom>
        </p:spPr>
      </p:pic>
      <p:sp>
        <p:nvSpPr>
          <p:cNvPr id="11" name="Rectangle 10"/>
          <p:cNvSpPr/>
          <p:nvPr/>
        </p:nvSpPr>
        <p:spPr>
          <a:xfrm>
            <a:off x="777240" y="1394561"/>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24116"/>
            <a:ext cx="5135727" cy="1421235"/>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Debugger</a:t>
            </a:r>
          </a:p>
          <a:p>
            <a:pPr>
              <a:lnSpc>
                <a:spcPct val="120000"/>
              </a:lnSpc>
              <a:spcBef>
                <a:spcPts val="0"/>
              </a:spcBef>
              <a:spcAft>
                <a:spcPts val="0"/>
              </a:spcAft>
            </a:pPr>
            <a:r>
              <a:rPr sz="1350" b="0" i="0">
                <a:solidFill>
                  <a:srgbClr val="4A5058"/>
                </a:solidFill>
                <a:latin typeface="Source Sans 3"/>
              </a:rPr>
              <a:t>Fork a query from a retained checkpoint and step it — sinks disabled, nothing can read it.</a:t>
            </a:r>
          </a:p>
        </p:txBody>
      </p:sp>
      <p:pic>
        <p:nvPicPr>
          <p:cNvPr id="13" name="Picture 12" descr="console-catalog.png"/>
          <p:cNvPicPr>
            <a:picLocks noChangeAspect="1"/>
          </p:cNvPicPr>
          <p:nvPr/>
        </p:nvPicPr>
        <p:blipFill>
          <a:blip r:embed="rId3"/>
          <a:stretch>
            <a:fillRect/>
          </a:stretch>
        </p:blipFill>
        <p:spPr>
          <a:xfrm>
            <a:off x="6278727" y="1394561"/>
            <a:ext cx="5135727" cy="3301539"/>
          </a:xfrm>
          <a:prstGeom prst="rect">
            <a:avLst/>
          </a:prstGeom>
        </p:spPr>
      </p:pic>
      <p:sp>
        <p:nvSpPr>
          <p:cNvPr id="14" name="Rectangle 13"/>
          <p:cNvSpPr/>
          <p:nvPr/>
        </p:nvSpPr>
        <p:spPr>
          <a:xfrm>
            <a:off x="6278727" y="1394561"/>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24116"/>
            <a:ext cx="5135727" cy="1421235"/>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Catalogue</a:t>
            </a:r>
          </a:p>
          <a:p>
            <a:pPr>
              <a:lnSpc>
                <a:spcPct val="120000"/>
              </a:lnSpc>
              <a:spcBef>
                <a:spcPts val="0"/>
              </a:spcBef>
              <a:spcAft>
                <a:spcPts val="0"/>
              </a:spcAft>
            </a:pPr>
            <a:r>
              <a:rPr sz="1350" b="0" i="0">
                <a:solidFill>
                  <a:srgbClr val="4A5058"/>
                </a:solidFill>
                <a:latin typeface="Source Sans 3"/>
              </a:rPr>
              <a:t>Streams with their event time and source, queries, sinks, objects and grants.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CONSOLE · ADMINISTRATION AND HELP</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Who may do what; and every answer in the help</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pic>
        <p:nvPicPr>
          <p:cNvPr id="10" name="Picture 9" descr="console-admin-access.png"/>
          <p:cNvPicPr>
            <a:picLocks noChangeAspect="1"/>
          </p:cNvPicPr>
          <p:nvPr/>
        </p:nvPicPr>
        <p:blipFill>
          <a:blip r:embed="rId2"/>
          <a:stretch>
            <a:fillRect/>
          </a:stretch>
        </p:blipFill>
        <p:spPr>
          <a:xfrm>
            <a:off x="777240" y="1410919"/>
            <a:ext cx="5135727" cy="3301539"/>
          </a:xfrm>
          <a:prstGeom prst="rect">
            <a:avLst/>
          </a:prstGeom>
        </p:spPr>
      </p:pic>
      <p:sp>
        <p:nvSpPr>
          <p:cNvPr id="11" name="Rectangle 10"/>
          <p:cNvSpPr/>
          <p:nvPr/>
        </p:nvSpPr>
        <p:spPr>
          <a:xfrm>
            <a:off x="777240"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Admin · access</a:t>
            </a:r>
          </a:p>
          <a:p>
            <a:pPr>
              <a:lnSpc>
                <a:spcPct val="120000"/>
              </a:lnSpc>
              <a:spcBef>
                <a:spcPts val="0"/>
              </a:spcBef>
              <a:spcAft>
                <a:spcPts val="0"/>
              </a:spcAft>
            </a:pPr>
            <a:r>
              <a:rPr sz="1350" b="0" i="0">
                <a:solidFill>
                  <a:srgbClr val="4A5058"/>
                </a:solidFill>
                <a:latin typeface="Source Sans 3"/>
              </a:rPr>
              <a:t>What the policy lets each principal do — the engine decides, the console only shows.</a:t>
            </a:r>
          </a:p>
        </p:txBody>
      </p:sp>
      <p:pic>
        <p:nvPicPr>
          <p:cNvPr id="13" name="Picture 12" descr="console-help.png"/>
          <p:cNvPicPr>
            <a:picLocks noChangeAspect="1"/>
          </p:cNvPicPr>
          <p:nvPr/>
        </p:nvPicPr>
        <p:blipFill>
          <a:blip r:embed="rId3"/>
          <a:stretch>
            <a:fillRect/>
          </a:stretch>
        </p:blipFill>
        <p:spPr>
          <a:xfrm>
            <a:off x="6278727" y="1410919"/>
            <a:ext cx="5135727" cy="3301539"/>
          </a:xfrm>
          <a:prstGeom prst="rect">
            <a:avLst/>
          </a:prstGeom>
        </p:spPr>
      </p:pic>
      <p:sp>
        <p:nvSpPr>
          <p:cNvPr id="14" name="Rectangle 13"/>
          <p:cNvSpPr/>
          <p:nvPr/>
        </p:nvSpPr>
        <p:spPr>
          <a:xfrm>
            <a:off x="6278727" y="1410919"/>
            <a:ext cx="5135727" cy="3301539"/>
          </a:xfrm>
          <a:prstGeom prst="rect">
            <a:avLst/>
          </a:prstGeom>
          <a:no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8727" y="4840474"/>
            <a:ext cx="5135727" cy="1404877"/>
          </a:xfrm>
          <a:prstGeom prst="rect">
            <a:avLst/>
          </a:prstGeom>
          <a:noFill/>
        </p:spPr>
        <p:txBody>
          <a:bodyPr wrap="square" lIns="0" rIns="0" tIns="0" bIns="0" anchor="t">
            <a:spAutoFit/>
          </a:bodyPr>
          <a:lstStyle/>
          <a:p>
            <a:pPr algn="l">
              <a:lnSpc>
                <a:spcPct val="110000"/>
              </a:lnSpc>
              <a:spcBef>
                <a:spcPts val="0"/>
              </a:spcBef>
              <a:spcAft>
                <a:spcPts val="200"/>
              </a:spcAft>
            </a:pPr>
            <a:r>
              <a:rPr sz="1500" b="1" i="0">
                <a:solidFill>
                  <a:srgbClr val="8A1626"/>
                </a:solidFill>
                <a:latin typeface="Source Sans 3"/>
              </a:rPr>
              <a:t>Help</a:t>
            </a:r>
          </a:p>
          <a:p>
            <a:pPr>
              <a:lnSpc>
                <a:spcPct val="120000"/>
              </a:lnSpc>
              <a:spcBef>
                <a:spcPts val="0"/>
              </a:spcBef>
              <a:spcAft>
                <a:spcPts val="0"/>
              </a:spcAft>
            </a:pPr>
            <a:r>
              <a:rPr sz="1350" b="0" i="0">
                <a:solidFill>
                  <a:srgbClr val="4A5058"/>
                </a:solidFill>
                <a:latin typeface="Source Sans 3"/>
              </a:rPr>
              <a:t>Topics by category, the long-form guides, and every error code.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PRAVAHA DOCTOR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Run it first when something does not work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Captured from a scratch node by sdk/python/tools/cli_captures.py, not typed; lines trimmed for the slide.</a:t>
            </a:r>
          </a:p>
        </p:txBody>
      </p:sp>
      <p:sp>
        <p:nvSpPr>
          <p:cNvPr id="12" name="Rectangle 11"/>
          <p:cNvSpPr/>
          <p:nvPr/>
        </p:nvSpPr>
        <p:spPr>
          <a:xfrm>
            <a:off x="777240" y="1410919"/>
            <a:ext cx="6412193"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612087"/>
            <a:ext cx="6009857"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 pravaha doctor</a:t>
            </a:r>
          </a:p>
          <a:p>
            <a:pPr>
              <a:lnSpc>
                <a:spcPct val="100000"/>
              </a:lnSpc>
              <a:spcBef>
                <a:spcPts val="0"/>
              </a:spcBef>
              <a:spcAft>
                <a:spcPts val="0"/>
              </a:spcAft>
            </a:pPr>
            <a:r>
              <a:rPr sz="1200" b="0" i="0">
                <a:solidFill>
                  <a:srgbClr val="F1EEE9"/>
                </a:solidFill>
                <a:latin typeface="Consolas"/>
              </a:rPr>
              <a:t>GREEN   python      Python 3.x (python); needs &gt;=3.9</a:t>
            </a:r>
          </a:p>
          <a:p>
            <a:pPr>
              <a:lnSpc>
                <a:spcPct val="100000"/>
              </a:lnSpc>
              <a:spcBef>
                <a:spcPts val="0"/>
              </a:spcBef>
              <a:spcAft>
                <a:spcPts val="0"/>
              </a:spcAft>
            </a:pPr>
            <a:r>
              <a:rPr sz="1200" b="0" i="0">
                <a:solidFill>
                  <a:srgbClr val="F1EEE9"/>
                </a:solidFill>
                <a:latin typeface="Consolas"/>
              </a:rPr>
              <a:t>GREEN   cli         pravaha &lt;version&gt; (sdk/python/pravaha)</a:t>
            </a:r>
          </a:p>
          <a:p>
            <a:pPr>
              <a:lnSpc>
                <a:spcPct val="100000"/>
              </a:lnSpc>
              <a:spcBef>
                <a:spcPts val="0"/>
              </a:spcBef>
              <a:spcAft>
                <a:spcPts val="0"/>
              </a:spcAft>
            </a:pPr>
            <a:r>
              <a:rPr sz="1200" b="0" i="0">
                <a:solidFill>
                  <a:srgbClr val="F1EEE9"/>
                </a:solidFill>
                <a:latin typeface="Consolas"/>
              </a:rPr>
              <a:t>GREEN   pyarrow     pyarrow &lt;version&gt;, with Flight</a:t>
            </a:r>
          </a:p>
          <a:p>
            <a:pPr>
              <a:lnSpc>
                <a:spcPct val="100000"/>
              </a:lnSpc>
              <a:spcBef>
                <a:spcPts val="0"/>
              </a:spcBef>
              <a:spcAft>
                <a:spcPts val="0"/>
              </a:spcAft>
            </a:pPr>
            <a:r>
              <a:rPr sz="1200" b="0" i="0">
                <a:solidFill>
                  <a:srgbClr val="F1EEE9"/>
                </a:solidFill>
                <a:latin typeface="Consolas"/>
              </a:rPr>
              <a:t>GREEN   java        JAVA_HOME=$JAVA_HOME: Java 21</a:t>
            </a:r>
          </a:p>
          <a:p>
            <a:pPr>
              <a:lnSpc>
                <a:spcPct val="100000"/>
              </a:lnSpc>
              <a:spcBef>
                <a:spcPts val="0"/>
              </a:spcBef>
              <a:spcAft>
                <a:spcPts val="0"/>
              </a:spcAft>
            </a:pPr>
            <a:r>
              <a:rPr sz="1200" b="0" i="0">
                <a:solidFill>
                  <a:srgbClr val="F1EEE9"/>
                </a:solidFill>
                <a:latin typeface="Consolas"/>
              </a:rPr>
              <a:t>GREEN   token file  ~/.config/pravaha/token: none saved …</a:t>
            </a:r>
          </a:p>
          <a:p>
            <a:pPr>
              <a:lnSpc>
                <a:spcPct val="100000"/>
              </a:lnSpc>
              <a:spcBef>
                <a:spcPts val="0"/>
              </a:spcBef>
              <a:spcAft>
                <a:spcPts val="0"/>
              </a:spcAft>
            </a:pPr>
            <a:r>
              <a:rPr sz="1200" b="0" i="0">
                <a:solidFill>
                  <a:srgbClr val="F1EEE9"/>
                </a:solidFill>
                <a:latin typeface="Consolas"/>
              </a:rPr>
              <a:t>GREEN   context     none in use: flags, environment …</a:t>
            </a:r>
          </a:p>
          <a:p>
            <a:pPr>
              <a:lnSpc>
                <a:spcPct val="100000"/>
              </a:lnSpc>
              <a:spcBef>
                <a:spcPts val="0"/>
              </a:spcBef>
              <a:spcAft>
                <a:spcPts val="0"/>
              </a:spcAft>
            </a:pPr>
            <a:r>
              <a:rPr sz="1200" b="0" i="0">
                <a:solidFill>
                  <a:srgbClr val="F1EEE9"/>
                </a:solidFill>
                <a:latin typeface="Consolas"/>
              </a:rPr>
              <a:t>GREEN   http        http://localhost:18080 answered in N ms</a:t>
            </a:r>
          </a:p>
          <a:p>
            <a:pPr>
              <a:lnSpc>
                <a:spcPct val="100000"/>
              </a:lnSpc>
              <a:spcBef>
                <a:spcPts val="0"/>
              </a:spcBef>
              <a:spcAft>
                <a:spcPts val="0"/>
              </a:spcAft>
            </a:pPr>
            <a:r>
              <a:rPr sz="1200" b="0" i="0">
                <a:solidFill>
                  <a:srgbClr val="F1EEE9"/>
                </a:solidFill>
                <a:latin typeface="Consolas"/>
              </a:rPr>
              <a:t>GREEN   version     cli &lt;version&gt;, node &lt;version&gt;</a:t>
            </a:r>
          </a:p>
          <a:p>
            <a:pPr>
              <a:lnSpc>
                <a:spcPct val="100000"/>
              </a:lnSpc>
              <a:spcBef>
                <a:spcPts val="0"/>
              </a:spcBef>
              <a:spcAft>
                <a:spcPts val="0"/>
              </a:spcAft>
            </a:pPr>
            <a:r>
              <a:rPr sz="1200" b="0" i="0">
                <a:solidFill>
                  <a:srgbClr val="F1EEE9"/>
                </a:solidFill>
                <a:latin typeface="Consolas"/>
              </a:rPr>
              <a:t>GREEN   flight      grpc://localhost:19090 answered in N ms</a:t>
            </a:r>
          </a:p>
          <a:p>
            <a:pPr>
              <a:lnSpc>
                <a:spcPct val="100000"/>
              </a:lnSpc>
              <a:spcBef>
                <a:spcPts val="0"/>
              </a:spcBef>
              <a:spcAft>
                <a:spcPts val="0"/>
              </a:spcAft>
            </a:pPr>
            <a:r>
              <a:rPr sz="1200" b="0" i="0">
                <a:solidFill>
                  <a:srgbClr val="F1EEE9"/>
                </a:solidFill>
                <a:latin typeface="Consolas"/>
              </a:rPr>
              <a:t>YELLOW  auth        no token: every call is anonymous …</a:t>
            </a:r>
          </a:p>
          <a:p>
            <a:pPr>
              <a:lnSpc>
                <a:spcPct val="100000"/>
              </a:lnSpc>
              <a:spcBef>
                <a:spcPts val="0"/>
              </a:spcBef>
              <a:spcAft>
                <a:spcPts val="0"/>
              </a:spcAft>
            </a:pPr>
            <a:r>
              <a:rPr sz="1200" b="0" i="0">
                <a:solidFill>
                  <a:srgbClr val="F1EEE9"/>
                </a:solidFill>
                <a:latin typeface="Consolas"/>
              </a:rPr>
              <a:t>                    fix: pravaha login --user &lt;name&gt; --save</a:t>
            </a:r>
          </a:p>
          <a:p>
            <a:pPr>
              <a:lnSpc>
                <a:spcPct val="100000"/>
              </a:lnSpc>
              <a:spcBef>
                <a:spcPts val="0"/>
              </a:spcBef>
              <a:spcAft>
                <a:spcPts val="0"/>
              </a:spcAft>
            </a:pPr>
            <a:r>
              <a:rPr sz="1200" b="0" i="0">
                <a:solidFill>
                  <a:srgbClr val="F1EEE9"/>
                </a:solidFill>
                <a:latin typeface="Consolas"/>
              </a:rPr>
              <a:t>doctor: 0 red, 1 yellow</a:t>
            </a:r>
          </a:p>
        </p:txBody>
      </p:sp>
      <p:sp>
        <p:nvSpPr>
          <p:cNvPr id="15" name="TextBox 14"/>
          <p:cNvSpPr txBox="1"/>
          <p:nvPr/>
        </p:nvSpPr>
        <p:spPr>
          <a:xfrm>
            <a:off x="7555193" y="1410919"/>
            <a:ext cx="3859261" cy="446501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One line per check</a:t>
            </a:r>
          </a:p>
          <a:p>
            <a:pPr lvl="1">
              <a:lnSpc>
                <a:spcPct val="120000"/>
              </a:lnSpc>
              <a:spcBef>
                <a:spcPts val="0"/>
              </a:spcBef>
              <a:spcAft>
                <a:spcPts val="0"/>
              </a:spcAft>
            </a:pPr>
            <a:r>
              <a:rPr sz="1250" b="0">
                <a:solidFill>
                  <a:srgbClr val="4A5058"/>
                </a:solidFill>
                <a:latin typeface="Source Sans 3"/>
              </a:rPr>
              <a:t>GREEN, YELLOW or RED, with the fix under each that is not green.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pre-flight step</a:t>
            </a:r>
          </a:p>
          <a:p>
            <a:pPr lvl="1">
              <a:lnSpc>
                <a:spcPct val="120000"/>
              </a:lnSpc>
              <a:spcBef>
                <a:spcPts val="0"/>
              </a:spcBef>
              <a:spcAft>
                <a:spcPts val="0"/>
              </a:spcAft>
            </a:pPr>
            <a:r>
              <a:rPr sz="1250" b="0">
                <a:solidFill>
                  <a:srgbClr val="4A5058"/>
                </a:solidFill>
                <a:latin typeface="Source Sans 3"/>
              </a:rPr>
              <a:t>Exits 1 on any RED; --json for a script. It changes nothing and never prints the token.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Checks the whole path</a:t>
            </a:r>
          </a:p>
          <a:p>
            <a:pPr lvl="1">
              <a:lnSpc>
                <a:spcPct val="120000"/>
              </a:lnSpc>
              <a:spcBef>
                <a:spcPts val="0"/>
              </a:spcBef>
              <a:spcAft>
                <a:spcPts val="0"/>
              </a:spcAft>
            </a:pPr>
            <a:r>
              <a:rPr sz="1250" b="0">
                <a:solidFill>
                  <a:srgbClr val="4A5058"/>
                </a:solidFill>
                <a:latin typeface="Source Sans 3"/>
              </a:rPr>
              <a:t>Java 21+, token file mode, TLS trust and expiry, health, version skew, Flight, who you 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CONTEXTS AND DRY RUNS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Name your connections; see a change before you make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Rectangle 9"/>
          <p:cNvSpPr/>
          <p:nvPr/>
        </p:nvSpPr>
        <p:spPr>
          <a:xfrm>
            <a:off x="777240" y="1378204"/>
            <a:ext cx="5773960" cy="367385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367385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371624" cy="327152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 pravaha context add prod \</a:t>
            </a:r>
          </a:p>
          <a:p>
            <a:pPr>
              <a:lnSpc>
                <a:spcPct val="100000"/>
              </a:lnSpc>
              <a:spcBef>
                <a:spcPts val="0"/>
              </a:spcBef>
              <a:spcAft>
                <a:spcPts val="0"/>
              </a:spcAft>
            </a:pPr>
            <a:r>
              <a:rPr sz="1250" b="0" i="0">
                <a:solidFill>
                  <a:srgbClr val="E8B8C0"/>
                </a:solidFill>
                <a:latin typeface="Consolas"/>
              </a:rPr>
              <a:t>    --url grpc+tls://node-1:19090 \</a:t>
            </a:r>
          </a:p>
          <a:p>
            <a:pPr>
              <a:lnSpc>
                <a:spcPct val="100000"/>
              </a:lnSpc>
              <a:spcBef>
                <a:spcPts val="0"/>
              </a:spcBef>
              <a:spcAft>
                <a:spcPts val="0"/>
              </a:spcAft>
            </a:pPr>
            <a:r>
              <a:rPr sz="1250" b="0" i="0">
                <a:solidFill>
                  <a:srgbClr val="E8B8C0"/>
                </a:solidFill>
                <a:latin typeface="Consolas"/>
              </a:rPr>
              <a:t>    --http https://node-1:18080 --tls-ca ca.pem</a:t>
            </a:r>
          </a:p>
          <a:p>
            <a:pPr>
              <a:lnSpc>
                <a:spcPct val="100000"/>
              </a:lnSpc>
              <a:spcBef>
                <a:spcPts val="0"/>
              </a:spcBef>
              <a:spcAft>
                <a:spcPts val="0"/>
              </a:spcAft>
            </a:pPr>
            <a:r>
              <a:rPr sz="1250" b="0" i="0">
                <a:solidFill>
                  <a:srgbClr val="F1EEE9"/>
                </a:solidFill>
                <a:latin typeface="Consolas"/>
              </a:rPr>
              <a:t>$ pravaha --context prod login --user ann --save</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F1EEE9"/>
                </a:solidFill>
                <a:latin typeface="Consolas"/>
              </a:rPr>
              <a:t>$ pravaha drop --name spend_by_minute --dry-run</a:t>
            </a:r>
          </a:p>
          <a:p>
            <a:pPr>
              <a:lnSpc>
                <a:spcPct val="100000"/>
              </a:lnSpc>
              <a:spcBef>
                <a:spcPts val="0"/>
              </a:spcBef>
              <a:spcAft>
                <a:spcPts val="0"/>
              </a:spcAft>
            </a:pPr>
            <a:r>
              <a:rPr sz="1250" b="0" i="0">
                <a:solidFill>
                  <a:srgbClr val="F1EEE9"/>
                </a:solidFill>
                <a:latin typeface="Consolas"/>
              </a:rPr>
              <a:t>dry run: drop spend_by_minute -- nothing was changed</a:t>
            </a:r>
          </a:p>
          <a:p>
            <a:pPr>
              <a:lnSpc>
                <a:spcPct val="100000"/>
              </a:lnSpc>
              <a:spcBef>
                <a:spcPts val="0"/>
              </a:spcBef>
              <a:spcAft>
                <a:spcPts val="0"/>
              </a:spcAft>
            </a:pPr>
            <a:r>
              <a:rPr sz="1250" b="0" i="0">
                <a:solidFill>
                  <a:srgbClr val="F1EEE9"/>
                </a:solidFill>
                <a:latin typeface="Consolas"/>
              </a:rPr>
              <a:t>state        RUNNING</a:t>
            </a:r>
          </a:p>
          <a:p>
            <a:pPr>
              <a:lnSpc>
                <a:spcPct val="100000"/>
              </a:lnSpc>
              <a:spcBef>
                <a:spcPts val="0"/>
              </a:spcBef>
              <a:spcAft>
                <a:spcPts val="0"/>
              </a:spcAft>
            </a:pPr>
            <a:r>
              <a:rPr sz="1250" b="0" i="0">
                <a:solidFill>
                  <a:srgbClr val="F1EEE9"/>
                </a:solidFill>
                <a:latin typeface="Consolas"/>
              </a:rPr>
              <a:t>shared with  nothing</a:t>
            </a:r>
          </a:p>
          <a:p>
            <a:pPr>
              <a:lnSpc>
                <a:spcPct val="100000"/>
              </a:lnSpc>
              <a:spcBef>
                <a:spcPts val="0"/>
              </a:spcBef>
              <a:spcAft>
                <a:spcPts val="0"/>
              </a:spcAft>
            </a:pPr>
            <a:r>
              <a:rPr sz="1250" b="0" i="0">
                <a:solidFill>
                  <a:srgbClr val="F1EEE9"/>
                </a:solidFill>
                <a:latin typeface="Consolas"/>
              </a:rPr>
              <a:t>reads from   txn</a:t>
            </a:r>
          </a:p>
          <a:p>
            <a:pPr>
              <a:lnSpc>
                <a:spcPct val="100000"/>
              </a:lnSpc>
              <a:spcBef>
                <a:spcPts val="0"/>
              </a:spcBef>
              <a:spcAft>
                <a:spcPts val="0"/>
              </a:spcAft>
            </a:pPr>
            <a:r>
              <a:rPr sz="1250" b="0" i="0">
                <a:solidFill>
                  <a:srgbClr val="F1EEE9"/>
                </a:solidFill>
                <a:latin typeface="Consolas"/>
              </a:rPr>
              <a:t>dependants   none</a:t>
            </a:r>
          </a:p>
          <a:p>
            <a:pPr>
              <a:lnSpc>
                <a:spcPct val="100000"/>
              </a:lnSpc>
              <a:spcBef>
                <a:spcPts val="0"/>
              </a:spcBef>
              <a:spcAft>
                <a:spcPts val="0"/>
              </a:spcAft>
            </a:pPr>
            <a:r>
              <a:rPr sz="1250" b="0" i="0">
                <a:solidFill>
                  <a:srgbClr val="F1EEE9"/>
                </a:solidFill>
                <a:latin typeface="Consolas"/>
              </a:rPr>
              <a:t>subscribers  0</a:t>
            </a:r>
          </a:p>
          <a:p>
            <a:pPr>
              <a:lnSpc>
                <a:spcPct val="100000"/>
              </a:lnSpc>
              <a:spcBef>
                <a:spcPts val="0"/>
              </a:spcBef>
              <a:spcAft>
                <a:spcPts val="0"/>
              </a:spcAft>
            </a:pPr>
            <a:r>
              <a:rPr sz="1250" b="0" i="0">
                <a:solidFill>
                  <a:srgbClr val="F1EEE9"/>
                </a:solidFill>
                <a:latin typeface="Consolas"/>
              </a:rPr>
              <a:t>would:</a:t>
            </a:r>
          </a:p>
          <a:p>
            <a:pPr>
              <a:lnSpc>
                <a:spcPct val="100000"/>
              </a:lnSpc>
              <a:spcBef>
                <a:spcPts val="0"/>
              </a:spcBef>
              <a:spcAft>
                <a:spcPts val="0"/>
              </a:spcAft>
            </a:pPr>
            <a:r>
              <a:rPr sz="1250" b="0" i="0">
                <a:solidFill>
                  <a:srgbClr val="F1EEE9"/>
                </a:solidFill>
                <a:latin typeface="Consolas"/>
              </a:rPr>
              <a:t>  - the name spend_by_minute goes</a:t>
            </a:r>
          </a:p>
          <a:p>
            <a:pPr>
              <a:lnSpc>
                <a:spcPct val="100000"/>
              </a:lnSpc>
              <a:spcBef>
                <a:spcPts val="0"/>
              </a:spcBef>
              <a:spcAft>
                <a:spcPts val="0"/>
              </a:spcAft>
            </a:pPr>
            <a:r>
              <a:rPr sz="1250" b="0" i="0">
                <a:solidFill>
                  <a:srgbClr val="F1EEE9"/>
                </a:solidFill>
                <a:latin typeface="Consolas"/>
              </a:rPr>
              <a:t>  - it is the computation's last name: the</a:t>
            </a:r>
          </a:p>
          <a:p>
            <a:pPr>
              <a:lnSpc>
                <a:spcPct val="100000"/>
              </a:lnSpc>
              <a:spcBef>
                <a:spcPts val="0"/>
              </a:spcBef>
              <a:spcAft>
                <a:spcPts val="0"/>
              </a:spcAft>
            </a:pPr>
            <a:r>
              <a:rPr sz="1250" b="0" i="0">
                <a:solidFill>
                  <a:srgbClr val="F1EEE9"/>
                </a:solidFill>
                <a:latin typeface="Consolas"/>
              </a:rPr>
              <a:t>    computation stops; view and state released</a:t>
            </a:r>
          </a:p>
        </p:txBody>
      </p:sp>
      <p:sp>
        <p:nvSpPr>
          <p:cNvPr id="13" name="TextBox 12"/>
          <p:cNvSpPr txBox="1"/>
          <p:nvPr/>
        </p:nvSpPr>
        <p:spPr>
          <a:xfrm>
            <a:off x="6916960" y="1378204"/>
            <a:ext cx="4497494"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Contexts, as kubectl does it</a:t>
            </a:r>
          </a:p>
          <a:p>
            <a:pPr lvl="1">
              <a:lnSpc>
                <a:spcPct val="120000"/>
              </a:lnSpc>
              <a:spcBef>
                <a:spcPts val="0"/>
              </a:spcBef>
              <a:spcAft>
                <a:spcPts val="0"/>
              </a:spcAft>
            </a:pPr>
            <a:r>
              <a:rPr sz="1250" b="0">
                <a:solidFill>
                  <a:srgbClr val="4A5058"/>
                </a:solidFill>
                <a:latin typeface="Source Sans 3"/>
              </a:rPr>
              <a:t>A named connection — URLs, token, TLS — in contexts.json, mode 0600, written atomically; show never prints a token.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--dry-run on everything destructive</a:t>
            </a:r>
          </a:p>
          <a:p>
            <a:pPr lvl="1">
              <a:lnSpc>
                <a:spcPct val="120000"/>
              </a:lnSpc>
              <a:spcBef>
                <a:spcPts val="0"/>
              </a:spcBef>
              <a:spcAft>
                <a:spcPts val="0"/>
              </a:spcAft>
            </a:pPr>
            <a:r>
              <a:rPr sz="1250" b="0">
                <a:solidFill>
                  <a:srgbClr val="4A5058"/>
                </a:solidFill>
                <a:latin typeface="Source Sans 3"/>
              </a:rPr>
              <a:t>drop, replace and its steps, grant, revoke, policy, user, key revoke, alert drop: reads only, then what would happen.</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Honest about the unknown</a:t>
            </a:r>
          </a:p>
          <a:p>
            <a:pPr lvl="1">
              <a:lnSpc>
                <a:spcPct val="120000"/>
              </a:lnSpc>
              <a:spcBef>
                <a:spcPts val="0"/>
              </a:spcBef>
              <a:spcAft>
                <a:spcPts val="0"/>
              </a:spcAft>
            </a:pPr>
            <a:r>
              <a:rPr sz="1250" b="0">
                <a:solidFill>
                  <a:srgbClr val="4A5058"/>
                </a:solidFill>
                <a:latin typeface="Source Sans 3"/>
              </a:rPr>
              <a:t>What only the change itself can find is listed as not known without doing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CLI · TOP, INIT, PLUGIN NEW</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Watch a node live; start a project or a connector that builds</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Rectangle 9"/>
          <p:cNvSpPr/>
          <p:nvPr/>
        </p:nvSpPr>
        <p:spPr>
          <a:xfrm>
            <a:off x="777240" y="1329131"/>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0299"/>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 pravaha top --once --interval 1</a:t>
            </a:r>
          </a:p>
          <a:p>
            <a:pPr>
              <a:lnSpc>
                <a:spcPct val="100000"/>
              </a:lnSpc>
              <a:spcBef>
                <a:spcPts val="0"/>
              </a:spcBef>
              <a:spcAft>
                <a:spcPts val="0"/>
              </a:spcAft>
            </a:pPr>
            <a:r>
              <a:rPr sz="1300" b="0" i="0">
                <a:solidFill>
                  <a:srgbClr val="F1EEE9"/>
                </a:solidFill>
                <a:latin typeface="Consolas"/>
              </a:rPr>
              <a:t>NAME             STATE    LANE  ROWS IN  ROWS/S</a:t>
            </a:r>
          </a:p>
          <a:p>
            <a:pPr>
              <a:lnSpc>
                <a:spcPct val="100000"/>
              </a:lnSpc>
              <a:spcBef>
                <a:spcPts val="0"/>
              </a:spcBef>
              <a:spcAft>
                <a:spcPts val="0"/>
              </a:spcAft>
            </a:pPr>
            <a:r>
              <a:rPr sz="1300" b="0" i="0">
                <a:solidFill>
                  <a:srgbClr val="F1EEE9"/>
                </a:solidFill>
                <a:latin typeface="Consolas"/>
              </a:rPr>
              <a:t>spend_by_minute  RUNNING  own   0        0.0</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 pravaha init my-project</a:t>
            </a:r>
          </a:p>
          <a:p>
            <a:pPr>
              <a:lnSpc>
                <a:spcPct val="100000"/>
              </a:lnSpc>
              <a:spcBef>
                <a:spcPts val="0"/>
              </a:spcBef>
              <a:spcAft>
                <a:spcPts val="0"/>
              </a:spcAft>
            </a:pPr>
            <a:r>
              <a:rPr sz="1300" b="0" i="0">
                <a:solidFill>
                  <a:srgbClr val="E8B8C0"/>
                </a:solidFill>
                <a:latin typeface="Consolas"/>
              </a:rPr>
              <a:t># conf/application.yaml, data/txn.csv,</a:t>
            </a:r>
          </a:p>
          <a:p>
            <a:pPr>
              <a:lnSpc>
                <a:spcPct val="100000"/>
              </a:lnSpc>
              <a:spcBef>
                <a:spcPts val="0"/>
              </a:spcBef>
              <a:spcAft>
                <a:spcPts val="0"/>
              </a:spcAft>
            </a:pPr>
            <a:r>
              <a:rPr sz="1300" b="0" i="0">
                <a:solidFill>
                  <a:srgbClr val="E8B8C0"/>
                </a:solidFill>
                <a:latin typeface="Consolas"/>
              </a:rPr>
              <a:t># queries/spend_per_minute.sql,</a:t>
            </a:r>
          </a:p>
          <a:p>
            <a:pPr>
              <a:lnSpc>
                <a:spcPct val="100000"/>
              </a:lnSpc>
              <a:spcBef>
                <a:spcPts val="0"/>
              </a:spcBef>
              <a:spcAft>
                <a:spcPts val="0"/>
              </a:spcAft>
            </a:pPr>
            <a:r>
              <a:rPr sz="1300" b="0" i="0">
                <a:solidFill>
                  <a:srgbClr val="E8B8C0"/>
                </a:solidFill>
                <a:latin typeface="Consolas"/>
              </a:rPr>
              <a:t># docker-compose.yml, README.md</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 pravaha plugin new my-store --kind source \</a:t>
            </a:r>
          </a:p>
          <a:p>
            <a:pPr>
              <a:lnSpc>
                <a:spcPct val="100000"/>
              </a:lnSpc>
              <a:spcBef>
                <a:spcPts val="0"/>
              </a:spcBef>
              <a:spcAft>
                <a:spcPts val="0"/>
              </a:spcAft>
            </a:pPr>
            <a:r>
              <a:rPr sz="1300" b="0" i="0">
                <a:solidFill>
                  <a:srgbClr val="E8B8C0"/>
                </a:solidFill>
                <a:latin typeface="Consolas"/>
              </a:rPr>
              <a:t>    --package com.acme.mystore</a:t>
            </a:r>
          </a:p>
          <a:p>
            <a:pPr>
              <a:lnSpc>
                <a:spcPct val="100000"/>
              </a:lnSpc>
              <a:spcBef>
                <a:spcPts val="0"/>
              </a:spcBef>
              <a:spcAft>
                <a:spcPts val="0"/>
              </a:spcAft>
            </a:pPr>
            <a:r>
              <a:rPr sz="1300" b="0" i="0">
                <a:solidFill>
                  <a:srgbClr val="F1EEE9"/>
                </a:solidFill>
                <a:latin typeface="Consolas"/>
              </a:rPr>
              <a:t>$ cd pravaha-plugin-my-store &amp;&amp; mvn verify</a:t>
            </a:r>
          </a:p>
        </p:txBody>
      </p:sp>
      <p:sp>
        <p:nvSpPr>
          <p:cNvPr id="13" name="TextBox 12"/>
          <p:cNvSpPr txBox="1"/>
          <p:nvPr/>
        </p:nvSpPr>
        <p:spPr>
          <a:xfrm>
            <a:off x="6810588" y="1329131"/>
            <a:ext cx="4603866" cy="4916220"/>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top</a:t>
            </a:r>
          </a:p>
          <a:p>
            <a:pPr lvl="1">
              <a:lnSpc>
                <a:spcPct val="120000"/>
              </a:lnSpc>
              <a:spcBef>
                <a:spcPts val="0"/>
              </a:spcBef>
              <a:spcAft>
                <a:spcPts val="0"/>
              </a:spcAft>
            </a:pPr>
            <a:r>
              <a:rPr sz="1200" b="0">
                <a:solidFill>
                  <a:srgbClr val="4A5058"/>
                </a:solidFill>
                <a:latin typeface="Source Sans 3"/>
              </a:rPr>
              <a:t>Rows a second, watermark delay, state and its bytes, view rows, subscribers — redrawn live, or --once --json for a script.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init</a:t>
            </a:r>
          </a:p>
          <a:p>
            <a:pPr lvl="1">
              <a:lnSpc>
                <a:spcPct val="120000"/>
              </a:lnSpc>
              <a:spcBef>
                <a:spcPts val="0"/>
              </a:spcBef>
              <a:spcAft>
                <a:spcPts val="0"/>
              </a:spcAft>
            </a:pPr>
            <a:r>
              <a:rPr sz="1200" b="0">
                <a:solidFill>
                  <a:srgbClr val="4A5058"/>
                </a:solidFill>
                <a:latin typeface="Source Sans 3"/>
              </a:rPr>
              <a:t>A stream, its CSV, a first windowed query and a compose file; a test starts a node on it and runs the query.</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plugin new</a:t>
            </a:r>
          </a:p>
          <a:p>
            <a:pPr lvl="1">
              <a:lnSpc>
                <a:spcPct val="120000"/>
              </a:lnSpc>
              <a:spcBef>
                <a:spcPts val="0"/>
              </a:spcBef>
              <a:spcAft>
                <a:spcPts val="0"/>
              </a:spcAft>
            </a:pPr>
            <a:r>
              <a:rPr sz="1200" b="0">
                <a:solidFill>
                  <a:srgbClr val="4A5058"/>
                </a:solidFill>
                <a:latin typeface="Source Sans 3"/>
              </a:rPr>
              <a:t>A Maven connector with the TCK wired in: all ten source tests pass as generated.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Exit codes are a contract</a:t>
            </a:r>
          </a:p>
          <a:p>
            <a:pPr lvl="1">
              <a:lnSpc>
                <a:spcPct val="120000"/>
              </a:lnSpc>
              <a:spcBef>
                <a:spcPts val="0"/>
              </a:spcBef>
              <a:spcAft>
                <a:spcPts val="0"/>
              </a:spcAft>
            </a:pPr>
            <a:r>
              <a:rPr sz="1200" b="0">
                <a:solidFill>
                  <a:srgbClr val="4A5058"/>
                </a:solidFill>
                <a:latin typeface="Source Sans 3"/>
              </a:rPr>
              <a:t>0, 1 refused, 2 usage, 3 unreachable, 130 interrupted — pinned by tests.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CONNECTORS · PLUGINS/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Ten connector plugins: nine sources, six sinks, two lookups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Delivery is stated at registration, and a query a sink cannot take is refused before the sink opens (PRV-2041, PRV-8010). Change data capture is on each database's own protocol, without Debezium (ADR-041).</a:t>
            </a:r>
          </a:p>
        </p:txBody>
      </p:sp>
      <p:graphicFrame>
        <p:nvGraphicFramePr>
          <p:cNvPr id="12" name="Table 11"/>
          <p:cNvGraphicFramePr>
            <a:graphicFrameLocks noGrp="1"/>
          </p:cNvGraphicFramePr>
          <p:nvPr/>
        </p:nvGraphicFramePr>
        <p:xfrm>
          <a:off x="777240" y="1345488"/>
          <a:ext cx="10637214" cy="4017105"/>
        </p:xfrm>
        <a:graphic>
          <a:graphicData uri="http://schemas.openxmlformats.org/drawingml/2006/table">
            <a:tbl>
              <a:tblPr firstRow="1">
                <a:tableStyleId>{5C22544A-7EE6-4342-B048-85BDC9FD1C3A}</a:tableStyleId>
              </a:tblPr>
              <a:tblGrid>
                <a:gridCol w="1761128"/>
                <a:gridCol w="2817805"/>
                <a:gridCol w="3240476"/>
                <a:gridCol w="2817805"/>
              </a:tblGrid>
              <a:tr h="281482">
                <a:tc>
                  <a:txBody>
                    <a:bodyPr wrap="square"/>
                    <a:lstStyle/>
                    <a:p>
                      <a:r>
                        <a:rPr sz="1050" b="1">
                          <a:solidFill>
                            <a:srgbClr val="FFFFFF"/>
                          </a:solidFill>
                          <a:latin typeface="Source Sans 3"/>
                        </a:rPr>
                        <a:t>Plugin</a:t>
                      </a:r>
                    </a:p>
                  </a:txBody>
                  <a:tcPr marL="82296" marR="64008" marT="32004" marB="32004" anchor="ctr">
                    <a:solidFill>
                      <a:srgbClr val="8A1626"/>
                    </a:solidFill>
                  </a:tcPr>
                </a:tc>
                <a:tc>
                  <a:txBody>
                    <a:bodyPr wrap="square"/>
                    <a:lstStyle/>
                    <a:p>
                      <a:r>
                        <a:rPr sz="1050" b="1">
                          <a:solidFill>
                            <a:srgbClr val="FFFFFF"/>
                          </a:solidFill>
                          <a:latin typeface="Source Sans 3"/>
                        </a:rPr>
                        <a:t>Reads</a:t>
                      </a:r>
                    </a:p>
                  </a:txBody>
                  <a:tcPr marL="82296" marR="64008" marT="32004" marB="32004" anchor="ctr">
                    <a:solidFill>
                      <a:srgbClr val="8A1626"/>
                    </a:solidFill>
                  </a:tcPr>
                </a:tc>
                <a:tc>
                  <a:txBody>
                    <a:bodyPr wrap="square"/>
                    <a:lstStyle/>
                    <a:p>
                      <a:r>
                        <a:rPr sz="1050" b="1">
                          <a:solidFill>
                            <a:srgbClr val="FFFFFF"/>
                          </a:solidFill>
                          <a:latin typeface="Source Sans 3"/>
                        </a:rPr>
                        <a:t>Writes</a:t>
                      </a:r>
                    </a:p>
                  </a:txBody>
                  <a:tcPr marL="82296" marR="64008" marT="32004" marB="32004" anchor="ctr">
                    <a:solidFill>
                      <a:srgbClr val="8A1626"/>
                    </a:solidFill>
                  </a:tcPr>
                </a:tc>
                <a:tc>
                  <a:txBody>
                    <a:bodyPr wrap="square"/>
                    <a:lstStyle/>
                    <a:p>
                      <a:r>
                        <a:rPr sz="1050" b="1">
                          <a:solidFill>
                            <a:srgbClr val="FFFFFF"/>
                          </a:solidFill>
                          <a:latin typeface="Source Sans 3"/>
                        </a:rPr>
                        <a:t>What it promises</a:t>
                      </a:r>
                    </a:p>
                  </a:txBody>
                  <a:tcPr marL="82296" marR="64008" marT="32004" marB="32004" anchor="ctr">
                    <a:solidFill>
                      <a:srgbClr val="8A1626"/>
                    </a:solidFill>
                  </a:tcPr>
                </a:tc>
              </a:tr>
              <a:tr h="453237">
                <a:tc>
                  <a:txBody>
                    <a:bodyPr wrap="square"/>
                    <a:lstStyle/>
                    <a:p>
                      <a:r>
                        <a:rPr sz="1050" b="1">
                          <a:solidFill>
                            <a:srgbClr val="8A1626"/>
                          </a:solidFill>
                          <a:latin typeface="Source Sans 3"/>
                        </a:rPr>
                        <a:t>kafka</a:t>
                      </a:r>
                    </a:p>
                  </a:txBody>
                  <a:tcPr marL="82296" marR="64008" marT="32004" marB="32004" anchor="ctr">
                    <a:solidFill>
                      <a:srgbClr val="FFFFFF"/>
                    </a:solidFill>
                  </a:tcPr>
                </a:tc>
                <a:tc>
                  <a:txBody>
                    <a:bodyPr wrap="square"/>
                    <a:lstStyle/>
                    <a:p>
                      <a:r>
                        <a:rPr sz="1050" b="0">
                          <a:solidFill>
                            <a:srgbClr val="1A1A1A"/>
                          </a:solidFill>
                          <a:latin typeface="Source Sans 3"/>
                        </a:rPr>
                        <a:t>A topic, a reader per partition</a:t>
                      </a:r>
                    </a:p>
                  </a:txBody>
                  <a:tcPr marL="82296" marR="64008" marT="32004" marB="32004" anchor="ctr">
                    <a:solidFill>
                      <a:srgbClr val="FFFFFF"/>
                    </a:solidFill>
                  </a:tcPr>
                </a:tc>
                <a:tc>
                  <a:txBody>
                    <a:bodyPr wrap="square"/>
                    <a:lstStyle/>
                    <a:p>
                      <a:r>
                        <a:rPr sz="1050" b="0">
                          <a:solidFill>
                            <a:srgbClr val="1A1A1A"/>
                          </a:solidFill>
                          <a:latin typeface="Source Sans 3"/>
                        </a:rPr>
                        <a:t>Keyed upserts (JSON, Avro, Protobuf) or a changelog</a:t>
                      </a:r>
                    </a:p>
                  </a:txBody>
                  <a:tcPr marL="82296" marR="64008" marT="32004" marB="32004" anchor="ctr">
                    <a:solidFill>
                      <a:srgbClr val="FFFFFF"/>
                    </a:solidFill>
                  </a:tcPr>
                </a:tc>
                <a:tc>
                  <a:txBody>
                    <a:bodyPr wrap="square"/>
                    <a:lstStyle/>
                    <a:p>
                      <a:r>
                        <a:rPr sz="1050" b="0">
                          <a:solidFill>
                            <a:srgbClr val="1A1A1A"/>
                          </a:solidFill>
                          <a:latin typeface="Source Sans 3"/>
                        </a:rPr>
                        <a:t>Exactly once both ways</a:t>
                      </a:r>
                    </a:p>
                  </a:txBody>
                  <a:tcPr marL="82296" marR="64008" marT="32004" marB="32004" anchor="ctr">
                    <a:solidFill>
                      <a:srgbClr val="FFFFFF"/>
                    </a:solidFill>
                  </a:tcPr>
                </a:tc>
              </a:tr>
              <a:tr h="453237">
                <a:tc>
                  <a:txBody>
                    <a:bodyPr wrap="square"/>
                    <a:lstStyle/>
                    <a:p>
                      <a:r>
                        <a:rPr sz="1050" b="1">
                          <a:solidFill>
                            <a:srgbClr val="8A1626"/>
                          </a:solidFill>
                          <a:latin typeface="Source Sans 3"/>
                        </a:rPr>
                        <a:t>postgres-cdc</a:t>
                      </a:r>
                    </a:p>
                  </a:txBody>
                  <a:tcPr marL="82296" marR="64008" marT="32004" marB="32004" anchor="ctr">
                    <a:solidFill>
                      <a:srgbClr val="F7F5F2"/>
                    </a:solidFill>
                  </a:tcPr>
                </a:tc>
                <a:tc>
                  <a:txBody>
                    <a:bodyPr wrap="square"/>
                    <a:lstStyle/>
                    <a:p>
                      <a:r>
                        <a:rPr sz="1050" b="0">
                          <a:solidFill>
                            <a:srgbClr val="1A1A1A"/>
                          </a:solidFill>
                          <a:latin typeface="Source Sans 3"/>
                        </a:rPr>
                        <a:t>Logical replication</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Exactly once; slot confirmed at checkpoints</a:t>
                      </a:r>
                    </a:p>
                  </a:txBody>
                  <a:tcPr marL="82296" marR="64008" marT="32004" marB="32004" anchor="ctr">
                    <a:solidFill>
                      <a:srgbClr val="F7F5F2"/>
                    </a:solidFill>
                  </a:tcPr>
                </a:tc>
              </a:tr>
              <a:tr h="453237">
                <a:tc>
                  <a:txBody>
                    <a:bodyPr wrap="square"/>
                    <a:lstStyle/>
                    <a:p>
                      <a:r>
                        <a:rPr sz="1050" b="1">
                          <a:solidFill>
                            <a:srgbClr val="8A1626"/>
                          </a:solidFill>
                          <a:latin typeface="Source Sans 3"/>
                        </a:rPr>
                        <a:t>mysql-cdc</a:t>
                      </a:r>
                    </a:p>
                  </a:txBody>
                  <a:tcPr marL="82296" marR="64008" marT="32004" marB="32004" anchor="ctr">
                    <a:solidFill>
                      <a:srgbClr val="FFFFFF"/>
                    </a:solidFill>
                  </a:tcPr>
                </a:tc>
                <a:tc>
                  <a:txBody>
                    <a:bodyPr wrap="square"/>
                    <a:lstStyle/>
                    <a:p>
                      <a:r>
                        <a:rPr sz="1050" b="0">
                          <a:solidFill>
                            <a:srgbClr val="1A1A1A"/>
                          </a:solidFill>
                          <a:latin typeface="Source Sans 3"/>
                        </a:rPr>
                        <a:t>The row-based binlog, as a replica</a:t>
                      </a:r>
                    </a:p>
                  </a:txBody>
                  <a:tcPr marL="82296" marR="64008" marT="32004" marB="32004" anchor="ctr">
                    <a:solidFill>
                      <a:srgbClr val="FFFFFF"/>
                    </a:solidFill>
                  </a:tcPr>
                </a:tc>
                <a:tc>
                  <a:txBody>
                    <a:bodyPr wrap="square"/>
                    <a:lstStyle/>
                    <a:p>
                      <a:r>
                        <a:rPr sz="1050" b="0">
                          <a:solidFill>
                            <a:srgbClr val="1A1A1A"/>
                          </a:solidFill>
                          <a:latin typeface="Source Sans 3"/>
                        </a:rPr>
                        <a:t>—</a:t>
                      </a:r>
                    </a:p>
                  </a:txBody>
                  <a:tcPr marL="82296" marR="64008" marT="32004" marB="32004" anchor="ctr">
                    <a:solidFill>
                      <a:srgbClr val="FFFFFF"/>
                    </a:solidFill>
                  </a:tcPr>
                </a:tc>
                <a:tc>
                  <a:txBody>
                    <a:bodyPr wrap="square"/>
                    <a:lstStyle/>
                    <a:p>
                      <a:r>
                        <a:rPr sz="1050" b="0">
                          <a:solidFill>
                            <a:srgbClr val="1A1A1A"/>
                          </a:solidFill>
                          <a:latin typeface="Source Sans 3"/>
                        </a:rPr>
                        <a:t>Exactly once from file and offset, or GTID</a:t>
                      </a:r>
                    </a:p>
                  </a:txBody>
                  <a:tcPr marL="82296" marR="64008" marT="32004" marB="32004" anchor="ctr">
                    <a:solidFill>
                      <a:srgbClr val="FFFFFF"/>
                    </a:solidFill>
                  </a:tcPr>
                </a:tc>
              </a:tr>
              <a:tr h="453237">
                <a:tc>
                  <a:txBody>
                    <a:bodyPr wrap="square"/>
                    <a:lstStyle/>
                    <a:p>
                      <a:r>
                        <a:rPr sz="1050" b="1">
                          <a:solidFill>
                            <a:srgbClr val="8A1626"/>
                          </a:solidFill>
                          <a:latin typeface="Source Sans 3"/>
                        </a:rPr>
                        <a:t>jdbc</a:t>
                      </a:r>
                    </a:p>
                  </a:txBody>
                  <a:tcPr marL="82296" marR="64008" marT="32004" marB="32004" anchor="ctr">
                    <a:solidFill>
                      <a:srgbClr val="F7F5F2"/>
                    </a:solidFill>
                  </a:tcPr>
                </a:tc>
                <a:tc>
                  <a:txBody>
                    <a:bodyPr wrap="square"/>
                    <a:lstStyle/>
                    <a:p>
                      <a:r>
                        <a:rPr sz="1050" b="0">
                          <a:solidFill>
                            <a:srgbClr val="1A1A1A"/>
                          </a:solidFill>
                          <a:latin typeface="Source Sans 3"/>
                        </a:rPr>
                        <a:t>A table or any SELECT, polled</a:t>
                      </a:r>
                    </a:p>
                  </a:txBody>
                  <a:tcPr marL="82296" marR="64008" marT="32004" marB="32004" anchor="ctr">
                    <a:solidFill>
                      <a:srgbClr val="F7F5F2"/>
                    </a:solidFill>
                  </a:tcPr>
                </a:tc>
                <a:tc>
                  <a:txBody>
                    <a:bodyPr wrap="square"/>
                    <a:lstStyle/>
                    <a:p>
                      <a:r>
                        <a:rPr sz="1050" b="0">
                          <a:solidFill>
                            <a:srgbClr val="1A1A1A"/>
                          </a:solidFill>
                          <a:latin typeface="Source Sans 3"/>
                        </a:rPr>
                        <a:t>Upsert and delete by key, or append; and a lookup</a:t>
                      </a:r>
                    </a:p>
                  </a:txBody>
                  <a:tcPr marL="82296" marR="64008" marT="32004" marB="32004" anchor="ctr">
                    <a:solidFill>
                      <a:srgbClr val="F7F5F2"/>
                    </a:solidFill>
                  </a:tcPr>
                </a:tc>
                <a:tc>
                  <a:txBody>
                    <a:bodyPr wrap="square"/>
                    <a:lstStyle/>
                    <a:p>
                      <a:r>
                        <a:rPr sz="1050" b="0">
                          <a:solidFill>
                            <a:srgbClr val="1A1A1A"/>
                          </a:solidFill>
                          <a:latin typeface="Source Sans 3"/>
                        </a:rPr>
                        <a:t>Filters, projections, COUNT/SUM pushed in</a:t>
                      </a:r>
                    </a:p>
                  </a:txBody>
                  <a:tcPr marL="82296" marR="64008" marT="32004" marB="32004" anchor="ctr">
                    <a:solidFill>
                      <a:srgbClr val="F7F5F2"/>
                    </a:solidFill>
                  </a:tcPr>
                </a:tc>
              </a:tr>
              <a:tr h="281482">
                <a:tc>
                  <a:txBody>
                    <a:bodyPr wrap="square"/>
                    <a:lstStyle/>
                    <a:p>
                      <a:r>
                        <a:rPr sz="1050" b="1">
                          <a:solidFill>
                            <a:srgbClr val="8A1626"/>
                          </a:solidFill>
                          <a:latin typeface="Source Sans 3"/>
                        </a:rPr>
                        <a:t>delta</a:t>
                      </a:r>
                    </a:p>
                  </a:txBody>
                  <a:tcPr marL="82296" marR="64008" marT="32004" marB="32004" anchor="ctr">
                    <a:solidFill>
                      <a:srgbClr val="FFFFFF"/>
                    </a:solidFill>
                  </a:tcPr>
                </a:tc>
                <a:tc>
                  <a:txBody>
                    <a:bodyPr wrap="square"/>
                    <a:lstStyle/>
                    <a:p>
                      <a:r>
                        <a:rPr sz="1050" b="0">
                          <a:solidFill>
                            <a:srgbClr val="1A1A1A"/>
                          </a:solidFill>
                          <a:latin typeface="Source Sans 3"/>
                        </a:rPr>
                        <a:t>A table, deletion vectors included</a:t>
                      </a:r>
                    </a:p>
                  </a:txBody>
                  <a:tcPr marL="82296" marR="64008" marT="32004" marB="32004" anchor="ctr">
                    <a:solidFill>
                      <a:srgbClr val="FFFFFF"/>
                    </a:solidFill>
                  </a:tcPr>
                </a:tc>
                <a:tc>
                  <a:txBody>
                    <a:bodyPr wrap="square"/>
                    <a:lstStyle/>
                    <a:p>
                      <a:r>
                        <a:rPr sz="1050" b="0">
                          <a:solidFill>
                            <a:srgbClr val="1A1A1A"/>
                          </a:solidFill>
                          <a:latin typeface="Source Sans 3"/>
                        </a:rPr>
                        <a:t>Kept equal to the view, or a changelog</a:t>
                      </a:r>
                    </a:p>
                  </a:txBody>
                  <a:tcPr marL="82296" marR="64008" marT="32004" marB="32004" anchor="ctr">
                    <a:solidFill>
                      <a:srgbClr val="FFFFFF"/>
                    </a:solidFill>
                  </a:tcPr>
                </a:tc>
                <a:tc>
                  <a:txBody>
                    <a:bodyPr wrap="square"/>
                    <a:lstStyle/>
                    <a:p>
                      <a:r>
                        <a:rPr sz="1050" b="0">
                          <a:solidFill>
                            <a:srgbClr val="1A1A1A"/>
                          </a:solidFill>
                          <a:latin typeface="Source Sans 3"/>
                        </a:rPr>
                        <a:t>One Delta commit per checkpoint</a:t>
                      </a:r>
                    </a:p>
                  </a:txBody>
                  <a:tcPr marL="82296" marR="64008" marT="32004" marB="32004" anchor="ctr">
                    <a:solidFill>
                      <a:srgbClr val="FFFFFF"/>
                    </a:solidFill>
                  </a:tcPr>
                </a:tc>
              </a:tr>
              <a:tr h="453237">
                <a:tc>
                  <a:txBody>
                    <a:bodyPr wrap="square"/>
                    <a:lstStyle/>
                    <a:p>
                      <a:r>
                        <a:rPr sz="1050" b="1">
                          <a:solidFill>
                            <a:srgbClr val="8A1626"/>
                          </a:solidFill>
                          <a:latin typeface="Source Sans 3"/>
                        </a:rPr>
                        <a:t>iceberg</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A local-filesystem table, equality deletes</a:t>
                      </a:r>
                    </a:p>
                  </a:txBody>
                  <a:tcPr marL="82296" marR="64008" marT="32004" marB="32004" anchor="ctr">
                    <a:solidFill>
                      <a:srgbClr val="F7F5F2"/>
                    </a:solidFill>
                  </a:tcPr>
                </a:tc>
                <a:tc>
                  <a:txBody>
                    <a:bodyPr wrap="square"/>
                    <a:lstStyle/>
                    <a:p>
                      <a:r>
                        <a:rPr sz="1050" b="0">
                          <a:solidFill>
                            <a:srgbClr val="1A1A1A"/>
                          </a:solidFill>
                          <a:latin typeface="Source Sans 3"/>
                        </a:rPr>
                        <a:t>One snapshot per checkpoint</a:t>
                      </a:r>
                    </a:p>
                  </a:txBody>
                  <a:tcPr marL="82296" marR="64008" marT="32004" marB="32004" anchor="ctr">
                    <a:solidFill>
                      <a:srgbClr val="F7F5F2"/>
                    </a:solidFill>
                  </a:tcPr>
                </a:tc>
              </a:tr>
              <a:tr h="453237">
                <a:tc>
                  <a:txBody>
                    <a:bodyPr wrap="square"/>
                    <a:lstStyle/>
                    <a:p>
                      <a:r>
                        <a:rPr sz="1050" b="1">
                          <a:solidFill>
                            <a:srgbClr val="8A1626"/>
                          </a:solidFill>
                          <a:latin typeface="Source Sans 3"/>
                        </a:rPr>
                        <a:t>aerospike</a:t>
                      </a:r>
                    </a:p>
                  </a:txBody>
                  <a:tcPr marL="82296" marR="64008" marT="32004" marB="32004" anchor="ctr">
                    <a:solidFill>
                      <a:srgbClr val="FFFFFF"/>
                    </a:solidFill>
                  </a:tcPr>
                </a:tc>
                <a:tc>
                  <a:txBody>
                    <a:bodyPr wrap="square"/>
                    <a:lstStyle/>
                    <a:p>
                      <a:r>
                        <a:rPr sz="1050" b="0">
                          <a:solidFill>
                            <a:srgbClr val="1A1A1A"/>
                          </a:solidFill>
                          <a:latin typeface="Source Sans 3"/>
                        </a:rPr>
                        <a:t>A set, by last-update time</a:t>
                      </a:r>
                    </a:p>
                  </a:txBody>
                  <a:tcPr marL="82296" marR="64008" marT="32004" marB="32004" anchor="ctr">
                    <a:solidFill>
                      <a:srgbClr val="FFFFFF"/>
                    </a:solidFill>
                  </a:tcPr>
                </a:tc>
                <a:tc>
                  <a:txBody>
                    <a:bodyPr wrap="square"/>
                    <a:lstStyle/>
                    <a:p>
                      <a:r>
                        <a:rPr sz="1050" b="0">
                          <a:solidFill>
                            <a:srgbClr val="1A1A1A"/>
                          </a:solidFill>
                          <a:latin typeface="Source Sans 3"/>
                        </a:rPr>
                        <a:t>Upsert and delete by key; and a lookup</a:t>
                      </a:r>
                    </a:p>
                  </a:txBody>
                  <a:tcPr marL="82296" marR="64008" marT="32004" marB="32004" anchor="ctr">
                    <a:solidFill>
                      <a:srgbClr val="FFFFFF"/>
                    </a:solidFill>
                  </a:tcPr>
                </a:tc>
                <a:tc>
                  <a:txBody>
                    <a:bodyPr wrap="square"/>
                    <a:lstStyle/>
                    <a:p>
                      <a:r>
                        <a:rPr sz="1050" b="0">
                          <a:solidFill>
                            <a:srgbClr val="1A1A1A"/>
                          </a:solidFill>
                          <a:latin typeface="Source Sans 3"/>
                        </a:rPr>
                        <a:t>Filters pushed in; sink effectively once</a:t>
                      </a:r>
                    </a:p>
                  </a:txBody>
                  <a:tcPr marL="82296" marR="64008" marT="32004" marB="32004" anchor="ctr">
                    <a:solidFill>
                      <a:srgbClr val="FFFFFF"/>
                    </a:solidFill>
                  </a:tcPr>
                </a:tc>
              </a:tr>
              <a:tr h="281482">
                <a:tc>
                  <a:txBody>
                    <a:bodyPr wrap="square"/>
                    <a:lstStyle/>
                    <a:p>
                      <a:r>
                        <a:rPr sz="1050" b="1">
                          <a:solidFill>
                            <a:srgbClr val="8A1626"/>
                          </a:solidFill>
                          <a:latin typeface="Source Sans 3"/>
                        </a:rPr>
                        <a:t>cassandra</a:t>
                      </a:r>
                    </a:p>
                  </a:txBody>
                  <a:tcPr marL="82296" marR="64008" marT="32004" marB="32004" anchor="ctr">
                    <a:solidFill>
                      <a:srgbClr val="F7F5F2"/>
                    </a:solidFill>
                  </a:tcPr>
                </a:tc>
                <a:tc>
                  <a:txBody>
                    <a:bodyPr wrap="square"/>
                    <a:lstStyle/>
                    <a:p>
                      <a:r>
                        <a:rPr sz="105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050" b="0">
                          <a:solidFill>
                            <a:srgbClr val="1A1A1A"/>
                          </a:solidFill>
                          <a:latin typeface="Source Sans 3"/>
                        </a:rPr>
                        <a:t>—</a:t>
                      </a:r>
                    </a:p>
                  </a:txBody>
                  <a:tcPr marL="82296" marR="64008" marT="32004" marB="32004" anchor="ctr">
                    <a:solidFill>
                      <a:srgbClr val="F7F5F2"/>
                    </a:solidFill>
                  </a:tcPr>
                </a:tc>
                <a:tc>
                  <a:txBody>
                    <a:bodyPr wrap="square"/>
                    <a:lstStyle/>
                    <a:p>
                      <a:r>
                        <a:rPr sz="1050" b="0">
                          <a:solidFill>
                            <a:srgbClr val="1A1A1A"/>
                          </a:solidFill>
                          <a:latin typeface="Source Sans 3"/>
                        </a:rPr>
                        <a:t>Key restrictions pushed in</a:t>
                      </a:r>
                    </a:p>
                  </a:txBody>
                  <a:tcPr marL="82296" marR="64008" marT="32004" marB="32004" anchor="ctr">
                    <a:solidFill>
                      <a:srgbClr val="F7F5F2"/>
                    </a:solidFill>
                  </a:tcPr>
                </a:tc>
              </a:tr>
              <a:tr h="453237">
                <a:tc>
                  <a:txBody>
                    <a:bodyPr wrap="square"/>
                    <a:lstStyle/>
                    <a:p>
                      <a:r>
                        <a:rPr sz="1050" b="1">
                          <a:solidFill>
                            <a:srgbClr val="8A1626"/>
                          </a:solidFill>
                          <a:latin typeface="Source Sans 3"/>
                        </a:rPr>
                        <a:t>filesystem · feedfile</a:t>
                      </a:r>
                    </a:p>
                  </a:txBody>
                  <a:tcPr marL="82296" marR="64008" marT="32004" marB="32004" anchor="ctr">
                    <a:solidFill>
                      <a:srgbClr val="FFFFFF"/>
                    </a:solidFill>
                  </a:tcPr>
                </a:tc>
                <a:tc>
                  <a:txBody>
                    <a:bodyPr wrap="square"/>
                    <a:lstStyle/>
                    <a:p>
                      <a:r>
                        <a:rPr sz="1050" b="0">
                          <a:solidFill>
                            <a:srgbClr val="1A1A1A"/>
                          </a:solidFill>
                          <a:latin typeface="Source Sans 3"/>
                        </a:rPr>
                        <a:t>A file, bounded or followed; a directory of CSV or Parquet</a:t>
                      </a:r>
                    </a:p>
                  </a:txBody>
                  <a:tcPr marL="82296" marR="64008" marT="32004" marB="32004" anchor="ctr">
                    <a:solidFill>
                      <a:srgbClr val="FFFFFF"/>
                    </a:solidFill>
                  </a:tcPr>
                </a:tc>
                <a:tc>
                  <a:txBody>
                    <a:bodyPr wrap="square"/>
                    <a:lstStyle/>
                    <a:p>
                      <a:r>
                        <a:rPr sz="1050" b="0">
                          <a:solidFill>
                            <a:srgbClr val="1A1A1A"/>
                          </a:solidFill>
                          <a:latin typeface="Source Sans 3"/>
                        </a:rPr>
                        <a:t>Append-only files</a:t>
                      </a:r>
                    </a:p>
                  </a:txBody>
                  <a:tcPr marL="82296" marR="64008" marT="32004" marB="32004" anchor="ctr">
                    <a:solidFill>
                      <a:srgbClr val="FFFFFF"/>
                    </a:solidFill>
                  </a:tcPr>
                </a:tc>
                <a:tc>
                  <a:txBody>
                    <a:bodyPr wrap="square"/>
                    <a:lstStyle/>
                    <a:p>
                      <a:r>
                        <a:rPr sz="1050" b="0">
                          <a:solidFill>
                            <a:srgbClr val="1A1A1A"/>
                          </a:solidFill>
                          <a:latin typeface="Source Sans 3"/>
                        </a:rPr>
                        <a:t>Sink at least once</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AND PROTOCOLS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Four ways to take the answer into your code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four clients outside the repository are built and run against a throwaway node.</a:t>
            </a:r>
          </a:p>
        </p:txBody>
      </p:sp>
      <p:sp>
        <p:nvSpPr>
          <p:cNvPr id="12" name="Rectangle 11"/>
          <p:cNvSpPr/>
          <p:nvPr/>
        </p:nvSpPr>
        <p:spPr>
          <a:xfrm>
            <a:off x="777240"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pravaha-sdk-java-flight</a:t>
            </a:r>
          </a:p>
        </p:txBody>
      </p:sp>
      <p:sp>
        <p:nvSpPr>
          <p:cNvPr id="16" name="TextBox 15"/>
          <p:cNvSpPr txBox="1"/>
          <p:nvPr/>
        </p:nvSpPr>
        <p:spPr>
          <a:xfrm>
            <a:off x="960120" y="2634538"/>
            <a:ext cx="2170099" cy="290855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query, subscribe, subscribeFromSnapshot and a reconnecting subscription. A thin jar through Maven or Gradle, or a 19 MB -all jar.</a:t>
            </a:r>
          </a:p>
        </p:txBody>
      </p:sp>
      <p:sp>
        <p:nvSpPr>
          <p:cNvPr id="17" name="Rectangle 16"/>
          <p:cNvSpPr/>
          <p:nvPr/>
        </p:nvSpPr>
        <p:spPr>
          <a:xfrm>
            <a:off x="3477691"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7691"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0571"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3660571"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3660571" y="2462784"/>
            <a:ext cx="2170099" cy="308030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pravaha[flight] adds Flight. The CLI and the assistant ship in it.</a:t>
            </a:r>
          </a:p>
        </p:txBody>
      </p:sp>
      <p:sp>
        <p:nvSpPr>
          <p:cNvPr id="22" name="Rectangle 21"/>
          <p:cNvSpPr/>
          <p:nvPr/>
        </p:nvSpPr>
        <p:spPr>
          <a:xfrm>
            <a:off x="6178143"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FLIGHT SQL</a:t>
            </a:r>
          </a:p>
        </p:txBody>
      </p:sp>
      <p:sp>
        <p:nvSpPr>
          <p:cNvPr id="25" name="TextBox 24"/>
          <p:cNvSpPr txBox="1"/>
          <p:nvPr/>
        </p:nvSpPr>
        <p:spPr>
          <a:xfrm>
            <a:off x="6361023"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Arrow Flight SQL client</a:t>
            </a:r>
          </a:p>
        </p:txBody>
      </p:sp>
      <p:sp>
        <p:nvSpPr>
          <p:cNvPr id="26" name="TextBox 25"/>
          <p:cNvSpPr txBox="1"/>
          <p:nvPr/>
        </p:nvSpPr>
        <p:spPr>
          <a:xfrm>
            <a:off x="6361023" y="2462784"/>
            <a:ext cx="2170099" cy="308030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TLS by default; both SDKs refuse to send a token over plaintext unless told to.</a:t>
            </a:r>
          </a:p>
        </p:txBody>
      </p:sp>
      <p:sp>
        <p:nvSpPr>
          <p:cNvPr id="27" name="Rectangle 26"/>
          <p:cNvSpPr/>
          <p:nvPr/>
        </p:nvSpPr>
        <p:spPr>
          <a:xfrm>
            <a:off x="8878595" y="1410919"/>
            <a:ext cx="2535859"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878595" y="1410919"/>
            <a:ext cx="25358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61475" y="1575511"/>
            <a:ext cx="2170099"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POSTGRESQL</a:t>
            </a:r>
          </a:p>
        </p:txBody>
      </p:sp>
      <p:sp>
        <p:nvSpPr>
          <p:cNvPr id="30" name="TextBox 29"/>
          <p:cNvSpPr txBox="1"/>
          <p:nvPr/>
        </p:nvSpPr>
        <p:spPr>
          <a:xfrm>
            <a:off x="9061475" y="1831543"/>
            <a:ext cx="2170099"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psql, DBeaver, Grafana, Power BI</a:t>
            </a:r>
          </a:p>
        </p:txBody>
      </p:sp>
      <p:sp>
        <p:nvSpPr>
          <p:cNvPr id="31" name="TextBox 30"/>
          <p:cNvSpPr txBox="1"/>
          <p:nvPr/>
        </p:nvSpPr>
        <p:spPr>
          <a:xfrm>
            <a:off x="9061475" y="2446426"/>
            <a:ext cx="2170099" cy="3096666"/>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Simple and extended protocol, text and binary, TLS; the same grants, filters and masks. Off by default.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RECONNECT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31</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Reopened with backoff</a:t>
            </a:r>
          </a:p>
          <a:p>
            <a:pPr lvl="1">
              <a:lnSpc>
                <a:spcPct val="120000"/>
              </a:lnSpc>
              <a:spcBef>
                <a:spcPts val="0"/>
              </a:spcBef>
              <a:spcAft>
                <a:spcPts val="0"/>
              </a:spcAft>
            </a:pPr>
            <a:r>
              <a:rPr sz="1300" b="0">
                <a:solidFill>
                  <a:srgbClr val="4A5058"/>
                </a:solidFill>
                <a:latin typeface="Source Sans 3"/>
              </a:rPr>
              <a:t>A stream ended by a restart or a broken connection is reopened 250 ms to 10 s apart, for up to five minutes by default.</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Paired with a snapshot</a:t>
            </a:r>
          </a:p>
          <a:p>
            <a:pPr lvl="1">
              <a:lnSpc>
                <a:spcPct val="120000"/>
              </a:lnSpc>
              <a:spcBef>
                <a:spcPts val="0"/>
              </a:spcBef>
              <a:spcAft>
                <a:spcPts val="0"/>
              </a:spcAft>
            </a:pPr>
            <a:r>
              <a:rPr sz="130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Every call has a deadline</a:t>
            </a:r>
          </a:p>
          <a:p>
            <a:pPr lvl="1">
              <a:lnSpc>
                <a:spcPct val="120000"/>
              </a:lnSpc>
              <a:spcBef>
                <a:spcPts val="0"/>
              </a:spcBef>
              <a:spcAft>
                <a:spcPts val="0"/>
              </a:spcAft>
            </a:pPr>
            <a:r>
              <a:rPr sz="1300" b="0">
                <a:solidFill>
                  <a:srgbClr val="4A5058"/>
                </a:solidFill>
                <a:latin typeface="Source Sans 3"/>
              </a:rPr>
              <a:t>60 s by default; past it, PRV-1045. A permanent refusal is raised at once.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201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201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8201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215" y="502920"/>
            <a:ext cx="4206240" cy="2834640"/>
          </a:xfrm>
          <a:prstGeom prst="rect">
            <a:avLst/>
          </a:prstGeom>
          <a:noFill/>
        </p:spPr>
        <p:txBody>
          <a:bodyPr wrap="square" lIns="0" rIns="0" tIns="0" bIns="0" anchor="t">
            <a:spAutoFit/>
          </a:bodyPr>
          <a:lstStyle/>
          <a:p>
            <a:pPr algn="r">
              <a:lnSpc>
                <a:spcPct val="90000"/>
              </a:lnSpc>
              <a:spcBef>
                <a:spcPts val="0"/>
              </a:spcBef>
              <a:spcAft>
                <a:spcPts val="0"/>
              </a:spcAft>
            </a:pPr>
            <a:r>
              <a:rPr sz="17000" b="1" i="0">
                <a:solidFill>
                  <a:srgbClr val="8A1626"/>
                </a:solidFill>
                <a:latin typeface="Source Sans 3"/>
              </a:rPr>
              <a:t>03</a:t>
            </a:r>
          </a:p>
        </p:txBody>
      </p:sp>
      <p:sp>
        <p:nvSpPr>
          <p:cNvPr id="8" name="Rectangle 7"/>
          <p:cNvSpPr/>
          <p:nvPr/>
        </p:nvSpPr>
        <p:spPr>
          <a:xfrm>
            <a:off x="777240" y="2697480"/>
            <a:ext cx="1463040" cy="45720"/>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9722815"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drawn as flows</a:t>
            </a:r>
          </a:p>
        </p:txBody>
      </p:sp>
      <p:sp>
        <p:nvSpPr>
          <p:cNvPr id="10" name="TextBox 9"/>
          <p:cNvSpPr txBox="1"/>
          <p:nvPr/>
        </p:nvSpPr>
        <p:spPr>
          <a:xfrm>
            <a:off x="777240" y="3808984"/>
            <a:ext cx="8808415" cy="1280160"/>
          </a:xfrm>
          <a:prstGeom prst="rect">
            <a:avLst/>
          </a:prstGeom>
          <a:noFill/>
        </p:spPr>
        <p:txBody>
          <a:bodyPr wrap="square" lIns="0" rIns="0" tIns="0" bIns="0" anchor="t">
            <a:spAutoFit/>
          </a:bodyPr>
          <a:lstStyle/>
          <a:p>
            <a:pPr algn="l">
              <a:lnSpc>
                <a:spcPct val="130000"/>
              </a:lnSpc>
              <a:spcBef>
                <a:spcPts val="0"/>
              </a:spcBef>
              <a:spcAft>
                <a:spcPts val="0"/>
              </a:spcAft>
            </a:pPr>
            <a:r>
              <a:rPr sz="1900" b="0" i="1">
                <a:solidFill>
                  <a:srgbClr val="F6E6E9"/>
                </a:solidFill>
                <a:latin typeface="Source Sans 3"/>
              </a:rPr>
              <a:t>Who is this, what may they read, and what were they told — step by step.</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Authentication, authorization and audit are kept apart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One verifier for every transport, one policy for every read, one trail for every decision.</a:t>
            </a:r>
          </a:p>
        </p:txBody>
      </p:sp>
      <p:sp>
        <p:nvSpPr>
          <p:cNvPr id="13" name="Rectangle 12"/>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6" name="Table 15"/>
          <p:cNvGraphicFramePr>
            <a:graphicFrameLocks noGrp="1"/>
          </p:cNvGraphicFramePr>
          <p:nvPr/>
        </p:nvGraphicFramePr>
        <p:xfrm>
          <a:off x="777240" y="1890267"/>
          <a:ext cx="5135727" cy="2712616"/>
        </p:xfrm>
        <a:graphic>
          <a:graphicData uri="http://schemas.openxmlformats.org/drawingml/2006/table">
            <a:tbl>
              <a:tblPr firstRow="1">
                <a:tableStyleId>{5C22544A-7EE6-4342-B048-85BDC9FD1C3A}</a:tableStyleId>
              </a:tblPr>
              <a:tblGrid>
                <a:gridCol w="1711909"/>
                <a:gridCol w="34238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796747">
                <a:tc>
                  <a:txBody>
                    <a:bodyPr wrap="square"/>
                    <a:lstStyle/>
                    <a:p>
                      <a:r>
                        <a:rPr sz="1400" b="1">
                          <a:solidFill>
                            <a:srgbClr val="8A1626"/>
                          </a:solidFill>
                          <a:latin typeface="Source Sans 3"/>
                        </a:rPr>
                        <a:t>TokenVerifier</a:t>
                      </a:r>
                    </a:p>
                  </a:txBody>
                  <a:tcPr marL="82296" marR="64008" marT="32004" marB="32004" anchor="ctr">
                    <a:solidFill>
                      <a:srgbClr val="FFFFFF"/>
                    </a:solidFill>
                  </a:tcPr>
                </a:tc>
                <a:tc>
                  <a:txBody>
                    <a:bodyPr wrap="square"/>
                    <a:lstStyle/>
                    <a:p>
                      <a:r>
                        <a:rPr sz="1400" b="0">
                          <a:solidFill>
                            <a:srgbClr val="1A1A1A"/>
                          </a:solidFill>
                          <a:latin typeface="Source Sans 3"/>
                        </a:rPr>
                        <a:t>Who is this? A credential in, a Principal (id, tenant, roles) out</a:t>
                      </a:r>
                    </a:p>
                  </a:txBody>
                  <a:tcPr marL="82296" marR="64008" marT="32004" marB="32004" anchor="ctr">
                    <a:solidFill>
                      <a:srgbClr val="FFFFFF"/>
                    </a:solidFill>
                  </a:tcPr>
                </a:tc>
              </a:tr>
              <a:tr h="1025753">
                <a:tc>
                  <a:txBody>
                    <a:bodyPr wrap="square"/>
                    <a:lstStyle/>
                    <a:p>
                      <a:r>
                        <a:rPr sz="1400" b="1">
                          <a:solidFill>
                            <a:srgbClr val="8A1626"/>
                          </a:solidFill>
                          <a:latin typeface="Source Sans 3"/>
                        </a:rPr>
                        <a:t>SecurityPolicy</a:t>
                      </a:r>
                    </a:p>
                  </a:txBody>
                  <a:tcPr marL="82296" marR="64008" marT="32004" marB="32004" anchor="ctr">
                    <a:solidFill>
                      <a:srgbClr val="F7F5F2"/>
                    </a:solidFill>
                  </a:tcPr>
                </a:tc>
                <a:tc>
                  <a:txBody>
                    <a:bodyPr wrap="square"/>
                    <a:lstStyle/>
                    <a:p>
                      <a:r>
                        <a:rPr sz="1400" b="0">
                          <a:solidFill>
                            <a:srgbClr val="1A1A1A"/>
                          </a:solidFill>
                          <a:latin typeface="Source Sans 3"/>
                        </a:rPr>
                        <a:t>What may they read, register, administer, write to? Allow, allow with a row filter, or deny</a:t>
                      </a:r>
                    </a:p>
                  </a:txBody>
                  <a:tcPr marL="82296" marR="64008" marT="32004" marB="32004" anchor="ctr">
                    <a:solidFill>
                      <a:srgbClr val="F7F5F2"/>
                    </a:solidFill>
                  </a:tcPr>
                </a:tc>
              </a:tr>
              <a:tr h="567740">
                <a:tc>
                  <a:txBody>
                    <a:bodyPr wrap="square"/>
                    <a:lstStyle/>
                    <a:p>
                      <a:r>
                        <a:rPr sz="1400" b="1">
                          <a:solidFill>
                            <a:srgbClr val="8A1626"/>
                          </a:solidFill>
                          <a:latin typeface="Source Sans 3"/>
                        </a:rPr>
                        <a:t>AuditSink</a:t>
                      </a:r>
                    </a:p>
                  </a:txBody>
                  <a:tcPr marL="82296" marR="64008" marT="32004" marB="32004" anchor="ctr">
                    <a:solidFill>
                      <a:srgbClr val="FFFFFF"/>
                    </a:solidFill>
                  </a:tcPr>
                </a:tc>
                <a:tc>
                  <a:txBody>
                    <a:bodyPr wrap="square"/>
                    <a:lstStyle/>
                    <a:p>
                      <a:r>
                        <a:rPr sz="1400" b="0">
                          <a:solidFill>
                            <a:srgbClr val="1A1A1A"/>
                          </a:solidFill>
                          <a:latin typeface="Source Sans 3"/>
                        </a:rPr>
                        <a:t>What were they told? Every decision, allows included</a:t>
                      </a:r>
                    </a:p>
                  </a:txBody>
                  <a:tcPr marL="82296" marR="64008" marT="32004" marB="32004" anchor="ctr">
                    <a:solidFill>
                      <a:srgbClr val="FFFFFF"/>
                    </a:solidFill>
                  </a:tcPr>
                </a:tc>
              </a:tr>
            </a:tbl>
          </a:graphicData>
        </a:graphic>
      </p:graphicFrame>
      <p:sp>
        <p:nvSpPr>
          <p:cNvPr id="17" name="Rectangle 16"/>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is enforced in Pravaha, not the store</a:t>
            </a:r>
          </a:p>
        </p:txBody>
      </p:sp>
      <p:sp>
        <p:nvSpPr>
          <p:cNvPr id="20" name="TextBox 19"/>
          <p:cNvSpPr txBox="1"/>
          <p:nvPr/>
        </p:nvSpPr>
        <p:spPr>
          <a:xfrm>
            <a:off x="6278727" y="1890267"/>
            <a:ext cx="5135727" cy="3493109"/>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A view is data the store has never seen</a:t>
            </a:r>
          </a:p>
          <a:p>
            <a:pPr lvl="1">
              <a:lnSpc>
                <a:spcPct val="120000"/>
              </a:lnSpc>
              <a:spcBef>
                <a:spcPts val="0"/>
              </a:spcBef>
              <a:spcAft>
                <a:spcPts val="0"/>
              </a:spcAft>
            </a:pPr>
            <a:r>
              <a:rPr sz="1250" b="0">
                <a:solidFill>
                  <a:srgbClr val="4A5058"/>
                </a:solidFill>
                <a:latin typeface="Source Sans 3"/>
              </a:rPr>
              <a:t>No record in the store carries permissions for a computed total.</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feed is read once and shared</a:t>
            </a:r>
          </a:p>
          <a:p>
            <a:pPr lvl="1">
              <a:lnSpc>
                <a:spcPct val="120000"/>
              </a:lnSpc>
              <a:spcBef>
                <a:spcPts val="0"/>
              </a:spcBef>
              <a:spcAft>
                <a:spcPts val="0"/>
              </a:spcAft>
            </a:pPr>
            <a:r>
              <a:rPr sz="1250" b="0">
                <a:solidFill>
                  <a:srgbClr val="4A5058"/>
                </a:solidFill>
                <a:latin typeface="Source Sans 3"/>
              </a:rPr>
              <a:t>Authorizing at the source would mean a read per person, or a superuser read that enforces nothing.</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continuous query has no caller</a:t>
            </a:r>
          </a:p>
          <a:p>
            <a:pPr lvl="1">
              <a:lnSpc>
                <a:spcPct val="120000"/>
              </a:lnSpc>
              <a:spcBef>
                <a:spcPts val="0"/>
              </a:spcBef>
              <a:spcAft>
                <a:spcPts val="0"/>
              </a:spcAft>
            </a:pPr>
            <a:r>
              <a:rPr sz="1250" b="0">
                <a:solidFill>
                  <a:srgbClr val="4A5058"/>
                </a:solidFill>
                <a:latin typeface="Source Sans 3"/>
              </a:rPr>
              <a:t>It runs for months while nobody is connected; there is no session to carry down.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SIGNING IN TO 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Authentication — a person signs in to the console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console holds no credential of its own: the engine checks every action, as you.</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Browser  →  Console  →  Engine</a:t>
            </a:r>
          </a:p>
        </p:txBody>
      </p:sp>
      <p:sp>
        <p:nvSpPr>
          <p:cNvPr id="15" name="Rectangle 14"/>
          <p:cNvSpPr/>
          <p:nvPr/>
        </p:nvSpPr>
        <p:spPr>
          <a:xfrm>
            <a:off x="777240" y="1794967"/>
            <a:ext cx="6199449" cy="346938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46938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306705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Browser → any page but landing, about, help</a:t>
            </a:r>
          </a:p>
          <a:p>
            <a:pPr>
              <a:lnSpc>
                <a:spcPct val="100000"/>
              </a:lnSpc>
              <a:spcBef>
                <a:spcPts val="0"/>
              </a:spcBef>
              <a:spcAft>
                <a:spcPts val="0"/>
              </a:spcAft>
            </a:pPr>
            <a:r>
              <a:rPr sz="1250" b="0" i="0">
                <a:solidFill>
                  <a:srgbClr val="F1EEE9"/>
                </a:solidFill>
                <a:latin typeface="Consolas"/>
              </a:rPr>
              <a:t>   └─ not signed in → the sign-in page</a:t>
            </a:r>
          </a:p>
          <a:p>
            <a:pPr>
              <a:lnSpc>
                <a:spcPct val="100000"/>
              </a:lnSpc>
              <a:spcBef>
                <a:spcPts val="0"/>
              </a:spcBef>
              <a:spcAft>
                <a:spcPts val="0"/>
              </a:spcAft>
            </a:pPr>
            <a:r>
              <a:rPr sz="1250" b="1" i="0">
                <a:solidFill>
                  <a:srgbClr val="E8B8C0"/>
                </a:solidFill>
                <a:latin typeface="Consolas"/>
              </a:rPr>
              <a:t>2. Browser → POST user name + password (+ CSRF)</a:t>
            </a:r>
          </a:p>
          <a:p>
            <a:pPr>
              <a:lnSpc>
                <a:spcPct val="100000"/>
              </a:lnSpc>
              <a:spcBef>
                <a:spcPts val="0"/>
              </a:spcBef>
              <a:spcAft>
                <a:spcPts val="0"/>
              </a:spcAft>
            </a:pPr>
            <a:r>
              <a:rPr sz="1250" b="0" i="0">
                <a:solidFill>
                  <a:srgbClr val="F1EEE9"/>
                </a:solidFill>
                <a:latin typeface="Consolas"/>
              </a:rPr>
              <a:t>   └─ Console → POST /api/v1/auth/login</a:t>
            </a:r>
          </a:p>
          <a:p>
            <a:pPr>
              <a:lnSpc>
                <a:spcPct val="100000"/>
              </a:lnSpc>
              <a:spcBef>
                <a:spcPts val="0"/>
              </a:spcBef>
              <a:spcAft>
                <a:spcPts val="0"/>
              </a:spcAft>
            </a:pPr>
            <a:r>
              <a:rPr sz="1250" b="0" i="0">
                <a:solidFill>
                  <a:srgbClr val="F1EEE9"/>
                </a:solidFill>
                <a:latin typeface="Consolas"/>
              </a:rPr>
              <a:t>      ├─ X-Forwarded-For: the browser's address</a:t>
            </a:r>
          </a:p>
          <a:p>
            <a:pPr>
              <a:lnSpc>
                <a:spcPct val="100000"/>
              </a:lnSpc>
              <a:spcBef>
                <a:spcPts val="0"/>
              </a:spcBef>
              <a:spcAft>
                <a:spcPts val="0"/>
              </a:spcAft>
            </a:pPr>
            <a:r>
              <a:rPr sz="1250" b="0" i="0">
                <a:solidFill>
                  <a:srgbClr val="F1EEE9"/>
                </a:solidFill>
                <a:latin typeface="Consolas"/>
              </a:rPr>
              <a:t>      ├─ password checked against Argon2id</a:t>
            </a:r>
          </a:p>
          <a:p>
            <a:pPr>
              <a:lnSpc>
                <a:spcPct val="100000"/>
              </a:lnSpc>
              <a:spcBef>
                <a:spcPts val="0"/>
              </a:spcBef>
              <a:spcAft>
                <a:spcPts val="0"/>
              </a:spcAft>
            </a:pPr>
            <a:r>
              <a:rPr sz="1250" b="0" i="0">
                <a:solidFill>
                  <a:srgbClr val="F1EEE9"/>
                </a:solidFill>
                <a:latin typeface="Consolas"/>
              </a:rPr>
              <a:t>      ├─ refused → 401 PRV-7010, alike for all</a:t>
            </a:r>
          </a:p>
          <a:p>
            <a:pPr>
              <a:lnSpc>
                <a:spcPct val="100000"/>
              </a:lnSpc>
              <a:spcBef>
                <a:spcPts val="0"/>
              </a:spcBef>
              <a:spcAft>
                <a:spcPts val="0"/>
              </a:spcAft>
            </a:pPr>
            <a:r>
              <a:rPr sz="1250" b="0" i="0">
                <a:solidFill>
                  <a:srgbClr val="F1EEE9"/>
                </a:solidFill>
                <a:latin typeface="Consolas"/>
              </a:rPr>
              <a:t>      └─ accepted → session token prv_s_…</a:t>
            </a:r>
          </a:p>
          <a:p>
            <a:pPr>
              <a:lnSpc>
                <a:spcPct val="100000"/>
              </a:lnSpc>
              <a:spcBef>
                <a:spcPts val="0"/>
              </a:spcBef>
              <a:spcAft>
                <a:spcPts val="0"/>
              </a:spcAft>
            </a:pPr>
            <a:r>
              <a:rPr sz="1250" b="1" i="0">
                <a:solidFill>
                  <a:srgbClr val="E8B8C0"/>
                </a:solidFill>
                <a:latin typeface="Consolas"/>
              </a:rPr>
              <a:t>3. Console keeps the token in its own process</a:t>
            </a:r>
          </a:p>
          <a:p>
            <a:pPr>
              <a:lnSpc>
                <a:spcPct val="100000"/>
              </a:lnSpc>
              <a:spcBef>
                <a:spcPts val="0"/>
              </a:spcBef>
              <a:spcAft>
                <a:spcPts val="0"/>
              </a:spcAft>
            </a:pPr>
            <a:r>
              <a:rPr sz="1250" b="0" i="0">
                <a:solidFill>
                  <a:srgbClr val="F1EEE9"/>
                </a:solidFill>
                <a:latin typeface="Consolas"/>
              </a:rPr>
              <a:t>   ├─ under an opaque id: the cookie holds the id</a:t>
            </a:r>
          </a:p>
          <a:p>
            <a:pPr>
              <a:lnSpc>
                <a:spcPct val="100000"/>
              </a:lnSpc>
              <a:spcBef>
                <a:spcPts val="0"/>
              </a:spcBef>
              <a:spcAft>
                <a:spcPts val="0"/>
              </a:spcAft>
            </a:pPr>
            <a:r>
              <a:rPr sz="1250" b="0" i="0">
                <a:solidFill>
                  <a:srgbClr val="F1EEE9"/>
                </a:solidFill>
                <a:latin typeface="Consolas"/>
              </a:rPr>
              <a:t>   └─ HttpOnly, SameSite=Lax, Secure over https</a:t>
            </a:r>
          </a:p>
          <a:p>
            <a:pPr>
              <a:lnSpc>
                <a:spcPct val="100000"/>
              </a:lnSpc>
              <a:spcBef>
                <a:spcPts val="0"/>
              </a:spcBef>
              <a:spcAft>
                <a:spcPts val="0"/>
              </a:spcAft>
            </a:pPr>
            <a:r>
              <a:rPr sz="1250" b="1" i="0">
                <a:solidFill>
                  <a:srgbClr val="E8B8C0"/>
                </a:solidFill>
                <a:latin typeface="Consolas"/>
              </a:rPr>
              <a:t>4. Each click → the token on every REST/Flight call</a:t>
            </a:r>
          </a:p>
          <a:p>
            <a:pPr>
              <a:lnSpc>
                <a:spcPct val="100000"/>
              </a:lnSpc>
              <a:spcBef>
                <a:spcPts val="0"/>
              </a:spcBef>
              <a:spcAft>
                <a:spcPts val="0"/>
              </a:spcAft>
            </a:pPr>
            <a:r>
              <a:rPr sz="1250" b="0" i="0">
                <a:solidFill>
                  <a:srgbClr val="F1EEE9"/>
                </a:solidFill>
                <a:latin typeface="Consolas"/>
              </a:rPr>
              <a:t>   └─ engine authorizes and audits it as you</a:t>
            </a:r>
          </a:p>
          <a:p>
            <a:pPr>
              <a:lnSpc>
                <a:spcPct val="100000"/>
              </a:lnSpc>
              <a:spcBef>
                <a:spcPts val="0"/>
              </a:spcBef>
              <a:spcAft>
                <a:spcPts val="0"/>
              </a:spcAft>
            </a:pPr>
            <a:r>
              <a:rPr sz="1250" b="1" i="0">
                <a:solidFill>
                  <a:srgbClr val="E8B8C0"/>
                </a:solidFill>
                <a:latin typeface="Consolas"/>
              </a:rPr>
              <a:t>5. 30 min idle, 12 h in all, or sign-out</a:t>
            </a:r>
          </a:p>
          <a:p>
            <a:pPr>
              <a:lnSpc>
                <a:spcPct val="100000"/>
              </a:lnSpc>
              <a:spcBef>
                <a:spcPts val="0"/>
              </a:spcBef>
              <a:spcAft>
                <a:spcPts val="0"/>
              </a:spcAft>
            </a:pPr>
            <a:r>
              <a:rPr sz="1250" b="0" i="0">
                <a:solidFill>
                  <a:srgbClr val="F1EEE9"/>
                </a:solidFill>
                <a:latin typeface="Consolas"/>
              </a:rPr>
              <a:t>   └─ the next request → sign in again</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Lockout that names nobody</a:t>
            </a:r>
          </a:p>
          <a:p>
            <a:pPr lvl="1">
              <a:lnSpc>
                <a:spcPct val="120000"/>
              </a:lnSpc>
              <a:spcBef>
                <a:spcPts val="0"/>
              </a:spcBef>
              <a:spcAft>
                <a:spcPts val="0"/>
              </a:spcAft>
            </a:pPr>
            <a:r>
              <a:rPr sz="1250" b="0">
                <a:solidFill>
                  <a:srgbClr val="4A5058"/>
                </a:solidFill>
                <a:latin typeface="Source Sans 3"/>
              </a:rPr>
              <a:t>Five failures from one address in 15 minutes bar that address for 30; fifty from anywhere lock the account.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copied cookie is not a credential</a:t>
            </a:r>
          </a:p>
          <a:p>
            <a:pPr lvl="1">
              <a:lnSpc>
                <a:spcPct val="120000"/>
              </a:lnSpc>
              <a:spcBef>
                <a:spcPts val="0"/>
              </a:spcBef>
              <a:spcAft>
                <a:spcPts val="0"/>
              </a:spcAft>
            </a:pPr>
            <a:r>
              <a:rPr sz="1250" b="0">
                <a:solidFill>
                  <a:srgbClr val="4A5058"/>
                </a:solidFill>
                <a:latin typeface="Source Sans 3"/>
              </a:rPr>
              <a:t>It holds no token for Flight, HTTP or the PostgreSQL gateway.</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Headers on every response</a:t>
            </a:r>
          </a:p>
          <a:p>
            <a:pPr lvl="1">
              <a:lnSpc>
                <a:spcPct val="120000"/>
              </a:lnSpc>
              <a:spcBef>
                <a:spcPts val="0"/>
              </a:spcBef>
              <a:spcAft>
                <a:spcPts val="0"/>
              </a:spcAft>
            </a:pPr>
            <a:r>
              <a:rPr sz="1250" b="0">
                <a:solidFill>
                  <a:srgbClr val="4A5058"/>
                </a:solidFill>
                <a:latin typeface="Source Sans 3"/>
              </a:rPr>
              <a:t>A CSP, frame-ancestors 'none', X-Frame-Options DENY, nosniff; HSTS over https.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Not built</a:t>
            </a:r>
          </a:p>
          <a:p>
            <a:pPr lvl="1">
              <a:lnSpc>
                <a:spcPct val="120000"/>
              </a:lnSpc>
              <a:spcBef>
                <a:spcPts val="0"/>
              </a:spcBef>
              <a:spcAft>
                <a:spcPts val="0"/>
              </a:spcAft>
            </a:pPr>
            <a:r>
              <a:rPr sz="1250" b="0">
                <a:solidFill>
                  <a:srgbClr val="4A5058"/>
                </a:solidFill>
                <a:latin typeface="Source Sans 3"/>
              </a:rPr>
              <a:t>MFA and single sign-on: not in this release.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AN API KEY, FROM CREATION TO REVOCATION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Authentication — a script reads with an API key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revoked key stops reading at its next statement — even on a connection already open.</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Administrator · Script  →  Engine (Flight, PostgreSQL, REST)</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Admin → pravaha key create etl --days 90</a:t>
            </a:r>
          </a:p>
          <a:p>
            <a:pPr>
              <a:lnSpc>
                <a:spcPct val="100000"/>
              </a:lnSpc>
              <a:spcBef>
                <a:spcPts val="0"/>
              </a:spcBef>
              <a:spcAft>
                <a:spcPts val="0"/>
              </a:spcAft>
            </a:pPr>
            <a:r>
              <a:rPr sz="1250" b="0" i="0">
                <a:solidFill>
                  <a:srgbClr val="F1EEE9"/>
                </a:solidFill>
                <a:latin typeface="Consolas"/>
              </a:rPr>
              <a:t>   ├─ prv_&lt;env&gt;_&lt;keyid&gt;_&lt;secret&gt;, shown once</a:t>
            </a:r>
          </a:p>
          <a:p>
            <a:pPr>
              <a:lnSpc>
                <a:spcPct val="100000"/>
              </a:lnSpc>
              <a:spcBef>
                <a:spcPts val="0"/>
              </a:spcBef>
              <a:spcAft>
                <a:spcPts val="0"/>
              </a:spcAft>
            </a:pPr>
            <a:r>
              <a:rPr sz="1250" b="0" i="0">
                <a:solidFill>
                  <a:srgbClr val="F1EEE9"/>
                </a:solidFill>
                <a:latin typeface="Consolas"/>
              </a:rPr>
              <a:t>   ├─ roles: a subset of the holder's</a:t>
            </a:r>
          </a:p>
          <a:p>
            <a:pPr>
              <a:lnSpc>
                <a:spcPct val="100000"/>
              </a:lnSpc>
              <a:spcBef>
                <a:spcPts val="0"/>
              </a:spcBef>
              <a:spcAft>
                <a:spcPts val="0"/>
              </a:spcAft>
            </a:pPr>
            <a:r>
              <a:rPr sz="1250" b="0" i="0">
                <a:solidFill>
                  <a:srgbClr val="F1EEE9"/>
                </a:solidFill>
                <a:latin typeface="Consolas"/>
              </a:rPr>
              <a:t>   └─ expiry mandatory: 90 days default, 365 max</a:t>
            </a:r>
          </a:p>
          <a:p>
            <a:pPr>
              <a:lnSpc>
                <a:spcPct val="100000"/>
              </a:lnSpc>
              <a:spcBef>
                <a:spcPts val="0"/>
              </a:spcBef>
              <a:spcAft>
                <a:spcPts val="0"/>
              </a:spcAft>
            </a:pPr>
            <a:r>
              <a:rPr sz="1250" b="1" i="0">
                <a:solidFill>
                  <a:srgbClr val="E8B8C0"/>
                </a:solidFill>
                <a:latin typeface="Consolas"/>
              </a:rPr>
              <a:t>2. Script → Flight call, authorization: Bearer &lt;key&gt;</a:t>
            </a:r>
          </a:p>
          <a:p>
            <a:pPr>
              <a:lnSpc>
                <a:spcPct val="100000"/>
              </a:lnSpc>
              <a:spcBef>
                <a:spcPts val="0"/>
              </a:spcBef>
              <a:spcAft>
                <a:spcPts val="0"/>
              </a:spcAft>
            </a:pPr>
            <a:r>
              <a:rPr sz="1250" b="0" i="0">
                <a:solidFill>
                  <a:srgbClr val="F1EEE9"/>
                </a:solidFill>
                <a:latin typeface="Consolas"/>
              </a:rPr>
              <a:t>   ├─ grpc+tls:// — over grpc:// the SDK refuses</a:t>
            </a:r>
          </a:p>
          <a:p>
            <a:pPr>
              <a:lnSpc>
                <a:spcPct val="100000"/>
              </a:lnSpc>
              <a:spcBef>
                <a:spcPts val="0"/>
              </a:spcBef>
              <a:spcAft>
                <a:spcPts val="0"/>
              </a:spcAft>
            </a:pPr>
            <a:r>
              <a:rPr sz="1250" b="0" i="0">
                <a:solidFill>
                  <a:srgbClr val="F1EEE9"/>
                </a:solidFill>
                <a:latin typeface="Consolas"/>
              </a:rPr>
              <a:t>   └─ TokenVerifier → Principal (id, tenant, roles)</a:t>
            </a:r>
          </a:p>
          <a:p>
            <a:pPr>
              <a:lnSpc>
                <a:spcPct val="100000"/>
              </a:lnSpc>
              <a:spcBef>
                <a:spcPts val="0"/>
              </a:spcBef>
              <a:spcAft>
                <a:spcPts val="0"/>
              </a:spcAft>
            </a:pPr>
            <a:r>
              <a:rPr sz="1250" b="1" i="0">
                <a:solidFill>
                  <a:srgbClr val="E8B8C0"/>
                </a:solidFill>
                <a:latin typeface="Consolas"/>
              </a:rPr>
              <a:t>3. Long-lived reads keep checking</a:t>
            </a:r>
          </a:p>
          <a:p>
            <a:pPr>
              <a:lnSpc>
                <a:spcPct val="100000"/>
              </a:lnSpc>
              <a:spcBef>
                <a:spcPts val="0"/>
              </a:spcBef>
              <a:spcAft>
                <a:spcPts val="0"/>
              </a:spcAft>
            </a:pPr>
            <a:r>
              <a:rPr sz="1250" b="0" i="0">
                <a:solidFill>
                  <a:srgbClr val="F1EEE9"/>
                </a:solidFill>
                <a:latin typeface="Consolas"/>
              </a:rPr>
              <a:t>   ├─ Flight subscription: re-verified every 2 s</a:t>
            </a:r>
          </a:p>
          <a:p>
            <a:pPr>
              <a:lnSpc>
                <a:spcPct val="100000"/>
              </a:lnSpc>
              <a:spcBef>
                <a:spcPts val="0"/>
              </a:spcBef>
              <a:spcAft>
                <a:spcPts val="0"/>
              </a:spcAft>
            </a:pPr>
            <a:r>
              <a:rPr sz="1250" b="0" i="0">
                <a:solidFill>
                  <a:srgbClr val="F1EEE9"/>
                </a:solidFill>
                <a:latin typeface="Consolas"/>
              </a:rPr>
              <a:t>   └─ PostgreSQL: re-verified before each statement</a:t>
            </a:r>
          </a:p>
          <a:p>
            <a:pPr>
              <a:lnSpc>
                <a:spcPct val="100000"/>
              </a:lnSpc>
              <a:spcBef>
                <a:spcPts val="0"/>
              </a:spcBef>
              <a:spcAft>
                <a:spcPts val="0"/>
              </a:spcAft>
            </a:pPr>
            <a:r>
              <a:rPr sz="1250" b="1" i="0">
                <a:solidFill>
                  <a:srgbClr val="E8B8C0"/>
                </a:solidFill>
                <a:latin typeface="Consolas"/>
              </a:rPr>
              <a:t>4. Admin → pravaha key revoke &lt;keyId&gt;</a:t>
            </a:r>
          </a:p>
          <a:p>
            <a:pPr>
              <a:lnSpc>
                <a:spcPct val="100000"/>
              </a:lnSpc>
              <a:spcBef>
                <a:spcPts val="0"/>
              </a:spcBef>
              <a:spcAft>
                <a:spcPts val="0"/>
              </a:spcAft>
            </a:pPr>
            <a:r>
              <a:rPr sz="1250" b="0" i="0">
                <a:solidFill>
                  <a:srgbClr val="F1EEE9"/>
                </a:solidFill>
                <a:latin typeface="Consolas"/>
              </a:rPr>
              <a:t>   ├─ Flight stream ends UNAUTHENTICATED</a:t>
            </a:r>
          </a:p>
          <a:p>
            <a:pPr>
              <a:lnSpc>
                <a:spcPct val="100000"/>
              </a:lnSpc>
              <a:spcBef>
                <a:spcPts val="0"/>
              </a:spcBef>
              <a:spcAft>
                <a:spcPts val="0"/>
              </a:spcAft>
            </a:pPr>
            <a:r>
              <a:rPr sz="1250" b="0" i="0">
                <a:solidFill>
                  <a:srgbClr val="F1EEE9"/>
                </a:solidFill>
                <a:latin typeface="Consolas"/>
              </a:rPr>
              <a:t>   └─ PostgreSQL ends FATAL 28000, PRV-6218</a:t>
            </a:r>
          </a:p>
          <a:p>
            <a:pPr>
              <a:lnSpc>
                <a:spcPct val="100000"/>
              </a:lnSpc>
              <a:spcBef>
                <a:spcPts val="0"/>
              </a:spcBef>
              <a:spcAft>
                <a:spcPts val="0"/>
              </a:spcAft>
            </a:pPr>
            <a:r>
              <a:rPr sz="1250" b="1" i="0">
                <a:solidFill>
                  <a:srgbClr val="E8B8C0"/>
                </a:solidFill>
                <a:latin typeface="Consolas"/>
              </a:rPr>
              <a:t>5. Rotation keeps the old key 7 days, then it ends</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Stored, never reversible</a:t>
            </a:r>
          </a:p>
          <a:p>
            <a:pPr lvl="1">
              <a:lnSpc>
                <a:spcPct val="120000"/>
              </a:lnSpc>
              <a:spcBef>
                <a:spcPts val="0"/>
              </a:spcBef>
              <a:spcAft>
                <a:spcPts val="0"/>
              </a:spcAft>
            </a:pPr>
            <a:r>
              <a:rPr sz="1250" b="0">
                <a:solidFill>
                  <a:srgbClr val="4A5058"/>
                </a:solidFill>
                <a:latin typeface="Source Sans 3"/>
              </a:rPr>
              <a:t>The key's secret is held under the password KDF; a key from another environment is refused.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Revocation reaches open connections</a:t>
            </a:r>
          </a:p>
          <a:p>
            <a:pPr lvl="1">
              <a:lnSpc>
                <a:spcPct val="120000"/>
              </a:lnSpc>
              <a:spcBef>
                <a:spcPts val="0"/>
              </a:spcBef>
              <a:spcAft>
                <a:spcPts val="0"/>
              </a:spcAft>
            </a:pPr>
            <a:r>
              <a:rPr sz="1250" b="0">
                <a:solidFill>
                  <a:srgbClr val="4A5058"/>
                </a:solidFill>
                <a:latin typeface="Source Sans 3"/>
              </a:rPr>
              <a:t>Revoking a key, ending a session or disabling a user takes effect on every door at the credential's next use.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broken verifier fails closed</a:t>
            </a:r>
          </a:p>
          <a:p>
            <a:pPr lvl="1">
              <a:lnSpc>
                <a:spcPct val="120000"/>
              </a:lnSpc>
              <a:spcBef>
                <a:spcPts val="0"/>
              </a:spcBef>
              <a:spcAft>
                <a:spcPts val="0"/>
              </a:spcAft>
            </a:pPr>
            <a:r>
              <a:rPr sz="1250" b="0">
                <a:solidFill>
                  <a:srgbClr val="4A5058"/>
                </a:solidFill>
                <a:latin typeface="Source Sans 3"/>
              </a:rPr>
              <a:t>A custom TokenVerifier that returns nothing or throws is PRV-7001 on every surface.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THE CHECK ON EVERY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Authorization — what happens before a row leaves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When the engine cannot apply a rule exactly, it refuses — it never returns rows it cannot vouch for.</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Any client (Flight · PostgreSQL · REST)  →  Engine</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SELECT spend FROM hourly_spend WHERE user_id='u42'</a:t>
            </a:r>
          </a:p>
          <a:p>
            <a:pPr>
              <a:lnSpc>
                <a:spcPct val="100000"/>
              </a:lnSpc>
              <a:spcBef>
                <a:spcPts val="0"/>
              </a:spcBef>
              <a:spcAft>
                <a:spcPts val="0"/>
              </a:spcAft>
            </a:pPr>
            <a:r>
              <a:rPr sz="1250" b="1" i="0">
                <a:solidFill>
                  <a:srgbClr val="E8B8C0"/>
                </a:solidFill>
                <a:latin typeface="Consolas"/>
              </a:rPr>
              <a:t>2. TokenVerifier → Principal (id, tenant, roles,</a:t>
            </a:r>
          </a:p>
          <a:p>
            <a:pPr>
              <a:lnSpc>
                <a:spcPct val="100000"/>
              </a:lnSpc>
              <a:spcBef>
                <a:spcPts val="0"/>
              </a:spcBef>
              <a:spcAft>
                <a:spcPts val="0"/>
              </a:spcAft>
            </a:pPr>
            <a:r>
              <a:rPr sz="1250" b="0" i="0">
                <a:solidFill>
                  <a:srgbClr val="F1EEE9"/>
                </a:solidFill>
                <a:latin typeface="Consolas"/>
              </a:rPr>
              <a:t>   │  attributes such as region=EU)</a:t>
            </a:r>
          </a:p>
          <a:p>
            <a:pPr>
              <a:lnSpc>
                <a:spcPct val="100000"/>
              </a:lnSpc>
              <a:spcBef>
                <a:spcPts val="0"/>
              </a:spcBef>
              <a:spcAft>
                <a:spcPts val="0"/>
              </a:spcAft>
            </a:pPr>
            <a:r>
              <a:rPr sz="1250" b="0" i="0">
                <a:solidFill>
                  <a:srgbClr val="F1EEE9"/>
                </a:solidFill>
                <a:latin typeface="Consolas"/>
              </a:rPr>
              <a:t>   └─ nothing, ANONYMOUS or a throw → PRV-7001</a:t>
            </a:r>
          </a:p>
          <a:p>
            <a:pPr>
              <a:lnSpc>
                <a:spcPct val="100000"/>
              </a:lnSpc>
              <a:spcBef>
                <a:spcPts val="0"/>
              </a:spcBef>
              <a:spcAft>
                <a:spcPts val="0"/>
              </a:spcAft>
            </a:pPr>
            <a:r>
              <a:rPr sz="1250" b="1" i="0">
                <a:solidFill>
                  <a:srgbClr val="E8B8C0"/>
                </a:solidFill>
                <a:latin typeface="Consolas"/>
              </a:rPr>
              <a:t>3. The name resolves inside the caller's tenant</a:t>
            </a:r>
          </a:p>
          <a:p>
            <a:pPr>
              <a:lnSpc>
                <a:spcPct val="100000"/>
              </a:lnSpc>
              <a:spcBef>
                <a:spcPts val="0"/>
              </a:spcBef>
              <a:spcAft>
                <a:spcPts val="0"/>
              </a:spcAft>
            </a:pPr>
            <a:r>
              <a:rPr sz="1250" b="0" i="0">
                <a:solidFill>
                  <a:srgbClr val="F1EEE9"/>
                </a:solidFill>
                <a:latin typeface="Consolas"/>
              </a:rPr>
              <a:t>   └─ another tenant's view: a name nothing holds</a:t>
            </a:r>
          </a:p>
          <a:p>
            <a:pPr>
              <a:lnSpc>
                <a:spcPct val="100000"/>
              </a:lnSpc>
              <a:spcBef>
                <a:spcPts val="0"/>
              </a:spcBef>
              <a:spcAft>
                <a:spcPts val="0"/>
              </a:spcAft>
            </a:pPr>
            <a:r>
              <a:rPr sz="1250" b="1" i="0">
                <a:solidFill>
                  <a:srgbClr val="E8B8C0"/>
                </a:solidFill>
                <a:latin typeface="Consolas"/>
              </a:rPr>
              <a:t>4. Policy and catalogue grants: SELECT on it?</a:t>
            </a:r>
          </a:p>
          <a:p>
            <a:pPr>
              <a:lnSpc>
                <a:spcPct val="100000"/>
              </a:lnSpc>
              <a:spcBef>
                <a:spcPts val="0"/>
              </a:spcBef>
              <a:spcAft>
                <a:spcPts val="0"/>
              </a:spcAft>
            </a:pPr>
            <a:r>
              <a:rPr sz="1250" b="0" i="0">
                <a:solidFill>
                  <a:srgbClr val="F1EEE9"/>
                </a:solidFill>
                <a:latin typeface="Consolas"/>
              </a:rPr>
              <a:t>   ├─ no → PRV-7002, recorded as DENY</a:t>
            </a:r>
          </a:p>
          <a:p>
            <a:pPr>
              <a:lnSpc>
                <a:spcPct val="100000"/>
              </a:lnSpc>
              <a:spcBef>
                <a:spcPts val="0"/>
              </a:spcBef>
              <a:spcAft>
                <a:spcPts val="0"/>
              </a:spcAft>
            </a:pPr>
            <a:r>
              <a:rPr sz="1250" b="0" i="0">
                <a:solidFill>
                  <a:srgbClr val="F1EEE9"/>
                </a:solidFill>
                <a:latin typeface="Consolas"/>
              </a:rPr>
              <a:t>   └─ yes, with the row filters and masks bound</a:t>
            </a:r>
          </a:p>
          <a:p>
            <a:pPr>
              <a:lnSpc>
                <a:spcPct val="100000"/>
              </a:lnSpc>
              <a:spcBef>
                <a:spcPts val="0"/>
              </a:spcBef>
              <a:spcAft>
                <a:spcPts val="0"/>
              </a:spcAft>
            </a:pPr>
            <a:r>
              <a:rPr sz="1250" b="1" i="0">
                <a:solidFill>
                  <a:srgbClr val="E8B8C0"/>
                </a:solidFill>
                <a:latin typeface="Consolas"/>
              </a:rPr>
              <a:t>5. Row filter: only if the view keeps its columns</a:t>
            </a:r>
          </a:p>
          <a:p>
            <a:pPr>
              <a:lnSpc>
                <a:spcPct val="100000"/>
              </a:lnSpc>
              <a:spcBef>
                <a:spcPts val="0"/>
              </a:spcBef>
              <a:spcAft>
                <a:spcPts val="0"/>
              </a:spcAft>
            </a:pPr>
            <a:r>
              <a:rPr sz="1250" b="0" i="0">
                <a:solidFill>
                  <a:srgbClr val="F1EEE9"/>
                </a:solidFill>
                <a:latin typeface="Consolas"/>
              </a:rPr>
              <a:t>   ├─ otherwise refused → PRV-7003</a:t>
            </a:r>
          </a:p>
          <a:p>
            <a:pPr>
              <a:lnSpc>
                <a:spcPct val="100000"/>
              </a:lnSpc>
              <a:spcBef>
                <a:spcPts val="0"/>
              </a:spcBef>
              <a:spcAft>
                <a:spcPts val="0"/>
              </a:spcAft>
            </a:pPr>
            <a:r>
              <a:rPr sz="1250" b="0" i="0">
                <a:solidFill>
                  <a:srgbClr val="F1EEE9"/>
                </a:solidFill>
                <a:latin typeface="Consolas"/>
              </a:rPr>
              <a:t>   └─ a masked column compared → PRV-7006</a:t>
            </a:r>
          </a:p>
          <a:p>
            <a:pPr>
              <a:lnSpc>
                <a:spcPct val="100000"/>
              </a:lnSpc>
              <a:spcBef>
                <a:spcPts val="0"/>
              </a:spcBef>
              <a:spcAft>
                <a:spcPts val="0"/>
              </a:spcAft>
            </a:pPr>
            <a:r>
              <a:rPr sz="1250" b="1" i="0">
                <a:solidFill>
                  <a:srgbClr val="E8B8C0"/>
                </a:solidFill>
                <a:latin typeface="Consolas"/>
              </a:rPr>
              <a:t>6. AuditSink ← principal, action, target, ALLOW</a:t>
            </a:r>
          </a:p>
          <a:p>
            <a:pPr>
              <a:lnSpc>
                <a:spcPct val="100000"/>
              </a:lnSpc>
              <a:spcBef>
                <a:spcPts val="0"/>
              </a:spcBef>
              <a:spcAft>
                <a:spcPts val="0"/>
              </a:spcAft>
            </a:pPr>
            <a:r>
              <a:rPr sz="1250" b="1" i="0">
                <a:solidFill>
                  <a:srgbClr val="E8B8C0"/>
                </a:solidFill>
                <a:latin typeface="Consolas"/>
              </a:rPr>
              <a:t>7. Rows leave, filtered and masked</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same on every path</a:t>
            </a:r>
          </a:p>
          <a:p>
            <a:pPr lvl="1">
              <a:lnSpc>
                <a:spcPct val="120000"/>
              </a:lnSpc>
              <a:spcBef>
                <a:spcPts val="0"/>
              </a:spcBef>
              <a:spcAft>
                <a:spcPts val="0"/>
              </a:spcAft>
            </a:pPr>
            <a:r>
              <a:rPr sz="1250" b="0">
                <a:solidFill>
                  <a:srgbClr val="4A5058"/>
                </a:solidFill>
                <a:latin typeface="Source Sans 3"/>
              </a:rPr>
              <a:t>Flight and point reads, PostgreSQL text and binary, subscriptions, queries built on the view, and alerts evaluated as their owner.</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registration is a standing read</a:t>
            </a:r>
          </a:p>
          <a:p>
            <a:pPr lvl="1">
              <a:lnSpc>
                <a:spcPct val="120000"/>
              </a:lnSpc>
              <a:spcBef>
                <a:spcPts val="0"/>
              </a:spcBef>
              <a:spcAft>
                <a:spcPts val="0"/>
              </a:spcAft>
            </a:pPr>
            <a:r>
              <a:rPr sz="1250" b="0">
                <a:solidFill>
                  <a:srgbClr val="4A5058"/>
                </a:solidFill>
                <a:latin typeface="Source Sans 3"/>
              </a:rPr>
              <a:t>Read is asked for every stream in its plan; a sink is a standing write.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revoke ends an open stream</a:t>
            </a:r>
          </a:p>
          <a:p>
            <a:pPr lvl="1">
              <a:lnSpc>
                <a:spcPct val="120000"/>
              </a:lnSpc>
              <a:spcBef>
                <a:spcPts val="0"/>
              </a:spcBef>
              <a:spcAft>
                <a:spcPts val="0"/>
              </a:spcAft>
            </a:pPr>
            <a:r>
              <a:rPr sz="1250" b="0">
                <a:solidFill>
                  <a:srgbClr val="4A5058"/>
                </a:solidFill>
                <a:latin typeface="Source Sans 3"/>
              </a:rPr>
              <a:t>SUBSCRIBE is re-asked every two seconds.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FLOW · THE AUDIT TRAIL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Audit — every decision, allows included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trail with a gap nothing records is a trail that lies — so every gap is counted.</a:t>
            </a:r>
          </a:p>
        </p:txBody>
      </p:sp>
      <p:sp>
        <p:nvSpPr>
          <p:cNvPr id="13" name="Rectangle 12"/>
          <p:cNvSpPr/>
          <p:nvPr/>
        </p:nvSpPr>
        <p:spPr>
          <a:xfrm>
            <a:off x="777240" y="1410919"/>
            <a:ext cx="6199449"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493215"/>
            <a:ext cx="6199449" cy="256032"/>
          </a:xfrm>
          <a:prstGeom prst="rect">
            <a:avLst/>
          </a:prstGeom>
          <a:noFill/>
        </p:spPr>
        <p:txBody>
          <a:bodyPr wrap="square" lIns="0" rIns="0" tIns="0" bIns="0" anchor="t">
            <a:spAutoFit/>
          </a:bodyPr>
          <a:lstStyle/>
          <a:p>
            <a:pPr algn="ctr">
              <a:lnSpc>
                <a:spcPct val="120000"/>
              </a:lnSpc>
              <a:spcBef>
                <a:spcPts val="0"/>
              </a:spcBef>
              <a:spcAft>
                <a:spcPts val="0"/>
              </a:spcAft>
            </a:pPr>
            <a:r>
              <a:rPr sz="1300" b="1" i="0">
                <a:solidFill>
                  <a:srgbClr val="FFFFFF"/>
                </a:solidFill>
                <a:latin typeface="Source Sans 3"/>
              </a:rPr>
              <a:t>Every decision  →  AuditSink  →  file · GET /api/v1/audit</a:t>
            </a:r>
          </a:p>
        </p:txBody>
      </p:sp>
      <p:sp>
        <p:nvSpPr>
          <p:cNvPr id="15" name="Rectangle 14"/>
          <p:cNvSpPr/>
          <p:nvPr/>
        </p:nvSpPr>
        <p:spPr>
          <a:xfrm>
            <a:off x="777240" y="1794967"/>
            <a:ext cx="6199449"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794967"/>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1996135"/>
            <a:ext cx="5797113"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E8B8C0"/>
                </a:solidFill>
                <a:latin typeface="Consolas"/>
              </a:rPr>
              <a:t>1. A decision: allow or deny, on any transport</a:t>
            </a:r>
          </a:p>
          <a:p>
            <a:pPr>
              <a:lnSpc>
                <a:spcPct val="100000"/>
              </a:lnSpc>
              <a:spcBef>
                <a:spcPts val="0"/>
              </a:spcBef>
              <a:spcAft>
                <a:spcPts val="0"/>
              </a:spcAft>
            </a:pPr>
            <a:r>
              <a:rPr sz="1250" b="0" i="0">
                <a:solidFill>
                  <a:srgbClr val="F1EEE9"/>
                </a:solidFill>
                <a:latin typeface="Consolas"/>
              </a:rPr>
              <a:t>   └─ one AuditSink object for Flight, HTTP, engine</a:t>
            </a:r>
          </a:p>
          <a:p>
            <a:pPr>
              <a:lnSpc>
                <a:spcPct val="100000"/>
              </a:lnSpc>
              <a:spcBef>
                <a:spcPts val="0"/>
              </a:spcBef>
              <a:spcAft>
                <a:spcPts val="0"/>
              </a:spcAft>
            </a:pPr>
            <a:r>
              <a:rPr sz="1250" b="1" i="0">
                <a:solidFill>
                  <a:srgbClr val="E8B8C0"/>
                </a:solidFill>
                <a:latin typeface="Consolas"/>
              </a:rPr>
              <a:t>2. The event: time, principal (id, tenant, roles),</a:t>
            </a:r>
          </a:p>
          <a:p>
            <a:pPr>
              <a:lnSpc>
                <a:spcPct val="100000"/>
              </a:lnSpc>
              <a:spcBef>
                <a:spcPts val="0"/>
              </a:spcBef>
              <a:spcAft>
                <a:spcPts val="0"/>
              </a:spcAft>
            </a:pPr>
            <a:r>
              <a:rPr sz="1250" b="0" i="0">
                <a:solidFill>
                  <a:srgbClr val="F1EEE9"/>
                </a:solidFill>
                <a:latin typeface="Consolas"/>
              </a:rPr>
              <a:t>   │  action, target, ALLOW/DENY, reason, the SQL</a:t>
            </a:r>
          </a:p>
          <a:p>
            <a:pPr>
              <a:lnSpc>
                <a:spcPct val="100000"/>
              </a:lnSpc>
              <a:spcBef>
                <a:spcPts val="0"/>
              </a:spcBef>
              <a:spcAft>
                <a:spcPts val="0"/>
              </a:spcAft>
            </a:pPr>
            <a:r>
              <a:rPr sz="1250" b="0" i="0">
                <a:solidFill>
                  <a:srgbClr val="F1EEE9"/>
                </a:solidFill>
                <a:latin typeface="Consolas"/>
              </a:rPr>
              <a:t>   └─ never the credential; claims never printed</a:t>
            </a:r>
          </a:p>
          <a:p>
            <a:pPr>
              <a:lnSpc>
                <a:spcPct val="100000"/>
              </a:lnSpc>
              <a:spcBef>
                <a:spcPts val="0"/>
              </a:spcBef>
              <a:spcAft>
                <a:spcPts val="0"/>
              </a:spcAft>
            </a:pPr>
            <a:r>
              <a:rPr sz="1250" b="1" i="0">
                <a:solidFill>
                  <a:srgbClr val="E8B8C0"/>
                </a:solidFill>
                <a:latin typeface="Consolas"/>
              </a:rPr>
              <a:t>3. audit: file → one JSON line each, rw-------</a:t>
            </a:r>
          </a:p>
          <a:p>
            <a:pPr>
              <a:lnSpc>
                <a:spcPct val="100000"/>
              </a:lnSpc>
              <a:spcBef>
                <a:spcPts val="0"/>
              </a:spcBef>
              <a:spcAft>
                <a:spcPts val="0"/>
              </a:spcAft>
            </a:pPr>
            <a:r>
              <a:rPr sz="1250" b="0" i="0">
                <a:solidFill>
                  <a:srgbClr val="F1EEE9"/>
                </a:solidFill>
                <a:latin typeface="Consolas"/>
              </a:rPr>
              <a:t>   ├─ rotates by size, keeps N generations</a:t>
            </a:r>
          </a:p>
          <a:p>
            <a:pPr>
              <a:lnSpc>
                <a:spcPct val="100000"/>
              </a:lnSpc>
              <a:spcBef>
                <a:spcPts val="0"/>
              </a:spcBef>
              <a:spcAft>
                <a:spcPts val="0"/>
              </a:spcAft>
            </a:pPr>
            <a:r>
              <a:rPr sz="1250" b="0" i="0">
                <a:solidFill>
                  <a:srgbClr val="F1EEE9"/>
                </a:solidFill>
                <a:latin typeface="Consolas"/>
              </a:rPr>
              <a:t>   └─ a daemon thread behind a bounded queue</a:t>
            </a:r>
          </a:p>
          <a:p>
            <a:pPr>
              <a:lnSpc>
                <a:spcPct val="100000"/>
              </a:lnSpc>
              <a:spcBef>
                <a:spcPts val="0"/>
              </a:spcBef>
              <a:spcAft>
                <a:spcPts val="0"/>
              </a:spcAft>
            </a:pPr>
            <a:r>
              <a:rPr sz="1250" b="1" i="0">
                <a:solidFill>
                  <a:srgbClr val="E8B8C0"/>
                </a:solidFill>
                <a:latin typeface="Consolas"/>
              </a:rPr>
              <a:t>4. Trouble is never silent</a:t>
            </a:r>
          </a:p>
          <a:p>
            <a:pPr>
              <a:lnSpc>
                <a:spcPct val="100000"/>
              </a:lnSpc>
              <a:spcBef>
                <a:spcPts val="0"/>
              </a:spcBef>
              <a:spcAft>
                <a:spcPts val="0"/>
              </a:spcAft>
            </a:pPr>
            <a:r>
              <a:rPr sz="1250" b="0" i="0">
                <a:solidFill>
                  <a:srgbClr val="F1EEE9"/>
                </a:solidFill>
                <a:latin typeface="Consolas"/>
              </a:rPr>
              <a:t>   ├─ queue full → an audit.dropped line, counted</a:t>
            </a:r>
          </a:p>
          <a:p>
            <a:pPr>
              <a:lnSpc>
                <a:spcPct val="100000"/>
              </a:lnSpc>
              <a:spcBef>
                <a:spcPts val="0"/>
              </a:spcBef>
              <a:spcAft>
                <a:spcPts val="0"/>
              </a:spcAft>
            </a:pPr>
            <a:r>
              <a:rPr sz="1250" b="0" i="0">
                <a:solidFill>
                  <a:srgbClr val="F1EEE9"/>
                </a:solidFill>
                <a:latin typeface="Consolas"/>
              </a:rPr>
              <a:t>   ├─ disk full → audit.lost once writable again</a:t>
            </a:r>
          </a:p>
          <a:p>
            <a:pPr>
              <a:lnSpc>
                <a:spcPct val="100000"/>
              </a:lnSpc>
              <a:spcBef>
                <a:spcPts val="0"/>
              </a:spcBef>
              <a:spcAft>
                <a:spcPts val="0"/>
              </a:spcAft>
            </a:pPr>
            <a:r>
              <a:rPr sz="1250" b="0" i="0">
                <a:solidFill>
                  <a:srgbClr val="F1EEE9"/>
                </a:solidFill>
                <a:latin typeface="Consolas"/>
              </a:rPr>
              <a:t>   └─ meanwhile health DEGRADED, audit_failing 1</a:t>
            </a:r>
          </a:p>
          <a:p>
            <a:pPr>
              <a:lnSpc>
                <a:spcPct val="100000"/>
              </a:lnSpc>
              <a:spcBef>
                <a:spcPts val="0"/>
              </a:spcBef>
              <a:spcAft>
                <a:spcPts val="0"/>
              </a:spcAft>
            </a:pPr>
            <a:r>
              <a:rPr sz="1250" b="1" i="0">
                <a:solidFill>
                  <a:srgbClr val="E8B8C0"/>
                </a:solidFill>
                <a:latin typeface="Consolas"/>
              </a:rPr>
              <a:t>5. GET /api/v1/audit?principal=&amp;view=&amp;decision=</a:t>
            </a:r>
          </a:p>
          <a:p>
            <a:pPr>
              <a:lnSpc>
                <a:spcPct val="100000"/>
              </a:lnSpc>
              <a:spcBef>
                <a:spcPts val="0"/>
              </a:spcBef>
              <a:spcAft>
                <a:spcPts val="0"/>
              </a:spcAft>
            </a:pPr>
            <a:r>
              <a:rPr sz="1250" b="0" i="0">
                <a:solidFill>
                  <a:srgbClr val="F1EEE9"/>
                </a:solidFill>
                <a:latin typeface="Consolas"/>
              </a:rPr>
              <a:t>   └─ only for audit readers; the read is audited</a:t>
            </a:r>
          </a:p>
        </p:txBody>
      </p:sp>
      <p:sp>
        <p:nvSpPr>
          <p:cNvPr id="18" name="TextBox 17"/>
          <p:cNvSpPr txBox="1"/>
          <p:nvPr/>
        </p:nvSpPr>
        <p:spPr>
          <a:xfrm>
            <a:off x="7342449" y="1410919"/>
            <a:ext cx="4072006" cy="397245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Why allows too</a:t>
            </a:r>
          </a:p>
          <a:p>
            <a:pPr lvl="1">
              <a:lnSpc>
                <a:spcPct val="120000"/>
              </a:lnSpc>
              <a:spcBef>
                <a:spcPts val="0"/>
              </a:spcBef>
              <a:spcAft>
                <a:spcPts val="0"/>
              </a:spcAft>
            </a:pPr>
            <a:r>
              <a:rPr sz="1250" b="0">
                <a:solidFill>
                  <a:srgbClr val="4A5058"/>
                </a:solidFill>
                <a:latin typeface="Source Sans 3"/>
              </a:rPr>
              <a:t>A log of refusals answers “who was stopped”, not “who read the payroll view” — the question that actually gets asked.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Never fails a query</a:t>
            </a:r>
          </a:p>
          <a:p>
            <a:pPr lvl="1">
              <a:lnSpc>
                <a:spcPct val="120000"/>
              </a:lnSpc>
              <a:spcBef>
                <a:spcPts val="0"/>
              </a:spcBef>
              <a:spcAft>
                <a:spcPts val="0"/>
              </a:spcAft>
            </a:pPr>
            <a:r>
              <a:rPr sz="1250" b="0">
                <a:solidFill>
                  <a:srgbClr val="4A5058"/>
                </a:solidFill>
                <a:latin typeface="Source Sans 3"/>
              </a:rPr>
              <a:t>A sink that cannot write is counted and reported; a query it is auditing is never failed.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Sign-ins too</a:t>
            </a:r>
          </a:p>
          <a:p>
            <a:pPr lvl="1">
              <a:lnSpc>
                <a:spcPct val="120000"/>
              </a:lnSpc>
              <a:spcBef>
                <a:spcPts val="0"/>
              </a:spcBef>
              <a:spcAft>
                <a:spcPts val="0"/>
              </a:spcAft>
            </a:pPr>
            <a:r>
              <a:rPr sz="1250" b="0">
                <a:solidFill>
                  <a:srgbClr val="4A5058"/>
                </a:solidFill>
                <a:latin typeface="Source Sans 3"/>
              </a:rPr>
              <a:t>Every sign-in, refusal, lockout and key change is an audit event.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engine keeps users, keys and sessions — and nothing reversible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Held in an append-only journal, with no database to run; administered from the console, REST under /api/v1/users, /keys, /sessions, or pravaha user, key, session and password. A node outside dev refuses to start while admin keeps its published password (PRV-7019).</a:t>
            </a:r>
          </a:p>
        </p:txBody>
      </p:sp>
      <p:graphicFrame>
        <p:nvGraphicFramePr>
          <p:cNvPr id="12" name="Table 11"/>
          <p:cNvGraphicFramePr>
            <a:graphicFrameLocks noGrp="1"/>
          </p:cNvGraphicFramePr>
          <p:nvPr/>
        </p:nvGraphicFramePr>
        <p:xfrm>
          <a:off x="777240" y="1296416"/>
          <a:ext cx="10637214" cy="3390083"/>
        </p:xfrm>
        <a:graphic>
          <a:graphicData uri="http://schemas.openxmlformats.org/drawingml/2006/table">
            <a:tbl>
              <a:tblPr firstRow="1">
                <a:tableStyleId>{5C22544A-7EE6-4342-B048-85BDC9FD1C3A}</a:tableStyleId>
              </a:tblPr>
              <a:tblGrid>
                <a:gridCol w="2127443"/>
                <a:gridCol w="3600288"/>
                <a:gridCol w="4909483"/>
              </a:tblGrid>
              <a:tr h="322376">
                <a:tc>
                  <a:txBody>
                    <a:bodyPr wrap="square"/>
                    <a:lstStyle/>
                    <a:p>
                      <a:r>
                        <a:rPr sz="1300" b="1">
                          <a:solidFill>
                            <a:srgbClr val="FFFFFF"/>
                          </a:solidFill>
                          <a:latin typeface="Source Sans 3"/>
                        </a:rPr>
                        <a:t>Credential</a:t>
                      </a:r>
                    </a:p>
                  </a:txBody>
                  <a:tcPr marL="82296" marR="64008" marT="32004" marB="32004" anchor="ctr">
                    <a:solidFill>
                      <a:srgbClr val="8A1626"/>
                    </a:solidFill>
                  </a:tcPr>
                </a:tc>
                <a:tc>
                  <a:txBody>
                    <a:bodyPr wrap="square"/>
                    <a:lstStyle/>
                    <a:p>
                      <a:r>
                        <a:rPr sz="1300" b="1">
                          <a:solidFill>
                            <a:srgbClr val="FFFFFF"/>
                          </a:solidFill>
                          <a:latin typeface="Source Sans 3"/>
                        </a:rPr>
                        <a:t>Held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Password</a:t>
                      </a:r>
                    </a:p>
                  </a:txBody>
                  <a:tcPr marL="82296" marR="64008" marT="32004" marB="32004" anchor="ctr">
                    <a:solidFill>
                      <a:srgbClr val="FFFFFF"/>
                    </a:solidFill>
                  </a:tcPr>
                </a:tc>
                <a:tc>
                  <a:txBody>
                    <a:bodyPr wrap="square"/>
                    <a:lstStyle/>
                    <a:p>
                      <a:r>
                        <a:rPr sz="1400" b="0">
                          <a:solidFill>
                            <a:srgbClr val="1A1A1A"/>
                          </a:solidFill>
                          <a:latin typeface="Source Sans 3"/>
                        </a:rPr>
                        <a:t>Argon2id (PBKDF2-SHA512 where Argon2 is unavailable)</a:t>
                      </a:r>
                    </a:p>
                  </a:txBody>
                  <a:tcPr marL="82296" marR="64008" marT="32004" marB="32004" anchor="ctr">
                    <a:solidFill>
                      <a:srgbClr val="FFFFFF"/>
                    </a:solidFill>
                  </a:tcPr>
                </a:tc>
                <a:tc>
                  <a:txBody>
                    <a:bodyPr wrap="square"/>
                    <a:lstStyle/>
                    <a:p>
                      <a:r>
                        <a:rPr sz="1400" b="0">
                          <a:solidFill>
                            <a:srgbClr val="1A1A1A"/>
                          </a:solidFill>
                          <a:latin typeface="Source Sans 3"/>
                        </a:rPr>
                        <a:t>12+ characters from 3 of 4 kinds; none of the last 5; 90-day maximum age</a:t>
                      </a:r>
                    </a:p>
                  </a:txBody>
                  <a:tcPr marL="82296" marR="64008" marT="32004" marB="32004" anchor="ctr">
                    <a:solidFill>
                      <a:srgbClr val="FFFFFF"/>
                    </a:solidFill>
                  </a:tcPr>
                </a:tc>
              </a:tr>
              <a:tr h="796747">
                <a:tc>
                  <a:txBody>
                    <a:bodyPr wrap="square"/>
                    <a:lstStyle/>
                    <a:p>
                      <a:r>
                        <a:rPr sz="1400" b="1">
                          <a:solidFill>
                            <a:srgbClr val="8A1626"/>
                          </a:solidFill>
                          <a:latin typeface="Source Sans 3"/>
                        </a:rPr>
                        <a:t>Session prv_s_…</a:t>
                      </a:r>
                    </a:p>
                  </a:txBody>
                  <a:tcPr marL="82296" marR="64008" marT="32004" marB="32004" anchor="ctr">
                    <a:solidFill>
                      <a:srgbClr val="F7F5F2"/>
                    </a:solidFill>
                  </a:tcPr>
                </a:tc>
                <a:tc>
                  <a:txBody>
                    <a:bodyPr wrap="square"/>
                    <a:lstStyle/>
                    <a:p>
                      <a:r>
                        <a:rPr sz="1400" b="0">
                          <a:solidFill>
                            <a:srgbClr val="1A1A1A"/>
                          </a:solidFill>
                          <a:latin typeface="Source Sans 3"/>
                        </a:rPr>
                        <a:t>SHA-256</a:t>
                      </a:r>
                    </a:p>
                  </a:txBody>
                  <a:tcPr marL="82296" marR="64008" marT="32004" marB="32004" anchor="ctr">
                    <a:solidFill>
                      <a:srgbClr val="F7F5F2"/>
                    </a:solidFill>
                  </a:tcPr>
                </a:tc>
                <a:tc>
                  <a:txBody>
                    <a:bodyPr wrap="square"/>
                    <a:lstStyle/>
                    <a:p>
                      <a:r>
                        <a:rPr sz="1400" b="0">
                          <a:solidFill>
                            <a:srgbClr val="1A1A1A"/>
                          </a:solidFill>
                          <a:latin typeface="Source Sans 3"/>
                        </a:rPr>
                        <a:t>30 minutes idle, 12 hours in all, at most 3 per person; ended by sign-out, a password change or disabling the user</a:t>
                      </a:r>
                    </a:p>
                  </a:txBody>
                  <a:tcPr marL="82296" marR="64008" marT="32004" marB="32004" anchor="ctr">
                    <a:solidFill>
                      <a:srgbClr val="F7F5F2"/>
                    </a:solidFill>
                  </a:tcPr>
                </a:tc>
              </a:tr>
              <a:tr h="567740">
                <a:tc>
                  <a:txBody>
                    <a:bodyPr wrap="square"/>
                    <a:lstStyle/>
                    <a:p>
                      <a:r>
                        <a:rPr sz="1400" b="1">
                          <a:solidFill>
                            <a:srgbClr val="8A1626"/>
                          </a:solidFill>
                          <a:latin typeface="Source Sans 3"/>
                        </a:rPr>
                        <a:t>API key</a:t>
                      </a:r>
                    </a:p>
                  </a:txBody>
                  <a:tcPr marL="82296" marR="64008" marT="32004" marB="32004" anchor="ctr">
                    <a:solidFill>
                      <a:srgbClr val="FFFFFF"/>
                    </a:solidFill>
                  </a:tcPr>
                </a:tc>
                <a:tc>
                  <a:txBody>
                    <a:bodyPr wrap="square"/>
                    <a:lstStyle/>
                    <a:p>
                      <a:r>
                        <a:rPr sz="1400" b="0">
                          <a:solidFill>
                            <a:srgbClr val="1A1A1A"/>
                          </a:solidFill>
                          <a:latin typeface="Source Sans 3"/>
                        </a:rPr>
                        <a:t>The password KDF; shown once</a:t>
                      </a:r>
                    </a:p>
                  </a:txBody>
                  <a:tcPr marL="82296" marR="64008" marT="32004" marB="32004" anchor="ctr">
                    <a:solidFill>
                      <a:srgbClr val="FFFFFF"/>
                    </a:solidFill>
                  </a:tcPr>
                </a:tc>
                <a:tc>
                  <a:txBody>
                    <a:bodyPr wrap="square"/>
                    <a:lstStyle/>
                    <a:p>
                      <a:r>
                        <a:rPr sz="1400" b="0">
                          <a:solidFill>
                            <a:srgbClr val="1A1A1A"/>
                          </a:solidFill>
                          <a:latin typeface="Source Sans 3"/>
                        </a:rPr>
                        <a:t>Roles a subset of the holder's; 90 days by default, 365 at most; 7-day rotation overlap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Reset token</a:t>
                      </a:r>
                    </a:p>
                  </a:txBody>
                  <a:tcPr marL="82296" marR="64008" marT="32004" marB="32004" anchor="ctr">
                    <a:solidFill>
                      <a:srgbClr val="F7F5F2"/>
                    </a:solidFill>
                  </a:tcPr>
                </a:tc>
                <a:tc>
                  <a:txBody>
                    <a:bodyPr wrap="square"/>
                    <a:lstStyle/>
                    <a:p>
                      <a:r>
                        <a:rPr sz="1400" b="0">
                          <a:solidFill>
                            <a:srgbClr val="1A1A1A"/>
                          </a:solidFill>
                          <a:latin typeface="Source Sans 3"/>
                        </a:rPr>
                        <a:t>SHA-256</a:t>
                      </a:r>
                    </a:p>
                  </a:txBody>
                  <a:tcPr marL="82296" marR="64008" marT="32004" marB="32004" anchor="ctr">
                    <a:solidFill>
                      <a:srgbClr val="F7F5F2"/>
                    </a:solidFill>
                  </a:tcPr>
                </a:tc>
                <a:tc>
                  <a:txBody>
                    <a:bodyPr wrap="square"/>
                    <a:lstStyle/>
                    <a:p>
                      <a:r>
                        <a:rPr sz="1400" b="0">
                          <a:solidFill>
                            <a:srgbClr val="1A1A1A"/>
                          </a:solidFill>
                          <a:latin typeface="Source Sans 3"/>
                        </a:rPr>
                        <a:t>Single use, 60 minutes, issued by an administrator</a:t>
                      </a:r>
                    </a:p>
                  </a:txBody>
                  <a:tcPr marL="82296" marR="64008" marT="32004" marB="32004" anchor="ctr">
                    <a:solidFill>
                      <a:srgbClr val="F7F5F2"/>
                    </a:solidFill>
                  </a:tcPr>
                </a:tc>
              </a:tr>
              <a:tr h="567740">
                <a:tc>
                  <a:txBody>
                    <a:bodyPr wrap="square"/>
                    <a:lstStyle/>
                    <a:p>
                      <a:r>
                        <a:rPr sz="1400" b="1">
                          <a:solidFill>
                            <a:srgbClr val="8A1626"/>
                          </a:solidFill>
                          <a:latin typeface="Source Sans 3"/>
                        </a:rPr>
                        <a:t>Sign-in failures</a:t>
                      </a:r>
                    </a:p>
                  </a:txBody>
                  <a:tcPr marL="82296" marR="64008" marT="32004" marB="32004" anchor="ctr">
                    <a:solidFill>
                      <a:srgbClr val="FFFFFF"/>
                    </a:solidFill>
                  </a:tcPr>
                </a:tc>
                <a:tc>
                  <a:txBody>
                    <a:bodyPr wrap="square"/>
                    <a:lstStyle/>
                    <a:p>
                      <a:r>
                        <a:rPr sz="1400" b="0">
                          <a:solidFill>
                            <a:srgbClr val="1A1A1A"/>
                          </a:solidFill>
                          <a:latin typeface="Source Sans 3"/>
                        </a:rPr>
                        <a:t>Recorded before the refusal is answered</a:t>
                      </a:r>
                    </a:p>
                  </a:txBody>
                  <a:tcPr marL="82296" marR="64008" marT="32004" marB="32004" anchor="ctr">
                    <a:solidFill>
                      <a:srgbClr val="FFFFFF"/>
                    </a:solidFill>
                  </a:tcPr>
                </a:tc>
                <a:tc>
                  <a:txBody>
                    <a:bodyPr wrap="square"/>
                    <a:lstStyle/>
                    <a:p>
                      <a:r>
                        <a:rPr sz="1400" b="0">
                          <a:solidFill>
                            <a:srgbClr val="1A1A1A"/>
                          </a:solidFill>
                          <a:latin typeface="Source Sans 3"/>
                        </a:rPr>
                        <a:t>Every refusal reads alike: 5 per address bar it, 50 from anywhere lock the account</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GOVERNANCE · ADR-059</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Row filters and masks are policies, applied where rows leave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329131"/>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0299"/>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329131"/>
            <a:ext cx="5135727" cy="491622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Grants live in the engine</a:t>
            </a:r>
          </a:p>
          <a:p>
            <a:pPr lvl="1">
              <a:lnSpc>
                <a:spcPct val="120000"/>
              </a:lnSpc>
              <a:spcBef>
                <a:spcPts val="0"/>
              </a:spcBef>
              <a:spcAft>
                <a:spcPts val="0"/>
              </a:spcAft>
            </a:pPr>
            <a:r>
              <a:rPr sz="1250" b="0">
                <a:solidFill>
                  <a:srgbClr val="4A5058"/>
                </a:solidFill>
                <a:latin typeface="Source Sans 3"/>
              </a:rPr>
              <a:t>tenant.namespace.object names with owners and tags; nine privileges, allow-only, inherited down namespaces; SHOW EFFECTIVE ACCESS explains them.</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masked column is never an operand</a:t>
            </a:r>
          </a:p>
          <a:p>
            <a:pPr lvl="1">
              <a:lnSpc>
                <a:spcPct val="120000"/>
              </a:lnSpc>
              <a:spcBef>
                <a:spcPts val="0"/>
              </a:spcBef>
              <a:spcAft>
                <a:spcPts val="0"/>
              </a:spcAft>
            </a:pPr>
            <a:r>
              <a:rPr sz="1250" b="0">
                <a:solidFill>
                  <a:srgbClr val="4A5058"/>
                </a:solidFill>
                <a:latin typeface="Source Sans 3"/>
              </a:rPr>
              <a:t>As a filter, group, join or sort key it would leak the true value: PRV-7006.</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filter that restricts nothing is refused</a:t>
            </a:r>
          </a:p>
          <a:p>
            <a:pPr lvl="1">
              <a:lnSpc>
                <a:spcPct val="120000"/>
              </a:lnSpc>
              <a:spcBef>
                <a:spcPts val="0"/>
              </a:spcBef>
              <a:spcAft>
                <a:spcPts val="0"/>
              </a:spcAft>
            </a:pPr>
            <a:r>
              <a:rPr sz="1250" b="0">
                <a:solidFill>
                  <a:srgbClr val="4A5058"/>
                </a:solidFill>
                <a:latin typeface="Source Sans 3"/>
              </a:rPr>
              <a:t>region = region, or a &lt; 5 OR a &gt; 2, is refused rather than enforced.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TRANSPORT SECURITY</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TLS by default, plaintext refused, certificates checked at start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40</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Plaintext is a decision someone has to type, and an expired certificate never starts.</a:t>
            </a:r>
          </a:p>
        </p:txBody>
      </p:sp>
      <p:sp>
        <p:nvSpPr>
          <p:cNvPr id="13" name="TextBox 12"/>
          <p:cNvSpPr txBox="1"/>
          <p:nvPr/>
        </p:nvSpPr>
        <p:spPr>
          <a:xfrm>
            <a:off x="777240" y="1312773"/>
            <a:ext cx="10637215" cy="407060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TLS is the client default</a:t>
            </a:r>
          </a:p>
          <a:p>
            <a:pPr lvl="1">
              <a:lnSpc>
                <a:spcPct val="120000"/>
              </a:lnSpc>
              <a:spcBef>
                <a:spcPts val="0"/>
              </a:spcBef>
              <a:spcAft>
                <a:spcPts val="0"/>
              </a:spcAft>
            </a:pPr>
            <a:r>
              <a:rPr sz="1350" b="0">
                <a:solidFill>
                  <a:srgbClr val="4A5058"/>
                </a:solidFill>
                <a:latin typeface="Source Sans 3"/>
              </a:rPr>
              <a:t>grpc:// plaintext has to be spelled out; both SDKs refuse to send a token over it, and the CLI needs --insecure-token.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TLS-configured PostgreSQL gateway refuses plaintext</a:t>
            </a:r>
          </a:p>
          <a:p>
            <a:pPr lvl="1">
              <a:lnSpc>
                <a:spcPct val="120000"/>
              </a:lnSpc>
              <a:spcBef>
                <a:spcPts val="0"/>
              </a:spcBef>
              <a:spcAft>
                <a:spcPts val="0"/>
              </a:spcAft>
            </a:pPr>
            <a:r>
              <a:rPr sz="1350" b="0">
                <a:solidFill>
                  <a:srgbClr val="4A5058"/>
                </a:solidFill>
                <a:latin typeface="Source Sans 3"/>
              </a:rPr>
              <a:t>FATAL 28000, PRV-6221, before the token is asked for — unless allow-plaintext is set for a migration window.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An expired certificate stops the node at start</a:t>
            </a:r>
          </a:p>
          <a:p>
            <a:pPr lvl="1">
              <a:lnSpc>
                <a:spcPct val="120000"/>
              </a:lnSpc>
              <a:spcBef>
                <a:spcPts val="0"/>
              </a:spcBef>
              <a:spcAft>
                <a:spcPts val="0"/>
              </a:spcAft>
            </a:pPr>
            <a:r>
              <a:rPr sz="1350" b="0">
                <a:solidFill>
                  <a:srgbClr val="4A5058"/>
                </a:solidFill>
                <a:latin typeface="Source Sans 3"/>
              </a:rPr>
              <a:t>PRV-6104 for Flight, PRV-6206 for the gateway, naming the date; within 30 days a WARN, and pravaha doctor turns YELLOW.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Connections to the stores can be encrypted</a:t>
            </a:r>
          </a:p>
          <a:p>
            <a:pPr lvl="1">
              <a:lnSpc>
                <a:spcPct val="120000"/>
              </a:lnSpc>
              <a:spcBef>
                <a:spcPts val="0"/>
              </a:spcBef>
              <a:spcAft>
                <a:spcPts val="0"/>
              </a:spcAft>
            </a:pPr>
            <a:r>
              <a:rPr sz="1350" b="0">
                <a:solidFill>
                  <a:srgbClr val="4A5058"/>
                </a:solidFill>
                <a:latin typeface="Source Sans 3"/>
              </a:rPr>
              <a:t>JDBC, PostgreSQL CDC, Aerospike, Cassandra and Kafka.</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Stated plainly</a:t>
            </a:r>
          </a:p>
          <a:p>
            <a:pPr lvl="1">
              <a:lnSpc>
                <a:spcPct val="120000"/>
              </a:lnSpc>
              <a:spcBef>
                <a:spcPts val="0"/>
              </a:spcBef>
              <a:spcAft>
                <a:spcPts val="0"/>
              </a:spcAft>
            </a:pPr>
            <a:r>
              <a:rPr sz="1350" b="0">
                <a:solidFill>
                  <a:srgbClr val="4A5058"/>
                </a:solidFill>
                <a:latin typeface="Source Sans 3"/>
              </a:rPr>
              <a:t>HTTPS on the REST API is Spring Boot's server.ssl.*; the node does not request client certificates (terminate mTLS in front); the console listens on every interface, so put a TLS terminator before it beyond a trusted network.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201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201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8201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215" y="502920"/>
            <a:ext cx="4206240" cy="2834640"/>
          </a:xfrm>
          <a:prstGeom prst="rect">
            <a:avLst/>
          </a:prstGeom>
          <a:noFill/>
        </p:spPr>
        <p:txBody>
          <a:bodyPr wrap="square" lIns="0" rIns="0" tIns="0" bIns="0" anchor="t">
            <a:spAutoFit/>
          </a:bodyPr>
          <a:lstStyle/>
          <a:p>
            <a:pPr algn="r">
              <a:lnSpc>
                <a:spcPct val="90000"/>
              </a:lnSpc>
              <a:spcBef>
                <a:spcPts val="0"/>
              </a:spcBef>
              <a:spcAft>
                <a:spcPts val="0"/>
              </a:spcAft>
            </a:pPr>
            <a:r>
              <a:rPr sz="17000" b="1" i="0">
                <a:solidFill>
                  <a:srgbClr val="8A1626"/>
                </a:solidFill>
                <a:latin typeface="Source Sans 3"/>
              </a:rPr>
              <a:t>04</a:t>
            </a:r>
          </a:p>
        </p:txBody>
      </p:sp>
      <p:sp>
        <p:nvSpPr>
          <p:cNvPr id="8" name="Rectangle 7"/>
          <p:cNvSpPr/>
          <p:nvPr/>
        </p:nvSpPr>
        <p:spPr>
          <a:xfrm>
            <a:off x="777240" y="2697480"/>
            <a:ext cx="1463040" cy="45720"/>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9722815"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by the numbers</a:t>
            </a:r>
          </a:p>
        </p:txBody>
      </p:sp>
      <p:sp>
        <p:nvSpPr>
          <p:cNvPr id="10" name="TextBox 9"/>
          <p:cNvSpPr txBox="1"/>
          <p:nvPr/>
        </p:nvSpPr>
        <p:spPr>
          <a:xfrm>
            <a:off x="777240" y="3808984"/>
            <a:ext cx="8808415" cy="1280160"/>
          </a:xfrm>
          <a:prstGeom prst="rect">
            <a:avLst/>
          </a:prstGeom>
          <a:noFill/>
        </p:spPr>
        <p:txBody>
          <a:bodyPr wrap="square" lIns="0" rIns="0" tIns="0" bIns="0" anchor="t">
            <a:spAutoFit/>
          </a:bodyPr>
          <a:lstStyle/>
          <a:p>
            <a:pPr algn="l">
              <a:lnSpc>
                <a:spcPct val="130000"/>
              </a:lnSpc>
              <a:spcBef>
                <a:spcPts val="0"/>
              </a:spcBef>
              <a:spcAft>
                <a:spcPts val="0"/>
              </a:spcAft>
            </a:pPr>
            <a:r>
              <a:rPr sz="1900" b="0" i="1">
                <a:solidFill>
                  <a:srgbClr val="F6E6E9"/>
                </a:solidFill>
                <a:latin typeface="Source Sans 3"/>
              </a:rPr>
              <a:t>Measured, with the machine named; found, and fixed; promised, and tested.</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ERRORS AS A CONTRACT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291 error codes, every one documented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code is never reused, and the troubleshooting table and the declared codes are held equal, both ways, by a test.</a:t>
            </a:r>
          </a:p>
        </p:txBody>
      </p:sp>
      <p:sp>
        <p:nvSpPr>
          <p:cNvPr id="13" name="Rectangle 12"/>
          <p:cNvSpPr/>
          <p:nvPr/>
        </p:nvSpPr>
        <p:spPr>
          <a:xfrm>
            <a:off x="777240" y="1410919"/>
            <a:ext cx="5773960" cy="236524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410919"/>
            <a:ext cx="45720" cy="2365248"/>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612087"/>
            <a:ext cx="5371624" cy="1962911"/>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 pravaha validate --sql "SELECT user_id,</a:t>
            </a:r>
          </a:p>
          <a:p>
            <a:pPr>
              <a:lnSpc>
                <a:spcPct val="100000"/>
              </a:lnSpc>
              <a:spcBef>
                <a:spcPts val="0"/>
              </a:spcBef>
              <a:spcAft>
                <a:spcPts val="0"/>
              </a:spcAft>
            </a:pPr>
            <a:r>
              <a:rPr sz="1200" b="0" i="0">
                <a:solidFill>
                  <a:srgbClr val="F1EEE9"/>
                </a:solidFill>
                <a:latin typeface="Consolas"/>
              </a:rPr>
              <a:t>    COUNT(*) FROM txn GROUP BY user_id"</a:t>
            </a:r>
          </a:p>
          <a:p>
            <a:pPr>
              <a:lnSpc>
                <a:spcPct val="100000"/>
              </a:lnSpc>
              <a:spcBef>
                <a:spcPts val="0"/>
              </a:spcBef>
              <a:spcAft>
                <a:spcPts val="0"/>
              </a:spcAft>
            </a:pPr>
            <a:r>
              <a:rPr sz="1200" b="0" i="0">
                <a:solidFill>
                  <a:srgbClr val="F1EEE9"/>
                </a:solidFill>
                <a:latin typeface="Consolas"/>
              </a:rPr>
              <a:t>PRV-2050  GROUP BY user_id has no bound on its</a:t>
            </a:r>
          </a:p>
          <a:p>
            <a:pPr>
              <a:lnSpc>
                <a:spcPct val="100000"/>
              </a:lnSpc>
              <a:spcBef>
                <a:spcPts val="0"/>
              </a:spcBef>
              <a:spcAft>
                <a:spcPts val="0"/>
              </a:spcAft>
            </a:pPr>
            <a:r>
              <a:rPr sz="1200" b="0" i="0">
                <a:solidFill>
                  <a:srgbClr val="F1EEE9"/>
                </a:solidFill>
                <a:latin typeface="Consolas"/>
              </a:rPr>
              <a:t>  key space, so its state grows with the number</a:t>
            </a:r>
          </a:p>
          <a:p>
            <a:pPr>
              <a:lnSpc>
                <a:spcPct val="100000"/>
              </a:lnSpc>
              <a:spcBef>
                <a:spcPts val="0"/>
              </a:spcBef>
              <a:spcAft>
                <a:spcPts val="0"/>
              </a:spcAft>
            </a:pPr>
            <a:r>
              <a:rPr sz="1200" b="0" i="0">
                <a:solidFill>
                  <a:srgbClr val="F1EEE9"/>
                </a:solidFill>
                <a:latin typeface="Consolas"/>
              </a:rPr>
              <a:t>  of distinct keys and never shrinks. …</a:t>
            </a:r>
          </a:p>
          <a:p>
            <a:pPr>
              <a:lnSpc>
                <a:spcPct val="100000"/>
              </a:lnSpc>
              <a:spcBef>
                <a:spcPts val="0"/>
              </a:spcBef>
              <a:spcAft>
                <a:spcPts val="0"/>
              </a:spcAft>
            </a:pPr>
            <a:r>
              <a:rPr sz="1200" b="0" i="0">
                <a:solidFill>
                  <a:srgbClr val="F1EEE9"/>
                </a:solidFill>
                <a:latin typeface="Consolas"/>
              </a:rPr>
              <a:t>  Bound it with a window -- GROUP BY</a:t>
            </a:r>
          </a:p>
          <a:p>
            <a:pPr>
              <a:lnSpc>
                <a:spcPct val="100000"/>
              </a:lnSpc>
              <a:spcBef>
                <a:spcPts val="0"/>
              </a:spcBef>
              <a:spcAft>
                <a:spcPts val="0"/>
              </a:spcAft>
            </a:pPr>
            <a:r>
              <a:rPr sz="1200" b="0" i="0">
                <a:solidFill>
                  <a:srgbClr val="F1EEE9"/>
                </a:solidFill>
                <a:latin typeface="Consolas"/>
              </a:rPr>
              <a:t>  TUMBLE(event_time, INTERVAL '1' MINUTE), user_id --</a:t>
            </a:r>
          </a:p>
          <a:p>
            <a:pPr>
              <a:lnSpc>
                <a:spcPct val="100000"/>
              </a:lnSpc>
              <a:spcBef>
                <a:spcPts val="0"/>
              </a:spcBef>
              <a:spcAft>
                <a:spcPts val="0"/>
              </a:spcAft>
            </a:pPr>
            <a:r>
              <a:rPr sz="1200" b="0" i="0">
                <a:solidFill>
                  <a:srgbClr val="F1EEE9"/>
                </a:solidFill>
                <a:latin typeface="Consolas"/>
              </a:rPr>
              <a:t>  so state is released when each window closes.</a:t>
            </a:r>
          </a:p>
          <a:p>
            <a:pPr>
              <a:lnSpc>
                <a:spcPct val="100000"/>
              </a:lnSpc>
              <a:spcBef>
                <a:spcPts val="0"/>
              </a:spcBef>
              <a:spcAft>
                <a:spcPts val="0"/>
              </a:spcAft>
            </a:pPr>
            <a:r>
              <a:rPr sz="1200" b="0" i="0">
                <a:solidFill>
                  <a:srgbClr val="F1EEE9"/>
                </a:solidFill>
                <a:latin typeface="Consolas"/>
              </a:rPr>
              <a:t>Refusing now rather than exhausting memory later.</a:t>
            </a:r>
          </a:p>
          <a:p>
            <a:pPr>
              <a:lnSpc>
                <a:spcPct val="100000"/>
              </a:lnSpc>
              <a:spcBef>
                <a:spcPts val="0"/>
              </a:spcBef>
              <a:spcAft>
                <a:spcPts val="0"/>
              </a:spcAft>
            </a:pPr>
            <a:r>
              <a:rPr sz="1200" b="0" i="0">
                <a:solidFill>
                  <a:srgbClr val="F1EEE9"/>
                </a:solidFill>
                <a:latin typeface="Consolas"/>
              </a:rPr>
              <a:t>(exit 1)</a:t>
            </a:r>
          </a:p>
        </p:txBody>
      </p:sp>
      <p:graphicFrame>
        <p:nvGraphicFramePr>
          <p:cNvPr id="16" name="Table 15"/>
          <p:cNvGraphicFramePr>
            <a:graphicFrameLocks noGrp="1"/>
          </p:cNvGraphicFramePr>
          <p:nvPr/>
        </p:nvGraphicFramePr>
        <p:xfrm>
          <a:off x="6916960" y="1410919"/>
          <a:ext cx="4497494" cy="3223760"/>
        </p:xfrm>
        <a:graphic>
          <a:graphicData uri="http://schemas.openxmlformats.org/drawingml/2006/table">
            <a:tbl>
              <a:tblPr firstRow="1">
                <a:tableStyleId>{5C22544A-7EE6-4342-B048-85BDC9FD1C3A}</a:tableStyleId>
              </a:tblPr>
              <a:tblGrid>
                <a:gridCol w="3459611"/>
                <a:gridCol w="1037883"/>
              </a:tblGrid>
              <a:tr h="322376">
                <a:tc>
                  <a:txBody>
                    <a:bodyPr wrap="square"/>
                    <a:lstStyle/>
                    <a:p>
                      <a:r>
                        <a:rPr sz="1300" b="1">
                          <a:solidFill>
                            <a:srgbClr val="FFFFFF"/>
                          </a:solidFill>
                          <a:latin typeface="Source Sans 3"/>
                        </a:rPr>
                        <a:t>Area</a:t>
                      </a:r>
                    </a:p>
                  </a:txBody>
                  <a:tcPr marL="82296" marR="64008" marT="32004" marB="32004" anchor="ctr">
                    <a:solidFill>
                      <a:srgbClr val="8A1626"/>
                    </a:solidFill>
                  </a:tcPr>
                </a:tc>
                <a:tc>
                  <a:txBody>
                    <a:bodyPr wrap="square"/>
                    <a:lstStyle/>
                    <a:p>
                      <a:r>
                        <a:rPr sz="1300" b="1">
                          <a:solidFill>
                            <a:srgbClr val="FFFFFF"/>
                          </a:solidFill>
                          <a:latin typeface="Source Sans 3"/>
                        </a:rPr>
                        <a:t>Codes</a:t>
                      </a:r>
                    </a:p>
                  </a:txBody>
                  <a:tcPr marL="82296" marR="64008" marT="32004" marB="32004" anchor="ctr">
                    <a:solidFill>
                      <a:srgbClr val="8A1626"/>
                    </a:solidFill>
                  </a:tcPr>
                </a:tc>
              </a:tr>
              <a:tr h="322376">
                <a:tc>
                  <a:txBody>
                    <a:bodyPr wrap="square"/>
                    <a:lstStyle/>
                    <a:p>
                      <a:r>
                        <a:rPr sz="1300" b="1">
                          <a:solidFill>
                            <a:srgbClr val="8A1626"/>
                          </a:solidFill>
                          <a:latin typeface="Source Sans 3"/>
                        </a:rPr>
                        <a:t>Configuration, API, client</a:t>
                      </a:r>
                    </a:p>
                  </a:txBody>
                  <a:tcPr marL="82296" marR="64008" marT="32004" marB="32004" anchor="ctr">
                    <a:solidFill>
                      <a:srgbClr val="FFFFFF"/>
                    </a:solidFill>
                  </a:tcPr>
                </a:tc>
                <a:tc>
                  <a:txBody>
                    <a:bodyPr wrap="square"/>
                    <a:lstStyle/>
                    <a:p>
                      <a:r>
                        <a:rPr sz="1300" b="0">
                          <a:solidFill>
                            <a:srgbClr val="1A1A1A"/>
                          </a:solidFill>
                          <a:latin typeface="Source Sans 3"/>
                        </a:rPr>
                        <a:t>35</a:t>
                      </a:r>
                    </a:p>
                  </a:txBody>
                  <a:tcPr marL="82296" marR="64008" marT="32004" marB="32004" anchor="ctr">
                    <a:solidFill>
                      <a:srgbClr val="FFFFFF"/>
                    </a:solidFill>
                  </a:tcPr>
                </a:tc>
              </a:tr>
              <a:tr h="322376">
                <a:tc>
                  <a:txBody>
                    <a:bodyPr wrap="square"/>
                    <a:lstStyle/>
                    <a:p>
                      <a:r>
                        <a:rPr sz="1300" b="1">
                          <a:solidFill>
                            <a:srgbClr val="8A1626"/>
                          </a:solidFill>
                          <a:latin typeface="Source Sans 3"/>
                        </a:rPr>
                        <a:t>SQL</a:t>
                      </a:r>
                    </a:p>
                  </a:txBody>
                  <a:tcPr marL="82296" marR="64008" marT="32004" marB="32004" anchor="ctr">
                    <a:solidFill>
                      <a:srgbClr val="F7F5F2"/>
                    </a:solidFill>
                  </a:tcPr>
                </a:tc>
                <a:tc>
                  <a:txBody>
                    <a:bodyPr wrap="square"/>
                    <a:lstStyle/>
                    <a:p>
                      <a:r>
                        <a:rPr sz="1300" b="0">
                          <a:solidFill>
                            <a:srgbClr val="1A1A1A"/>
                          </a:solidFill>
                          <a:latin typeface="Source Sans 3"/>
                        </a:rPr>
                        <a:t>21</a:t>
                      </a:r>
                    </a:p>
                  </a:txBody>
                  <a:tcPr marL="82296" marR="64008" marT="32004" marB="32004" anchor="ctr">
                    <a:solidFill>
                      <a:srgbClr val="F7F5F2"/>
                    </a:solidFill>
                  </a:tcPr>
                </a:tc>
              </a:tr>
              <a:tr h="322376">
                <a:tc>
                  <a:txBody>
                    <a:bodyPr wrap="square"/>
                    <a:lstStyle/>
                    <a:p>
                      <a:r>
                        <a:rPr sz="1300" b="1">
                          <a:solidFill>
                            <a:srgbClr val="8A1626"/>
                          </a:solidFill>
                          <a:latin typeface="Source Sans 3"/>
                        </a:rPr>
                        <a:t>Runtime and codegen</a:t>
                      </a:r>
                    </a:p>
                  </a:txBody>
                  <a:tcPr marL="82296" marR="64008" marT="32004" marB="32004" anchor="ctr">
                    <a:solidFill>
                      <a:srgbClr val="FFFFFF"/>
                    </a:solidFill>
                  </a:tcPr>
                </a:tc>
                <a:tc>
                  <a:txBody>
                    <a:bodyPr wrap="square"/>
                    <a:lstStyle/>
                    <a:p>
                      <a:r>
                        <a:rPr sz="1300" b="0">
                          <a:solidFill>
                            <a:srgbClr val="1A1A1A"/>
                          </a:solidFill>
                          <a:latin typeface="Source Sans 3"/>
                        </a:rPr>
                        <a:t>14</a:t>
                      </a:r>
                    </a:p>
                  </a:txBody>
                  <a:tcPr marL="82296" marR="64008" marT="32004" marB="32004" anchor="ctr">
                    <a:solidFill>
                      <a:srgbClr val="FFFFFF"/>
                    </a:solidFill>
                  </a:tcPr>
                </a:tc>
              </a:tr>
              <a:tr h="322376">
                <a:tc>
                  <a:txBody>
                    <a:bodyPr wrap="square"/>
                    <a:lstStyle/>
                    <a:p>
                      <a:r>
                        <a:rPr sz="1300" b="1">
                          <a:solidFill>
                            <a:srgbClr val="8A1626"/>
                          </a:solidFill>
                          <a:latin typeface="Source Sans 3"/>
                        </a:rPr>
                        <a:t>State and serving</a:t>
                      </a:r>
                    </a:p>
                  </a:txBody>
                  <a:tcPr marL="82296" marR="64008" marT="32004" marB="32004" anchor="ctr">
                    <a:solidFill>
                      <a:srgbClr val="F7F5F2"/>
                    </a:solidFill>
                  </a:tcPr>
                </a:tc>
                <a:tc>
                  <a:txBody>
                    <a:bodyPr wrap="square"/>
                    <a:lstStyle/>
                    <a:p>
                      <a:r>
                        <a:rPr sz="1300" b="0">
                          <a:solidFill>
                            <a:srgbClr val="1A1A1A"/>
                          </a:solidFill>
                          <a:latin typeface="Source Sans 3"/>
                        </a:rPr>
                        <a:t>32</a:t>
                      </a:r>
                    </a:p>
                  </a:txBody>
                  <a:tcPr marL="82296" marR="64008" marT="32004" marB="32004" anchor="ctr">
                    <a:solidFill>
                      <a:srgbClr val="F7F5F2"/>
                    </a:solidFill>
                  </a:tcPr>
                </a:tc>
              </a:tr>
              <a:tr h="322376">
                <a:tc>
                  <a:txBody>
                    <a:bodyPr wrap="square"/>
                    <a:lstStyle/>
                    <a:p>
                      <a:r>
                        <a:rPr sz="1300" b="1">
                          <a:solidFill>
                            <a:srgbClr val="8A1626"/>
                          </a:solidFill>
                          <a:latin typeface="Source Sans 3"/>
                        </a:rPr>
                        <a:t>Plugins</a:t>
                      </a:r>
                    </a:p>
                  </a:txBody>
                  <a:tcPr marL="82296" marR="64008" marT="32004" marB="32004" anchor="ctr">
                    <a:solidFill>
                      <a:srgbClr val="FFFFFF"/>
                    </a:solidFill>
                  </a:tcPr>
                </a:tc>
                <a:tc>
                  <a:txBody>
                    <a:bodyPr wrap="square"/>
                    <a:lstStyle/>
                    <a:p>
                      <a:r>
                        <a:rPr sz="1300" b="0">
                          <a:solidFill>
                            <a:srgbClr val="1A1A1A"/>
                          </a:solidFill>
                          <a:latin typeface="Source Sans 3"/>
                        </a:rPr>
                        <a:t>82</a:t>
                      </a:r>
                    </a:p>
                  </a:txBody>
                  <a:tcPr marL="82296" marR="64008" marT="32004" marB="32004" anchor="ctr">
                    <a:solidFill>
                      <a:srgbClr val="FFFFFF"/>
                    </a:solidFill>
                  </a:tcPr>
                </a:tc>
              </a:tr>
              <a:tr h="322376">
                <a:tc>
                  <a:txBody>
                    <a:bodyPr wrap="square"/>
                    <a:lstStyle/>
                    <a:p>
                      <a:r>
                        <a:rPr sz="1300" b="1">
                          <a:solidFill>
                            <a:srgbClr val="8A1626"/>
                          </a:solidFill>
                          <a:latin typeface="Source Sans 3"/>
                        </a:rPr>
                        <a:t>Flight and PostgreSQL gateways</a:t>
                      </a:r>
                    </a:p>
                  </a:txBody>
                  <a:tcPr marL="82296" marR="64008" marT="32004" marB="32004" anchor="ctr">
                    <a:solidFill>
                      <a:srgbClr val="F7F5F2"/>
                    </a:solidFill>
                  </a:tcPr>
                </a:tc>
                <a:tc>
                  <a:txBody>
                    <a:bodyPr wrap="square"/>
                    <a:lstStyle/>
                    <a:p>
                      <a:r>
                        <a:rPr sz="1300" b="0">
                          <a:solidFill>
                            <a:srgbClr val="1A1A1A"/>
                          </a:solidFill>
                          <a:latin typeface="Source Sans 3"/>
                        </a:rPr>
                        <a:t>29</a:t>
                      </a:r>
                    </a:p>
                  </a:txBody>
                  <a:tcPr marL="82296" marR="64008" marT="32004" marB="32004" anchor="ctr">
                    <a:solidFill>
                      <a:srgbClr val="F7F5F2"/>
                    </a:solidFill>
                  </a:tcPr>
                </a:tc>
              </a:tr>
              <a:tr h="322376">
                <a:tc>
                  <a:txBody>
                    <a:bodyPr wrap="square"/>
                    <a:lstStyle/>
                    <a:p>
                      <a:r>
                        <a:rPr sz="1300" b="1">
                          <a:solidFill>
                            <a:srgbClr val="8A1626"/>
                          </a:solidFill>
                          <a:latin typeface="Source Sans 3"/>
                        </a:rPr>
                        <a:t>Security and identity</a:t>
                      </a:r>
                    </a:p>
                  </a:txBody>
                  <a:tcPr marL="82296" marR="64008" marT="32004" marB="32004" anchor="ctr">
                    <a:solidFill>
                      <a:srgbClr val="FFFFFF"/>
                    </a:solidFill>
                  </a:tcPr>
                </a:tc>
                <a:tc>
                  <a:txBody>
                    <a:bodyPr wrap="square"/>
                    <a:lstStyle/>
                    <a:p>
                      <a:r>
                        <a:rPr sz="1300" b="0">
                          <a:solidFill>
                            <a:srgbClr val="1A1A1A"/>
                          </a:solidFill>
                          <a:latin typeface="Source Sans 3"/>
                        </a:rPr>
                        <a:t>30</a:t>
                      </a:r>
                    </a:p>
                  </a:txBody>
                  <a:tcPr marL="82296" marR="64008" marT="32004" marB="32004" anchor="ctr">
                    <a:solidFill>
                      <a:srgbClr val="FFFFFF"/>
                    </a:solidFill>
                  </a:tcPr>
                </a:tc>
              </a:tr>
              <a:tr h="322376">
                <a:tc>
                  <a:txBody>
                    <a:bodyPr wrap="square"/>
                    <a:lstStyle/>
                    <a:p>
                      <a:r>
                        <a:rPr sz="1300" b="1">
                          <a:solidFill>
                            <a:srgbClr val="8A1626"/>
                          </a:solidFill>
                          <a:latin typeface="Source Sans 3"/>
                        </a:rPr>
                        <a:t>Query registry</a:t>
                      </a:r>
                    </a:p>
                  </a:txBody>
                  <a:tcPr marL="82296" marR="64008" marT="32004" marB="32004" anchor="ctr">
                    <a:solidFill>
                      <a:srgbClr val="F7F5F2"/>
                    </a:solidFill>
                  </a:tcPr>
                </a:tc>
                <a:tc>
                  <a:txBody>
                    <a:bodyPr wrap="square"/>
                    <a:lstStyle/>
                    <a:p>
                      <a:r>
                        <a:rPr sz="1300" b="0">
                          <a:solidFill>
                            <a:srgbClr val="1A1A1A"/>
                          </a:solidFill>
                          <a:latin typeface="Source Sans 3"/>
                        </a:rPr>
                        <a:t>41</a:t>
                      </a:r>
                    </a:p>
                  </a:txBody>
                  <a:tcPr marL="82296" marR="64008" marT="32004" marB="32004" anchor="ctr">
                    <a:solidFill>
                      <a:srgbClr val="F7F5F2"/>
                    </a:solidFill>
                  </a:tcPr>
                </a:tc>
              </a:tr>
              <a:tr h="322376">
                <a:tc>
                  <a:txBody>
                    <a:bodyPr wrap="square"/>
                    <a:lstStyle/>
                    <a:p>
                      <a:r>
                        <a:rPr sz="1300" b="1">
                          <a:solidFill>
                            <a:srgbClr val="8A1626"/>
                          </a:solidFill>
                          <a:latin typeface="Source Sans 3"/>
                        </a:rPr>
                        <a:t>Cluster coordination</a:t>
                      </a:r>
                    </a:p>
                  </a:txBody>
                  <a:tcPr marL="82296" marR="64008" marT="32004" marB="32004" anchor="ctr">
                    <a:solidFill>
                      <a:srgbClr val="FFFFFF"/>
                    </a:solidFill>
                  </a:tcPr>
                </a:tc>
                <a:tc>
                  <a:txBody>
                    <a:bodyPr wrap="square"/>
                    <a:lstStyle/>
                    <a:p>
                      <a:r>
                        <a:rPr sz="1300" b="0">
                          <a:solidFill>
                            <a:srgbClr val="1A1A1A"/>
                          </a:solidFill>
                          <a:latin typeface="Source Sans 3"/>
                        </a:rPr>
                        <a:t>7</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JAVA 21 AGAINST JAVA 25 · THE SAME JAR · JMH, 2026-10-04</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One jar, two JDKs: the path a node runs is level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 regression this harness can see: generated is level, memory access level or faster on 21.</a:t>
            </a:r>
          </a:p>
        </p:txBody>
      </p:sp>
      <p:graphicFrame>
        <p:nvGraphicFramePr>
          <p:cNvPr id="13" name="Table 12"/>
          <p:cNvGraphicFramePr>
            <a:graphicFrameLocks noGrp="1"/>
          </p:cNvGraphicFramePr>
          <p:nvPr/>
        </p:nvGraphicFramePr>
        <p:xfrm>
          <a:off x="777240" y="1410919"/>
          <a:ext cx="10637214" cy="2238245"/>
        </p:xfrm>
        <a:graphic>
          <a:graphicData uri="http://schemas.openxmlformats.org/drawingml/2006/table">
            <a:tbl>
              <a:tblPr firstRow="1">
                <a:tableStyleId>{5C22544A-7EE6-4342-B048-85BDC9FD1C3A}</a:tableStyleId>
              </a:tblPr>
              <a:tblGrid>
                <a:gridCol w="2826672"/>
                <a:gridCol w="2603514"/>
                <a:gridCol w="2603514"/>
                <a:gridCol w="2603514"/>
              </a:tblGrid>
              <a:tr h="535025">
                <a:tc>
                  <a:txBody>
                    <a:bodyPr wrap="square"/>
                    <a:lstStyle/>
                    <a:p>
                      <a:r>
                        <a:rPr sz="1300" b="1">
                          <a:solidFill>
                            <a:srgbClr val="FFFFFF"/>
                          </a:solidFill>
                          <a:latin typeface="Source Sans 3"/>
                        </a:rPr>
                        <a:t>Profile A, batches of 512 rows</a:t>
                      </a:r>
                    </a:p>
                  </a:txBody>
                  <a:tcPr marL="82296" marR="64008" marT="32004" marB="32004" anchor="ctr">
                    <a:solidFill>
                      <a:srgbClr val="8A1626"/>
                    </a:solidFill>
                  </a:tcPr>
                </a:tc>
                <a:tc>
                  <a:txBody>
                    <a:bodyPr wrap="square"/>
                    <a:lstStyle/>
                    <a:p>
                      <a:r>
                        <a:rPr sz="1300" b="1">
                          <a:solidFill>
                            <a:srgbClr val="FFFFFF"/>
                          </a:solidFill>
                          <a:latin typeface="Source Sans 3"/>
                        </a:rPr>
                        <a:t>JDK 21</a:t>
                      </a:r>
                    </a:p>
                  </a:txBody>
                  <a:tcPr marL="82296" marR="64008" marT="32004" marB="32004" anchor="ctr">
                    <a:solidFill>
                      <a:srgbClr val="8A1626"/>
                    </a:solidFill>
                  </a:tcPr>
                </a:tc>
                <a:tc>
                  <a:txBody>
                    <a:bodyPr wrap="square"/>
                    <a:lstStyle/>
                    <a:p>
                      <a:r>
                        <a:rPr sz="1300" b="1">
                          <a:solidFill>
                            <a:srgbClr val="FFFFFF"/>
                          </a:solidFill>
                          <a:latin typeface="Source Sans 3"/>
                        </a:rPr>
                        <a:t>JDK 25</a:t>
                      </a:r>
                    </a:p>
                  </a:txBody>
                  <a:tcPr marL="82296" marR="64008" marT="32004" marB="32004" anchor="ctr">
                    <a:solidFill>
                      <a:srgbClr val="8A1626"/>
                    </a:solidFill>
                  </a:tcPr>
                </a:tc>
                <a:tc>
                  <a:txBody>
                    <a:bodyPr wrap="square"/>
                    <a:lstStyle/>
                    <a:p>
                      <a:r>
                        <a:rPr sz="1300" b="1">
                          <a:solidFill>
                            <a:srgbClr val="FFFFFF"/>
                          </a:solidFill>
                          <a:latin typeface="Source Sans 3"/>
                        </a:rPr>
                        <a:t>JDK 25 baseline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Generated (fused) — what a node runs</a:t>
                      </a:r>
                    </a:p>
                  </a:txBody>
                  <a:tcPr marL="82296" marR="64008" marT="32004" marB="32004" anchor="ctr">
                    <a:solidFill>
                      <a:srgbClr val="FFFFFF"/>
                    </a:solidFill>
                  </a:tcPr>
                </a:tc>
                <a:tc>
                  <a:txBody>
                    <a:bodyPr wrap="square"/>
                    <a:lstStyle/>
                    <a:p>
                      <a:r>
                        <a:rPr sz="1400" b="0">
                          <a:solidFill>
                            <a:srgbClr val="1A1A1A"/>
                          </a:solidFill>
                          <a:latin typeface="Source Sans 3"/>
                        </a:rPr>
                        <a:t>630,864 ± 1 % (323 M rows/s)</a:t>
                      </a:r>
                    </a:p>
                  </a:txBody>
                  <a:tcPr marL="82296" marR="64008" marT="32004" marB="32004" anchor="ctr">
                    <a:solidFill>
                      <a:srgbClr val="FFFFFF"/>
                    </a:solidFill>
                  </a:tcPr>
                </a:tc>
                <a:tc>
                  <a:txBody>
                    <a:bodyPr wrap="square"/>
                    <a:lstStyle/>
                    <a:p>
                      <a:r>
                        <a:rPr sz="1400" b="0">
                          <a:solidFill>
                            <a:srgbClr val="1A1A1A"/>
                          </a:solidFill>
                          <a:latin typeface="Source Sans 3"/>
                        </a:rPr>
                        <a:t>586,418 ± 10 % (300 M rows/s)</a:t>
                      </a:r>
                    </a:p>
                  </a:txBody>
                  <a:tcPr marL="82296" marR="64008" marT="32004" marB="32004" anchor="ctr">
                    <a:solidFill>
                      <a:srgbClr val="FFFFFF"/>
                    </a:solidFill>
                  </a:tcPr>
                </a:tc>
                <a:tc>
                  <a:txBody>
                    <a:bodyPr wrap="square"/>
                    <a:lstStyle/>
                    <a:p>
                      <a:r>
                        <a:rPr sz="1400" b="0">
                          <a:solidFill>
                            <a:srgbClr val="1A1A1A"/>
                          </a:solidFill>
                          <a:latin typeface="Source Sans 3"/>
                        </a:rPr>
                        <a:t>618,952 ± 2 % (317 M rows/s)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Interpreted</a:t>
                      </a:r>
                    </a:p>
                  </a:txBody>
                  <a:tcPr marL="82296" marR="64008" marT="32004" marB="32004" anchor="ctr">
                    <a:solidFill>
                      <a:srgbClr val="F7F5F2"/>
                    </a:solidFill>
                  </a:tcPr>
                </a:tc>
                <a:tc>
                  <a:txBody>
                    <a:bodyPr wrap="square"/>
                    <a:lstStyle/>
                    <a:p>
                      <a:r>
                        <a:rPr sz="1400" b="0">
                          <a:solidFill>
                            <a:srgbClr val="1A1A1A"/>
                          </a:solidFill>
                          <a:latin typeface="Source Sans 3"/>
                        </a:rPr>
                        <a:t>149,966 ± 31 % (76.8 M rows/s)</a:t>
                      </a:r>
                    </a:p>
                  </a:txBody>
                  <a:tcPr marL="82296" marR="64008" marT="32004" marB="32004" anchor="ctr">
                    <a:solidFill>
                      <a:srgbClr val="F7F5F2"/>
                    </a:solidFill>
                  </a:tcPr>
                </a:tc>
                <a:tc>
                  <a:txBody>
                    <a:bodyPr wrap="square"/>
                    <a:lstStyle/>
                    <a:p>
                      <a:r>
                        <a:rPr sz="1400" b="0">
                          <a:solidFill>
                            <a:srgbClr val="1A1A1A"/>
                          </a:solidFill>
                          <a:latin typeface="Source Sans 3"/>
                        </a:rPr>
                        <a:t>179,003 ± 1 % (91.6 M rows/s)</a:t>
                      </a:r>
                    </a:p>
                  </a:txBody>
                  <a:tcPr marL="82296" marR="64008" marT="32004" marB="32004" anchor="ctr">
                    <a:solidFill>
                      <a:srgbClr val="F7F5F2"/>
                    </a:solidFill>
                  </a:tcPr>
                </a:tc>
                <a:tc>
                  <a:txBody>
                    <a:bodyPr wrap="square"/>
                    <a:lstStyle/>
                    <a:p>
                      <a:r>
                        <a:rPr sz="1400" b="0">
                          <a:solidFill>
                            <a:srgbClr val="1A1A1A"/>
                          </a:solidFill>
                          <a:latin typeface="Source Sans 3"/>
                        </a:rPr>
                        <a:t>177,940 ± 1 % (91.1 M rows/s)</a:t>
                      </a:r>
                    </a:p>
                  </a:txBody>
                  <a:tcPr marL="82296" marR="64008" marT="32004" marB="32004" anchor="ctr">
                    <a:solidFill>
                      <a:srgbClr val="F7F5F2"/>
                    </a:solidFill>
                  </a:tcPr>
                </a:tc>
              </a:tr>
              <a:tr h="567740">
                <a:tc>
                  <a:txBody>
                    <a:bodyPr wrap="square"/>
                    <a:lstStyle/>
                    <a:p>
                      <a:r>
                        <a:rPr sz="1400" b="1">
                          <a:solidFill>
                            <a:srgbClr val="8A1626"/>
                          </a:solidFill>
                          <a:latin typeface="Source Sans 3"/>
                        </a:rPr>
                        <a:t>Memory access getLong / putLong, ns</a:t>
                      </a:r>
                    </a:p>
                  </a:txBody>
                  <a:tcPr marL="82296" marR="64008" marT="32004" marB="32004" anchor="ctr">
                    <a:solidFill>
                      <a:srgbClr val="FFFFFF"/>
                    </a:solidFill>
                  </a:tcPr>
                </a:tc>
                <a:tc>
                  <a:txBody>
                    <a:bodyPr wrap="square"/>
                    <a:lstStyle/>
                    <a:p>
                      <a:r>
                        <a:rPr sz="1400" b="0">
                          <a:solidFill>
                            <a:srgbClr val="1A1A1A"/>
                          </a:solidFill>
                          <a:latin typeface="Source Sans 3"/>
                        </a:rPr>
                        <a:t>1.06 / 1.08</a:t>
                      </a:r>
                    </a:p>
                  </a:txBody>
                  <a:tcPr marL="82296" marR="64008" marT="32004" marB="32004" anchor="ctr">
                    <a:solidFill>
                      <a:srgbClr val="FFFFFF"/>
                    </a:solidFill>
                  </a:tcPr>
                </a:tc>
                <a:tc>
                  <a:txBody>
                    <a:bodyPr wrap="square"/>
                    <a:lstStyle/>
                    <a:p>
                      <a:r>
                        <a:rPr sz="1400" b="0">
                          <a:solidFill>
                            <a:srgbClr val="1A1A1A"/>
                          </a:solidFill>
                          <a:latin typeface="Source Sans 3"/>
                        </a:rPr>
                        <a:t>1.29 / 1.37</a:t>
                      </a:r>
                    </a:p>
                  </a:txBody>
                  <a:tcPr marL="82296" marR="64008" marT="32004" marB="32004" anchor="ctr">
                    <a:solidFill>
                      <a:srgbClr val="FFFFFF"/>
                    </a:solidFill>
                  </a:tcPr>
                </a:tc>
                <a:tc>
                  <a:txBody>
                    <a:bodyPr wrap="square"/>
                    <a:lstStyle/>
                    <a:p>
                      <a:r>
                        <a:rPr sz="1400" b="0">
                          <a:solidFill>
                            <a:srgbClr val="1A1A1A"/>
                          </a:solidFill>
                          <a:latin typeface="Source Sans 3"/>
                        </a:rPr>
                        <a:t>1.28 / 1.40</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JDK 21 FROM 2026-09-20, JDK 25 ON 2026-10-04</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Per-lane throughput: reached. Eight-lane scaling: not reached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requirement is about 1,000 rows a second (ADR-042); the design's figures are kept as the gate criteria so a reader can see the bar moved and judge why. A laptop's figure is a floor, never the engine's ceiling.</a:t>
            </a:r>
          </a:p>
        </p:txBody>
      </p:sp>
      <p:graphicFrame>
        <p:nvGraphicFramePr>
          <p:cNvPr id="12" name="Table 11"/>
          <p:cNvGraphicFramePr>
            <a:graphicFrameLocks noGrp="1"/>
          </p:cNvGraphicFramePr>
          <p:nvPr/>
        </p:nvGraphicFramePr>
        <p:xfrm>
          <a:off x="777240" y="1329131"/>
          <a:ext cx="10637213" cy="2593336"/>
        </p:xfrm>
        <a:graphic>
          <a:graphicData uri="http://schemas.openxmlformats.org/drawingml/2006/table">
            <a:tbl>
              <a:tblPr firstRow="1">
                <a:tableStyleId>{5C22544A-7EE6-4342-B048-85BDC9FD1C3A}</a:tableStyleId>
              </a:tblPr>
              <a:tblGrid>
                <a:gridCol w="2397118"/>
                <a:gridCol w="1797839"/>
                <a:gridCol w="5093877"/>
                <a:gridCol w="13483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P2 · Profile A, per lane</a:t>
                      </a:r>
                    </a:p>
                  </a:txBody>
                  <a:tcPr marL="82296" marR="64008" marT="32004" marB="32004" anchor="ctr">
                    <a:solidFill>
                      <a:srgbClr val="FFFFFF"/>
                    </a:solidFill>
                  </a:tcPr>
                </a:tc>
                <a:tc>
                  <a:txBody>
                    <a:bodyPr wrap="square"/>
                    <a:lstStyle/>
                    <a:p>
                      <a:r>
                        <a:rPr sz="1400" b="0">
                          <a:solidFill>
                            <a:srgbClr val="1A1A1A"/>
                          </a:solidFill>
                          <a:latin typeface="Source Sans 3"/>
                        </a:rPr>
                        <a:t>≥ 1.2 M rows/s</a:t>
                      </a:r>
                    </a:p>
                  </a:txBody>
                  <a:tcPr marL="82296" marR="64008" marT="32004" marB="32004" anchor="ctr">
                    <a:solidFill>
                      <a:srgbClr val="FFFFFF"/>
                    </a:solidFill>
                  </a:tcPr>
                </a:tc>
                <a:tc>
                  <a:txBody>
                    <a:bodyPr wrap="square"/>
                    <a:lstStyle/>
                    <a:p>
                      <a:r>
                        <a:rPr sz="1400" b="0">
                          <a:solidFill>
                            <a:srgbClr val="1A1A1A"/>
                          </a:solidFill>
                          <a:latin typeface="Source Sans 3"/>
                        </a:rPr>
                        <a:t>JDK 25: all 30 passes above it, best 55–60 M. JDK 21: 29 of 30, the miss 1.04 M at load 77</a:t>
                      </a:r>
                    </a:p>
                  </a:txBody>
                  <a:tcPr marL="82296" marR="64008" marT="32004" marB="32004" anchor="ctr">
                    <a:solidFill>
                      <a:srgbClr val="FFFFFF"/>
                    </a:solidFill>
                  </a:tcPr>
                </a:tc>
                <a:tc>
                  <a:txBody>
                    <a:bodyPr wrap="square"/>
                    <a:lstStyle/>
                    <a:p>
                      <a:r>
                        <a:rPr sz="1400" b="0">
                          <a:solidFill>
                            <a:srgbClr val="1A1A1A"/>
                          </a:solidFill>
                          <a:latin typeface="Source Sans 3"/>
                        </a:rPr>
                        <a:t>Reached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P3 · Profile B, per lane</a:t>
                      </a:r>
                    </a:p>
                  </a:txBody>
                  <a:tcPr marL="82296" marR="64008" marT="32004" marB="32004" anchor="ctr">
                    <a:solidFill>
                      <a:srgbClr val="F7F5F2"/>
                    </a:solidFill>
                  </a:tcPr>
                </a:tc>
                <a:tc>
                  <a:txBody>
                    <a:bodyPr wrap="square"/>
                    <a:lstStyle/>
                    <a:p>
                      <a:r>
                        <a:rPr sz="1400" b="0">
                          <a:solidFill>
                            <a:srgbClr val="1A1A1A"/>
                          </a:solidFill>
                          <a:latin typeface="Source Sans 3"/>
                        </a:rPr>
                        <a:t>≥ 350 k rows/s</a:t>
                      </a:r>
                    </a:p>
                  </a:txBody>
                  <a:tcPr marL="82296" marR="64008" marT="32004" marB="32004" anchor="ctr">
                    <a:solidFill>
                      <a:srgbClr val="F7F5F2"/>
                    </a:solidFill>
                  </a:tcPr>
                </a:tc>
                <a:tc>
                  <a:txBody>
                    <a:bodyPr wrap="square"/>
                    <a:lstStyle/>
                    <a:p>
                      <a:r>
                        <a:rPr sz="1400" b="0">
                          <a:solidFill>
                            <a:srgbClr val="1A1A1A"/>
                          </a:solidFill>
                          <a:latin typeface="Source Sans 3"/>
                        </a:rPr>
                        <a:t>JDK 25: all 20 passes, best 2.30–2.73 M. JDK 21: all 15, worst 1.10 M</a:t>
                      </a:r>
                    </a:p>
                  </a:txBody>
                  <a:tcPr marL="82296" marR="64008" marT="32004" marB="32004" anchor="ctr">
                    <a:solidFill>
                      <a:srgbClr val="F7F5F2"/>
                    </a:solidFill>
                  </a:tcPr>
                </a:tc>
                <a:tc>
                  <a:txBody>
                    <a:bodyPr wrap="square"/>
                    <a:lstStyle/>
                    <a:p>
                      <a:r>
                        <a:rPr sz="1400" b="0">
                          <a:solidFill>
                            <a:srgbClr val="1A1A1A"/>
                          </a:solidFill>
                          <a:latin typeface="Source Sans 3"/>
                        </a:rPr>
                        <a:t>Reached</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P2 · scaling, 1 → 8 lanes</a:t>
                      </a:r>
                    </a:p>
                  </a:txBody>
                  <a:tcPr marL="82296" marR="64008" marT="32004" marB="32004" anchor="ctr">
                    <a:solidFill>
                      <a:srgbClr val="FFFFFF"/>
                    </a:solidFill>
                  </a:tcPr>
                </a:tc>
                <a:tc>
                  <a:txBody>
                    <a:bodyPr wrap="square"/>
                    <a:lstStyle/>
                    <a:p>
                      <a:r>
                        <a:rPr sz="1400" b="0">
                          <a:solidFill>
                            <a:srgbClr val="1A1A1A"/>
                          </a:solidFill>
                          <a:latin typeface="Source Sans 3"/>
                        </a:rPr>
                        <a:t>≥ 90 % of linear</a:t>
                      </a:r>
                    </a:p>
                  </a:txBody>
                  <a:tcPr marL="82296" marR="64008" marT="32004" marB="32004" anchor="ctr">
                    <a:solidFill>
                      <a:srgbClr val="FFFFFF"/>
                    </a:solidFill>
                  </a:tcPr>
                </a:tc>
                <a:tc>
                  <a:txBody>
                    <a:bodyPr wrap="square"/>
                    <a:lstStyle/>
                    <a:p>
                      <a:r>
                        <a:rPr sz="1400" b="0">
                          <a:solidFill>
                            <a:srgbClr val="1A1A1A"/>
                          </a:solidFill>
                          <a:latin typeface="Source Sans 3"/>
                        </a:rPr>
                        <a:t>JDK 25: 32–37 %. JDK 21: 28–42 %. The machine's own ceiling for work sharing nothing: 50–55 %</a:t>
                      </a:r>
                    </a:p>
                  </a:txBody>
                  <a:tcPr marL="82296" marR="64008" marT="32004" marB="32004" anchor="ctr">
                    <a:solidFill>
                      <a:srgbClr val="FFFFFF"/>
                    </a:solidFill>
                  </a:tcPr>
                </a:tc>
                <a:tc>
                  <a:txBody>
                    <a:bodyPr wrap="square"/>
                    <a:lstStyle/>
                    <a:p>
                      <a:r>
                        <a:rPr sz="1400" b="0">
                          <a:solidFill>
                            <a:srgbClr val="1A1A1A"/>
                          </a:solidFill>
                          <a:latin typeface="Source Sans 3"/>
                        </a:rPr>
                        <a:t>Not reached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W5 · Nexmark against Flink</a:t>
                      </a:r>
                    </a:p>
                  </a:txBody>
                  <a:tcPr marL="82296" marR="64008" marT="32004" marB="32004" anchor="ctr">
                    <a:solidFill>
                      <a:srgbClr val="F7F5F2"/>
                    </a:solidFill>
                  </a:tcPr>
                </a:tc>
                <a:tc>
                  <a:txBody>
                    <a:bodyPr wrap="square"/>
                    <a:lstStyle/>
                    <a:p>
                      <a:r>
                        <a:rPr sz="140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0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0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MANY QUERIES ON ONE NODE · ADR-036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200 queries add 24 threads; 1,000 queries run on 8 lanes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45</a:t>
            </a:r>
          </a:p>
        </p:txBody>
      </p:sp>
      <p:sp>
        <p:nvSpPr>
          <p:cNvPr id="10" name="Rectangle 9"/>
          <p:cNvSpPr/>
          <p:nvPr/>
        </p:nvSpPr>
        <p:spPr>
          <a:xfrm>
            <a:off x="777240"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For 200 queries on 24 cores — where they once added 400</a:t>
            </a:r>
          </a:p>
        </p:txBody>
      </p:sp>
      <p:sp>
        <p:nvSpPr>
          <p:cNvPr id="14" name="Rectangle 13"/>
          <p:cNvSpPr/>
          <p:nvPr/>
        </p:nvSpPr>
        <p:spPr>
          <a:xfrm>
            <a:off x="3486835"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per idle query on a lane of its own</a:t>
            </a:r>
          </a:p>
        </p:txBody>
      </p:sp>
      <p:sp>
        <p:nvSpPr>
          <p:cNvPr id="18" name="Rectangle 17"/>
          <p:cNvSpPr/>
          <p:nvPr/>
        </p:nvSpPr>
        <p:spPr>
          <a:xfrm>
            <a:off x="6196431"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lanes</a:t>
            </a:r>
          </a:p>
        </p:txBody>
      </p:sp>
      <p:sp>
        <p:nvSpPr>
          <p:cNvPr id="21" name="TextBox 20"/>
          <p:cNvSpPr txBox="1"/>
          <p:nvPr/>
        </p:nvSpPr>
        <p:spPr>
          <a:xfrm>
            <a:off x="6397599"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For 1,000 queries over one source: a row written 8 times, not 1,000</a:t>
            </a:r>
          </a:p>
        </p:txBody>
      </p:sp>
      <p:sp>
        <p:nvSpPr>
          <p:cNvPr id="22" name="Rectangle 21"/>
          <p:cNvSpPr/>
          <p:nvPr/>
        </p:nvSpPr>
        <p:spPr>
          <a:xfrm>
            <a:off x="8906027" y="1361846"/>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6184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89862"/>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64</a:t>
            </a:r>
          </a:p>
        </p:txBody>
      </p:sp>
      <p:sp>
        <p:nvSpPr>
          <p:cNvPr id="25" name="TextBox 24"/>
          <p:cNvSpPr txBox="1"/>
          <p:nvPr/>
        </p:nvSpPr>
        <p:spPr>
          <a:xfrm>
            <a:off x="9107195" y="1965350"/>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Queries that own a lane each, under auto, before new ones share</a:t>
            </a:r>
          </a:p>
        </p:txBody>
      </p:sp>
      <p:sp>
        <p:nvSpPr>
          <p:cNvPr id="26" name="Rectangle 25"/>
          <p:cNvSpPr/>
          <p:nvPr/>
        </p:nvSpPr>
        <p:spPr>
          <a:xfrm>
            <a:off x="777240" y="5786932"/>
            <a:ext cx="10637215" cy="458419"/>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786932"/>
            <a:ext cx="54864" cy="4584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896660"/>
            <a:ext cx="10180015" cy="275539"/>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The cost of a query follows the data it holds, not a thread it owns.</a:t>
            </a:r>
          </a:p>
        </p:txBody>
      </p:sp>
      <p:sp>
        <p:nvSpPr>
          <p:cNvPr id="29" name="TextBox 28"/>
          <p:cNvSpPr txBox="1"/>
          <p:nvPr/>
        </p:nvSpPr>
        <p:spPr>
          <a:xfrm>
            <a:off x="777240" y="2715158"/>
            <a:ext cx="10637215" cy="2907182"/>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Threads follow cores, not queries</a:t>
            </a:r>
          </a:p>
          <a:p>
            <a:pPr lvl="1">
              <a:lnSpc>
                <a:spcPct val="120000"/>
              </a:lnSpc>
              <a:spcBef>
                <a:spcPts val="0"/>
              </a:spcBef>
              <a:spcAft>
                <a:spcPts val="0"/>
              </a:spcAft>
            </a:pPr>
            <a:r>
              <a:rPr sz="1250" b="0">
                <a:solidFill>
                  <a:srgbClr val="4A5058"/>
                </a:solidFill>
                <a:latin typeface="Source Sans 3"/>
              </a:rPr>
              <a:t>A fixed pool of one thread per core drives every lane; watermark and checkpoint clocks are one timer for the process.</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Isolation while it is cheap, sharing once memory binds</a:t>
            </a:r>
          </a:p>
          <a:p>
            <a:pPr lvl="1">
              <a:lnSpc>
                <a:spcPct val="120000"/>
              </a:lnSpc>
              <a:spcBef>
                <a:spcPts val="0"/>
              </a:spcBef>
              <a:spcAft>
                <a:spcPts val="0"/>
              </a:spcAft>
            </a:pPr>
            <a:r>
              <a:rPr sz="1250" b="0">
                <a:solidFill>
                  <a:srgbClr val="4A5058"/>
                </a:solidFill>
                <a:latin typeface="Source Sans 3"/>
              </a:rPr>
              <a:t>WITH (lane = 'dedicated') keeps one query apart; an administrator's rebalance moves shared queries onto their own lanes without losing an answer.</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Each component reports its own bytes</a:t>
            </a:r>
          </a:p>
          <a:p>
            <a:pPr lvl="1">
              <a:lnSpc>
                <a:spcPct val="120000"/>
              </a:lnSpc>
              <a:spcBef>
                <a:spcPts val="0"/>
              </a:spcBef>
              <a:spcAft>
                <a:spcPts val="0"/>
              </a:spcAft>
            </a:pPr>
            <a:r>
              <a:rPr sz="1250" b="0">
                <a:solidFill>
                  <a:srgbClr val="4A5058"/>
                </a:solidFill>
                <a:latin typeface="Source Sans 3"/>
              </a:rPr>
              <a:t>Per-query gauges show state approaching its ceiling before it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Five of the eleven are refused by design: an unbounded query is the failure Pravaha exists to prevent.</a:t>
            </a:r>
          </a:p>
        </p:txBody>
      </p:sp>
      <p:graphicFrame>
        <p:nvGraphicFramePr>
          <p:cNvPr id="13" name="Table 12"/>
          <p:cNvGraphicFramePr>
            <a:graphicFrameLocks noGrp="1"/>
          </p:cNvGraphicFramePr>
          <p:nvPr/>
        </p:nvGraphicFramePr>
        <p:xfrm>
          <a:off x="777240" y="1312773"/>
          <a:ext cx="10637214" cy="3133138"/>
        </p:xfrm>
        <a:graphic>
          <a:graphicData uri="http://schemas.openxmlformats.org/drawingml/2006/table">
            <a:tbl>
              <a:tblPr firstRow="1">
                <a:tableStyleId>{5C22544A-7EE6-4342-B048-85BDC9FD1C3A}</a:tableStyleId>
              </a:tblPr>
              <a:tblGrid>
                <a:gridCol w="2127443"/>
                <a:gridCol w="3600288"/>
                <a:gridCol w="4909483"/>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 on purpose</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 · q11</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 · session windows (PRV-2020)</a:t>
                      </a:r>
                    </a:p>
                  </a:txBody>
                  <a:tcPr marL="82296" marR="64008" marT="32004" marB="32004" anchor="ctr">
                    <a:solidFill>
                      <a:srgbClr val="FFFFFF"/>
                    </a:solidFill>
                  </a:tcPr>
                </a:tc>
              </a:tr>
              <a:tr h="821283">
                <a:tc>
                  <a:txBody>
                    <a:bodyPr wrap="square"/>
                    <a:lstStyle/>
                    <a:p>
                      <a:r>
                        <a:rPr sz="1450" b="1">
                          <a:solidFill>
                            <a:srgbClr val="8A1626"/>
                          </a:solidFill>
                          <a:latin typeface="Source Sans 3"/>
                        </a:rPr>
                        <a:t>Cannot be written here</a:t>
                      </a:r>
                    </a:p>
                  </a:txBody>
                  <a:tcPr marL="82296" marR="64008" marT="32004" marB="32004" anchor="ctr">
                    <a:solidFill>
                      <a:srgbClr val="F7F5F2"/>
                    </a:solidFill>
                  </a:tcPr>
                </a:tc>
                <a:tc>
                  <a:txBody>
                    <a:bodyPr wrap="square"/>
                    <a:lstStyle/>
                    <a:p>
                      <a:r>
                        <a:rPr sz="1450" b="0">
                          <a:solidFill>
                            <a:srgbClr val="1A1A1A"/>
                          </a:solidFill>
                          <a:latin typeface="Source Sans 3"/>
                        </a:rPr>
                        <a:t>q10, q12, q13, q14</a:t>
                      </a:r>
                    </a:p>
                  </a:txBody>
                  <a:tcPr marL="82296" marR="64008" marT="32004" marB="32004" anchor="ctr">
                    <a:solidFill>
                      <a:srgbClr val="F7F5F2"/>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7F5F2"/>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Rectangle 25"/>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A green build of 4,832 tests still held 46 defects — so the round is kept as tests.</a:t>
            </a:r>
          </a:p>
        </p:txBody>
      </p:sp>
      <p:sp>
        <p:nvSpPr>
          <p:cNvPr id="29" name="TextBox 28"/>
          <p:cNvSpPr txBox="1"/>
          <p:nvPr/>
        </p:nvSpPr>
        <p:spPr>
          <a:xfrm>
            <a:off x="777240" y="2682443"/>
            <a:ext cx="10637215" cy="2700934"/>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logged with evidence.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Held, against an independent oracle</a:t>
            </a:r>
          </a:p>
          <a:p>
            <a:pPr lvl="1">
              <a:lnSpc>
                <a:spcPct val="120000"/>
              </a:lnSpc>
              <a:spcBef>
                <a:spcPts val="0"/>
              </a:spcBef>
              <a:spcAft>
                <a:spcPts val="0"/>
              </a:spcAft>
            </a:pPr>
            <a:r>
              <a:rPr sz="1200" b="0">
                <a:solidFill>
                  <a:srgbClr val="4A5058"/>
                </a:solidFill>
                <a:latin typeface="Source Sans 3"/>
              </a:rPr>
              <a:t>420 seeded window runs, 40 seeds × 150 chained operations, 19 SIGKILLs at random points, 9,800 random predicates; masks, filters, tenants and grants held on every read path tried.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Broke, at the edges</a:t>
            </a:r>
          </a:p>
          <a:p>
            <a:pPr lvl="1">
              <a:lnSpc>
                <a:spcPct val="120000"/>
              </a:lnSpc>
              <a:spcBef>
                <a:spcPts val="0"/>
              </a:spcBef>
              <a:spcAft>
                <a:spcPts val="0"/>
              </a:spcAft>
            </a:pPr>
            <a:r>
              <a:rPr sz="1200" b="0">
                <a:solidFill>
                  <a:srgbClr val="4A5058"/>
                </a:solidFill>
                <a:latin typeface="Source Sans 3"/>
              </a:rPr>
              <a:t>Empty groups and narrow integers, recovery bookkeeping, what a stranger could exhaust, and credentials.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Ten severe defects the round found — all ten fixed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graphicFrame>
        <p:nvGraphicFramePr>
          <p:cNvPr id="10" name="Table 9"/>
          <p:cNvGraphicFramePr>
            <a:graphicFrameLocks noGrp="1"/>
          </p:cNvGraphicFramePr>
          <p:nvPr/>
        </p:nvGraphicFramePr>
        <p:xfrm>
          <a:off x="777240" y="1410919"/>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PostgreSQL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before sign-in; capped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PostgreSQL</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Zero open findings out of 582</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582</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Findings carrying a status, from every round and pass since the first</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563</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Fixed — and fixed means the case that found it was re-run</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19</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Closed otherwise: 10 by design, 9 superseded</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0 GA-blocker, 0 GA-required, 0 post-GA</a:t>
            </a:r>
          </a:p>
        </p:txBody>
      </p:sp>
      <p:sp>
        <p:nvSpPr>
          <p:cNvPr id="26" name="Rectangle 25"/>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“None open” describes what has been looked for — which is why the looking never stops.</a:t>
            </a:r>
          </a:p>
        </p:txBody>
      </p:sp>
      <p:sp>
        <p:nvSpPr>
          <p:cNvPr id="29" name="TextBox 28"/>
          <p:cNvSpPr txBox="1"/>
          <p:nvPr/>
        </p:nvSpPr>
        <p:spPr>
          <a:xfrm>
            <a:off x="777240" y="2764231"/>
            <a:ext cx="10637215" cy="2619146"/>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Counted by the build</a:t>
            </a:r>
          </a:p>
          <a:p>
            <a:pPr lvl="1">
              <a:lnSpc>
                <a:spcPct val="120000"/>
              </a:lnSpc>
              <a:spcBef>
                <a:spcPts val="0"/>
              </a:spcBef>
              <a:spcAft>
                <a:spcPts val="0"/>
              </a:spcAft>
            </a:pPr>
            <a:r>
              <a:rPr sz="1200" b="0">
                <a:solidFill>
                  <a:srgbClr val="4A5058"/>
                </a:solidFill>
                <a:latin typeface="Source Sans 3"/>
              </a:rPr>
              <a:t>FindingsRegisterTest counts the register with the pattern the header uses, so the number here and the number the build enforces are one number.</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commonest defect: built, correct, connected to nothing</a:t>
            </a:r>
          </a:p>
          <a:p>
            <a:pPr lvl="1">
              <a:lnSpc>
                <a:spcPct val="120000"/>
              </a:lnSpc>
              <a:spcBef>
                <a:spcPts val="0"/>
              </a:spcBef>
              <a:spcAft>
                <a:spcPts val="0"/>
              </a:spcAft>
            </a:pPr>
            <a:r>
              <a:rPr sz="1200" b="0">
                <a:solidFill>
                  <a:srgbClr val="4A5058"/>
                </a:solidFill>
                <a:latin typeface="Source Sans 3"/>
              </a:rPr>
              <a:t>Fixed seven times under seven identifiers — a value not carried forward, a getter with no caller, a check applied to the wrong noun.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latest pass, against Java 21</a:t>
            </a:r>
          </a:p>
          <a:p>
            <a:pPr lvl="1">
              <a:lnSpc>
                <a:spcPct val="120000"/>
              </a:lnSpc>
              <a:spcBef>
                <a:spcPts val="0"/>
              </a:spcBef>
              <a:spcAft>
                <a:spcPts val="0"/>
              </a:spcAft>
            </a:pPr>
            <a:r>
              <a:rPr sz="1200" b="0">
                <a:solidFill>
                  <a:srgbClr val="4A5058"/>
                </a:solidFill>
                <a:latin typeface="Source Sans 3"/>
              </a:rPr>
              <a:t>ADV-JDK21 found the lock conversion sound; its seven findings were fixed in 2.4.0 and 2.4.1.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COMPATIBILITY · ADR-062</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Java 21 → 25, one build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50</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One jar runs where production runs and where the newest JDK runs — and the build proves it.</a:t>
            </a:r>
          </a:p>
        </p:txBody>
      </p:sp>
      <p:sp>
        <p:nvSpPr>
          <p:cNvPr id="13" name="TextBox 12"/>
          <p:cNvSpPr txBox="1"/>
          <p:nvPr/>
        </p:nvSpPr>
        <p:spPr>
          <a:xfrm>
            <a:off x="777240" y="1410919"/>
            <a:ext cx="10637215" cy="397245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module is Java 21 class files</a:t>
            </a:r>
          </a:p>
          <a:p>
            <a:pPr lvl="1">
              <a:lnSpc>
                <a:spcPct val="120000"/>
              </a:lnSpc>
              <a:spcBef>
                <a:spcPts val="0"/>
              </a:spcBef>
              <a:spcAft>
                <a:spcPts val="0"/>
              </a:spcAft>
            </a:pPr>
            <a:r>
              <a:rPr sz="1350" b="0">
                <a:solidFill>
                  <a:srgbClr val="4A5058"/>
                </a:solidFill>
                <a:latin typeface="Source Sans 3"/>
              </a:rPr>
              <a:t>The API and the Java SDKs included; any JDK from 21 builds and runs Pravaha, and CI runs the whole reactor on 21 and on 25.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dependency built for a newer Java fails the build</a:t>
            </a:r>
          </a:p>
          <a:p>
            <a:pPr lvl="1">
              <a:lnSpc>
                <a:spcPct val="120000"/>
              </a:lnSpc>
              <a:spcBef>
                <a:spcPts val="0"/>
              </a:spcBef>
              <a:spcAft>
                <a:spcPts val="0"/>
              </a:spcAft>
            </a:pPr>
            <a:r>
              <a:rPr sz="1350" b="0">
                <a:solidFill>
                  <a:srgbClr val="4A5058"/>
                </a:solidFill>
                <a:latin typeface="Source Sans 3"/>
              </a:rPr>
              <a:t>An enforcer rule holds every dependency to Java 21 bytecode; a package on JDK 25 was checked: 42 jars, about 128,600 classes, all Java 21.</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 carrier pinned on 21</a:t>
            </a:r>
          </a:p>
          <a:p>
            <a:pPr lvl="1">
              <a:lnSpc>
                <a:spcPct val="120000"/>
              </a:lnSpc>
              <a:spcBef>
                <a:spcPts val="0"/>
              </a:spcBef>
              <a:spcAft>
                <a:spcPts val="0"/>
              </a:spcAft>
            </a:pPr>
            <a:r>
              <a:rPr sz="1350" b="0">
                <a:solidFill>
                  <a:srgbClr val="4A5058"/>
                </a:solidFill>
                <a:latin typeface="Source Sans 3"/>
              </a:rPr>
              <a:t>The locks virtual threads can block inside are ReentrantLocks; -Djdk.tracePinnedThreads=full reports no pinned park across the suites.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One image</a:t>
            </a:r>
          </a:p>
          <a:p>
            <a:pPr lvl="1">
              <a:lnSpc>
                <a:spcPct val="120000"/>
              </a:lnSpc>
              <a:spcBef>
                <a:spcPts val="0"/>
              </a:spcBef>
              <a:spcAft>
                <a:spcPts val="0"/>
              </a:spcAft>
            </a:pPr>
            <a:r>
              <a:rPr sz="1350" b="0">
                <a:solidFill>
                  <a:srgbClr val="4A5058"/>
                </a:solidFill>
                <a:latin typeface="Source Sans 3"/>
              </a:rPr>
              <a:t>eclipse-temurin:21-jre, no per-Java tag; launchers refuse a JVM older than 21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One caveat, stated</a:t>
            </a:r>
          </a:p>
          <a:p>
            <a:pPr lvl="1">
              <a:lnSpc>
                <a:spcPct val="120000"/>
              </a:lnSpc>
              <a:spcBef>
                <a:spcPts val="0"/>
              </a:spcBef>
              <a:spcAft>
                <a:spcPts val="0"/>
              </a:spcAft>
            </a:pPr>
            <a:r>
              <a:rPr sz="1350" b="0">
                <a:solidFill>
                  <a:srgbClr val="4A5058"/>
                </a:solidFill>
                <a:latin typeface="Source Sans 3"/>
              </a:rPr>
              <a:t>JDK 21's ZGC is not generational: a heap-heavy deployment on ZGC may prefer 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5,112 tests in the full build, and the tiers around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Performance gates refuse to report under a coverage agent. A green build without Docker has not tested any connector against its store.</a:t>
            </a:r>
          </a:p>
        </p:txBody>
      </p:sp>
      <p:graphicFrame>
        <p:nvGraphicFramePr>
          <p:cNvPr id="12" name="Table 11"/>
          <p:cNvGraphicFramePr>
            <a:graphicFrameLocks noGrp="1"/>
          </p:cNvGraphicFramePr>
          <p:nvPr/>
        </p:nvGraphicFramePr>
        <p:xfrm>
          <a:off x="777240" y="1378204"/>
          <a:ext cx="10637214" cy="3189018"/>
        </p:xfrm>
        <a:graphic>
          <a:graphicData uri="http://schemas.openxmlformats.org/drawingml/2006/table">
            <a:tbl>
              <a:tblPr firstRow="1">
                <a:tableStyleId>{5C22544A-7EE6-4342-B048-85BDC9FD1C3A}</a:tableStyleId>
              </a:tblPr>
              <a:tblGrid>
                <a:gridCol w="3545738"/>
                <a:gridCol w="1934039"/>
                <a:gridCol w="5157437"/>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full build, after the QA's fix waves</a:t>
                      </a:r>
                    </a:p>
                  </a:txBody>
                  <a:tcPr marL="82296" marR="64008" marT="32004" marB="32004" anchor="ctr">
                    <a:solidFill>
                      <a:srgbClr val="FFFFFF"/>
                    </a:solidFill>
                  </a:tcPr>
                </a:tc>
                <a:tc>
                  <a:txBody>
                    <a:bodyPr wrap="square"/>
                    <a:lstStyle/>
                    <a:p>
                      <a:r>
                        <a:rPr sz="1350" b="0">
                          <a:solidFill>
                            <a:srgbClr val="1A1A1A"/>
                          </a:solidFill>
                          <a:latin typeface="Source Sans 3"/>
                        </a:rPr>
                        <a:t>JDK 21 or later</a:t>
                      </a:r>
                    </a:p>
                  </a:txBody>
                  <a:tcPr marL="82296" marR="64008" marT="32004" marB="32004" anchor="ctr">
                    <a:solidFill>
                      <a:srgbClr val="FFFFFF"/>
                    </a:solidFill>
                  </a:tcPr>
                </a:tc>
                <a:tc>
                  <a:txBody>
                    <a:bodyPr wrap="square"/>
                    <a:lstStyle/>
                    <a:p>
                      <a:r>
                        <a:rPr sz="1350" b="0">
                          <a:solidFill>
                            <a:srgbClr val="1A1A1A"/>
                          </a:solidFill>
                          <a:latin typeface="Source Sans 3"/>
                        </a:rPr>
                        <a:t>5,112 tests, 0 failures, 0 errors, 122 skipped (2026-10-02)</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21 or later</a:t>
                      </a:r>
                    </a:p>
                  </a:txBody>
                  <a:tcPr marL="82296" marR="64008" marT="32004" marB="32004" anchor="ctr">
                    <a:solidFill>
                      <a:srgbClr val="F7F5F2"/>
                    </a:solidFill>
                  </a:tcPr>
                </a:tc>
                <a:tc>
                  <a:txBody>
                    <a:bodyPr wrap="square"/>
                    <a:lstStyle/>
                    <a:p>
                      <a:r>
                        <a:rPr sz="1350" b="0">
                          <a:solidFill>
                            <a:srgbClr val="1A1A1A"/>
                          </a:solidFill>
                          <a:latin typeface="Source Sans 3"/>
                        </a:rPr>
                        <a:t>960 tests: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211 container tests across 6 plugins and 3 in pravaha-it,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Adversarial suites</a:t>
                      </a:r>
                    </a:p>
                  </a:txBody>
                  <a:tcPr marL="82296" marR="64008" marT="32004" marB="32004" anchor="ctr">
                    <a:solidFill>
                      <a:srgbClr val="F7F5F2"/>
                    </a:solidFill>
                  </a:tcPr>
                </a:tc>
                <a:tc>
                  <a:txBody>
                    <a:bodyPr wrap="square"/>
                    <a:lstStyle/>
                    <a:p>
                      <a:r>
                        <a:rPr sz="1350" b="0">
                          <a:solidFill>
                            <a:srgbClr val="1A1A1A"/>
                          </a:solidFill>
                          <a:latin typeface="Source Sans 3"/>
                        </a:rPr>
                        <a:t>Opt-in; a node</a:t>
                      </a:r>
                    </a:p>
                  </a:txBody>
                  <a:tcPr marL="82296" marR="64008" marT="32004" marB="32004" anchor="ctr">
                    <a:solidFill>
                      <a:srgbClr val="F7F5F2"/>
                    </a:solidFill>
                  </a:tcPr>
                </a:tc>
                <a:tc>
                  <a:txBody>
                    <a:bodyPr wrap="square"/>
                    <a:lstStyle/>
                    <a:p>
                      <a:r>
                        <a:rPr sz="1350" b="0">
                          <a:solidFill>
                            <a:srgbClr val="1A1A1A"/>
                          </a:solidFill>
                          <a:latin typeface="Source Sans 3"/>
                        </a:rPr>
                        <a:t>110 engine tests and 21 against a running node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FFFFF"/>
                    </a:solidFill>
                  </a:tcPr>
                </a:tc>
                <a:tc>
                  <a:txBody>
                    <a:bodyPr wrap="square"/>
                    <a:lstStyle/>
                    <a:p>
                      <a:r>
                        <a:rPr sz="1350" b="0">
                          <a:solidFill>
                            <a:srgbClr val="1A1A1A"/>
                          </a:solidFill>
                          <a:latin typeface="Source Sans 3"/>
                        </a:rPr>
                        <a:t>Python · Chrome</a:t>
                      </a:r>
                    </a:p>
                  </a:txBody>
                  <a:tcPr marL="82296" marR="64008" marT="32004" marB="32004" anchor="ctr">
                    <a:solidFill>
                      <a:srgbClr val="FFFFFF"/>
                    </a:solidFill>
                  </a:tcPr>
                </a:tc>
                <a:tc>
                  <a:txBody>
                    <a:bodyPr wrap="square"/>
                    <a:lstStyle/>
                    <a:p>
                      <a:r>
                        <a:rPr sz="1350" b="0">
                          <a:solidFill>
                            <a:srgbClr val="1A1A1A"/>
                          </a:solidFill>
                          <a:latin typeface="Source Sans 3"/>
                        </a:rPr>
                        <a:t>432 · 1,957 collected; the console's pass with zero axe violations in every theme</a:t>
                      </a:r>
                    </a:p>
                  </a:txBody>
                  <a:tcPr marL="82296" marR="64008" marT="32004" marB="32004" anchor="ctr">
                    <a:solidFill>
                      <a:srgbClr val="FFFFFF"/>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7F5F2"/>
                    </a:solidFill>
                  </a:tcPr>
                </a:tc>
                <a:tc>
                  <a:txBody>
                    <a:bodyPr wrap="square"/>
                    <a:lstStyle/>
                    <a:p>
                      <a:r>
                        <a:rPr sz="1350" b="0">
                          <a:solidFill>
                            <a:srgbClr val="1A1A1A"/>
                          </a:solidFill>
                          <a:latin typeface="Source Sans 3"/>
                        </a:rPr>
                        <a:t>Docker, Maven</a:t>
                      </a:r>
                    </a:p>
                  </a:txBody>
                  <a:tcPr marL="82296" marR="64008" marT="32004" marB="32004" anchor="ctr">
                    <a:solidFill>
                      <a:srgbClr val="F7F5F2"/>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COMPATIBILITY PROMISE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Java 21 or later, and the APIs</a:t>
            </a:r>
          </a:p>
          <a:p>
            <a:pPr lvl="1">
              <a:lnSpc>
                <a:spcPct val="120000"/>
              </a:lnSpc>
              <a:spcBef>
                <a:spcPts val="0"/>
              </a:spcBef>
              <a:spcAft>
                <a:spcPts val="0"/>
              </a:spcAft>
            </a:pPr>
            <a:r>
              <a:rPr sz="1250" b="0">
                <a:solidFill>
                  <a:srgbClr val="4A5058"/>
                </a:solidFill>
                <a:latin typeface="Source Sans 3"/>
              </a:rPr>
              <a:t>The SQL dialect; the SDKs; every /api/v1 path and field (an OpenAPI lock checks it); Flight verbs; what PostgreSQL clients send.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Operations</a:t>
            </a:r>
          </a:p>
          <a:p>
            <a:pPr lvl="1">
              <a:lnSpc>
                <a:spcPct val="120000"/>
              </a:lnSpc>
              <a:spcBef>
                <a:spcPts val="0"/>
              </a:spcBef>
              <a:spcAft>
                <a:spcPts val="0"/>
              </a:spcAft>
            </a:pPr>
            <a:r>
              <a:rPr sz="1250" b="0">
                <a:solidFill>
                  <a:srgbClr val="4A5058"/>
                </a:solidFill>
                <a:latin typeface="Source Sans 3"/>
              </a:rPr>
              <a:t>PRV codes, never reused; CLI commands and exit codes; pravaha.* keys; metric names; the /opt/pravaha layout.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State on disk</a:t>
            </a:r>
          </a:p>
          <a:p>
            <a:pPr lvl="1">
              <a:lnSpc>
                <a:spcPct val="120000"/>
              </a:lnSpc>
              <a:spcBef>
                <a:spcPts val="0"/>
              </a:spcBef>
              <a:spcAft>
                <a:spcPts val="0"/>
              </a:spcAft>
            </a:pPr>
            <a:r>
              <a:rPr sz="1250" b="0">
                <a:solidFill>
                  <a:srgbClr val="4A5058"/>
                </a:solidFill>
                <a:latin typeface="Source Sans 3"/>
              </a:rPr>
              <a:t>A 2.x node reads what any 1.x or 2.x wrote.</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yet</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The assistant</a:t>
            </a:r>
          </a:p>
          <a:p>
            <a:pPr lvl="1">
              <a:lnSpc>
                <a:spcPct val="120000"/>
              </a:lnSpc>
              <a:spcBef>
                <a:spcPts val="0"/>
              </a:spcBef>
              <a:spcAft>
                <a:spcPts val="0"/>
              </a:spcAft>
            </a:pPr>
            <a:r>
              <a:rPr sz="1250" b="0">
                <a:solidFill>
                  <a:srgbClr val="4A5058"/>
                </a:solidFill>
                <a:latin typeface="Source Sans 3"/>
              </a:rPr>
              <a:t>Works and is tested; may change in a minor release.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The catalogue beyond phases 1–2</a:t>
            </a:r>
          </a:p>
          <a:p>
            <a:pPr lvl="1">
              <a:lnSpc>
                <a:spcPct val="120000"/>
              </a:lnSpc>
              <a:spcBef>
                <a:spcPts val="0"/>
              </a:spcBef>
              <a:spcAft>
                <a:spcPts val="0"/>
              </a:spcAft>
            </a:pPr>
            <a:r>
              <a:rPr sz="1250" b="0">
                <a:solidFill>
                  <a:srgbClr val="4A5058"/>
                </a:solidFill>
                <a:latin typeface="Source Sans 3"/>
              </a:rPr>
              <a:t>Grants, filters and masks are stable; lineage and contracts are not built.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Cluster mode</a:t>
            </a:r>
          </a:p>
          <a:p>
            <a:pPr lvl="1">
              <a:lnSpc>
                <a:spcPct val="120000"/>
              </a:lnSpc>
              <a:spcBef>
                <a:spcPts val="0"/>
              </a:spcBef>
              <a:spcAft>
                <a:spcPts val="0"/>
              </a:spcAft>
            </a:pPr>
            <a:r>
              <a:rPr sz="1250" b="0">
                <a:solidFill>
                  <a:srgbClr val="4A5058"/>
                </a:solidFill>
                <a:latin typeface="Source Sans 3"/>
              </a:rPr>
              <a:t>On hold; when it comes, an addition a single node need not adopt.</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 patch may change an answer</a:t>
            </a:r>
          </a:p>
          <a:p>
            <a:pPr lvl="1">
              <a:lnSpc>
                <a:spcPct val="120000"/>
              </a:lnSpc>
              <a:spcBef>
                <a:spcPts val="0"/>
              </a:spcBef>
              <a:spcAft>
                <a:spcPts val="0"/>
              </a:spcAft>
            </a:pPr>
            <a:r>
              <a:rPr sz="1250" b="0">
                <a:solidFill>
                  <a:srgbClr val="4A5058"/>
                </a:solidFill>
                <a:latin typeface="Source Sans 3"/>
              </a:rPr>
              <a:t>Only where the old one was the defect, and the release notes say so.</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820102" y="768667"/>
            <a:ext cx="514350" cy="128588"/>
          </a:xfrm>
          <a:custGeom>
            <a:avLst/>
            <a:gdLst/>
            <a:ahLst/>
            <a:cxnLst/>
            <a:rect l="l" t="t" r="r" b="b"/>
            <a:pathLst>
              <a:path w="514350" h="128588">
                <a:moveTo>
                  <a:pt x="0" y="64294"/>
                </a:moveTo>
                <a:lnTo>
                  <a:pt x="16073" y="49225"/>
                </a:lnTo>
                <a:lnTo>
                  <a:pt x="32147" y="36165"/>
                </a:lnTo>
                <a:lnTo>
                  <a:pt x="48220" y="25115"/>
                </a:lnTo>
                <a:lnTo>
                  <a:pt x="64294" y="16073"/>
                </a:lnTo>
                <a:lnTo>
                  <a:pt x="80367" y="9041"/>
                </a:lnTo>
                <a:lnTo>
                  <a:pt x="96441" y="4018"/>
                </a:lnTo>
                <a:lnTo>
                  <a:pt x="112514" y="1005"/>
                </a:lnTo>
                <a:lnTo>
                  <a:pt x="128588" y="0"/>
                </a:lnTo>
                <a:lnTo>
                  <a:pt x="144661" y="1005"/>
                </a:lnTo>
                <a:lnTo>
                  <a:pt x="160734" y="4018"/>
                </a:lnTo>
                <a:lnTo>
                  <a:pt x="176808" y="9041"/>
                </a:lnTo>
                <a:lnTo>
                  <a:pt x="192881" y="16073"/>
                </a:lnTo>
                <a:lnTo>
                  <a:pt x="208955" y="25115"/>
                </a:lnTo>
                <a:lnTo>
                  <a:pt x="225028" y="36165"/>
                </a:lnTo>
                <a:lnTo>
                  <a:pt x="241102" y="49225"/>
                </a:lnTo>
                <a:lnTo>
                  <a:pt x="257175" y="64294"/>
                </a:lnTo>
                <a:lnTo>
                  <a:pt x="273248" y="79363"/>
                </a:lnTo>
                <a:lnTo>
                  <a:pt x="289322" y="92422"/>
                </a:lnTo>
                <a:lnTo>
                  <a:pt x="305395" y="103473"/>
                </a:lnTo>
                <a:lnTo>
                  <a:pt x="321469" y="112514"/>
                </a:lnTo>
                <a:lnTo>
                  <a:pt x="337542" y="119546"/>
                </a:lnTo>
                <a:lnTo>
                  <a:pt x="353616" y="124569"/>
                </a:lnTo>
                <a:lnTo>
                  <a:pt x="369689" y="127583"/>
                </a:lnTo>
                <a:lnTo>
                  <a:pt x="385763" y="128588"/>
                </a:lnTo>
                <a:lnTo>
                  <a:pt x="401836" y="127583"/>
                </a:lnTo>
                <a:lnTo>
                  <a:pt x="417909" y="124569"/>
                </a:lnTo>
                <a:lnTo>
                  <a:pt x="433983" y="119546"/>
                </a:lnTo>
                <a:lnTo>
                  <a:pt x="450056" y="112514"/>
                </a:lnTo>
                <a:lnTo>
                  <a:pt x="466130" y="103473"/>
                </a:lnTo>
                <a:lnTo>
                  <a:pt x="482203" y="92422"/>
                </a:lnTo>
                <a:lnTo>
                  <a:pt x="498277" y="79363"/>
                </a:lnTo>
                <a:lnTo>
                  <a:pt x="514350" y="64294"/>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820102" y="918686"/>
            <a:ext cx="514350" cy="128587"/>
          </a:xfrm>
          <a:custGeom>
            <a:avLst/>
            <a:gdLst/>
            <a:ahLst/>
            <a:cxnLst/>
            <a:rect l="l" t="t" r="r" b="b"/>
            <a:pathLst>
              <a:path w="514350" h="128587">
                <a:moveTo>
                  <a:pt x="0" y="64294"/>
                </a:moveTo>
                <a:lnTo>
                  <a:pt x="16073" y="49225"/>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5"/>
                </a:lnTo>
                <a:lnTo>
                  <a:pt x="257175" y="64294"/>
                </a:lnTo>
                <a:lnTo>
                  <a:pt x="273248" y="79362"/>
                </a:lnTo>
                <a:lnTo>
                  <a:pt x="289322" y="92422"/>
                </a:lnTo>
                <a:lnTo>
                  <a:pt x="305395" y="103473"/>
                </a:lnTo>
                <a:lnTo>
                  <a:pt x="321469" y="112514"/>
                </a:lnTo>
                <a:lnTo>
                  <a:pt x="337542" y="119546"/>
                </a:lnTo>
                <a:lnTo>
                  <a:pt x="353616" y="124569"/>
                </a:lnTo>
                <a:lnTo>
                  <a:pt x="369689" y="127583"/>
                </a:lnTo>
                <a:lnTo>
                  <a:pt x="385763" y="128587"/>
                </a:lnTo>
                <a:lnTo>
                  <a:pt x="401836" y="127583"/>
                </a:lnTo>
                <a:lnTo>
                  <a:pt x="417909" y="124569"/>
                </a:lnTo>
                <a:lnTo>
                  <a:pt x="433983" y="119546"/>
                </a:lnTo>
                <a:lnTo>
                  <a:pt x="450056" y="112514"/>
                </a:lnTo>
                <a:lnTo>
                  <a:pt x="466130" y="103473"/>
                </a:lnTo>
                <a:lnTo>
                  <a:pt x="482203" y="92422"/>
                </a:lnTo>
                <a:lnTo>
                  <a:pt x="498277" y="79362"/>
                </a:lnTo>
                <a:lnTo>
                  <a:pt x="514350" y="64294"/>
                </a:lnTo>
              </a:path>
            </a:pathLst>
          </a:custGeom>
          <a:noFill/>
          <a:ln w="75009"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820102" y="1068705"/>
            <a:ext cx="514350" cy="128587"/>
          </a:xfrm>
          <a:custGeom>
            <a:avLst/>
            <a:gdLst/>
            <a:ahLst/>
            <a:cxnLst/>
            <a:rect l="l" t="t" r="r" b="b"/>
            <a:pathLst>
              <a:path w="514350" h="128587">
                <a:moveTo>
                  <a:pt x="0" y="64293"/>
                </a:moveTo>
                <a:lnTo>
                  <a:pt x="16073" y="49224"/>
                </a:lnTo>
                <a:lnTo>
                  <a:pt x="32147" y="36165"/>
                </a:lnTo>
                <a:lnTo>
                  <a:pt x="48220" y="25114"/>
                </a:lnTo>
                <a:lnTo>
                  <a:pt x="64294" y="16073"/>
                </a:lnTo>
                <a:lnTo>
                  <a:pt x="80367" y="9041"/>
                </a:lnTo>
                <a:lnTo>
                  <a:pt x="96441" y="4018"/>
                </a:lnTo>
                <a:lnTo>
                  <a:pt x="112514" y="1004"/>
                </a:lnTo>
                <a:lnTo>
                  <a:pt x="128588" y="0"/>
                </a:lnTo>
                <a:lnTo>
                  <a:pt x="144661" y="1004"/>
                </a:lnTo>
                <a:lnTo>
                  <a:pt x="160734" y="4018"/>
                </a:lnTo>
                <a:lnTo>
                  <a:pt x="176808" y="9041"/>
                </a:lnTo>
                <a:lnTo>
                  <a:pt x="192881" y="16073"/>
                </a:lnTo>
                <a:lnTo>
                  <a:pt x="208955" y="25114"/>
                </a:lnTo>
                <a:lnTo>
                  <a:pt x="225028" y="36165"/>
                </a:lnTo>
                <a:lnTo>
                  <a:pt x="241102" y="49224"/>
                </a:lnTo>
                <a:lnTo>
                  <a:pt x="257175" y="64293"/>
                </a:lnTo>
                <a:lnTo>
                  <a:pt x="273248" y="79362"/>
                </a:lnTo>
                <a:lnTo>
                  <a:pt x="289322" y="92422"/>
                </a:lnTo>
                <a:lnTo>
                  <a:pt x="305395" y="103472"/>
                </a:lnTo>
                <a:lnTo>
                  <a:pt x="321469" y="112514"/>
                </a:lnTo>
                <a:lnTo>
                  <a:pt x="337542" y="119546"/>
                </a:lnTo>
                <a:lnTo>
                  <a:pt x="353616" y="124569"/>
                </a:lnTo>
                <a:lnTo>
                  <a:pt x="369689" y="127582"/>
                </a:lnTo>
                <a:lnTo>
                  <a:pt x="385763" y="128587"/>
                </a:lnTo>
                <a:lnTo>
                  <a:pt x="401836" y="127582"/>
                </a:lnTo>
                <a:lnTo>
                  <a:pt x="417909" y="124569"/>
                </a:lnTo>
                <a:lnTo>
                  <a:pt x="433983" y="119546"/>
                </a:lnTo>
                <a:lnTo>
                  <a:pt x="450056" y="112514"/>
                </a:lnTo>
                <a:lnTo>
                  <a:pt x="466130" y="103472"/>
                </a:lnTo>
                <a:lnTo>
                  <a:pt x="482203" y="92422"/>
                </a:lnTo>
                <a:lnTo>
                  <a:pt x="498277" y="79362"/>
                </a:lnTo>
                <a:lnTo>
                  <a:pt x="514350" y="64293"/>
                </a:lnTo>
              </a:path>
            </a:pathLst>
          </a:custGeom>
          <a:noFill/>
          <a:ln w="75009"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215" y="502920"/>
            <a:ext cx="4206240" cy="2834640"/>
          </a:xfrm>
          <a:prstGeom prst="rect">
            <a:avLst/>
          </a:prstGeom>
          <a:noFill/>
        </p:spPr>
        <p:txBody>
          <a:bodyPr wrap="square" lIns="0" rIns="0" tIns="0" bIns="0" anchor="t">
            <a:spAutoFit/>
          </a:bodyPr>
          <a:lstStyle/>
          <a:p>
            <a:pPr algn="r">
              <a:lnSpc>
                <a:spcPct val="90000"/>
              </a:lnSpc>
              <a:spcBef>
                <a:spcPts val="0"/>
              </a:spcBef>
              <a:spcAft>
                <a:spcPts val="0"/>
              </a:spcAft>
            </a:pPr>
            <a:r>
              <a:rPr sz="17000" b="1" i="0">
                <a:solidFill>
                  <a:srgbClr val="8A1626"/>
                </a:solidFill>
                <a:latin typeface="Source Sans 3"/>
              </a:rPr>
              <a:t>05</a:t>
            </a:r>
          </a:p>
        </p:txBody>
      </p:sp>
      <p:sp>
        <p:nvSpPr>
          <p:cNvPr id="8" name="Rectangle 7"/>
          <p:cNvSpPr/>
          <p:nvPr/>
        </p:nvSpPr>
        <p:spPr>
          <a:xfrm>
            <a:off x="777240" y="2697480"/>
            <a:ext cx="1463040" cy="45720"/>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80360"/>
            <a:ext cx="9722815"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Where it is going</a:t>
            </a:r>
          </a:p>
        </p:txBody>
      </p:sp>
      <p:sp>
        <p:nvSpPr>
          <p:cNvPr id="10" name="TextBox 9"/>
          <p:cNvSpPr txBox="1"/>
          <p:nvPr/>
        </p:nvSpPr>
        <p:spPr>
          <a:xfrm>
            <a:off x="777240" y="3808984"/>
            <a:ext cx="8808415" cy="1280160"/>
          </a:xfrm>
          <a:prstGeom prst="rect">
            <a:avLst/>
          </a:prstGeom>
          <a:noFill/>
        </p:spPr>
        <p:txBody>
          <a:bodyPr wrap="square" lIns="0" rIns="0" tIns="0" bIns="0" anchor="t">
            <a:spAutoFit/>
          </a:bodyPr>
          <a:lstStyle/>
          <a:p>
            <a:pPr algn="l">
              <a:lnSpc>
                <a:spcPct val="130000"/>
              </a:lnSpc>
              <a:spcBef>
                <a:spcPts val="0"/>
              </a:spcBef>
              <a:spcAft>
                <a:spcPts val="0"/>
              </a:spcAft>
            </a:pPr>
            <a:r>
              <a:rPr sz="1900" b="0" i="1">
                <a:solidFill>
                  <a:srgbClr val="F6E6E9"/>
                </a:solidFill>
                <a:latin typeface="Source Sans 3"/>
              </a:rPr>
              <a:t>Feature-complete for one node; what is left, in the order it matters.</a:t>
            </a:r>
          </a:p>
        </p:txBody>
      </p:sp>
      <p:sp>
        <p:nvSpPr>
          <p:cNvPr id="11" name="TextBox 10"/>
          <p:cNvSpPr txBox="1"/>
          <p:nvPr/>
        </p:nvSpPr>
        <p:spPr>
          <a:xfrm>
            <a:off x="777240" y="6437376"/>
            <a:ext cx="10637215"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6E6E9"/>
                </a:solidFill>
                <a:latin typeface="Source Sans 3"/>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ROADMAP · DOCS/DEVELOPMENT/REMAINING.MD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is left — and what each item is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Rectangle 9"/>
          <p:cNvSpPr/>
          <p:nvPr/>
        </p:nvSpPr>
        <p:spPr>
          <a:xfrm>
            <a:off x="777240" y="5547969"/>
            <a:ext cx="10637215" cy="69738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5547969"/>
            <a:ext cx="54864" cy="69738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5657697"/>
            <a:ext cx="10180015" cy="514502"/>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Source Sans 3"/>
              </a:rPr>
              <a:t>Key insight  </a:t>
            </a:r>
            <a:r>
              <a:rPr sz="1400" b="1">
                <a:solidFill>
                  <a:srgbClr val="6E1120"/>
                </a:solidFill>
                <a:latin typeface="Source Sans 3"/>
              </a:rPr>
              <a:t>Every gap the plan listed for one node is built or decided; the next step up is more than one node.</a:t>
            </a:r>
          </a:p>
        </p:txBody>
      </p:sp>
      <p:graphicFrame>
        <p:nvGraphicFramePr>
          <p:cNvPr id="13" name="Table 12"/>
          <p:cNvGraphicFramePr>
            <a:graphicFrameLocks noGrp="1"/>
          </p:cNvGraphicFramePr>
          <p:nvPr/>
        </p:nvGraphicFramePr>
        <p:xfrm>
          <a:off x="777240" y="1410919"/>
          <a:ext cx="10637215" cy="3961228"/>
        </p:xfrm>
        <a:graphic>
          <a:graphicData uri="http://schemas.openxmlformats.org/drawingml/2006/table">
            <a:tbl>
              <a:tblPr firstRow="1">
                <a:tableStyleId>{5C22544A-7EE6-4342-B048-85BDC9FD1C3A}</a:tableStyleId>
              </a:tblPr>
              <a:tblGrid>
                <a:gridCol w="5152401"/>
                <a:gridCol w="5484814"/>
              </a:tblGrid>
              <a:tr h="322376">
                <a:tc>
                  <a:txBody>
                    <a:bodyPr wrap="square"/>
                    <a:lstStyle/>
                    <a:p>
                      <a:r>
                        <a:rPr sz="1300" b="1">
                          <a:solidFill>
                            <a:srgbClr val="FFFFFF"/>
                          </a:solidFill>
                          <a:latin typeface="Source Sans 3"/>
                        </a:rPr>
                        <a:t>Item</a:t>
                      </a:r>
                    </a:p>
                  </a:txBody>
                  <a:tcPr marL="82296" marR="64008" marT="32004" marB="32004" anchor="ctr">
                    <a:solidFill>
                      <a:srgbClr val="8A1626"/>
                    </a:solidFill>
                  </a:tcPr>
                </a:tc>
                <a:tc>
                  <a:txBody>
                    <a:bodyPr wrap="square"/>
                    <a:lstStyle/>
                    <a:p>
                      <a:r>
                        <a:rPr sz="1300" b="1">
                          <a:solidFill>
                            <a:srgbClr val="FFFFFF"/>
                          </a:solidFill>
                          <a:latin typeface="Source Sans 3"/>
                        </a:rPr>
                        <a:t>Kind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Cluster mode (wave 11): multi-node execution</a:t>
                      </a:r>
                    </a:p>
                  </a:txBody>
                  <a:tcPr marL="82296" marR="64008" marT="32004" marB="32004" anchor="ctr">
                    <a:solidFill>
                      <a:srgbClr val="FFFFFF"/>
                    </a:solidFill>
                  </a:tcPr>
                </a:tc>
                <a:tc>
                  <a:txBody>
                    <a:bodyPr wrap="square"/>
                    <a:lstStyle/>
                    <a:p>
                      <a:r>
                        <a:rPr sz="1350" b="0">
                          <a:solidFill>
                            <a:srgbClr val="1A1A1A"/>
                          </a:solidFill>
                          <a:latin typeface="Source Sans 3"/>
                        </a:rPr>
                        <a:t>Deferred; membership, fenced leases and rebalance are built as libraries no node consumes yet (PRV-9002)</a:t>
                      </a:r>
                    </a:p>
                  </a:txBody>
                  <a:tcPr marL="82296" marR="64008" marT="32004" marB="32004" anchor="ctr">
                    <a:solidFill>
                      <a:srgbClr val="FFFFFF"/>
                    </a:solidFill>
                  </a:tcPr>
                </a:tc>
              </a:tr>
              <a:tr h="330555">
                <a:tc>
                  <a:txBody>
                    <a:bodyPr wrap="square"/>
                    <a:lstStyle/>
                    <a:p>
                      <a:r>
                        <a:rPr sz="1350" b="1">
                          <a:solidFill>
                            <a:srgbClr val="8A1626"/>
                          </a:solidFill>
                          <a:latin typeface="Source Sans 3"/>
                        </a:rPr>
                        <a:t>The eight-lane scaling criterion</a:t>
                      </a:r>
                    </a:p>
                  </a:txBody>
                  <a:tcPr marL="82296" marR="64008" marT="32004" marB="32004" anchor="ctr">
                    <a:solidFill>
                      <a:srgbClr val="F7F5F2"/>
                    </a:solidFill>
                  </a:tcPr>
                </a:tc>
                <a:tc>
                  <a:txBody>
                    <a:bodyPr wrap="square"/>
                    <a:lstStyle/>
                    <a:p>
                      <a:r>
                        <a:rPr sz="1350" b="0">
                          <a:solidFill>
                            <a:srgbClr val="1A1A1A"/>
                          </a:solidFill>
                          <a:latin typeface="Source Sans 3"/>
                        </a:rPr>
                        <a:t>Not reached on a laptop; needs reference hardware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Nexmark: 11 of 23 queries; the head-to-head against Flink</a:t>
                      </a:r>
                    </a:p>
                  </a:txBody>
                  <a:tcPr marL="82296" marR="64008" marT="32004" marB="32004" anchor="ctr">
                    <a:solidFill>
                      <a:srgbClr val="FFFFFF"/>
                    </a:solidFill>
                  </a:tcPr>
                </a:tc>
                <a:tc>
                  <a:txBody>
                    <a:bodyPr wrap="square"/>
                    <a:lstStyle/>
                    <a:p>
                      <a:r>
                        <a:rPr sz="1350" b="0">
                          <a:solidFill>
                            <a:srgbClr val="1A1A1A"/>
                          </a:solidFill>
                          <a:latin typeface="Source Sans 3"/>
                        </a:rPr>
                        <a:t>Missing SQL, not speed</a:t>
                      </a:r>
                    </a:p>
                  </a:txBody>
                  <a:tcPr marL="82296" marR="64008" marT="32004" marB="32004" anchor="ctr">
                    <a:solidFill>
                      <a:srgbClr val="FFFFFF"/>
                    </a:solidFill>
                  </a:tcPr>
                </a:tc>
              </a:tr>
              <a:tr h="772210">
                <a:tc>
                  <a:txBody>
                    <a:bodyPr wrap="square"/>
                    <a:lstStyle/>
                    <a:p>
                      <a:r>
                        <a:rPr sz="1350" b="1">
                          <a:solidFill>
                            <a:srgbClr val="8A1626"/>
                          </a:solidFill>
                          <a:latin typeface="Source Sans 3"/>
                        </a:rPr>
                        <a:t>mysql-cdc initial snapshot and TLS; iceberg-sink object stores, catalogs, partitioning</a:t>
                      </a:r>
                    </a:p>
                  </a:txBody>
                  <a:tcPr marL="82296" marR="64008" marT="32004" marB="32004" anchor="ctr">
                    <a:solidFill>
                      <a:srgbClr val="F7F5F2"/>
                    </a:solidFill>
                  </a:tcPr>
                </a:tc>
                <a:tc>
                  <a:txBody>
                    <a:bodyPr wrap="square"/>
                    <a:lstStyle/>
                    <a:p>
                      <a:r>
                        <a:rPr sz="1350" b="0">
                          <a:solidFill>
                            <a:srgbClr val="1A1A1A"/>
                          </a:solidFill>
                          <a:latin typeface="Source Sans 3"/>
                        </a:rPr>
                        <a:t>Buildable: first versions' follow-ups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Delta or JDBC source; showing which access path a read took</a:t>
                      </a:r>
                    </a:p>
                  </a:txBody>
                  <a:tcPr marL="82296" marR="64008" marT="32004" marB="32004" anchor="ctr">
                    <a:solidFill>
                      <a:srgbClr val="FFFFFF"/>
                    </a:solidFill>
                  </a:tcPr>
                </a:tc>
                <a:tc>
                  <a:txBody>
                    <a:bodyPr wrap="square"/>
                    <a:lstStyle/>
                    <a:p>
                      <a:r>
                        <a:rPr sz="1350" b="0">
                          <a:solidFill>
                            <a:srgbClr val="1A1A1A"/>
                          </a:solidFill>
                          <a:latin typeface="Source Sans 3"/>
                        </a:rPr>
                        <a:t>Buildable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catalogue's phases 3–4: lineage, contracts, sharing</a:t>
                      </a:r>
                    </a:p>
                  </a:txBody>
                  <a:tcPr marL="82296" marR="64008" marT="32004" marB="32004" anchor="ctr">
                    <a:solidFill>
                      <a:srgbClr val="F7F5F2"/>
                    </a:solidFill>
                  </a:tcPr>
                </a:tc>
                <a:tc>
                  <a:txBody>
                    <a:bodyPr wrap="square"/>
                    <a:lstStyle/>
                    <a:p>
                      <a:r>
                        <a:rPr sz="1350" b="0">
                          <a:solidFill>
                            <a:srgbClr val="1A1A1A"/>
                          </a:solidFill>
                          <a:latin typeface="Source Sans 3"/>
                        </a:rPr>
                        <a:t>Only if wanted</a:t>
                      </a:r>
                    </a:p>
                  </a:txBody>
                  <a:tcPr marL="82296" marR="64008" marT="32004" marB="32004" anchor="ctr">
                    <a:solidFill>
                      <a:srgbClr val="F7F5F2"/>
                    </a:solidFill>
                  </a:tcPr>
                </a:tc>
              </a:tr>
              <a:tr h="330555">
                <a:tc>
                  <a:txBody>
                    <a:bodyPr wrap="square"/>
                    <a:lstStyle/>
                    <a:p>
                      <a:r>
                        <a:rPr sz="1350" b="1">
                          <a:solidFill>
                            <a:srgbClr val="8A1626"/>
                          </a:solidFill>
                          <a:latin typeface="Source Sans 3"/>
                        </a:rPr>
                        <a:t>The manual WCAG 2.2 AA audit</a:t>
                      </a:r>
                    </a:p>
                  </a:txBody>
                  <a:tcPr marL="82296" marR="64008" marT="32004" marB="32004" anchor="ctr">
                    <a:solidFill>
                      <a:srgbClr val="FFFFFF"/>
                    </a:solidFill>
                  </a:tcPr>
                </a:tc>
                <a:tc>
                  <a:txBody>
                    <a:bodyPr wrap="square"/>
                    <a:lstStyle/>
                    <a:p>
                      <a:r>
                        <a:rPr sz="1350" b="0">
                          <a:solidFill>
                            <a:srgbClr val="1A1A1A"/>
                          </a:solidFill>
                          <a:latin typeface="Source Sans 3"/>
                        </a:rPr>
                        <a:t>A person's task; the automated half is green</a:t>
                      </a:r>
                    </a:p>
                  </a:txBody>
                  <a:tcPr marL="82296" marR="64008" marT="32004" marB="32004" anchor="ctr">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Ashutosh Sinha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55</a:t>
            </a:r>
          </a:p>
        </p:txBody>
      </p:sp>
      <p:graphicFrame>
        <p:nvGraphicFramePr>
          <p:cNvPr id="10" name="Table 9"/>
          <p:cNvGraphicFramePr>
            <a:graphicFrameLocks noGrp="1"/>
          </p:cNvGraphicFramePr>
          <p:nvPr/>
        </p:nvGraphicFramePr>
        <p:xfrm>
          <a:off x="777240" y="1361846"/>
          <a:ext cx="10637215" cy="4034840"/>
        </p:xfrm>
        <a:graphic>
          <a:graphicData uri="http://schemas.openxmlformats.org/drawingml/2006/table">
            <a:tbl>
              <a:tblPr firstRow="1">
                <a:tableStyleId>{5C22544A-7EE6-4342-B048-85BDC9FD1C3A}</a:tableStyleId>
              </a:tblPr>
              <a:tblGrid>
                <a:gridCol w="4254886"/>
                <a:gridCol w="6382329"/>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55092">
                <a:tc>
                  <a:txBody>
                    <a:bodyPr wrap="square"/>
                    <a:lstStyle/>
                    <a:p>
                      <a:r>
                        <a:rPr sz="15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500" b="0">
                          <a:solidFill>
                            <a:srgbClr val="1A1A1A"/>
                          </a:solidFill>
                          <a:latin typeface="Source Sans 3"/>
                        </a:rPr>
                        <a:t>Clone to a running, changing view in about ten minutes</a:t>
                      </a:r>
                    </a:p>
                  </a:txBody>
                  <a:tcPr marL="82296" marR="64008" marT="32004" marB="32004" anchor="ctr">
                    <a:solidFill>
                      <a:srgbClr val="FFFFFF"/>
                    </a:solidFill>
                  </a:tcPr>
                </a:tc>
              </a:tr>
              <a:tr h="355092">
                <a:tc>
                  <a:txBody>
                    <a:bodyPr wrap="square"/>
                    <a:lstStyle/>
                    <a:p>
                      <a:r>
                        <a:rPr sz="1500" b="1">
                          <a:solidFill>
                            <a:srgbClr val="8A1626"/>
                          </a:solidFill>
                          <a:latin typeface="Source Sans 3"/>
                        </a:rPr>
                        <a:t>pravaha init</a:t>
                      </a:r>
                    </a:p>
                  </a:txBody>
                  <a:tcPr marL="82296" marR="64008" marT="32004" marB="32004" anchor="ctr">
                    <a:solidFill>
                      <a:srgbClr val="F7F5F2"/>
                    </a:solidFill>
                  </a:tcPr>
                </a:tc>
                <a:tc>
                  <a:txBody>
                    <a:bodyPr wrap="square"/>
                    <a:lstStyle/>
                    <a:p>
                      <a:r>
                        <a:rPr sz="1500" b="0">
                          <a:solidFill>
                            <a:srgbClr val="1A1A1A"/>
                          </a:solidFill>
                          <a:latin typeface="Source Sans 3"/>
                        </a:rPr>
                        <a:t>A project that runs as generated, with a compose file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docs/guides/CONCEPTS.md</a:t>
                      </a:r>
                    </a:p>
                  </a:txBody>
                  <a:tcPr marL="82296" marR="64008" marT="32004" marB="32004" anchor="ctr">
                    <a:solidFill>
                      <a:srgbClr val="FFFFFF"/>
                    </a:solidFill>
                  </a:tcPr>
                </a:tc>
                <a:tc>
                  <a:txBody>
                    <a:bodyPr wrap="square"/>
                    <a:lstStyle/>
                    <a:p>
                      <a:r>
                        <a:rPr sz="1500" b="0">
                          <a:solidFill>
                            <a:srgbClr val="1A1A1A"/>
                          </a:solidFill>
                          <a:latin typeface="Source Sans 3"/>
                        </a:rPr>
                        <a:t>The ten ideas; most surprises are one of them working correctly</a:t>
                      </a:r>
                    </a:p>
                  </a:txBody>
                  <a:tcPr marL="82296" marR="64008" marT="32004" marB="32004" anchor="ctr">
                    <a:solidFill>
                      <a:srgbClr val="FFFFFF"/>
                    </a:solidFill>
                  </a:tcPr>
                </a:tc>
              </a:tr>
              <a:tr h="355092">
                <a:tc>
                  <a:txBody>
                    <a:bodyPr wrap="square"/>
                    <a:lstStyle/>
                    <a:p>
                      <a:r>
                        <a:rPr sz="1500" b="1">
                          <a:solidFill>
                            <a:srgbClr val="8A1626"/>
                          </a:solidFill>
                          <a:latin typeface="Source Sans 3"/>
                        </a:rPr>
                        <a:t>docs/guides/tutorials/</a:t>
                      </a:r>
                    </a:p>
                  </a:txBody>
                  <a:tcPr marL="82296" marR="64008" marT="32004" marB="32004" anchor="ctr">
                    <a:solidFill>
                      <a:srgbClr val="F7F5F2"/>
                    </a:solidFill>
                  </a:tcPr>
                </a:tc>
                <a:tc>
                  <a:txBody>
                    <a:bodyPr wrap="square"/>
                    <a:lstStyle/>
                    <a:p>
                      <a:r>
                        <a:rPr sz="1500" b="0">
                          <a:solidFill>
                            <a:srgbClr val="1A1A1A"/>
                          </a:solidFill>
                          <a:latin typeface="Source Sans 3"/>
                        </a:rPr>
                        <a:t>Registering, following, replacing and debugging a query</a:t>
                      </a:r>
                    </a:p>
                  </a:txBody>
                  <a:tcPr marL="82296" marR="64008" marT="32004" marB="32004" anchor="ctr">
                    <a:solidFill>
                      <a:srgbClr val="F7F5F2"/>
                    </a:solidFill>
                  </a:tcPr>
                </a:tc>
              </a:tr>
              <a:tr h="600456">
                <a:tc>
                  <a:txBody>
                    <a:bodyPr wrap="square"/>
                    <a:lstStyle/>
                    <a:p>
                      <a:r>
                        <a:rPr sz="1500" b="1">
                          <a:solidFill>
                            <a:srgbClr val="8A1626"/>
                          </a:solidFill>
                          <a:latin typeface="Source Sans 3"/>
                        </a:rPr>
                        <a:t>examples/case-studies/</a:t>
                      </a:r>
                    </a:p>
                  </a:txBody>
                  <a:tcPr marL="82296" marR="64008" marT="32004" marB="32004" anchor="ctr">
                    <a:solidFill>
                      <a:srgbClr val="FFFFFF"/>
                    </a:solidFill>
                  </a:tcPr>
                </a:tc>
                <a:tc>
                  <a:txBody>
                    <a:bodyPr wrap="square"/>
                    <a:lstStyle/>
                    <a:p>
                      <a:r>
                        <a:rPr sz="1500" b="0">
                          <a:solidFill>
                            <a:srgbClr val="1A1A1A"/>
                          </a:solidFill>
                          <a:latin typeface="Source Sans 3"/>
                        </a:rPr>
                        <a:t>Thirteen worked systems to copy, each checked by the build</a:t>
                      </a:r>
                    </a:p>
                  </a:txBody>
                  <a:tcPr marL="82296" marR="64008" marT="32004" marB="32004" anchor="ctr">
                    <a:solidFill>
                      <a:srgbClr val="FFFFFF"/>
                    </a:solidFill>
                  </a:tcPr>
                </a:tc>
              </a:tr>
              <a:tr h="600456">
                <a:tc>
                  <a:txBody>
                    <a:bodyPr wrap="square"/>
                    <a:lstStyle/>
                    <a:p>
                      <a:r>
                        <a:rPr sz="15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500" b="0">
                          <a:solidFill>
                            <a:srgbClr val="1A1A1A"/>
                          </a:solidFill>
                          <a:latin typeface="Source Sans 3"/>
                        </a:rPr>
                        <a:t>Sizing, lanes, what to watch; identity, authorization, audit</a:t>
                      </a:r>
                    </a:p>
                  </a:txBody>
                  <a:tcPr marL="82296" marR="64008" marT="32004" marB="32004" anchor="ctr">
                    <a:solidFill>
                      <a:srgbClr val="F7F5F2"/>
                    </a:solidFill>
                  </a:tcPr>
                </a:tc>
              </a:tr>
              <a:tr h="845820">
                <a:tc>
                  <a:txBody>
                    <a:bodyPr wrap="square"/>
                    <a:lstStyle/>
                    <a:p>
                      <a:r>
                        <a:rPr sz="1500" b="1">
                          <a:solidFill>
                            <a:srgbClr val="8A1626"/>
                          </a:solidFill>
                          <a:latin typeface="Source Sans 3"/>
                        </a:rPr>
                        <a:t>docs/publications/COMPETITIVE_LANDSCAPE.md</a:t>
                      </a:r>
                    </a:p>
                  </a:txBody>
                  <a:tcPr marL="82296" marR="64008" marT="32004" marB="32004" anchor="ctr">
                    <a:solidFill>
                      <a:srgbClr val="FFFFFF"/>
                    </a:solidFill>
                  </a:tcPr>
                </a:tc>
                <a:tc>
                  <a:txBody>
                    <a:bodyPr wrap="square"/>
                    <a:lstStyle/>
                    <a:p>
                      <a:r>
                        <a:rPr sz="1500" b="0">
                          <a:solidFill>
                            <a:srgbClr val="1A1A1A"/>
                          </a:solidFill>
                          <a:latin typeface="Source Sans 3"/>
                        </a:rPr>
                        <a:t>Where Pravaha fits, and where something else wins</a:t>
                      </a:r>
                    </a:p>
                  </a:txBody>
                  <a:tcPr marL="82296" marR="64008" marT="32004" marB="32004" anchor="ctr">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5535777" y="1154430"/>
            <a:ext cx="960120" cy="240030"/>
          </a:xfrm>
          <a:custGeom>
            <a:avLst/>
            <a:gdLst/>
            <a:ahLst/>
            <a:cxnLst/>
            <a:rect l="l" t="t" r="r" b="b"/>
            <a:pathLst>
              <a:path w="960120" h="240030">
                <a:moveTo>
                  <a:pt x="0" y="120015"/>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5"/>
                </a:lnTo>
                <a:lnTo>
                  <a:pt x="510064" y="148143"/>
                </a:lnTo>
                <a:lnTo>
                  <a:pt x="540068" y="172521"/>
                </a:lnTo>
                <a:lnTo>
                  <a:pt x="570071" y="193149"/>
                </a:lnTo>
                <a:lnTo>
                  <a:pt x="600075" y="210026"/>
                </a:lnTo>
                <a:lnTo>
                  <a:pt x="630079" y="223152"/>
                </a:lnTo>
                <a:lnTo>
                  <a:pt x="660083" y="232529"/>
                </a:lnTo>
                <a:lnTo>
                  <a:pt x="690086" y="238154"/>
                </a:lnTo>
                <a:lnTo>
                  <a:pt x="720090" y="240030"/>
                </a:lnTo>
                <a:lnTo>
                  <a:pt x="750094" y="238154"/>
                </a:lnTo>
                <a:lnTo>
                  <a:pt x="780098" y="232529"/>
                </a:lnTo>
                <a:lnTo>
                  <a:pt x="810101" y="223152"/>
                </a:lnTo>
                <a:lnTo>
                  <a:pt x="840105" y="210026"/>
                </a:lnTo>
                <a:lnTo>
                  <a:pt x="870109" y="193149"/>
                </a:lnTo>
                <a:lnTo>
                  <a:pt x="900113" y="172521"/>
                </a:lnTo>
                <a:lnTo>
                  <a:pt x="930116" y="148143"/>
                </a:lnTo>
                <a:lnTo>
                  <a:pt x="960120" y="120015"/>
                </a:lnTo>
              </a:path>
            </a:pathLst>
          </a:custGeom>
          <a:noFill/>
          <a:ln w="140017"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5535777" y="1434465"/>
            <a:ext cx="960120" cy="240029"/>
          </a:xfrm>
          <a:custGeom>
            <a:avLst/>
            <a:gdLst/>
            <a:ahLst/>
            <a:cxnLst/>
            <a:rect l="l" t="t" r="r" b="b"/>
            <a:pathLst>
              <a:path w="960120" h="240029">
                <a:moveTo>
                  <a:pt x="0" y="120015"/>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5"/>
                </a:lnTo>
                <a:lnTo>
                  <a:pt x="510064" y="148143"/>
                </a:lnTo>
                <a:lnTo>
                  <a:pt x="540068" y="172521"/>
                </a:lnTo>
                <a:lnTo>
                  <a:pt x="570071" y="193149"/>
                </a:lnTo>
                <a:lnTo>
                  <a:pt x="600075" y="210026"/>
                </a:lnTo>
                <a:lnTo>
                  <a:pt x="630079" y="223152"/>
                </a:lnTo>
                <a:lnTo>
                  <a:pt x="660083" y="232529"/>
                </a:lnTo>
                <a:lnTo>
                  <a:pt x="690086" y="238154"/>
                </a:lnTo>
                <a:lnTo>
                  <a:pt x="720090" y="240029"/>
                </a:lnTo>
                <a:lnTo>
                  <a:pt x="750094" y="238154"/>
                </a:lnTo>
                <a:lnTo>
                  <a:pt x="780098" y="232529"/>
                </a:lnTo>
                <a:lnTo>
                  <a:pt x="810101" y="223152"/>
                </a:lnTo>
                <a:lnTo>
                  <a:pt x="840105" y="210026"/>
                </a:lnTo>
                <a:lnTo>
                  <a:pt x="870109" y="193149"/>
                </a:lnTo>
                <a:lnTo>
                  <a:pt x="900113" y="172521"/>
                </a:lnTo>
                <a:lnTo>
                  <a:pt x="930116" y="148143"/>
                </a:lnTo>
                <a:lnTo>
                  <a:pt x="960120" y="120015"/>
                </a:lnTo>
              </a:path>
            </a:pathLst>
          </a:custGeom>
          <a:noFill/>
          <a:ln w="140017"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5535777" y="1714500"/>
            <a:ext cx="960120" cy="240030"/>
          </a:xfrm>
          <a:custGeom>
            <a:avLst/>
            <a:gdLst/>
            <a:ahLst/>
            <a:cxnLst/>
            <a:rect l="l" t="t" r="r" b="b"/>
            <a:pathLst>
              <a:path w="960120" h="240030">
                <a:moveTo>
                  <a:pt x="0" y="120014"/>
                </a:moveTo>
                <a:lnTo>
                  <a:pt x="30004" y="91886"/>
                </a:lnTo>
                <a:lnTo>
                  <a:pt x="60008" y="67508"/>
                </a:lnTo>
                <a:lnTo>
                  <a:pt x="90011" y="46880"/>
                </a:lnTo>
                <a:lnTo>
                  <a:pt x="120015" y="30003"/>
                </a:lnTo>
                <a:lnTo>
                  <a:pt x="150019" y="16877"/>
                </a:lnTo>
                <a:lnTo>
                  <a:pt x="180023" y="7500"/>
                </a:lnTo>
                <a:lnTo>
                  <a:pt x="210026" y="1875"/>
                </a:lnTo>
                <a:lnTo>
                  <a:pt x="240030" y="0"/>
                </a:lnTo>
                <a:lnTo>
                  <a:pt x="270034" y="1875"/>
                </a:lnTo>
                <a:lnTo>
                  <a:pt x="300038" y="7500"/>
                </a:lnTo>
                <a:lnTo>
                  <a:pt x="330041" y="16877"/>
                </a:lnTo>
                <a:lnTo>
                  <a:pt x="360045" y="30003"/>
                </a:lnTo>
                <a:lnTo>
                  <a:pt x="390049" y="46880"/>
                </a:lnTo>
                <a:lnTo>
                  <a:pt x="420053" y="67508"/>
                </a:lnTo>
                <a:lnTo>
                  <a:pt x="450056" y="91886"/>
                </a:lnTo>
                <a:lnTo>
                  <a:pt x="480060" y="120014"/>
                </a:lnTo>
                <a:lnTo>
                  <a:pt x="510064" y="148143"/>
                </a:lnTo>
                <a:lnTo>
                  <a:pt x="540068" y="172521"/>
                </a:lnTo>
                <a:lnTo>
                  <a:pt x="570071" y="193149"/>
                </a:lnTo>
                <a:lnTo>
                  <a:pt x="600075" y="210026"/>
                </a:lnTo>
                <a:lnTo>
                  <a:pt x="630079" y="223152"/>
                </a:lnTo>
                <a:lnTo>
                  <a:pt x="660083" y="232529"/>
                </a:lnTo>
                <a:lnTo>
                  <a:pt x="690086" y="238154"/>
                </a:lnTo>
                <a:lnTo>
                  <a:pt x="720090" y="240030"/>
                </a:lnTo>
                <a:lnTo>
                  <a:pt x="750094" y="238154"/>
                </a:lnTo>
                <a:lnTo>
                  <a:pt x="780098" y="232529"/>
                </a:lnTo>
                <a:lnTo>
                  <a:pt x="810101" y="223152"/>
                </a:lnTo>
                <a:lnTo>
                  <a:pt x="840105" y="210026"/>
                </a:lnTo>
                <a:lnTo>
                  <a:pt x="870109" y="193149"/>
                </a:lnTo>
                <a:lnTo>
                  <a:pt x="900113" y="172521"/>
                </a:lnTo>
                <a:lnTo>
                  <a:pt x="930116" y="148143"/>
                </a:lnTo>
                <a:lnTo>
                  <a:pt x="960120" y="120014"/>
                </a:lnTo>
              </a:path>
            </a:pathLst>
          </a:custGeom>
          <a:noFill/>
          <a:ln w="140017"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10637215" cy="914400"/>
          </a:xfrm>
          <a:prstGeom prst="rect">
            <a:avLst/>
          </a:prstGeom>
          <a:noFill/>
        </p:spPr>
        <p:txBody>
          <a:bodyPr wrap="square" lIns="0" rIns="0" tIns="0" bIns="0" anchor="t">
            <a:spAutoFit/>
          </a:bodyPr>
          <a:lstStyle/>
          <a:p>
            <a:pPr algn="ctr">
              <a:lnSpc>
                <a:spcPct val="105000"/>
              </a:lnSpc>
              <a:spcBef>
                <a:spcPts val="0"/>
              </a:spcBef>
              <a:spcAft>
                <a:spcPts val="0"/>
              </a:spcAft>
            </a:pPr>
            <a:r>
              <a:rPr sz="4800" b="1" i="0">
                <a:solidFill>
                  <a:srgbClr val="FFFFFF"/>
                </a:solidFill>
                <a:latin typeface="Source Sans 3"/>
              </a:rPr>
              <a:t>Thank you</a:t>
            </a:r>
          </a:p>
        </p:txBody>
      </p:sp>
      <p:sp>
        <p:nvSpPr>
          <p:cNvPr id="8" name="Rectangle 7"/>
          <p:cNvSpPr/>
          <p:nvPr/>
        </p:nvSpPr>
        <p:spPr>
          <a:xfrm>
            <a:off x="5318607" y="3401568"/>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611880"/>
            <a:ext cx="10637215" cy="502920"/>
          </a:xfrm>
          <a:prstGeom prst="rect">
            <a:avLst/>
          </a:prstGeom>
          <a:noFill/>
        </p:spPr>
        <p:txBody>
          <a:bodyPr wrap="square" lIns="0" rIns="0" tIns="0" bIns="0" anchor="t">
            <a:spAutoFit/>
          </a:bodyPr>
          <a:lstStyle/>
          <a:p>
            <a:pPr algn="ctr">
              <a:lnSpc>
                <a:spcPct val="120000"/>
              </a:lnSpc>
              <a:spcBef>
                <a:spcPts val="0"/>
              </a:spcBef>
              <a:spcAft>
                <a:spcPts val="0"/>
              </a:spcAft>
            </a:pPr>
            <a:r>
              <a:rPr sz="2400" b="0" i="1">
                <a:solidFill>
                  <a:srgbClr val="FFFFFF"/>
                </a:solidFill>
                <a:latin typeface="Source Sans 3"/>
              </a:rPr>
              <a:t>Ask once. Answer always.</a:t>
            </a:r>
          </a:p>
        </p:txBody>
      </p:sp>
      <p:sp>
        <p:nvSpPr>
          <p:cNvPr id="10" name="TextBox 9"/>
          <p:cNvSpPr txBox="1"/>
          <p:nvPr/>
        </p:nvSpPr>
        <p:spPr>
          <a:xfrm>
            <a:off x="777240" y="4434840"/>
            <a:ext cx="10637215" cy="1188720"/>
          </a:xfrm>
          <a:prstGeom prst="rect">
            <a:avLst/>
          </a:prstGeom>
          <a:noFill/>
        </p:spPr>
        <p:txBody>
          <a:bodyPr wrap="square" lIns="0" rIns="0" tIns="0" bIns="0" anchor="t">
            <a:spAutoFit/>
          </a:bodyPr>
          <a:lstStyle/>
          <a:p>
            <a:pPr algn="ctr">
              <a:lnSpc>
                <a:spcPct val="120000"/>
              </a:lnSpc>
              <a:spcBef>
                <a:spcPts val="0"/>
              </a:spcBef>
              <a:spcAft>
                <a:spcPts val="300"/>
              </a:spcAft>
            </a:pPr>
            <a:r>
              <a:rPr sz="1800" b="1" i="0">
                <a:solidFill>
                  <a:srgbClr val="FFFFFF"/>
                </a:solidFill>
                <a:latin typeface="Source Sans 3"/>
              </a:rPr>
              <a:t>Ashutosh Sinha</a:t>
            </a:r>
          </a:p>
          <a:p>
            <a:pPr algn="ctr">
              <a:lnSpc>
                <a:spcPct val="120000"/>
              </a:lnSpc>
              <a:spcBef>
                <a:spcPts val="0"/>
              </a:spcBef>
              <a:spcAft>
                <a:spcPts val="300"/>
              </a:spcAft>
            </a:pPr>
            <a:r>
              <a:rPr sz="1300" b="0" i="0">
                <a:solidFill>
                  <a:srgbClr val="F6E6E9"/>
                </a:solidFill>
                <a:latin typeface="Source Sans 3"/>
              </a:rPr>
              <a:t>ajsinha@gmail.com</a:t>
            </a:r>
          </a:p>
          <a:p>
            <a:pPr algn="ctr">
              <a:lnSpc>
                <a:spcPct val="120000"/>
              </a:lnSpc>
              <a:spcBef>
                <a:spcPts val="0"/>
              </a:spcBef>
              <a:spcAft>
                <a:spcPts val="300"/>
              </a:spcAft>
            </a:pPr>
            <a:r>
              <a:rPr sz="1300" b="0" i="0">
                <a:solidFill>
                  <a:srgbClr val="F6E6E9"/>
                </a:solidFill>
                <a:latin typeface="Source Sans 3"/>
              </a:rPr>
              <a:t>Pravaha 2.4 · continuous SQL where your data already lives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Continuous SQL where your data already lives</dc:title>
  <dc:subject>What continuous SQL is, what Pravaha 2.4 does with it on one node, how it is secured, what has been measured and found, and where it is going</dc:subject>
  <dc:creator>Ashutosh Sinha</dc:creator>
  <cp:keywords>Pravaha; continuous SQL; incremental view maintenance</cp:keywords>
  <dc:description>Copyright (c) 2026 Ashutosh Sinha. All rights reserved.</dc:description>
  <cp:lastModifiedBy>Ashutosh Sinha</cp:lastModifiedBy>
  <cp:revision>1</cp:revision>
  <dcterms:created xsi:type="dcterms:W3CDTF">2026-10-06T12:00:00Z</dcterms:created>
  <dcterms:modified xsi:type="dcterms:W3CDTF">2026-10-06T12:00:00Z</dcterms:modified>
  <cp:category/>
</cp:coreProperties>
</file>