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25); brand/README.md (the name and slogan); docs/project/RELEASE_NOTES.md '2.0.0 — 2026-10-01' and 'Unreleased'; docs/operations/COMPATIBILITY.md (2.0 is a one-node release); docs/design/adr/061-jdk-25-is-the-baseline-from-2-0.md.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'2.0.0 — 2026-10-01' (who it breaks, Docker, proved on 25) and 'Unreleased' (register line: 552 findings — 533 fixed, 0 open); docs/operations/COMPATIBILITY.md '2.0: what breaks'; docs/design/adr/061-jdk-25-is-the-baseline-from-2-0.md (Consequences: Boot 3.4 and 3.5 pass 41 tests on 25); docs/project/qa/FINDINGS.md header (10 BY DESIGN, 9 SUPERSEDED); docs/project/qa/SUMMARY.md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docs/guides/CONCEPTS.md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docs/design/system_design.md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(costs measured by NodeScaleTest, per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§1–§2; docs/guides/CONCEPTS.md; docs/design/EXECUTION_MODEL.md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'Declaring a stream' (the three blocks and the YAML, schema line wrapped for the slide); docs/guides/CONNECTORS.md §3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(STRM-1); docs/guides/USER_GUIDE.md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§1–§2 ('One thread, one inbox, one arena, one processor, one loop'); docs/design/adr/008-aligned-checkpoints.md;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§3–§4; docs/design/ARCHITECTURE.md 'One path,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'What happens at registration' (six steps, condensed to five); docs/guides/CONCEPTS.md §5 'Sharing is by fingerprint'; docs/design/adr/050-a-tenant-owns-names-and-state-and-shares-only-with-itself.md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(PRV-2002, TIME-6), §3 steps 2 (PRV-2042, PRV-2041); docs/guides/CONCEPTS.md §7 (PRV-2050); README.md 'Windows and event time' (PRV-2020), 'Sinks' (PRV-8010); docs/guides/CONNECTORS.md §1 (a sink reports schema() and keyColumns()); docs/design/adr/050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docs/design/ARCHITECTURE.md 'One path, end to end' step 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'Subscribing to a registered query' (snapshot then commits; CONFLATE, DROP_OLDEST, FAIL); docs/guides/CONCEPTS.md §8 (STRM-8); docs/operations/OPERATIONS.md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README.md 'Corrections', 'Recovery', 'Survival', 'How it is built'; docs/guides/CONCEPTS.md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('Output is cut at the same marker (amended 2026-09-19, ADR-043 "As built")', ADR-029 cap); README.md 'Sinks' and 'Boundaries' (transactional sinks; capped by whether the source can rewind); docs/operations/OPERATIONS.md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'Restarts: what survives' and 'Checkpoints: what is actually true' (PRV-8006; pravaha.checkpoint.keep default 3); docs/design/adr/008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§3 (lateness belongs to the source; 10-second default; allowed lateness defaults to zero); docs/guides/CONTINUOUS_QUERIES.md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docs/guides/CONCEPTS.md §7 (state_held, _ceiling, _fraction; PRV-4001); docs/design/EXECUTION_MODEL.md §2 'A lane fails alone'; docs/project/RELEASE_NOTES.md 'Unreleased' (DLQPROJ-1: PRV-3027).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'What holds memory, and what bounds it' (rows abridged); docs/guides/CONCEPTS.md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(ALLNULLAGG-1, NARROWINT-1, NANGROUP-1, HOPALIGN-1, FINEHOP-1, MINRETRACT-1; 'Answers change'); docs/project/qa/FINDINGS.md status lines; docs/project/qa/logs/ADV-ENGINE.md (QE-001–006, 045–048, 065, 159, 163).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(CKPTSUM-1, RETYPERESTORE-1, JOURNALMID-1, SHAREDLOSS-1, RECOVERYHEALTH-1, CDCSLOT-1, TOPICGONE-1); docs/project/qa/SUMMARY.md 'What held' (19 SIGKILLs).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docs/design/EXECUTION_MODEL.md;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 'A lane', §2 'Why there are no locks', §3 'Lane vs thread'; docs/operations/OPERATIONS.md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NodeScaleTest and SourceScaleTest); docs/operations/OPERATIONS.md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'Sizing a node for many queries' (settings table) and 'Sharing lanes between queries'; docs/project/RELEASE_NOTES.md '1.0.0'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'Keeping one query on its own lane' (statements quoted, names elided); docs/project/RELEASE_NOTES.md '1.0.0'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'An administrator rebalances by hand'; commits 14914ae0, 6869419b, 86dd3e19;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docs/design/adr/054-an-ordered-source-is-shared-at-an-exact-seam.md (Decision, table verbatim, 'Which sources'); README.md 'What is not built' first-versions table; docs/project/RELEASE_NOTES.md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docs/design/adr/055-an-equality-index-over-a-column-outside-the-key.md §1–§4 (ServedView.commit, SecondaryIndexTest, SecondaryIndexRegistryTest, MAX_EQUALITY_INDEXES, PRV-2074); docs/project/RELEASE_NOTES.md '1.0.0' (IDXVIS-1: access paths visible).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docs/guides/CONTINUOUS_QUERIES.md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('What happens, in order'; PRV-4013, PRV-4014); docs/design/adr/046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 §2–§3 and 'Consequences'; docs/guides/CONTINUOUS_QUERIES.md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(the statement verbatim, reflowed; options table; refusals table); docs/design/adr/050 §3 / docs/operations/SECURITY.md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docs/design/adr/057-alerts.md;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§3.1 (the three statements, verbatim, reflowed); docs/design/adr/056-queries-on-queries.md §1, §4, §5; docs/project/RELEASE_NOTES.md '1.0.0' (Queries on queries).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§2 (the image, the freeze, restore by difference, the 65,536-change queue); QueryChainsTest, UpstreamReaderTest; docs/publications/research/continuous-queries-as-maintained-answers.tex §8 (Theorem: a chain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§1–§3, §5 (statement shape and options from §2; channels built and designed); docs/project/RELEASE_NOTES.md '1.0.0' (Alerts).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§4 (journal, restart, redelivery, idempotency key) and §6 (PRV-8024); docs/project/RELEASE_NOTES.md '1.0.0' (Alerts,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docs/guides/CONNECTORS.md;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docs/guides/CONNECTORS.md §1 (kinds and shipped examples, lookup names with suffix); plugins/*/src/main/resources/META-INF/services/ (which plugin declares which kind); docs/design/adr/054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docs/guides/CONNECTORS.md §1 (StreamSinkPlugin row); docs/project/RELEASE_NOTES.md 0.2.0 (Avro/Protobuf, commit.mode: prepared) and '1.0.0'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docs/design/adr/041-change-data-capture-without-debezium.md; README.md 'Sources' (postgres-cdc, mysql-cdc); docs/project/RELEASE_NOTES.md '1.0.0'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docs/guides/CONNECTORS.md §1 (PRV-5090, CFG-4); docs/design/system_design.md §33 ADR-028 row; docs/guides/CONTINUOUS_QUERIES.md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docs/design/adr/052; docs/design/adr/050; docs/design/adr/059; docs/design/adr/060; docs/operations/SECURITY.md.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 (three pieces; soundness rule); docs/operations/SECURITY.md 'What a registration is allowed to read / write', 'A conditional entitlement cannot subscribe' (STRM-13; catalogue filters enforced per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Pravaha Catalog, phase 1); docs/design/adr/059-the-pravaha-catalog-governs-live-answers.md 'Phase 1, as built' (mid-stream revocation every two seconds); README.md 'Governed catalogue'.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docs/project/RELEASE_NOTES.md '1.0.0' (phase 2: where it is enforced; PRV-7006; the fingerprint); docs/design/adr/059 'Phase 2, as built'.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(TAUTOFILTER-1: the listed filters, PRV-7003, PRV-7038); commit af5ee635 (VACUITYGAP-1: a &lt; 5 OR a &gt; 2, regions); docs/design/adr/059 'Vacuity'; FilterVacuityTest.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docs/design/adr/052-the-engine-is-the-identity-authority.md (secrets table, policy, lockout, API keys, sessions, store; status line: stages 4 and 5 dropped 2026-09-27); README.md 'Security'; docs/project/RELEASE_NOTES.md 'Unreleased' (LOCKENUM-1: identical 401 PRV-7010, five per address, fifty per account).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(PGREVOKE-1, PGPREAUTH-1, HTTPBODY-1, COOKIETOKEN-1, FLIGHTPRINCIPAL-1, CONSOLEHDR-1); docs/project/qa/FINDINGS.md 'Found by the adversarial QA of 2.0.0, surfaces' (status lines); docs/project/qa/logs/ADV-SURFACE.md.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docs/design/adr/050-a-tenant-owns-names-and-state-and-shares-only-with-itself.md §1–§2; docs/design/adr/060-view-names-are-unique-per-tenant.md; docs/operations/SECURITY.md 'Tenants'; docs/project/RELEASE_NOTES.md '1.0.0' (upgrade notes; LIFE-040, SX-6 ownership; one-way upgrade).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'What is not built'; docs/design/adr/059 status line (phases 3 and 4 not built); docs/design/adr/052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docs/operations/RUNNING_IN_DOCKER.md 'The short version' (commands, ports) and 'One root: PRAVAHA_HOME' (layout); commit 36d766f8 (compose stack: profiles, uid:gid, read-only roots); commit c2af8cfb (PRAVAHA_HOME, PravahaHomeLayoutTest).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docs/project/RELEASE_NOTES.md '1.0.0' (Admin → Lanes, Admin · AI models, Catalog and Admin → Grants/Policies, Alerts screens, MAYA design and four themes); docs/development/TESTING.md tiers table (console 1,937 passed); commit ff9fae5d.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Java CLI is now pravaha-engine; commands moved to the Python CLI); docs/guides/QUICKSTART.md (pip install); docs/design/ARCHITECTURE.md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'1.0.0'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(SDKSTANDALONE-1, SDKNETTYMIX-1); docs/development/TESTING.md 'The SDKs on their own'; commit bc971c6b (sources and javadoc jars).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(Power BI through the gateway; PGWIRE-TX-1; AVGINT-1; PGWIREPASS-1); commit 2a77768a (psql 18's \d); README.md 'BI tools'.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'Watching a running node' (per-query and per-node tables; FEED-1; ADR-037 B1); docs/project/RELEASE_NOTES.md '1.0.0' (Observability, built out; PERF-1: about 12 %, re-taken without the coverage agent).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docs/design/adr/058-plain-english-to-continuous-sql.md (status; §1, §2, §3); docs/project/RELEASE_NOTES.md '1.0.0' (the assistant, phases 1–3; 27 + 3 golden cases); docs/operations/COMPATIBILITY.md 'Experimental in 1.0'; docs/guides/ASSIST.md.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docs/design/adr/048-a-debug-fork-is-a-second-computation-nothing-can-read.md.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and step 7 (the alert, its FIRED and CLEARED lines); checked by CaseStudyRunTest and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benchmarks/README.md; docs/design/adr/042-the-throughput-bar-is-the-requirement.md; docs/development/TESTING.md; docs/project/qa/FINDINGS.md; docs/operations/COMPATIBILITY.md;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(verdict line; 'The machine, named'; Gate P2 throughput and scaling; re-measured 2026-09-26 incl. machineScalingReference; Gate P3; W5); docs/project/RELEASE_NOTES.md '1.0.0' PERF-1 and commit 75e9fc9e (30–31 % at load 3.1–5.2).</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docs/project/gates/measured-2026-09-20/README.md 'C-7: generated against interpreted, end to end'.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(4,832 tests, 12 skipped, on 25), 'The tiers at a glance', 'With Docker', 'Static analysis: Error Prone and NullAway'; docs/project/RELEASE_NOTES.md '2.0.0' (proved on 25), '1.0.0' (PERF-1), 'Unreleased' (ERRORPRONE-1).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counts: 552 — 533 FIXED, 0 OPEN, 10 BY DESIGN, 9 SUPERSEDED; SINKKEYROWS-2, PGWIRETX-1, SDKNETTYMIX-1, VIEWW-1, TESTNAME-1; 'The commonest defect'); docs/development/TESTING.md 'What this pass found'; docs/project/RELEASE_NOTES.md '1.0.0', 'Unreleased'.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docs/project/qa/cases/ADV-ENGINE.md (stance, harnesses); docs/project/qa/logs/ADV-ENGINE.md ('A note on method'); docs/project/qa/logs/ADV-SURFACE.md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'What held' and HIGH list; docs/project/qa/logs/ADV-ENGINE.md (differential volume; QE-077 SIGKILLs); docs/project/qa/FINDINGS.md 'Found by the adversarial QA of 2.0.0' (both sections).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docs/project/RELEASE_NOTES.md 'Unreleased'; '2.0.0' register line (492 findings, 1 open).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PGPREAUTH-1 and HTTPBODY-1 status lines (replays: heap ≤272 MiB, ≤276 MiB, node UP); docs/project/qa/logs/ADV-SURFACE.md (QI-012, QI-045 before the fix; -Xmx1g node figures; 'No .NET on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'Outcome (2026-10-02)'; docs/project/RELEASE_NOTES.md 'Unreleased' (register line); docs/project/qa/FINDINGS.md (JOURNALMID-1 and MINRETRACT-1 status lines; FLIGHTPRINCIPAL-1, CLIDLQ-1, ERRORPRONE-1); docs/development/TESTING.md (4,832 tests).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(opening: a patch changes nothing a client relies on except where the old behaviour was the defect; 2.0: what breaks; Stable in 2.x; Experimental in 1.0 and 2.0; Clients and servers); docs/project/RELEASE_NOTES.md 'Unreleased' ('Answers change').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docs/design/adr/039; docs/design/adr/052 status line; docs/design/adr/056 'Consequences'; docs/design/adr/057 status line; docs/project/RELEASE_NOTES.md '1.0.0' (MYC-2 GTID positions; IDXVIS-1 access paths visible; CDCREPL-2).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 docs/project/RELEASE_NOTES.md '1.0.0' (PGWIRE-TX-1: READ COMMITTED, REPEATABLE READ with a NOTICE), 'Unreleased' (MINRETRACT-1: PRV-2076).</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opening; examples/case-studies/README.md (docs/guides/tutorials/, four lessons); docs/operations/RUNNING_IN_DOCKER.md; docs/operations/COMPATIBILITY.md.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2 October 2026</a:t>
            </a:r>
          </a:p>
          <a:p>
            <a:pPr>
              <a:lnSpc>
                <a:spcPct val="120000"/>
              </a:lnSpc>
              <a:spcBef>
                <a:spcPts val="0"/>
              </a:spcBef>
              <a:spcAft>
                <a:spcPts val="0"/>
              </a:spcAft>
            </a:pPr>
            <a:r>
              <a:rPr sz="1100" b="0" i="0">
                <a:solidFill>
                  <a:srgbClr val="4A5058"/>
                </a:solidFill>
                <a:latin typeface="Source Sans 3"/>
              </a:rPr>
              <a:t>Pravaha 2.x · one node · Java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050" b="1">
                <a:solidFill>
                  <a:srgbClr val="A51C30"/>
                </a:solidFill>
                <a:latin typeface="Source Sans 3"/>
              </a:rPr>
              <a:t>7  </a:t>
            </a:r>
            <a:r>
              <a:rPr sz="1050" b="0">
                <a:solidFill>
                  <a:srgbClr val="4A5058"/>
                </a:solidFill>
                <a:latin typeface="Source Sans 3"/>
              </a:rPr>
              <a:t>Answers built on answers: chains and alerts</a:t>
            </a:r>
          </a:p>
          <a:p>
            <a:pPr>
              <a:lnSpc>
                <a:spcPct val="120000"/>
              </a:lnSpc>
              <a:spcBef>
                <a:spcPts val="0"/>
              </a:spcBef>
              <a:spcAft>
                <a:spcPts val="300"/>
              </a:spcAft>
            </a:pPr>
            <a:r>
              <a:rPr sz="1050" b="1">
                <a:solidFill>
                  <a:srgbClr val="A51C30"/>
                </a:solidFill>
                <a:latin typeface="Source Sans 3"/>
              </a:rPr>
              <a:t>8  </a:t>
            </a:r>
            <a:r>
              <a:rPr sz="1050" b="0">
                <a:solidFill>
                  <a:srgbClr val="4A5058"/>
                </a:solidFill>
                <a:latin typeface="Source Sans 3"/>
              </a:rPr>
              <a:t>Connectors</a:t>
            </a:r>
          </a:p>
          <a:p>
            <a:pPr>
              <a:lnSpc>
                <a:spcPct val="120000"/>
              </a:lnSpc>
              <a:spcBef>
                <a:spcPts val="0"/>
              </a:spcBef>
              <a:spcAft>
                <a:spcPts val="300"/>
              </a:spcAft>
            </a:pPr>
            <a:r>
              <a:rPr sz="1050" b="1">
                <a:solidFill>
                  <a:srgbClr val="A51C30"/>
                </a:solidFill>
                <a:latin typeface="Source Sans 3"/>
              </a:rPr>
              <a:t>9  </a:t>
            </a:r>
            <a:r>
              <a:rPr sz="1050" b="0">
                <a:solidFill>
                  <a:srgbClr val="4A5058"/>
                </a:solidFill>
                <a:latin typeface="Source Sans 3"/>
              </a:rPr>
              <a:t>Security, identity and governance</a:t>
            </a:r>
          </a:p>
          <a:p>
            <a:pPr>
              <a:lnSpc>
                <a:spcPct val="120000"/>
              </a:lnSpc>
              <a:spcBef>
                <a:spcPts val="0"/>
              </a:spcBef>
              <a:spcAft>
                <a:spcPts val="300"/>
              </a:spcAft>
            </a:pPr>
            <a:r>
              <a:rPr sz="1050" b="1">
                <a:solidFill>
                  <a:srgbClr val="A51C30"/>
                </a:solidFill>
                <a:latin typeface="Source Sans 3"/>
              </a:rPr>
              <a:t>10  </a:t>
            </a:r>
            <a:r>
              <a:rPr sz="1050" b="0">
                <a:solidFill>
                  <a:srgbClr val="4A5058"/>
                </a:solidFill>
                <a:latin typeface="Source Sans 3"/>
              </a:rPr>
              <a:t>Operating it</a:t>
            </a:r>
          </a:p>
          <a:p>
            <a:pPr>
              <a:lnSpc>
                <a:spcPct val="120000"/>
              </a:lnSpc>
              <a:spcBef>
                <a:spcPts val="0"/>
              </a:spcBef>
              <a:spcAft>
                <a:spcPts val="300"/>
              </a:spcAft>
            </a:pPr>
            <a:r>
              <a:rPr sz="1050" b="1">
                <a:solidFill>
                  <a:srgbClr val="A51C30"/>
                </a:solidFill>
                <a:latin typeface="Source Sans 3"/>
              </a:rPr>
              <a:t>11  </a:t>
            </a:r>
            <a:r>
              <a:rPr sz="1050" b="0">
                <a:solidFill>
                  <a:srgbClr val="4A5058"/>
                </a:solidFill>
                <a:latin typeface="Source Sans 3"/>
              </a:rPr>
              <a:t>Thirteen worked systems</a:t>
            </a:r>
          </a:p>
          <a:p>
            <a:pPr>
              <a:lnSpc>
                <a:spcPct val="120000"/>
              </a:lnSpc>
              <a:spcBef>
                <a:spcPts val="0"/>
              </a:spcBef>
              <a:spcAft>
                <a:spcPts val="300"/>
              </a:spcAft>
            </a:pPr>
            <a:r>
              <a:rPr sz="1050" b="1">
                <a:solidFill>
                  <a:srgbClr val="A51C30"/>
                </a:solidFill>
                <a:latin typeface="Source Sans 3"/>
              </a:rPr>
              <a:t>12  </a:t>
            </a:r>
            <a:r>
              <a:rPr sz="1050" b="0">
                <a:solidFill>
                  <a:srgbClr val="4A5058"/>
                </a:solidFill>
                <a:latin typeface="Source Sans 3"/>
              </a:rPr>
              <a:t>Evidence, 2.x, and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2.0.0 · 1 OCTOBER 2026 · NOW 2.0.1-SNAPSHOT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Java 25 through and through; everything else 1.x promised, kept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Every module, the API and the Java SDKs included, is Java 25 class files</a:t>
            </a:r>
          </a:p>
        </p:txBody>
      </p:sp>
      <p:sp>
        <p:nvSpPr>
          <p:cNvPr id="14" name="Rectangle 13"/>
          <p:cNvSpPr/>
          <p:nvPr/>
        </p:nvSpPr>
        <p:spPr>
          <a:xfrm>
            <a:off x="3486835"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Boot 3.4+</a:t>
            </a:r>
          </a:p>
        </p:txBody>
      </p:sp>
      <p:sp>
        <p:nvSpPr>
          <p:cNvPr id="17" name="TextBox 16"/>
          <p:cNvSpPr txBox="1"/>
          <p:nvPr/>
        </p:nvSpPr>
        <p:spPr>
          <a:xfrm>
            <a:off x="3688003"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Spring Boot starter: 3.2 and 3.3 cannot read Java 25 classes</a:t>
            </a:r>
          </a:p>
        </p:txBody>
      </p:sp>
      <p:sp>
        <p:nvSpPr>
          <p:cNvPr id="18" name="Rectangle 17"/>
          <p:cNvSpPr/>
          <p:nvPr/>
        </p:nvSpPr>
        <p:spPr>
          <a:xfrm>
            <a:off x="6196431"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 breaks</a:t>
            </a:r>
          </a:p>
        </p:txBody>
      </p:sp>
      <p:sp>
        <p:nvSpPr>
          <p:cNvPr id="21" name="TextBox 20"/>
          <p:cNvSpPr txBox="1"/>
          <p:nvPr/>
        </p:nvSpPr>
        <p:spPr>
          <a:xfrm>
            <a:off x="6397599"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Java baseline, and legacy-read removed as 1.0 announced</a:t>
            </a:r>
          </a:p>
        </p:txBody>
      </p:sp>
      <p:sp>
        <p:nvSpPr>
          <p:cNvPr id="22" name="Rectangle 21"/>
          <p:cNvSpPr/>
          <p:nvPr/>
        </p:nvSpPr>
        <p:spPr>
          <a:xfrm>
            <a:off x="8906027"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552 findings: 533 fixed, 10 by design, 9 superseded</a:t>
            </a:r>
          </a:p>
        </p:txBody>
      </p:sp>
      <p:sp>
        <p:nvSpPr>
          <p:cNvPr id="26" name="TextBox 25"/>
          <p:cNvSpPr txBox="1"/>
          <p:nvPr/>
        </p:nvSpPr>
        <p:spPr>
          <a:xfrm>
            <a:off x="777240" y="2666085"/>
            <a:ext cx="10637215" cy="3579266"/>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Who it breaks</a:t>
            </a:r>
          </a:p>
          <a:p>
            <a:pPr lvl="1">
              <a:lnSpc>
                <a:spcPct val="120000"/>
              </a:lnSpc>
              <a:spcBef>
                <a:spcPts val="0"/>
              </a:spcBef>
              <a:spcAft>
                <a:spcPts val="0"/>
              </a:spcAft>
            </a:pPr>
            <a:r>
              <a:rPr sz="1250" b="0">
                <a:solidFill>
                  <a:srgbClr val="4A5058"/>
                </a:solidFill>
                <a:latin typeface="Source Sans 3"/>
              </a:rPr>
              <a:t>Embedders, plugins and Java SDK clients: the JVM must be 25 (class-file version 69). Launchers on 21 stop at once naming Java 25. A node still setting legacy-read refuses to start (PRV-7004): grant MODIFY or MANAGE instead.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What stays</a:t>
            </a:r>
          </a:p>
          <a:p>
            <a:pPr lvl="1">
              <a:lnSpc>
                <a:spcPct val="120000"/>
              </a:lnSpc>
              <a:spcBef>
                <a:spcPts val="0"/>
              </a:spcBef>
              <a:spcAft>
                <a:spcPts val="0"/>
              </a:spcAft>
            </a:pPr>
            <a:r>
              <a:rPr sz="1250" b="0">
                <a:solidFill>
                  <a:srgbClr val="4A5058"/>
                </a:solidFill>
                <a:latin typeface="Source Sans 3"/>
              </a:rPr>
              <a:t>The SQL, the wire protocols, the HTTP API, the Python SDK, every other key and the state on disk. The image was already on Java 25; the -jre21 tag is gone.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Since 2.0.0</a:t>
            </a:r>
          </a:p>
          <a:p>
            <a:pPr lvl="1">
              <a:lnSpc>
                <a:spcPct val="120000"/>
              </a:lnSpc>
              <a:spcBef>
                <a:spcPts val="0"/>
              </a:spcBef>
              <a:spcAft>
                <a:spcPts val="0"/>
              </a:spcAft>
            </a:pPr>
            <a:r>
              <a:rPr sz="1250" b="0">
                <a:solidFill>
                  <a:srgbClr val="4A5058"/>
                </a:solidFill>
                <a:latin typeface="Source Sans 3"/>
              </a:rPr>
              <a:t>An adversarial QA round, 46 defects and 4 design notes, all fixed in three waves; some answers change, and the release notes say which.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a:p>
            <a:pPr>
              <a:lnSpc>
                <a:spcPct val="115000"/>
              </a:lnSpc>
              <a:spcBef>
                <a:spcPts val="0"/>
              </a:spcBef>
              <a:spcAft>
                <a:spcPts val="600"/>
              </a:spcAft>
            </a:pPr>
            <a:r>
              <a:rPr sz="1250" b="0" i="0">
                <a:solidFill>
                  <a:srgbClr val="F6E6E9"/>
                </a:solidFill>
                <a:latin typeface="Source Sans 3"/>
              </a:rPr>
              <a:t>Answers SQL defines, and recovery that refuses aloud (2.0.1)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Bad rows go to a dead-letter directory</a:t>
            </a:r>
          </a:p>
          <a:p>
            <a:pPr lvl="1">
              <a:lnSpc>
                <a:spcPct val="120000"/>
              </a:lnSpc>
              <a:spcBef>
                <a:spcPts val="0"/>
              </a:spcBef>
              <a:spcAft>
                <a:spcPts val="0"/>
              </a:spcAft>
            </a:pPr>
            <a:r>
              <a:rPr sz="1550" b="0">
                <a:solidFill>
                  <a:srgbClr val="4A5058"/>
                </a:solidFill>
                <a:latin typeface="Source Sans 3"/>
              </a:rPr>
              <a:t>Undecodable input, and a row whose WHERE or projection fails (PRV-3027), 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SEMANTICS FIXED IN 2.0.1 · THE ADVERSARIAL ROUND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Answers now say what SQL says — and some answers change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tumbling window, and a hop whose size is a multiple of its slide, keep exactly the windows they had. The release notes mark every answer that changes and what it does to an older checkpoint.</a:t>
            </a:r>
          </a:p>
        </p:txBody>
      </p:sp>
      <p:graphicFrame>
        <p:nvGraphicFramePr>
          <p:cNvPr id="12" name="Table 11"/>
          <p:cNvGraphicFramePr>
            <a:graphicFrameLocks noGrp="1"/>
          </p:cNvGraphicFramePr>
          <p:nvPr/>
        </p:nvGraphicFramePr>
        <p:xfrm>
          <a:off x="777240" y="1361846"/>
          <a:ext cx="10637213" cy="3532526"/>
        </p:xfrm>
        <a:graphic>
          <a:graphicData uri="http://schemas.openxmlformats.org/drawingml/2006/table">
            <a:tbl>
              <a:tblPr firstRow="1">
                <a:tableStyleId>{5C22544A-7EE6-4342-B048-85BDC9FD1C3A}</a:tableStyleId>
              </a:tblPr>
              <a:tblGrid>
                <a:gridCol w="2916655"/>
                <a:gridCol w="3259791"/>
                <a:gridCol w="4460767"/>
              </a:tblGrid>
              <a:tr h="322376">
                <a:tc>
                  <a:txBody>
                    <a:bodyPr wrap="square"/>
                    <a:lstStyle/>
                    <a:p>
                      <a:r>
                        <a:rPr sz="1300" b="1">
                          <a:solidFill>
                            <a:srgbClr val="FFFFFF"/>
                          </a:solidFill>
                          <a:latin typeface="Source Sans 3"/>
                        </a:rPr>
                        <a:t>Case</a:t>
                      </a:r>
                    </a:p>
                  </a:txBody>
                  <a:tcPr marL="82296" marR="64008" marT="32004" marB="32004" anchor="ctr">
                    <a:solidFill>
                      <a:srgbClr val="8A1626"/>
                    </a:solidFill>
                  </a:tcPr>
                </a:tc>
                <a:tc>
                  <a:txBody>
                    <a:bodyPr wrap="square"/>
                    <a:lstStyle/>
                    <a:p>
                      <a:r>
                        <a:rPr sz="1300" b="1">
                          <a:solidFill>
                            <a:srgbClr val="FFFFFF"/>
                          </a:solidFill>
                          <a:latin typeface="Source Sans 3"/>
                        </a:rPr>
                        <a:t>2.0.0 published</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SUM, AVG, MIN, MAX of a group with only NULLs</a:t>
                      </a:r>
                    </a:p>
                  </a:txBody>
                  <a:tcPr marL="82296" marR="64008" marT="32004" marB="32004" anchor="ctr">
                    <a:solidFill>
                      <a:srgbClr val="FFFFFF"/>
                    </a:solidFill>
                  </a:tcPr>
                </a:tc>
                <a:tc>
                  <a:txBody>
                    <a:bodyPr wrap="square"/>
                    <a:lstStyle/>
                    <a:p>
                      <a:r>
                        <a:rPr sz="1300" b="0">
                          <a:solidFill>
                            <a:srgbClr val="1A1A1A"/>
                          </a:solidFill>
                          <a:latin typeface="Source Sans 3"/>
                        </a:rPr>
                        <a:t>0 — a real total of zero, to a reader</a:t>
                      </a:r>
                    </a:p>
                  </a:txBody>
                  <a:tcPr marL="82296" marR="64008" marT="32004" marB="32004" anchor="ctr">
                    <a:solidFill>
                      <a:srgbClr val="FFFFFF"/>
                    </a:solidFill>
                  </a:tcPr>
                </a:tc>
                <a:tc>
                  <a:txBody>
                    <a:bodyPr wrap="square"/>
                    <a:lstStyle/>
                    <a:p>
                      <a:r>
                        <a:rPr sz="1300" b="0">
                          <a:solidFill>
                            <a:srgbClr val="1A1A1A"/>
                          </a:solidFill>
                          <a:latin typeface="Source Sans 3"/>
                        </a:rPr>
                        <a:t>NULL; COUNT(col) is 0; a retraction back to all-NULL is NULL again (ALLNULLAGG-1)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INT, SMALLINT, TINYINT out of range</a:t>
                      </a:r>
                    </a:p>
                  </a:txBody>
                  <a:tcPr marL="82296" marR="64008" marT="32004" marB="32004" anchor="ctr">
                    <a:solidFill>
                      <a:srgbClr val="F7F5F2"/>
                    </a:solidFill>
                  </a:tcPr>
                </a:tc>
                <a:tc>
                  <a:txBody>
                    <a:bodyPr wrap="square"/>
                    <a:lstStyle/>
                    <a:p>
                      <a:r>
                        <a:rPr sz="1300" b="0">
                          <a:solidFill>
                            <a:srgbClr val="1A1A1A"/>
                          </a:solidFill>
                          <a:latin typeface="Source Sans 3"/>
                        </a:rPr>
                        <a:t>2e9 * 2 as −294,967,296; WHERE i * 2 &gt; 0 kept the row</a:t>
                      </a:r>
                    </a:p>
                  </a:txBody>
                  <a:tcPr marL="82296" marR="64008" marT="32004" marB="32004" anchor="ctr">
                    <a:solidFill>
                      <a:srgbClr val="F7F5F2"/>
                    </a:solidFill>
                  </a:tcPr>
                </a:tc>
                <a:tc>
                  <a:txBody>
                    <a:bodyPr wrap="square"/>
                    <a:lstStyle/>
                    <a:p>
                      <a:r>
                        <a:rPr sz="1300" b="0">
                          <a:solidFill>
                            <a:srgbClr val="1A1A1A"/>
                          </a:solidFill>
                          <a:latin typeface="Source Sans 3"/>
                        </a:rPr>
                        <a:t>An overflow, as BIGINT's is; filter and projection agree (NARROWINT-1)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GROUP BY a DOUBLE holding −0.0, 0.0, NaNs</a:t>
                      </a:r>
                    </a:p>
                  </a:txBody>
                  <a:tcPr marL="82296" marR="64008" marT="32004" marB="32004" anchor="ctr">
                    <a:solidFill>
                      <a:srgbClr val="FFFFFF"/>
                    </a:solidFill>
                  </a:tcPr>
                </a:tc>
                <a:tc>
                  <a:txBody>
                    <a:bodyPr wrap="square"/>
                    <a:lstStyle/>
                    <a:p>
                      <a:r>
                        <a:rPr sz="1300" b="0">
                          <a:solidFill>
                            <a:srgbClr val="1A1A1A"/>
                          </a:solidFill>
                          <a:latin typeface="Source Sans 3"/>
                        </a:rPr>
                        <a:t>Five rows in, counts summing to four</a:t>
                      </a:r>
                    </a:p>
                  </a:txBody>
                  <a:tcPr marL="82296" marR="64008" marT="32004" marB="32004" anchor="ctr">
                    <a:solidFill>
                      <a:srgbClr val="FFFFFF"/>
                    </a:solidFill>
                  </a:tcPr>
                </a:tc>
                <a:tc>
                  <a:txBody>
                    <a:bodyPr wrap="square"/>
                    <a:lstStyle/>
                    <a:p>
                      <a:r>
                        <a:rPr sz="1300" b="0">
                          <a:solidFill>
                            <a:srgbClr val="1A1A1A"/>
                          </a:solidFill>
                          <a:latin typeface="Source Sans 3"/>
                        </a:rPr>
                        <a:t>Either zero is one group, every NaN one (NANGROUP-1)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HOP(10 s slide, 25 s size), a row at 12 s</a:t>
                      </a:r>
                    </a:p>
                  </a:txBody>
                  <a:tcPr marL="82296" marR="64008" marT="32004" marB="32004" anchor="ctr">
                    <a:solidFill>
                      <a:srgbClr val="F7F5F2"/>
                    </a:solidFill>
                  </a:tcPr>
                </a:tc>
                <a:tc>
                  <a:txBody>
                    <a:bodyPr wrap="square"/>
                    <a:lstStyle/>
                    <a:p>
                      <a:r>
                        <a:rPr sz="1300" b="0">
                          <a:solidFill>
                            <a:srgbClr val="1A1A1A"/>
                          </a:solidFill>
                          <a:latin typeface="Source Sans 3"/>
                        </a:rPr>
                        <a:t>Windows [−5, 20) and [5, 30)</a:t>
                      </a:r>
                    </a:p>
                  </a:txBody>
                  <a:tcPr marL="82296" marR="64008" marT="32004" marB="32004" anchor="ctr">
                    <a:solidFill>
                      <a:srgbClr val="F7F5F2"/>
                    </a:solidFill>
                  </a:tcPr>
                </a:tc>
                <a:tc>
                  <a:txBody>
                    <a:bodyPr wrap="square"/>
                    <a:lstStyle/>
                    <a:p>
                      <a:r>
                        <a:rPr sz="1300" b="0">
                          <a:solidFill>
                            <a:srgbClr val="1A1A1A"/>
                          </a:solidFill>
                          <a:latin typeface="Source Sans 3"/>
                        </a:rPr>
                        <a:t>[−10, 15), [0, 25), [10, 35) — as Calcite and Flink (HOPALIGN-1)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HOP(1 ms, 1 day)</a:t>
                      </a:r>
                    </a:p>
                  </a:txBody>
                  <a:tcPr marL="82296" marR="64008" marT="32004" marB="32004" anchor="ctr">
                    <a:solidFill>
                      <a:srgbClr val="FFFFFF"/>
                    </a:solidFill>
                  </a:tcPr>
                </a:tc>
                <a:tc>
                  <a:txBody>
                    <a:bodyPr wrap="square"/>
                    <a:lstStyle/>
                    <a:p>
                      <a:r>
                        <a:rPr sz="1300" b="0">
                          <a:solidFill>
                            <a:srgbClr val="1A1A1A"/>
                          </a:solidFill>
                          <a:latin typeface="Source Sans 3"/>
                        </a:rPr>
                        <a:t>Accepted; one row wedged its lane and stream</a:t>
                      </a:r>
                    </a:p>
                  </a:txBody>
                  <a:tcPr marL="82296" marR="64008" marT="32004" marB="32004" anchor="ctr">
                    <a:solidFill>
                      <a:srgbClr val="FFFFFF"/>
                    </a:solidFill>
                  </a:tcPr>
                </a:tc>
                <a:tc>
                  <a:txBody>
                    <a:bodyPr wrap="square"/>
                    <a:lstStyle/>
                    <a:p>
                      <a:r>
                        <a:rPr sz="1300" b="0">
                          <a:solidFill>
                            <a:srgbClr val="1A1A1A"/>
                          </a:solidFill>
                          <a:latin typeface="Source Sans 3"/>
                        </a:rPr>
                        <a:t>Refused at registration, PRV-3026 (FINEHOP-1)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MIN or MAX over a source that deletes</a:t>
                      </a:r>
                    </a:p>
                  </a:txBody>
                  <a:tcPr marL="82296" marR="64008" marT="32004" marB="32004" anchor="ctr">
                    <a:solidFill>
                      <a:srgbClr val="F7F5F2"/>
                    </a:solidFill>
                  </a:tcPr>
                </a:tc>
                <a:tc>
                  <a:txBody>
                    <a:bodyPr wrap="square"/>
                    <a:lstStyle/>
                    <a:p>
                      <a:r>
                        <a:rPr sz="1300" b="0">
                          <a:solidFill>
                            <a:srgbClr val="1A1A1A"/>
                          </a:solidFill>
                          <a:latin typeface="Source Sans 3"/>
                        </a:rPr>
                        <a:t>Accepted; stopped on the first retraction</a:t>
                      </a:r>
                    </a:p>
                  </a:txBody>
                  <a:tcPr marL="82296" marR="64008" marT="32004" marB="32004" anchor="ctr">
                    <a:solidFill>
                      <a:srgbClr val="F7F5F2"/>
                    </a:solidFill>
                  </a:tcPr>
                </a:tc>
                <a:tc>
                  <a:txBody>
                    <a:bodyPr wrap="square"/>
                    <a:lstStyle/>
                    <a:p>
                      <a:r>
                        <a:rPr sz="1300" b="0">
                          <a:solidFill>
                            <a:srgbClr val="1A1A1A"/>
                          </a:solidFill>
                          <a:latin typeface="Source Sans 3"/>
                        </a:rPr>
                        <a:t>Refused at registration, PRV-2076 (MINRETRACT-1)</a:t>
                      </a:r>
                    </a:p>
                  </a:txBody>
                  <a:tcPr marL="82296" marR="64008" marT="32004" marB="32004" anchor="ctr">
                    <a:solidFill>
                      <a:srgbClr val="F7F5F2"/>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 restart is restored from is checked, and a refusal is visible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19 SIGKILLs at random points lost and doubled nothing: the cut held. What it was restored from, and whether anybody was told, did not.</a:t>
            </a:r>
          </a:p>
        </p:txBody>
      </p:sp>
      <p:graphicFrame>
        <p:nvGraphicFramePr>
          <p:cNvPr id="12" name="Table 11"/>
          <p:cNvGraphicFramePr>
            <a:graphicFrameLocks noGrp="1"/>
          </p:cNvGraphicFramePr>
          <p:nvPr/>
        </p:nvGraphicFramePr>
        <p:xfrm>
          <a:off x="777240" y="1296416"/>
          <a:ext cx="10637214" cy="3532526"/>
        </p:xfrm>
        <a:graphic>
          <a:graphicData uri="http://schemas.openxmlformats.org/drawingml/2006/table">
            <a:tbl>
              <a:tblPr firstRow="1">
                <a:tableStyleId>{5C22544A-7EE6-4342-B048-85BDC9FD1C3A}</a:tableStyleId>
              </a:tblPr>
              <a:tblGrid>
                <a:gridCol w="5490175"/>
                <a:gridCol w="5147039"/>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A flipped bit in a checkpoint was restored and published: 8–10 of 16 flips (CKPTSUM-1)</a:t>
                      </a:r>
                    </a:p>
                  </a:txBody>
                  <a:tcPr marL="82296" marR="64008" marT="32004" marB="32004" anchor="ctr">
                    <a:solidFill>
                      <a:srgbClr val="FFFFFF"/>
                    </a:solidFill>
                  </a:tcPr>
                </a:tc>
                <a:tc>
                  <a:txBody>
                    <a:bodyPr wrap="square"/>
                    <a:lstStyle/>
                    <a:p>
                      <a:r>
                        <a:rPr sz="1300" b="0">
                          <a:solidFill>
                            <a:srgbClr val="1A1A1A"/>
                          </a:solidFill>
                          <a:latin typeface="Source Sans 3"/>
                        </a:rPr>
                        <a:t>A CRC32C ends every checkpoint; a mismatch is skipped (PRV-4094) and the one before restored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checkpoint of another output schema was restored into the view (RETYPERESTORE-1)</a:t>
                      </a:r>
                    </a:p>
                  </a:txBody>
                  <a:tcPr marL="82296" marR="64008" marT="32004" marB="32004" anchor="ctr">
                    <a:solidFill>
                      <a:srgbClr val="F7F5F2"/>
                    </a:solidFill>
                  </a:tcPr>
                </a:tc>
                <a:tc>
                  <a:txBody>
                    <a:bodyPr wrap="square"/>
                    <a:lstStyle/>
                    <a:p>
                      <a:r>
                        <a:rPr sz="1300" b="0">
                          <a:solidFill>
                            <a:srgbClr val="1A1A1A"/>
                          </a:solidFill>
                          <a:latin typeface="Source Sans 3"/>
                        </a:rPr>
                        <a:t>Not restored (PRV-4095); the query rebuilds from its sources</a:t>
                      </a:r>
                    </a:p>
                  </a:txBody>
                  <a:tcPr marL="82296" marR="64008" marT="32004" marB="32004" anchor="ctr">
                    <a:solidFill>
                      <a:srgbClr val="F7F5F2"/>
                    </a:solidFill>
                  </a:tcPr>
                </a:tc>
              </a:tr>
              <a:tr h="535025">
                <a:tc>
                  <a:txBody>
                    <a:bodyPr wrap="square"/>
                    <a:lstStyle/>
                    <a:p>
                      <a:r>
                        <a:rPr sz="1300" b="1">
                          <a:solidFill>
                            <a:srgbClr val="8A1626"/>
                          </a:solidFill>
                          <a:latin typeface="Source Sans 3"/>
                        </a:rPr>
                        <a:t>One damaged length mid-journal dropped every later registration, at every start (JOURNALMID-1)</a:t>
                      </a:r>
                    </a:p>
                  </a:txBody>
                  <a:tcPr marL="82296" marR="64008" marT="32004" marB="32004" anchor="ctr">
                    <a:solidFill>
                      <a:srgbClr val="FFFFFF"/>
                    </a:solidFill>
                  </a:tcPr>
                </a:tc>
                <a:tc>
                  <a:txBody>
                    <a:bodyPr wrap="square"/>
                    <a:lstStyle/>
                    <a:p>
                      <a:r>
                        <a:rPr sz="1300" b="0">
                          <a:solidFill>
                            <a:srgbClr val="1A1A1A"/>
                          </a:solidFill>
                          <a:latin typeface="Source Sans 3"/>
                        </a:rPr>
                        <a:t>The start is refused, PRV-8005, naming both byte offsets</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shared computation's surviving name came back empty (SHAREDLOSS-1)</a:t>
                      </a:r>
                    </a:p>
                  </a:txBody>
                  <a:tcPr marL="82296" marR="64008" marT="32004" marB="32004" anchor="ctr">
                    <a:solidFill>
                      <a:srgbClr val="F7F5F2"/>
                    </a:solidFill>
                  </a:tcPr>
                </a:tc>
                <a:tc>
                  <a:txBody>
                    <a:bodyPr wrap="square"/>
                    <a:lstStyle/>
                    <a:p>
                      <a:r>
                        <a:rPr sz="1300" b="0">
                          <a:solidFill>
                            <a:srgbClr val="1A1A1A"/>
                          </a:solidFill>
                          <a:latin typeface="Source Sans 3"/>
                        </a:rPr>
                        <a:t>Its checkpoint home is journalled with the drop</a:t>
                      </a:r>
                    </a:p>
                  </a:txBody>
                  <a:tcPr marL="82296" marR="64008" marT="32004" marB="32004" anchor="ctr">
                    <a:solidFill>
                      <a:srgbClr val="F7F5F2"/>
                    </a:solidFill>
                  </a:tcPr>
                </a:tc>
              </a:tr>
              <a:tr h="535025">
                <a:tc>
                  <a:txBody>
                    <a:bodyPr wrap="square"/>
                    <a:lstStyle/>
                    <a:p>
                      <a:r>
                        <a:rPr sz="1300" b="1">
                          <a:solidFill>
                            <a:srgbClr val="8A1626"/>
                          </a:solidFill>
                          <a:latin typeface="Source Sans 3"/>
                        </a:rPr>
                        <a:t>A registration refused at recovery vanished; health UP (RECOVERYHEALTH-1)</a:t>
                      </a:r>
                    </a:p>
                  </a:txBody>
                  <a:tcPr marL="82296" marR="64008" marT="32004" marB="32004" anchor="ctr">
                    <a:solidFill>
                      <a:srgbClr val="FFFFFF"/>
                    </a:solidFill>
                  </a:tcPr>
                </a:tc>
                <a:tc>
                  <a:txBody>
                    <a:bodyPr wrap="square"/>
                    <a:lstStyle/>
                    <a:p>
                      <a:r>
                        <a:rPr sz="1300" b="0">
                          <a:solidFill>
                            <a:srgbClr val="1A1A1A"/>
                          </a:solidFill>
                          <a:latin typeface="Source Sans 3"/>
                        </a:rPr>
                        <a:t>Listed FAILED with its code; health DEGRADED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dropped CDC slot or deleted topic: RUNNING, UP, changes lost (CDCSLOT-1, TOPICGONE-1)</a:t>
                      </a:r>
                    </a:p>
                  </a:txBody>
                  <a:tcPr marL="82296" marR="64008" marT="32004" marB="32004" anchor="ctr">
                    <a:solidFill>
                      <a:srgbClr val="F7F5F2"/>
                    </a:solidFill>
                  </a:tcPr>
                </a:tc>
                <a:tc>
                  <a:txBody>
                    <a:bodyPr wrap="square"/>
                    <a:lstStyle/>
                    <a:p>
                      <a:r>
                        <a:rPr sz="1300" b="0">
                          <a:solidFill>
                            <a:srgbClr val="1A1A1A"/>
                          </a:solidFill>
                          <a:latin typeface="Source Sans 3"/>
                        </a:rPr>
                        <a:t>The feed stops, PRV-5117 or PRV-5130; health DEGRADED</a:t>
                      </a:r>
                    </a:p>
                  </a:txBody>
                  <a:tcPr marL="82296" marR="64008" marT="32004" marB="32004" anchor="ctr">
                    <a:solidFill>
                      <a:srgbClr val="F7F5F2"/>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3.7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61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Answers built on answers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 can read another query's view and follow its answer, exactly, across restarts. An alert follows a view's answer and says when a row enters it and when it leaves.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Queries on queries (ADR-056)</a:t>
            </a:r>
          </a:p>
          <a:p>
            <a:pPr>
              <a:lnSpc>
                <a:spcPct val="115000"/>
              </a:lnSpc>
              <a:spcBef>
                <a:spcPts val="0"/>
              </a:spcBef>
              <a:spcAft>
                <a:spcPts val="600"/>
              </a:spcAft>
            </a:pPr>
            <a:r>
              <a:rPr sz="1250" b="0" i="0">
                <a:solidFill>
                  <a:srgbClr val="F6E6E9"/>
                </a:solidFill>
                <a:latin typeface="Source Sans 3"/>
              </a:rPr>
              <a:t>A seam with no position: the consumed answer</a:t>
            </a:r>
          </a:p>
          <a:p>
            <a:pPr>
              <a:lnSpc>
                <a:spcPct val="115000"/>
              </a:lnSpc>
              <a:spcBef>
                <a:spcPts val="0"/>
              </a:spcBef>
              <a:spcAft>
                <a:spcPts val="600"/>
              </a:spcAft>
            </a:pPr>
            <a:r>
              <a:rPr sz="1250" b="0" i="0">
                <a:solidFill>
                  <a:srgbClr val="F6E6E9"/>
                </a:solidFill>
                <a:latin typeface="Source Sans 3"/>
              </a:rPr>
              <a:t>Alerts that fire and clear (ADR-057)</a:t>
            </a:r>
          </a:p>
          <a:p>
            <a:pPr>
              <a:lnSpc>
                <a:spcPct val="115000"/>
              </a:lnSpc>
              <a:spcBef>
                <a:spcPts val="0"/>
              </a:spcBef>
              <a:spcAft>
                <a:spcPts val="600"/>
              </a:spcAft>
            </a:pPr>
            <a:r>
              <a:rPr sz="1250" b="0" i="0">
                <a:solidFill>
                  <a:srgbClr val="F6E6E9"/>
                </a:solidFill>
                <a:latin typeface="Source Sans 3"/>
              </a:rPr>
              <a:t>Exactly-once state, at-least-once delivery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QUERIES ON QUERIES · ADR-056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query over a view follows its answer, not its changelog</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1361846"/>
            <a:ext cx="5348471" cy="33467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5720" cy="33467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63014"/>
            <a:ext cx="4946135" cy="2944368"/>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CREATE CONTINUOUS QUERY cleaned</a:t>
            </a:r>
          </a:p>
          <a:p>
            <a:pPr>
              <a:lnSpc>
                <a:spcPct val="100000"/>
              </a:lnSpc>
              <a:spcBef>
                <a:spcPts val="0"/>
              </a:spcBef>
              <a:spcAft>
                <a:spcPts val="0"/>
              </a:spcAft>
            </a:pPr>
            <a:r>
              <a:rPr sz="1200" b="0" i="0">
                <a:solidFill>
                  <a:srgbClr val="F1EEE9"/>
                </a:solidFill>
                <a:latin typeface="Consolas"/>
              </a:rPr>
              <a:t>  KEYED BY (user_id)</a:t>
            </a:r>
          </a:p>
          <a:p>
            <a:pPr>
              <a:lnSpc>
                <a:spcPct val="100000"/>
              </a:lnSpc>
              <a:spcBef>
                <a:spcPts val="0"/>
              </a:spcBef>
              <a:spcAft>
                <a:spcPts val="0"/>
              </a:spcAft>
            </a:pPr>
            <a:r>
              <a:rPr sz="1200" b="0" i="0">
                <a:solidFill>
                  <a:srgbClr val="F1EEE9"/>
                </a:solidFill>
                <a:latin typeface="Consolas"/>
              </a:rPr>
              <a:t>AS SELECT user_id, region, amount</a:t>
            </a:r>
          </a:p>
          <a:p>
            <a:pPr>
              <a:lnSpc>
                <a:spcPct val="100000"/>
              </a:lnSpc>
              <a:spcBef>
                <a:spcPts val="0"/>
              </a:spcBef>
              <a:spcAft>
                <a:spcPts val="0"/>
              </a:spcAft>
            </a:pPr>
            <a:r>
              <a:rPr sz="1200" b="0" i="0">
                <a:solidFill>
                  <a:srgbClr val="F1EEE9"/>
                </a:solidFill>
                <a:latin typeface="Consolas"/>
              </a:rPr>
              <a:t>   FROM txn WHERE amount &gt; 0;</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by_region</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SUM(amount) AS total,</a:t>
            </a:r>
          </a:p>
          <a:p>
            <a:pPr>
              <a:lnSpc>
                <a:spcPct val="100000"/>
              </a:lnSpc>
              <a:spcBef>
                <a:spcPts val="0"/>
              </a:spcBef>
              <a:spcAft>
                <a:spcPts val="0"/>
              </a:spcAft>
            </a:pPr>
            <a:r>
              <a:rPr sz="1200" b="0" i="0">
                <a:solidFill>
                  <a:srgbClr val="F1EEE9"/>
                </a:solidFill>
                <a:latin typeface="Consolas"/>
              </a:rPr>
              <a:t>   COUNT(*) AS n</a:t>
            </a:r>
          </a:p>
          <a:p>
            <a:pPr>
              <a:lnSpc>
                <a:spcPct val="100000"/>
              </a:lnSpc>
              <a:spcBef>
                <a:spcPts val="0"/>
              </a:spcBef>
              <a:spcAft>
                <a:spcPts val="0"/>
              </a:spcAft>
            </a:pPr>
            <a:r>
              <a:rPr sz="1200" b="0" i="0">
                <a:solidFill>
                  <a:srgbClr val="F1EEE9"/>
                </a:solidFill>
                <a:latin typeface="Consolas"/>
              </a:rPr>
              <a:t>   FROM cleaned GROUP BY region;</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big_regions</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total</a:t>
            </a:r>
          </a:p>
          <a:p>
            <a:pPr>
              <a:lnSpc>
                <a:spcPct val="100000"/>
              </a:lnSpc>
              <a:spcBef>
                <a:spcPts val="0"/>
              </a:spcBef>
              <a:spcAft>
                <a:spcPts val="0"/>
              </a:spcAft>
            </a:pPr>
            <a:r>
              <a:rPr sz="1200" b="0" i="0">
                <a:solidFill>
                  <a:srgbClr val="F1EEE9"/>
                </a:solidFill>
                <a:latin typeface="Consolas"/>
              </a:rPr>
              <a:t>   FROM by_region WHERE total &gt; 100;</a:t>
            </a:r>
          </a:p>
        </p:txBody>
      </p:sp>
      <p:sp>
        <p:nvSpPr>
          <p:cNvPr id="13" name="TextBox 12"/>
          <p:cNvSpPr txBox="1"/>
          <p:nvPr/>
        </p:nvSpPr>
        <p:spPr>
          <a:xfrm>
            <a:off x="6491471" y="1361846"/>
            <a:ext cx="4922983" cy="488350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Fed the answer's changes</a:t>
            </a:r>
          </a:p>
          <a:p>
            <a:pPr lvl="1">
              <a:lnSpc>
                <a:spcPct val="120000"/>
              </a:lnSpc>
              <a:spcBef>
                <a:spcPts val="0"/>
              </a:spcBef>
              <a:spcAft>
                <a:spcPts val="0"/>
              </a:spcAft>
            </a:pPr>
            <a:r>
              <a:rPr sz="1350" b="0">
                <a:solidFill>
                  <a:srgbClr val="4A5058"/>
                </a:solidFill>
                <a:latin typeface="Source Sans 3"/>
              </a:rPr>
              <a:t>Its snapshot, then per commit the row that left the answer at −1 and the one that entered at +1 — so an upsert upstream is an update downstream, not a second row.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can be maintained exactly</a:t>
            </a:r>
          </a:p>
          <a:p>
            <a:pPr lvl="1">
              <a:lnSpc>
                <a:spcPct val="120000"/>
              </a:lnSpc>
              <a:spcBef>
                <a:spcPts val="0"/>
              </a:spcBef>
              <a:spcAft>
                <a:spcPts val="0"/>
              </a:spcAft>
            </a:pPr>
            <a:r>
              <a:rPr sz="1350" b="0">
                <a:solidFill>
                  <a:srgbClr val="4A5058"/>
                </a:solidFill>
                <a:latin typeface="Source Sans 3"/>
              </a:rPr>
              <a:t>Filters, projections and unwindowed COUNT, SUM and AVG, with GROUP BY; windows, joins, top-N, MIN/MAX and COUNT(DISTINCT) are refused (PRV-2075).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Named refusals</a:t>
            </a:r>
          </a:p>
          <a:p>
            <a:pPr lvl="1">
              <a:lnSpc>
                <a:spcPct val="120000"/>
              </a:lnSpc>
              <a:spcBef>
                <a:spcPts val="0"/>
              </a:spcBef>
              <a:spcAft>
                <a:spcPts val="0"/>
              </a:spcAft>
            </a:pPr>
            <a:r>
              <a:rPr sz="1350" b="0">
                <a:solidFill>
                  <a:srgbClr val="4A5058"/>
                </a:solidFill>
                <a:latin typeface="Source Sans 3"/>
              </a:rPr>
              <a:t>Dropping a view others read (PRV-8024, no cascade), a cycle (PRV-8025), replacing a chain member (PRV-8026), deeper than eight (PRV-8027).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 ONCE ACROSS A CHAIN</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No position to meet at, so the seam is the answer consumed</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has no position</a:t>
            </a:r>
          </a:p>
        </p:txBody>
      </p:sp>
      <p:sp>
        <p:nvSpPr>
          <p:cNvPr id="13" name="TextBox 12"/>
          <p:cNvSpPr txBox="1"/>
          <p:nvPr/>
        </p:nvSpPr>
        <p:spPr>
          <a:xfrm>
            <a:off x="960120"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Commits follow a timer; after a restart the upstream's commit n is a different set of changes. A sequence number cannot be resumed from.</a:t>
            </a:r>
          </a:p>
        </p:txBody>
      </p:sp>
      <p:sp>
        <p:nvSpPr>
          <p:cNvPr id="14" name="Rectangle 13"/>
          <p:cNvSpPr/>
          <p:nvPr/>
        </p:nvSpPr>
        <p:spPr>
          <a:xfrm>
            <a:off x="4414418"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4418"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Record the answer seen</a:t>
            </a:r>
          </a:p>
        </p:txBody>
      </p:sp>
      <p:sp>
        <p:nvSpPr>
          <p:cNvPr id="17" name="TextBox 16"/>
          <p:cNvSpPr txBox="1"/>
          <p:nvPr/>
        </p:nvSpPr>
        <p:spPr>
          <a:xfrm>
            <a:off x="4597298"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downstream keeps an image of the upstream rows it was handed, and its checkpoint stores it, cut under the same freeze as its state.</a:t>
            </a:r>
          </a:p>
        </p:txBody>
      </p:sp>
      <p:cxnSp>
        <p:nvCxnSpPr>
          <p:cNvPr id="18" name="Connector 17"/>
          <p:cNvCxnSpPr/>
          <p:nvPr/>
        </p:nvCxnSpPr>
        <p:spPr>
          <a:xfrm>
            <a:off x="4176674"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051596"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1596"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4476"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Restore by difference</a:t>
            </a:r>
          </a:p>
        </p:txBody>
      </p:sp>
      <p:sp>
        <p:nvSpPr>
          <p:cNvPr id="22" name="TextBox 21"/>
          <p:cNvSpPr txBox="1"/>
          <p:nvPr/>
        </p:nvSpPr>
        <p:spPr>
          <a:xfrm>
            <a:off x="8234476"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Follow the upstream again, and feed its snapshot minus the image first — retractions and insertions — then every change.</a:t>
            </a:r>
          </a:p>
        </p:txBody>
      </p:sp>
      <p:cxnSp>
        <p:nvCxnSpPr>
          <p:cNvPr id="23" name="Connector 22"/>
          <p:cNvCxnSpPr/>
          <p:nvPr/>
        </p:nvCxnSpPr>
        <p:spPr>
          <a:xfrm>
            <a:off x="7813852"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0320"/>
            <a:ext cx="10637215" cy="281503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Exact whichever side checkpointed later</a:t>
            </a:r>
          </a:p>
          <a:p>
            <a:pPr lvl="1">
              <a:lnSpc>
                <a:spcPct val="120000"/>
              </a:lnSpc>
              <a:spcBef>
                <a:spcPts val="0"/>
              </a:spcBef>
              <a:spcAft>
                <a:spcPts val="0"/>
              </a:spcAft>
            </a:pPr>
            <a:r>
              <a:rPr sz="1350" b="0">
                <a:solidFill>
                  <a:srgbClr val="4A5058"/>
                </a:solidFill>
                <a:latin typeface="Source Sans 3"/>
              </a:rPr>
              <a:t>The difference is between two answers, not two positions. It works because every operator allowed over a view depends only on what its input adds up to.</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reader that falls 65,536 changes behind</a:t>
            </a:r>
          </a:p>
          <a:p>
            <a:pPr lvl="1">
              <a:lnSpc>
                <a:spcPct val="120000"/>
              </a:lnSpc>
              <a:spcBef>
                <a:spcPts val="0"/>
              </a:spcBef>
              <a:spcAft>
                <a:spcPts val="0"/>
              </a:spcAft>
            </a:pPr>
            <a:r>
              <a:rPr sz="1350" b="0">
                <a:solidFill>
                  <a:srgbClr val="4A5058"/>
                </a:solidFill>
                <a:latin typeface="Source Sans 3"/>
              </a:rPr>
              <a:t>Drops its queue, re-snapshots and is fed the difference: conflation without loss.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ALERTS · ADR-057</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Told when a row enters the answer, and when it leaves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sp>
        <p:nvSpPr>
          <p:cNvPr id="10" name="Rectangle 9"/>
          <p:cNvSpPr/>
          <p:nvPr/>
        </p:nvSpPr>
        <p:spPr>
          <a:xfrm>
            <a:off x="777240" y="1378204"/>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ALERT low_stock_alert</a:t>
            </a:r>
          </a:p>
          <a:p>
            <a:pPr>
              <a:lnSpc>
                <a:spcPct val="100000"/>
              </a:lnSpc>
              <a:spcBef>
                <a:spcPts val="0"/>
              </a:spcBef>
              <a:spcAft>
                <a:spcPts val="0"/>
              </a:spcAft>
            </a:pPr>
            <a:r>
              <a:rPr sz="1300" b="0" i="0">
                <a:solidFill>
                  <a:srgbClr val="F1EEE9"/>
                </a:solidFill>
                <a:latin typeface="Consolas"/>
              </a:rPr>
              <a:t>  ON low_stock</a:t>
            </a:r>
          </a:p>
          <a:p>
            <a:pPr>
              <a:lnSpc>
                <a:spcPct val="100000"/>
              </a:lnSpc>
              <a:spcBef>
                <a:spcPts val="0"/>
              </a:spcBef>
              <a:spcAft>
                <a:spcPts val="0"/>
              </a:spcAft>
            </a:pPr>
            <a:r>
              <a:rPr sz="1300" b="0" i="0">
                <a:solidFill>
                  <a:srgbClr val="F1EEE9"/>
                </a:solidFill>
                <a:latin typeface="Consolas"/>
              </a:rPr>
              <a:t>  WHERE warehouse = 'LDN'</a:t>
            </a:r>
          </a:p>
          <a:p>
            <a:pPr>
              <a:lnSpc>
                <a:spcPct val="100000"/>
              </a:lnSpc>
              <a:spcBef>
                <a:spcPts val="0"/>
              </a:spcBef>
              <a:spcAft>
                <a:spcPts val="0"/>
              </a:spcAft>
            </a:pPr>
            <a:r>
              <a:rPr sz="1300" b="0" i="0">
                <a:solidFill>
                  <a:srgbClr val="F1EEE9"/>
                </a:solidFill>
                <a:latin typeface="Consolas"/>
              </a:rPr>
              <a:t>  NOTIFY buyers</a:t>
            </a:r>
          </a:p>
          <a:p>
            <a:pPr>
              <a:lnSpc>
                <a:spcPct val="100000"/>
              </a:lnSpc>
              <a:spcBef>
                <a:spcPts val="0"/>
              </a:spcBef>
              <a:spcAft>
                <a:spcPts val="0"/>
              </a:spcAft>
            </a:pPr>
            <a:r>
              <a:rPr sz="1300" b="0" i="0">
                <a:solidFill>
                  <a:srgbClr val="F1EEE9"/>
                </a:solidFill>
                <a:latin typeface="Consolas"/>
              </a:rPr>
              <a:t>  WITH (severity = 'warning',</a:t>
            </a:r>
          </a:p>
          <a:p>
            <a:pPr>
              <a:lnSpc>
                <a:spcPct val="100000"/>
              </a:lnSpc>
              <a:spcBef>
                <a:spcPts val="0"/>
              </a:spcBef>
              <a:spcAft>
                <a:spcPts val="0"/>
              </a:spcAft>
            </a:pPr>
            <a:r>
              <a:rPr sz="1300" b="0" i="0">
                <a:solidFill>
                  <a:srgbClr val="F1EEE9"/>
                </a:solidFill>
                <a:latin typeface="Consolas"/>
              </a:rPr>
              <a:t>        fire_after = '1m',</a:t>
            </a:r>
          </a:p>
          <a:p>
            <a:pPr>
              <a:lnSpc>
                <a:spcPct val="100000"/>
              </a:lnSpc>
              <a:spcBef>
                <a:spcPts val="0"/>
              </a:spcBef>
              <a:spcAft>
                <a:spcPts val="0"/>
              </a:spcAft>
            </a:pPr>
            <a:r>
              <a:rPr sz="1300" b="0" i="0">
                <a:solidFill>
                  <a:srgbClr val="F1EEE9"/>
                </a:solidFill>
                <a:latin typeface="Consolas"/>
              </a:rPr>
              <a:t>        clear_after = '5m',</a:t>
            </a:r>
          </a:p>
          <a:p>
            <a:pPr>
              <a:lnSpc>
                <a:spcPct val="100000"/>
              </a:lnSpc>
              <a:spcBef>
                <a:spcPts val="0"/>
              </a:spcBef>
              <a:spcAft>
                <a:spcPts val="0"/>
              </a:spcAft>
            </a:pPr>
            <a:r>
              <a:rPr sz="1300" b="0" i="0">
                <a:solidFill>
                  <a:srgbClr val="F1EEE9"/>
                </a:solidFill>
                <a:latin typeface="Consolas"/>
              </a:rPr>
              <a:t>        dedupe = '10m',</a:t>
            </a:r>
          </a:p>
          <a:p>
            <a:pPr>
              <a:lnSpc>
                <a:spcPct val="100000"/>
              </a:lnSpc>
              <a:spcBef>
                <a:spcPts val="0"/>
              </a:spcBef>
              <a:spcAft>
                <a:spcPts val="0"/>
              </a:spcAft>
            </a:pPr>
            <a:r>
              <a:rPr sz="1300" b="0" i="0">
                <a:solidFill>
                  <a:srgbClr val="F1EEE9"/>
                </a:solidFill>
                <a:latin typeface="Consolas"/>
              </a:rPr>
              <a:t>        resend_every = '1h')</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SNOOZE ALERT low_stock_alert FOR '2h'</a:t>
            </a:r>
          </a:p>
          <a:p>
            <a:pPr>
              <a:lnSpc>
                <a:spcPct val="100000"/>
              </a:lnSpc>
              <a:spcBef>
                <a:spcPts val="0"/>
              </a:spcBef>
              <a:spcAft>
                <a:spcPts val="0"/>
              </a:spcAft>
            </a:pPr>
            <a:r>
              <a:rPr sz="1300" b="0" i="0">
                <a:solidFill>
                  <a:srgbClr val="F1EEE9"/>
                </a:solidFill>
                <a:latin typeface="Consolas"/>
              </a:rPr>
              <a:t>ACK    ALERT low_stock_alert</a:t>
            </a:r>
          </a:p>
        </p:txBody>
      </p:sp>
      <p:sp>
        <p:nvSpPr>
          <p:cNvPr id="13" name="TextBox 12"/>
          <p:cNvSpPr txBox="1"/>
          <p:nvPr/>
        </p:nvSpPr>
        <p:spPr>
          <a:xfrm>
            <a:off x="6278727" y="1378204"/>
            <a:ext cx="5135727" cy="486714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clear is a retraction, not a guess</a:t>
            </a:r>
          </a:p>
          <a:p>
            <a:pPr lvl="1">
              <a:lnSpc>
                <a:spcPct val="120000"/>
              </a:lnSpc>
              <a:spcBef>
                <a:spcPts val="0"/>
              </a:spcBef>
              <a:spcAft>
                <a:spcPts val="0"/>
              </a:spcAft>
            </a:pPr>
            <a:r>
              <a:rPr sz="1350" b="0">
                <a:solidFill>
                  <a:srgbClr val="4A5058"/>
                </a:solidFill>
                <a:latin typeface="Source Sans 3"/>
              </a:rPr>
              <a:t>A delivery arrives from mysql-cdc as −1 old, +1 new; the filter passes neither half, the row leaves low_stock, and the alert is told.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is true, and what is said</a:t>
            </a:r>
          </a:p>
          <a:p>
            <a:pPr lvl="1">
              <a:lnSpc>
                <a:spcPct val="120000"/>
              </a:lnSpc>
              <a:spcBef>
                <a:spcPts val="0"/>
              </a:spcBef>
              <a:spcAft>
                <a:spcPts val="0"/>
              </a:spcAft>
            </a:pPr>
            <a:r>
              <a:rPr sz="1350" b="0">
                <a:solidFill>
                  <a:srgbClr val="4A5058"/>
                </a:solidFill>
                <a:latin typeface="Source Sans 3"/>
              </a:rPr>
              <a:t>fire_after and clear_after decide the first; dedupe, pause, snooze and reminders only hold the second back — a flap folds into its end state.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Channels are plugins</a:t>
            </a:r>
          </a:p>
          <a:p>
            <a:pPr lvl="1">
              <a:lnSpc>
                <a:spcPct val="120000"/>
              </a:lnSpc>
              <a:spcBef>
                <a:spcPts val="0"/>
              </a:spcBef>
              <a:spcAft>
                <a:spcPts val="0"/>
              </a:spcAft>
            </a:pPr>
            <a:r>
              <a:rPr sz="1350" b="0">
                <a:solidFill>
                  <a:srgbClr val="4A5058"/>
                </a:solidFill>
                <a:latin typeface="Source Sans 3"/>
              </a:rPr>
              <a:t>A webhook signed with HMAC-SHA256 (a Slack format too) and a log channel; email, Teams and PagerDuty are designed, not built.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GUARANTEES,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Exactly-once alert state, at-least-once delivery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end to end: the retail study's low-stock alert on a real node with a signed webhook and a restart (RetailLowStockAlertEndToEndTest).</a:t>
            </a:r>
          </a:p>
        </p:txBody>
      </p:sp>
      <p:graphicFrame>
        <p:nvGraphicFramePr>
          <p:cNvPr id="12" name="Table 11"/>
          <p:cNvGraphicFramePr>
            <a:graphicFrameLocks noGrp="1"/>
          </p:cNvGraphicFramePr>
          <p:nvPr/>
        </p:nvGraphicFramePr>
        <p:xfrm>
          <a:off x="777240" y="1410919"/>
          <a:ext cx="10637214" cy="3352594"/>
        </p:xfrm>
        <a:graphic>
          <a:graphicData uri="http://schemas.openxmlformats.org/drawingml/2006/table">
            <a:tbl>
              <a:tblPr firstRow="1">
                <a:tableStyleId>{5C22544A-7EE6-4342-B048-85BDC9FD1C3A}</a:tableStyleId>
              </a:tblPr>
              <a:tblGrid>
                <a:gridCol w="3900312"/>
                <a:gridCol w="6736902"/>
              </a:tblGrid>
              <a:tr h="322376">
                <a:tc>
                  <a:txBody>
                    <a:bodyPr wrap="square"/>
                    <a:lstStyle/>
                    <a:p>
                      <a:r>
                        <a:rPr sz="1300" b="1">
                          <a:solidFill>
                            <a:srgbClr val="FFFFFF"/>
                          </a:solidFill>
                          <a:latin typeface="Source Sans 3"/>
                        </a:rPr>
                        <a:t>Situation</a:t>
                      </a:r>
                    </a:p>
                  </a:txBody>
                  <a:tcPr marL="82296" marR="64008" marT="32004" marB="32004" anchor="ctr">
                    <a:solidFill>
                      <a:srgbClr val="8A1626"/>
                    </a:solidFill>
                  </a:tcPr>
                </a:tc>
                <a:tc>
                  <a:txBody>
                    <a:bodyPr wrap="square"/>
                    <a:lstStyle/>
                    <a:p>
                      <a:r>
                        <a:rPr sz="1300" b="1">
                          <a:solidFill>
                            <a:srgbClr val="FFFFFF"/>
                          </a:solidFill>
                          <a:latin typeface="Source Sans 3"/>
                        </a:rPr>
                        <a:t>What happens</a:t>
                      </a:r>
                    </a:p>
                  </a:txBody>
                  <a:tcPr marL="82296" marR="64008" marT="32004" marB="32004" anchor="ctr">
                    <a:solidFill>
                      <a:srgbClr val="8A1626"/>
                    </a:solidFill>
                  </a:tcPr>
                </a:tc>
              </a:tr>
              <a:tr h="584098">
                <a:tc>
                  <a:txBody>
                    <a:bodyPr wrap="square"/>
                    <a:lstStyle/>
                    <a:p>
                      <a:r>
                        <a:rPr sz="1450" b="1">
                          <a:solidFill>
                            <a:srgbClr val="8A1626"/>
                          </a:solidFill>
                          <a:latin typeface="Source Sans 3"/>
                        </a:rPr>
                        <a:t>Any decision</a:t>
                      </a:r>
                    </a:p>
                  </a:txBody>
                  <a:tcPr marL="82296" marR="64008" marT="32004" marB="32004" anchor="ctr">
                    <a:solidFill>
                      <a:srgbClr val="FFFFFF"/>
                    </a:solidFill>
                  </a:tcPr>
                </a:tc>
                <a:tc>
                  <a:txBody>
                    <a:bodyPr wrap="square"/>
                    <a:lstStyle/>
                    <a:p>
                      <a:r>
                        <a:rPr sz="1450" b="0">
                          <a:solidFill>
                            <a:srgbClr val="1A1A1A"/>
                          </a:solidFill>
                          <a:latin typeface="Source Sans 3"/>
                        </a:rPr>
                        <a:t>Fired, cleared, told, acknowledged — journalled and forced to disk before anything is sent</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Restart, key still in the answer</a:t>
                      </a:r>
                    </a:p>
                  </a:txBody>
                  <a:tcPr marL="82296" marR="64008" marT="32004" marB="32004" anchor="ctr">
                    <a:solidFill>
                      <a:srgbClr val="F7F5F2"/>
                    </a:solidFill>
                  </a:tcPr>
                </a:tc>
                <a:tc>
                  <a:txBody>
                    <a:bodyPr wrap="square"/>
                    <a:lstStyle/>
                    <a:p>
                      <a:r>
                        <a:rPr sz="1450" b="0">
                          <a:solidFill>
                            <a:srgbClr val="1A1A1A"/>
                          </a:solidFill>
                          <a:latin typeface="Source Sans 3"/>
                        </a:rPr>
                        <a:t>Not fired again</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Restart, a clear decided but not delivered</a:t>
                      </a:r>
                    </a:p>
                  </a:txBody>
                  <a:tcPr marL="82296" marR="64008" marT="32004" marB="32004" anchor="ctr">
                    <a:solidFill>
                      <a:srgbClr val="FFFFFF"/>
                    </a:solidFill>
                  </a:tcPr>
                </a:tc>
                <a:tc>
                  <a:txBody>
                    <a:bodyPr wrap="square"/>
                    <a:lstStyle/>
                    <a:p>
                      <a:r>
                        <a:rPr sz="1450" b="0">
                          <a:solidFill>
                            <a:srgbClr val="1A1A1A"/>
                          </a:solidFill>
                          <a:latin typeface="Source Sans 3"/>
                        </a:rPr>
                        <a:t>Delivered: it is owed, and the journal says so</a:t>
                      </a:r>
                    </a:p>
                  </a:txBody>
                  <a:tcPr marL="82296" marR="64008" marT="32004" marB="32004" anchor="ctr">
                    <a:solidFill>
                      <a:srgbClr val="FFFFFF"/>
                    </a:solidFill>
                  </a:tcPr>
                </a:tc>
              </a:tr>
              <a:tr h="584098">
                <a:tc>
                  <a:txBody>
                    <a:bodyPr wrap="square"/>
                    <a:lstStyle/>
                    <a:p>
                      <a:r>
                        <a:rPr sz="1450" b="1">
                          <a:solidFill>
                            <a:srgbClr val="8A1626"/>
                          </a:solidFill>
                          <a:latin typeface="Source Sans 3"/>
                        </a:rPr>
                        <a:t>A channel refuses or times out</a:t>
                      </a:r>
                    </a:p>
                  </a:txBody>
                  <a:tcPr marL="82296" marR="64008" marT="32004" marB="32004" anchor="ctr">
                    <a:solidFill>
                      <a:srgbClr val="F7F5F2"/>
                    </a:solidFill>
                  </a:tcPr>
                </a:tc>
                <a:tc>
                  <a:txBody>
                    <a:bodyPr wrap="square"/>
                    <a:lstStyle/>
                    <a:p>
                      <a:r>
                        <a:rPr sz="1450" b="0">
                          <a:solidFill>
                            <a:srgbClr val="1A1A1A"/>
                          </a:solidFill>
                          <a:latin typeface="Source Sans 3"/>
                        </a:rPr>
                        <a:t>Retried with backoff, then re-sent every minute until accepted; the failure is on the alert (PRV-8045)</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receiver sees one twice</a:t>
                      </a:r>
                    </a:p>
                  </a:txBody>
                  <a:tcPr marL="82296" marR="64008" marT="32004" marB="32004" anchor="ctr">
                    <a:solidFill>
                      <a:srgbClr val="FFFFFF"/>
                    </a:solidFill>
                  </a:tcPr>
                </a:tc>
                <a:tc>
                  <a:txBody>
                    <a:bodyPr wrap="square"/>
                    <a:lstStyle/>
                    <a:p>
                      <a:r>
                        <a:rPr sz="1450" b="0">
                          <a:solidFill>
                            <a:srgbClr val="1A1A1A"/>
                          </a:solidFill>
                          <a:latin typeface="Source Sans 3"/>
                        </a:rPr>
                        <a:t>Every attempt carries the same Idempotency-Key, across retries and restarts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The view it follows is dropped</a:t>
                      </a:r>
                    </a:p>
                  </a:txBody>
                  <a:tcPr marL="82296" marR="64008" marT="32004" marB="32004" anchor="ctr">
                    <a:solidFill>
                      <a:srgbClr val="F7F5F2"/>
                    </a:solidFill>
                  </a:tcPr>
                </a:tc>
                <a:tc>
                  <a:txBody>
                    <a:bodyPr wrap="square"/>
                    <a:lstStyle/>
                    <a:p>
                      <a:r>
                        <a:rPr sz="1450" b="0">
                          <a:solidFill>
                            <a:srgbClr val="1A1A1A"/>
                          </a:solidFill>
                          <a:latin typeface="Source Sans 3"/>
                        </a:rPr>
                        <a:t>Refused while the alert exists (PRV-8024)</a:t>
                      </a:r>
                    </a:p>
                  </a:txBody>
                  <a:tcPr marL="82296" marR="64008" marT="32004" marB="32004" anchor="ctr">
                    <a:solidFill>
                      <a:srgbClr val="F7F5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53</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identity and governance</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Grants, row filters and masks live in the engine as a governed catalogue of live answers; the engine keeps its own users, keys and sessions;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governed catalogue (ADR-059)</a:t>
            </a:r>
          </a:p>
          <a:p>
            <a:pPr>
              <a:lnSpc>
                <a:spcPct val="115000"/>
              </a:lnSpc>
              <a:spcBef>
                <a:spcPts val="0"/>
              </a:spcBef>
              <a:spcAft>
                <a:spcPts val="600"/>
              </a:spcAft>
            </a:pPr>
            <a:r>
              <a:rPr sz="1250" b="0" i="0">
                <a:solidFill>
                  <a:srgbClr val="F6E6E9"/>
                </a:solidFill>
                <a:latin typeface="Source Sans 3"/>
              </a:rPr>
              <a:t>Row filters and masks as policies</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and ownership (ADR-050, ADR-060)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Catalogue filters reach subscriptions</a:t>
            </a:r>
          </a:p>
          <a:p>
            <a:pPr lvl="1">
              <a:lnSpc>
                <a:spcPct val="120000"/>
              </a:lnSpc>
              <a:spcBef>
                <a:spcPts val="0"/>
              </a:spcBef>
              <a:spcAft>
                <a:spcPts val="0"/>
              </a:spcAft>
            </a:pPr>
            <a:r>
              <a:rPr sz="1350" b="0">
                <a:solidFill>
                  <a:srgbClr val="4A5058"/>
                </a:solidFill>
                <a:latin typeface="Source Sans 3"/>
              </a:rPr>
              <a:t>A catalogue row filter is enforced per change; a programmatic policy's filter still refuses subscribe (STRM-13) — read the view instead.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PRAVAHA CATALOG · ADR-059</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Grants live in the engine, and govern answers still being computed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tenant.namespace.object names, each with an owner, description, tags and version. Grants are allow-only, to roles and users, inherited down namespaces; tenants are walls.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GRANT, REVOKE, SHOW EFFECTIVE ACCESS run wherever CREATE CONTINUOUS QUERY does; pravaha grant | revoke | access why; the console's Catalog and Admin → Grants.</a:t>
            </a:r>
          </a:p>
        </p:txBody>
      </p:sp>
      <p:graphicFrame>
        <p:nvGraphicFramePr>
          <p:cNvPr id="13" name="Table 12"/>
          <p:cNvGraphicFramePr>
            <a:graphicFrameLocks noGrp="1"/>
          </p:cNvGraphicFramePr>
          <p:nvPr/>
        </p:nvGraphicFramePr>
        <p:xfrm>
          <a:off x="777240" y="1958848"/>
          <a:ext cx="10637214" cy="2531311"/>
        </p:xfrm>
        <a:graphic>
          <a:graphicData uri="http://schemas.openxmlformats.org/drawingml/2006/table">
            <a:tbl>
              <a:tblPr firstRow="1">
                <a:tableStyleId>{5C22544A-7EE6-4342-B048-85BDC9FD1C3A}</a:tableStyleId>
              </a:tblPr>
              <a:tblGrid>
                <a:gridCol w="2836590"/>
                <a:gridCol w="7800624"/>
              </a:tblGrid>
              <a:tr h="322376">
                <a:tc>
                  <a:txBody>
                    <a:bodyPr wrap="square"/>
                    <a:lstStyle/>
                    <a:p>
                      <a:r>
                        <a:rPr sz="1300" b="1">
                          <a:solidFill>
                            <a:srgbClr val="FFFFFF"/>
                          </a:solidFill>
                          <a:latin typeface="Source Sans 3"/>
                        </a:rPr>
                        <a:t>Privilege</a:t>
                      </a:r>
                    </a:p>
                  </a:txBody>
                  <a:tcPr marL="82296" marR="64008" marT="32004" marB="32004" anchor="ctr">
                    <a:solidFill>
                      <a:srgbClr val="8A1626"/>
                    </a:solidFill>
                  </a:tcPr>
                </a:tc>
                <a:tc>
                  <a:txBody>
                    <a:bodyPr wrap="square"/>
                    <a:lstStyle/>
                    <a:p>
                      <a:r>
                        <a:rPr sz="1300" b="1">
                          <a:solidFill>
                            <a:srgbClr val="FFFFFF"/>
                          </a:solidFill>
                          <a:latin typeface="Source Sans 3"/>
                        </a:rPr>
                        <a:t>What it allows — and why a live answer needs it</a:t>
                      </a:r>
                    </a:p>
                  </a:txBody>
                  <a:tcPr marL="82296" marR="64008" marT="32004" marB="32004" anchor="ctr">
                    <a:solidFill>
                      <a:srgbClr val="8A1626"/>
                    </a:solidFill>
                  </a:tcPr>
                </a:tc>
              </a:tr>
              <a:tr h="346913">
                <a:tc>
                  <a:txBody>
                    <a:bodyPr wrap="square"/>
                    <a:lstStyle/>
                    <a:p>
                      <a:r>
                        <a:rPr sz="1450" b="1">
                          <a:solidFill>
                            <a:srgbClr val="8A1626"/>
                          </a:solidFill>
                          <a:latin typeface="Source Sans 3"/>
                        </a:rPr>
                        <a:t>USE · SELECT</a:t>
                      </a:r>
                    </a:p>
                  </a:txBody>
                  <a:tcPr marL="82296" marR="64008" marT="32004" marB="32004" anchor="ctr">
                    <a:solidFill>
                      <a:srgbClr val="FFFFFF"/>
                    </a:solidFill>
                  </a:tcPr>
                </a:tc>
                <a:tc>
                  <a:txBody>
                    <a:bodyPr wrap="square"/>
                    <a:lstStyle/>
                    <a:p>
                      <a:r>
                        <a:rPr sz="1450" b="0">
                          <a:solidFill>
                            <a:srgbClr val="1A1A1A"/>
                          </a:solidFill>
                          <a:latin typeface="Source Sans 3"/>
                        </a:rPr>
                        <a:t>Enter a namespace; read an object's rows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SUBSCRIBE</a:t>
                      </a:r>
                    </a:p>
                  </a:txBody>
                  <a:tcPr marL="82296" marR="64008" marT="32004" marB="32004" anchor="ctr">
                    <a:solidFill>
                      <a:srgbClr val="F7F5F2"/>
                    </a:solidFill>
                  </a:tcPr>
                </a:tc>
                <a:tc>
                  <a:txBody>
                    <a:bodyPr wrap="square"/>
                    <a:lstStyle/>
                    <a:p>
                      <a:r>
                        <a:rPr sz="1450" b="0">
                          <a:solidFill>
                            <a:srgbClr val="1A1A1A"/>
                          </a:solidFill>
                          <a:latin typeface="Source Sans 3"/>
                        </a:rPr>
                        <a:t>Follow a view's changes; re-asked every two seconds, so a REVOKE ends an open stream</a:t>
                      </a:r>
                    </a:p>
                  </a:txBody>
                  <a:tcPr marL="82296" marR="64008" marT="32004" marB="32004" anchor="ctr">
                    <a:solidFill>
                      <a:srgbClr val="F7F5F2"/>
                    </a:solidFill>
                  </a:tcPr>
                </a:tc>
              </a:tr>
              <a:tr h="584098">
                <a:tc>
                  <a:txBody>
                    <a:bodyPr wrap="square"/>
                    <a:lstStyle/>
                    <a:p>
                      <a:r>
                        <a:rPr sz="1450" b="1">
                          <a:solidFill>
                            <a:srgbClr val="8A1626"/>
                          </a:solidFill>
                          <a:latin typeface="Source Sans 3"/>
                        </a:rPr>
                        <a:t>BUILD_ON</a:t>
                      </a:r>
                    </a:p>
                  </a:txBody>
                  <a:tcPr marL="82296" marR="64008" marT="32004" marB="32004" anchor="ctr">
                    <a:solidFill>
                      <a:srgbClr val="FFFFFF"/>
                    </a:solidFill>
                  </a:tcPr>
                </a:tc>
                <a:tc>
                  <a:txBody>
                    <a:bodyPr wrap="square"/>
                    <a:lstStyle/>
                    <a:p>
                      <a:r>
                        <a:rPr sz="1450" b="0">
                          <a:solidFill>
                            <a:srgbClr val="1A1A1A"/>
                          </a:solidFill>
                          <a:latin typeface="Source Sans 3"/>
                        </a:rPr>
                        <a:t>Name an object as a registration's input: a registration is a standing read</a:t>
                      </a:r>
                    </a:p>
                  </a:txBody>
                  <a:tcPr marL="82296" marR="64008" marT="32004" marB="32004" anchor="ctr">
                    <a:solidFill>
                      <a:srgbClr val="FFFFFF"/>
                    </a:solidFill>
                  </a:tcPr>
                </a:tc>
              </a:tr>
              <a:tr h="346913">
                <a:tc>
                  <a:txBody>
                    <a:bodyPr wrap="square"/>
                    <a:lstStyle/>
                    <a:p>
                      <a:r>
                        <a:rPr sz="1450" b="1">
                          <a:solidFill>
                            <a:srgbClr val="8A1626"/>
                          </a:solidFill>
                          <a:latin typeface="Source Sans 3"/>
                        </a:rPr>
                        <a:t>CREATE · WRITE</a:t>
                      </a:r>
                    </a:p>
                  </a:txBody>
                  <a:tcPr marL="82296" marR="64008" marT="32004" marB="32004" anchor="ctr">
                    <a:solidFill>
                      <a:srgbClr val="F7F5F2"/>
                    </a:solidFill>
                  </a:tcPr>
                </a:tc>
                <a:tc>
                  <a:txBody>
                    <a:bodyPr wrap="square"/>
                    <a:lstStyle/>
                    <a:p>
                      <a:r>
                        <a:rPr sz="1450" b="0">
                          <a:solidFill>
                            <a:srgbClr val="1A1A1A"/>
                          </a:solidFill>
                          <a:latin typeface="Source Sans 3"/>
                        </a:rPr>
                        <a:t>Create in a namespace; write to a sink or notify a channel</a:t>
                      </a:r>
                    </a:p>
                  </a:txBody>
                  <a:tcPr marL="82296" marR="64008" marT="32004" marB="32004" anchor="ctr">
                    <a:solidFill>
                      <a:srgbClr val="F7F5F2"/>
                    </a:solidFill>
                  </a:tcPr>
                </a:tc>
              </a:tr>
              <a:tr h="346913">
                <a:tc>
                  <a:txBody>
                    <a:bodyPr wrap="square"/>
                    <a:lstStyle/>
                    <a:p>
                      <a:r>
                        <a:rPr sz="1450" b="1">
                          <a:solidFill>
                            <a:srgbClr val="8A1626"/>
                          </a:solidFill>
                          <a:latin typeface="Source Sans 3"/>
                        </a:rPr>
                        <a:t>MODIFY · MANAGE · OWN</a:t>
                      </a:r>
                    </a:p>
                  </a:txBody>
                  <a:tcPr marL="82296" marR="64008" marT="32004" marB="32004" anchor="ctr">
                    <a:solidFill>
                      <a:srgbClr val="FFFFFF"/>
                    </a:solidFill>
                  </a:tcPr>
                </a:tc>
                <a:tc>
                  <a:txBody>
                    <a:bodyPr wrap="square"/>
                    <a:lstStyle/>
                    <a:p>
                      <a:r>
                        <a:rPr sz="1450" b="0">
                          <a:solidFill>
                            <a:srgbClr val="1A1A1A"/>
                          </a:solidFill>
                          <a:latin typeface="Source Sans 3"/>
                        </a:rPr>
                        <a:t>Administer: drop, pause, replace; change grants; own it</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POLICIES · ADR-059 PHASE 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Row filters and masks are policies, applied where rows leave an object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Rectangle 9"/>
          <p:cNvSpPr/>
          <p:nvPr/>
        </p:nvSpPr>
        <p:spPr>
          <a:xfrm>
            <a:off x="777240" y="1623568"/>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824736"/>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623568"/>
            <a:ext cx="5135727" cy="462178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One place covers every path</a:t>
            </a:r>
          </a:p>
          <a:p>
            <a:pPr lvl="1">
              <a:lnSpc>
                <a:spcPct val="120000"/>
              </a:lnSpc>
              <a:spcBef>
                <a:spcPts val="0"/>
              </a:spcBef>
              <a:spcAft>
                <a:spcPts val="0"/>
              </a:spcAft>
            </a:pPr>
            <a:r>
              <a:rPr sz="1350" b="0">
                <a:solidFill>
                  <a:srgbClr val="4A5058"/>
                </a:solidFill>
                <a:latin typeface="Source Sans 3"/>
              </a:rPr>
              <a:t>Flight and point reads, pgwire text and binary, subscriptions, registrations built on the view, and alerts evaluated as their owner.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masked column is never an operand</a:t>
            </a:r>
          </a:p>
          <a:p>
            <a:pPr lvl="1">
              <a:lnSpc>
                <a:spcPct val="120000"/>
              </a:lnSpc>
              <a:spcBef>
                <a:spcPts val="0"/>
              </a:spcBef>
              <a:spcAft>
                <a:spcPts val="0"/>
              </a:spcAft>
            </a:pPr>
            <a:r>
              <a:rPr sz="1350" b="0">
                <a:solidFill>
                  <a:srgbClr val="4A5058"/>
                </a:solidFill>
                <a:latin typeface="Source Sans 3"/>
              </a:rPr>
              <a:t>As a filter, group, join or sort key, aggregate argument or view key it would leak the true value — refused, PRV-7006.</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 the fingerprint</a:t>
            </a:r>
          </a:p>
          <a:p>
            <a:pPr lvl="1">
              <a:lnSpc>
                <a:spcPct val="120000"/>
              </a:lnSpc>
              <a:spcBef>
                <a:spcPts val="0"/>
              </a:spcBef>
              <a:spcAft>
                <a:spcPts val="0"/>
              </a:spcAft>
            </a:pPr>
            <a:r>
              <a:rPr sz="1350" b="0">
                <a:solidFill>
                  <a:srgbClr val="4A5058"/>
                </a:solidFill>
                <a:latin typeface="Source Sans 3"/>
              </a:rPr>
              <a:t>Registrants narrowed differently get different computations; a query over a masked view carries the mask into its own answer.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VACUITY · TAUTOFILTER-1, VACUITYGAP-1</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filter that restricts nothing is refused, not enforced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60</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Refused</a:t>
            </a:r>
          </a:p>
        </p:txBody>
      </p:sp>
      <p:graphicFrame>
        <p:nvGraphicFramePr>
          <p:cNvPr id="13" name="Table 12"/>
          <p:cNvGraphicFramePr>
            <a:graphicFrameLocks noGrp="1"/>
          </p:cNvGraphicFramePr>
          <p:nvPr/>
        </p:nvGraphicFramePr>
        <p:xfrm>
          <a:off x="777240" y="1873910"/>
          <a:ext cx="5135727" cy="2416807"/>
        </p:xfrm>
        <a:graphic>
          <a:graphicData uri="http://schemas.openxmlformats.org/drawingml/2006/table">
            <a:tbl>
              <a:tblPr firstRow="1">
                <a:tableStyleId>{5C22544A-7EE6-4342-B048-85BDC9FD1C3A}</a:tableStyleId>
              </a:tblPr>
              <a:tblGrid>
                <a:gridCol w="2838165"/>
                <a:gridCol w="2297562"/>
              </a:tblGrid>
              <a:tr h="322376">
                <a:tc>
                  <a:txBody>
                    <a:bodyPr wrap="square"/>
                    <a:lstStyle/>
                    <a:p>
                      <a:r>
                        <a:rPr sz="1300" b="1">
                          <a:solidFill>
                            <a:srgbClr val="FFFFFF"/>
                          </a:solidFill>
                          <a:latin typeface="Source Sans 3"/>
                        </a:rPr>
                        <a:t>Filter</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330555">
                <a:tc>
                  <a:txBody>
                    <a:bodyPr wrap="square"/>
                    <a:lstStyle/>
                    <a:p>
                      <a:r>
                        <a:rPr sz="1350" b="1">
                          <a:solidFill>
                            <a:srgbClr val="8A1626"/>
                          </a:solidFill>
                          <a:latin typeface="Source Sans 3"/>
                        </a:rPr>
                        <a:t>region = region</a:t>
                      </a:r>
                    </a:p>
                  </a:txBody>
                  <a:tcPr marL="82296" marR="64008" marT="32004" marB="32004" anchor="ctr">
                    <a:solidFill>
                      <a:srgbClr val="FFFFFF"/>
                    </a:solidFill>
                  </a:tcPr>
                </a:tc>
                <a:tc>
                  <a:txBody>
                    <a:bodyPr wrap="square"/>
                    <a:lstStyle/>
                    <a:p>
                      <a:r>
                        <a:rPr sz="1350" b="0">
                          <a:solidFill>
                            <a:srgbClr val="1A1A1A"/>
                          </a:solidFill>
                          <a:latin typeface="Source Sans 3"/>
                        </a:rPr>
                        <a:t>true for every row</a:t>
                      </a:r>
                    </a:p>
                  </a:txBody>
                  <a:tcPr marL="82296" marR="64008" marT="32004" marB="32004" anchor="ctr">
                    <a:solidFill>
                      <a:srgbClr val="FFFFFF"/>
                    </a:solidFill>
                  </a:tcPr>
                </a:tc>
              </a:tr>
              <a:tr h="330555">
                <a:tc>
                  <a:txBody>
                    <a:bodyPr wrap="square"/>
                    <a:lstStyle/>
                    <a:p>
                      <a:r>
                        <a:rPr sz="1350" b="1">
                          <a:solidFill>
                            <a:srgbClr val="8A1626"/>
                          </a:solidFill>
                          <a:latin typeface="Source Sans 3"/>
                        </a:rPr>
                        <a:t>1 = 1 OR region = 'x'</a:t>
                      </a:r>
                    </a:p>
                  </a:txBody>
                  <a:tcPr marL="82296" marR="64008" marT="32004" marB="32004" anchor="ctr">
                    <a:solidFill>
                      <a:srgbClr val="F7F5F2"/>
                    </a:solidFill>
                  </a:tcPr>
                </a:tc>
                <a:tc>
                  <a:txBody>
                    <a:bodyPr wrap="square"/>
                    <a:lstStyle/>
                    <a:p>
                      <a:r>
                        <a:rPr sz="1350" b="0">
                          <a:solidFill>
                            <a:srgbClr val="1A1A1A"/>
                          </a:solidFill>
                          <a:latin typeface="Source Sans 3"/>
                        </a:rPr>
                        <a:t>folds to TRUE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&lt; 5 OR a &gt; 2</a:t>
                      </a:r>
                    </a:p>
                  </a:txBody>
                  <a:tcPr marL="82296" marR="64008" marT="32004" marB="32004" anchor="ctr">
                    <a:solidFill>
                      <a:srgbClr val="FFFFFF"/>
                    </a:solidFill>
                  </a:tcPr>
                </a:tc>
                <a:tc>
                  <a:txBody>
                    <a:bodyPr wrap="square"/>
                    <a:lstStyle/>
                    <a:p>
                      <a:r>
                        <a:rPr sz="1350" b="0">
                          <a:solidFill>
                            <a:srgbClr val="1A1A1A"/>
                          </a:solidFill>
                          <a:latin typeface="Source Sans 3"/>
                        </a:rPr>
                        <a:t>covers every integer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x IS NULL OR x IS NOT NULL</a:t>
                      </a:r>
                    </a:p>
                  </a:txBody>
                  <a:tcPr marL="82296" marR="64008" marT="32004" marB="32004" anchor="ctr">
                    <a:solidFill>
                      <a:srgbClr val="F7F5F2"/>
                    </a:solidFill>
                  </a:tcPr>
                </a:tc>
                <a:tc>
                  <a:txBody>
                    <a:bodyPr wrap="square"/>
                    <a:lstStyle/>
                    <a:p>
                      <a:r>
                        <a:rPr sz="1350" b="0">
                          <a:solidFill>
                            <a:srgbClr val="1A1A1A"/>
                          </a:solidFill>
                          <a:latin typeface="Source Sans 3"/>
                        </a:rPr>
                        <a:t>true for every row</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 &gt;= a</a:t>
                      </a:r>
                    </a:p>
                  </a:txBody>
                  <a:tcPr marL="82296" marR="64008" marT="32004" marB="32004" anchor="ctr">
                    <a:solidFill>
                      <a:srgbClr val="FFFFFF"/>
                    </a:solidFill>
                  </a:tcPr>
                </a:tc>
                <a:tc>
                  <a:txBody>
                    <a:bodyPr wrap="square"/>
                    <a:lstStyle/>
                    <a:p>
                      <a:r>
                        <a:rPr sz="1350" b="0">
                          <a:solidFill>
                            <a:srgbClr val="1A1A1A"/>
                          </a:solidFill>
                          <a:latin typeface="Source Sans 3"/>
                        </a:rPr>
                        <a:t>drops only NULLs, unsaid</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Sound, not complete</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Never refuses a real restriction</a:t>
            </a:r>
          </a:p>
          <a:p>
            <a:pPr lvl="1">
              <a:lnSpc>
                <a:spcPct val="120000"/>
              </a:lnSpc>
              <a:spcBef>
                <a:spcPts val="0"/>
              </a:spcBef>
              <a:spcAft>
                <a:spcPts val="0"/>
              </a:spcAft>
            </a:pPr>
            <a:r>
              <a:rPr sz="1300" b="0">
                <a:solidFill>
                  <a:srgbClr val="4A5058"/>
                </a:solidFill>
                <a:latin typeface="Source Sans 3"/>
              </a:rPr>
              <a:t>Constants cut a column's values into regions; each comparison is decided region by region. A property test checks every verdict against every region.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Decided where it can be</a:t>
            </a:r>
          </a:p>
          <a:p>
            <a:pPr lvl="1">
              <a:lnSpc>
                <a:spcPct val="120000"/>
              </a:lnSpc>
              <a:spcBef>
                <a:spcPts val="0"/>
              </a:spcBef>
              <a:spcAft>
                <a:spcPts val="0"/>
              </a:spcAft>
            </a:pPr>
            <a:r>
              <a:rPr sz="1300" b="0">
                <a:solidFill>
                  <a:srgbClr val="4A5058"/>
                </a:solidFill>
                <a:latin typeface="Source Sans 3"/>
              </a:rPr>
              <a:t>A session-free policy at binding (PRV-7038); one reading the session per reader, at each read and registration (PRV-7003).</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Too large to decide</a:t>
            </a:r>
          </a:p>
          <a:p>
            <a:pPr lvl="1">
              <a:lnSpc>
                <a:spcPct val="120000"/>
              </a:lnSpc>
              <a:spcBef>
                <a:spcPts val="0"/>
              </a:spcBef>
              <a:spcAft>
                <a:spcPts val="0"/>
              </a:spcAft>
            </a:pPr>
            <a:r>
              <a:rPr sz="1300" b="0">
                <a:solidFill>
                  <a:srgbClr val="4A5058"/>
                </a:solidFill>
                <a:latin typeface="Source Sans 3"/>
              </a:rPr>
              <a:t>Assumed to restrict.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370323"/>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821283">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 every refusal reads alike</a:t>
                      </a:r>
                    </a:p>
                  </a:txBody>
                  <a:tcPr marL="82296" marR="64008" marT="32004" marB="32004" anchor="ctr">
                    <a:solidFill>
                      <a:srgbClr val="F7F5F2"/>
                    </a:solidFill>
                  </a:tcPr>
                </a:tc>
                <a:tc>
                  <a:txBody>
                    <a:bodyPr wrap="square"/>
                    <a:lstStyle/>
                    <a:p>
                      <a:r>
                        <a:rPr sz="1450" b="0">
                          <a:solidFill>
                            <a:srgbClr val="1A1A1A"/>
                          </a:solidFill>
                          <a:latin typeface="Source Sans 3"/>
                        </a:rPr>
                        <a:t>5 from one address in 15 minutes bar that address for 30; 50 from any lock the account</a:t>
                      </a:r>
                    </a:p>
                  </a:txBody>
                  <a:tcPr marL="82296" marR="64008" marT="32004" marB="32004" anchor="ctr">
                    <a:solidFill>
                      <a:srgbClr val="F7F5F2"/>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FOUND BY THE ADVERSARIAL ROUND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credential ends when it is revoked; a stranger's bytes are bounded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TLS was not exercised by the round. The console now sends a CSP, X-Frame-Options and nosniff on every response (CONSOLEHDR-1).</a:t>
            </a:r>
          </a:p>
        </p:txBody>
      </p:sp>
      <p:graphicFrame>
        <p:nvGraphicFramePr>
          <p:cNvPr id="12" name="Table 11"/>
          <p:cNvGraphicFramePr>
            <a:graphicFrameLocks noGrp="1"/>
          </p:cNvGraphicFramePr>
          <p:nvPr/>
        </p:nvGraphicFramePr>
        <p:xfrm>
          <a:off x="777240" y="1296416"/>
          <a:ext cx="10637214" cy="3190389"/>
        </p:xfrm>
        <a:graphic>
          <a:graphicData uri="http://schemas.openxmlformats.org/drawingml/2006/table">
            <a:tbl>
              <a:tblPr firstRow="1">
                <a:tableStyleId>{5C22544A-7EE6-4342-B048-85BDC9FD1C3A}</a:tableStyleId>
              </a:tblPr>
              <a:tblGrid>
                <a:gridCol w="4975471"/>
                <a:gridCol w="5661743"/>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772210">
                <a:tc>
                  <a:txBody>
                    <a:bodyPr wrap="square"/>
                    <a:lstStyle/>
                    <a:p>
                      <a:r>
                        <a:rPr sz="1350" b="1">
                          <a:solidFill>
                            <a:srgbClr val="8A1626"/>
                          </a:solidFill>
                          <a:latin typeface="Source Sans 3"/>
                        </a:rPr>
                        <a:t>A revoked key, a signed-out session or a disabled user kept reading on an open PostgreSQL connection (PGREVOKE-1)</a:t>
                      </a:r>
                    </a:p>
                  </a:txBody>
                  <a:tcPr marL="82296" marR="64008" marT="32004" marB="32004" anchor="ctr">
                    <a:solidFill>
                      <a:srgbClr val="FFFFFF"/>
                    </a:solidFill>
                  </a:tcPr>
                </a:tc>
                <a:tc>
                  <a:txBody>
                    <a:bodyPr wrap="square"/>
                    <a:lstStyle/>
                    <a:p>
                      <a:r>
                        <a:rPr sz="1350" b="0">
                          <a:solidFill>
                            <a:srgbClr val="1A1A1A"/>
                          </a:solidFill>
                          <a:latin typeface="Source Sans 3"/>
                        </a:rPr>
                        <a:t>The credential is verified again before every statement; FATAL 28000, PRV-6218. Flight re-checks every 2 s, and now the principal too</a:t>
                      </a:r>
                    </a:p>
                  </a:txBody>
                  <a:tcPr marL="82296" marR="64008" marT="32004" marB="32004" anchor="ctr">
                    <a:solidFill>
                      <a:srgbClr val="FFFFFF"/>
                    </a:solidFill>
                  </a:tcPr>
                </a:tc>
              </a:tr>
              <a:tr h="772210">
                <a:tc>
                  <a:txBody>
                    <a:bodyPr wrap="square"/>
                    <a:lstStyle/>
                    <a:p>
                      <a:r>
                        <a:rPr sz="1350" b="1">
                          <a:solidFill>
                            <a:srgbClr val="8A1626"/>
                          </a:solidFill>
                          <a:latin typeface="Source Sans 3"/>
                        </a:rPr>
                        <a:t>Before sign-in, the gateway allocated a declared 16 MiB message; no connection cap (PGPREAUTH-1)</a:t>
                      </a:r>
                    </a:p>
                  </a:txBody>
                  <a:tcPr marL="82296" marR="64008" marT="32004" marB="32004" anchor="ctr">
                    <a:solidFill>
                      <a:srgbClr val="F7F5F2"/>
                    </a:solidFill>
                  </a:tcPr>
                </a:tc>
                <a:tc>
                  <a:txBody>
                    <a:bodyPr wrap="square"/>
                    <a:lstStyle/>
                    <a:p>
                      <a:r>
                        <a:rPr sz="1350" b="0">
                          <a:solidFill>
                            <a:srgbClr val="1A1A1A"/>
                          </a:solidFill>
                          <a:latin typeface="Source Sans 3"/>
                        </a:rPr>
                        <a:t>16 KiB before sign-in, refused on its declared length; one 10 s handshake deadline; 100 connections, 32 unauthenticated (53300, PRV-6216)</a:t>
                      </a:r>
                    </a:p>
                  </a:txBody>
                  <a:tcPr marL="82296" marR="64008" marT="32004" marB="32004" anchor="ctr">
                    <a:solidFill>
                      <a:srgbClr val="F7F5F2"/>
                    </a:solidFill>
                  </a:tcPr>
                </a:tc>
              </a:tr>
              <a:tr h="772210">
                <a:tc>
                  <a:txBody>
                    <a:bodyPr wrap="square"/>
                    <a:lstStyle/>
                    <a:p>
                      <a:r>
                        <a:rPr sz="1350" b="1">
                          <a:solidFill>
                            <a:srgbClr val="8A1626"/>
                          </a:solidFill>
                          <a:latin typeface="Source Sans 3"/>
                        </a:rPr>
                        <a:t>An HTTP body was read whole before authentication, up to 20 M characters (HTTPBODY-1)</a:t>
                      </a:r>
                    </a:p>
                  </a:txBody>
                  <a:tcPr marL="82296" marR="64008" marT="32004" marB="32004" anchor="ctr">
                    <a:solidFill>
                      <a:srgbClr val="FFFFFF"/>
                    </a:solidFill>
                  </a:tcPr>
                </a:tc>
                <a:tc>
                  <a:txBody>
                    <a:bodyPr wrap="square"/>
                    <a:lstStyle/>
                    <a:p>
                      <a:r>
                        <a:rPr sz="1350" b="0">
                          <a:solidFill>
                            <a:srgbClr val="1A1A1A"/>
                          </a:solidFill>
                          <a:latin typeface="Source Sans 3"/>
                        </a:rPr>
                        <a:t>Refused on its declared length: 16 KB open paths, 4 MB otherwise (413, PRV-1054); 8 sign-ins at once (429, PRV-1055)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console cookie carried a usable engine token (COOKIETOKEN-1)</a:t>
                      </a:r>
                    </a:p>
                  </a:txBody>
                  <a:tcPr marL="82296" marR="64008" marT="32004" marB="32004" anchor="ctr">
                    <a:solidFill>
                      <a:srgbClr val="F7F5F2"/>
                    </a:solidFill>
                  </a:tcPr>
                </a:tc>
                <a:tc>
                  <a:txBody>
                    <a:bodyPr wrap="square"/>
                    <a:lstStyle/>
                    <a:p>
                      <a:r>
                        <a:rPr sz="1350" b="0">
                          <a:solidFill>
                            <a:srgbClr val="1A1A1A"/>
                          </a:solidFill>
                          <a:latin typeface="Source Sans 3"/>
                        </a:rPr>
                        <a:t>An opaque id; the secrets stay in the console process</a:t>
                      </a:r>
                    </a:p>
                  </a:txBody>
                  <a:tcPr marL="82296" marR="64008" marT="32004" marB="32004" anchor="ctr">
                    <a:solidFill>
                      <a:srgbClr val="F7F5F2"/>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 ADR-060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A view or alert name is unique within its tenant; another tenant's is, to the caller, a name nothing holds.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Who may administer a view</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Its owner, a grantee, or an admin</a:t>
            </a:r>
          </a:p>
          <a:p>
            <a:pPr lvl="1">
              <a:lnSpc>
                <a:spcPct val="120000"/>
              </a:lnSpc>
              <a:spcBef>
                <a:spcPts val="0"/>
              </a:spcBef>
              <a:spcAft>
                <a:spcPts val="0"/>
              </a:spcAft>
            </a:pPr>
            <a:r>
              <a:rPr sz="1350" b="0">
                <a:solidFill>
                  <a:srgbClr val="4A5058"/>
                </a:solidFill>
                <a:latin typeface="Source Sans 3"/>
              </a:rPr>
              <a:t>Drop, pause, replace, debug: the registrant, MODIFY or MANAGE, or the admin role. Reading a view no longer lets you destroy it (PRV-7002).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tenant does not scope lanes or CPU</a:t>
            </a:r>
          </a:p>
          <a:p>
            <a:pPr lvl="1">
              <a:lnSpc>
                <a:spcPct val="120000"/>
              </a:lnSpc>
              <a:spcBef>
                <a:spcPts val="0"/>
              </a:spcBef>
              <a:spcAft>
                <a:spcPts val="0"/>
              </a:spcAft>
            </a:pPr>
            <a:r>
              <a:rPr sz="1350" b="0">
                <a:solidFill>
                  <a:srgbClr val="4A5058"/>
                </a:solidFill>
                <a:latin typeface="Source Sans 3"/>
              </a:rPr>
              <a:t>Shared by decision; per-tenant CPU scheduling is not built.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Upgrading from 0.2 is one-way</a:t>
            </a:r>
          </a:p>
          <a:p>
            <a:pPr lvl="1">
              <a:lnSpc>
                <a:spcPct val="120000"/>
              </a:lnSpc>
              <a:spcBef>
                <a:spcPts val="0"/>
              </a:spcBef>
              <a:spcAft>
                <a:spcPts val="0"/>
              </a:spcAft>
            </a:pPr>
            <a:r>
              <a:rPr sz="1350" b="0">
                <a:solidFill>
                  <a:srgbClr val="4A5058"/>
                </a:solidFill>
                <a:latin typeface="Source Sans 3"/>
              </a:rPr>
              <a:t>Once a view outside the default tenant is recovered under per-tenant 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catalogue's phases 3 and 4</a:t>
            </a:r>
          </a:p>
          <a:p>
            <a:pPr lvl="1">
              <a:lnSpc>
                <a:spcPct val="120000"/>
              </a:lnSpc>
              <a:spcBef>
                <a:spcPts val="0"/>
              </a:spcBef>
              <a:spcAft>
                <a:spcPts val="0"/>
              </a:spcAft>
            </a:pPr>
            <a:r>
              <a:rPr sz="1550" b="0">
                <a:solidFill>
                  <a:srgbClr val="4A5058"/>
                </a:solidFill>
                <a:latin typeface="Source Sans 3"/>
              </a:rPr>
              <a:t>Column tags, lineage and labels that follow it, contracts, sharing and access history are not built.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MFA and single sign-on</a:t>
            </a:r>
          </a:p>
          <a:p>
            <a:pPr lvl="1">
              <a:lnSpc>
                <a:spcPct val="120000"/>
              </a:lnSpc>
              <a:spcBef>
                <a:spcPts val="0"/>
              </a:spcBef>
              <a:spcAft>
                <a:spcPts val="0"/>
              </a:spcAft>
            </a:pPr>
            <a:r>
              <a:rPr sz="1550" b="0">
                <a:solidFill>
                  <a:srgbClr val="4A5058"/>
                </a:solidFill>
                <a:latin typeface="Source Sans 3"/>
              </a:rPr>
              <a:t>Dropped by the owner: users, passwords, API keys and sessions are what Pravaha keeps.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one directory it lives in with or without Docker, a console that is a product and not a dashboard, two command lines, SDKs that ship on their own and survive a restart, BI tools over the PostgreSQL protocol,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 one /opt/pravaha</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on their own, and reconnecting</a:t>
            </a:r>
          </a:p>
          <a:p>
            <a:pPr>
              <a:lnSpc>
                <a:spcPct val="115000"/>
              </a:lnSpc>
              <a:spcBef>
                <a:spcPts val="0"/>
              </a:spcBef>
              <a:spcAft>
                <a:spcPts val="600"/>
              </a:spcAft>
            </a:pPr>
            <a:r>
              <a:rPr sz="1250" b="0" i="0">
                <a:solidFill>
                  <a:srgbClr val="F6E6E9"/>
                </a:solidFill>
                <a:latin typeface="Source Sans 3"/>
              </a:rPr>
              <a:t>BI tools over the PostgreSQL protocol</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assistant (experimental)</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Java 25 glibc base, and a Helm chart that installs one node as a StatefulSet.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DOCKER AND OUT OF IT · RUNNING_IN_DOCKER.MD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One directory, /opt/pravaha, owned by whoever runs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378204"/>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deploy/docker/build.sh \</a:t>
            </a:r>
          </a:p>
          <a:p>
            <a:pPr>
              <a:lnSpc>
                <a:spcPct val="100000"/>
              </a:lnSpc>
              <a:spcBef>
                <a:spcPts val="0"/>
              </a:spcBef>
              <a:spcAft>
                <a:spcPts val="0"/>
              </a:spcAft>
            </a:pPr>
            <a:r>
              <a:rPr sz="1200" b="0" i="0">
                <a:solidFill>
                  <a:srgbClr val="E8B8C0"/>
                </a:solidFill>
                <a:latin typeface="Consolas"/>
              </a:rPr>
              <a:t>  --tag pravaha/pravaha-server:local</a:t>
            </a:r>
          </a:p>
          <a:p>
            <a:pPr>
              <a:lnSpc>
                <a:spcPct val="100000"/>
              </a:lnSpc>
              <a:spcBef>
                <a:spcPts val="0"/>
              </a:spcBef>
              <a:spcAft>
                <a:spcPts val="0"/>
              </a:spcAft>
            </a:pPr>
            <a:r>
              <a:rPr sz="1200" b="0" i="0">
                <a:solidFill>
                  <a:srgbClr val="F1EEE9"/>
                </a:solidFill>
                <a:latin typeface="Consolas"/>
              </a:rPr>
              <a:t>deploy/docker/console/build.sh \</a:t>
            </a:r>
          </a:p>
          <a:p>
            <a:pPr>
              <a:lnSpc>
                <a:spcPct val="100000"/>
              </a:lnSpc>
              <a:spcBef>
                <a:spcPts val="0"/>
              </a:spcBef>
              <a:spcAft>
                <a:spcPts val="0"/>
              </a:spcAft>
            </a:pPr>
            <a:r>
              <a:rPr sz="1200" b="0" i="0">
                <a:solidFill>
                  <a:srgbClr val="E8B8C0"/>
                </a:solidFill>
                <a:latin typeface="Consolas"/>
              </a:rPr>
              <a:t>  --tag pravaha/pravaha-console:local</a:t>
            </a:r>
          </a:p>
          <a:p>
            <a:pPr>
              <a:lnSpc>
                <a:spcPct val="100000"/>
              </a:lnSpc>
              <a:spcBef>
                <a:spcPts val="0"/>
              </a:spcBef>
              <a:spcAft>
                <a:spcPts val="0"/>
              </a:spcAft>
            </a:pPr>
            <a:r>
              <a:rPr sz="1200" b="0" i="0">
                <a:solidFill>
                  <a:srgbClr val="F1EEE9"/>
                </a:solidFill>
                <a:latin typeface="Consolas"/>
              </a:rPr>
              <a:t>tools/docker-env.sh   # .env + pravaha-home/</a:t>
            </a:r>
          </a:p>
          <a:p>
            <a:pPr>
              <a:lnSpc>
                <a:spcPct val="100000"/>
              </a:lnSpc>
              <a:spcBef>
                <a:spcPts val="0"/>
              </a:spcBef>
              <a:spcAft>
                <a:spcPts val="0"/>
              </a:spcAft>
            </a:pPr>
            <a:r>
              <a:rPr sz="1200" b="0" i="0">
                <a:solidFill>
                  <a:srgbClr val="F1EEE9"/>
                </a:solidFill>
                <a:latin typeface="Consolas"/>
              </a:rPr>
              <a:t>docker compose \</a:t>
            </a:r>
          </a:p>
          <a:p>
            <a:pPr>
              <a:lnSpc>
                <a:spcPct val="100000"/>
              </a:lnSpc>
              <a:spcBef>
                <a:spcPts val="0"/>
              </a:spcBef>
              <a:spcAft>
                <a:spcPts val="0"/>
              </a:spcAft>
            </a:pPr>
            <a:r>
              <a:rPr sz="1200" b="0" i="0">
                <a:solidFill>
                  <a:srgbClr val="F1EEE9"/>
                </a:solidFill>
                <a:latin typeface="Consolas"/>
              </a:rPr>
              <a:t>  -f deploy/docker/compose/docker-compose.yml \</a:t>
            </a:r>
          </a:p>
          <a:p>
            <a:pPr>
              <a:lnSpc>
                <a:spcPct val="100000"/>
              </a:lnSpc>
              <a:spcBef>
                <a:spcPts val="0"/>
              </a:spcBef>
              <a:spcAft>
                <a:spcPts val="0"/>
              </a:spcAft>
            </a:pPr>
            <a:r>
              <a:rPr sz="1200" b="0" i="0">
                <a:solidFill>
                  <a:srgbClr val="E8B8C0"/>
                </a:solidFill>
                <a:latin typeface="Consolas"/>
              </a:rPr>
              <a:t>  --profile seed up -d</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E8B8C0"/>
                </a:solidFill>
                <a:latin typeface="Consolas"/>
              </a:rPr>
              <a:t># console  http://localhost:17070</a:t>
            </a:r>
          </a:p>
          <a:p>
            <a:pPr>
              <a:lnSpc>
                <a:spcPct val="100000"/>
              </a:lnSpc>
              <a:spcBef>
                <a:spcPts val="0"/>
              </a:spcBef>
              <a:spcAft>
                <a:spcPts val="0"/>
              </a:spcAft>
            </a:pPr>
            <a:r>
              <a:rPr sz="1200" b="0" i="0">
                <a:solidFill>
                  <a:srgbClr val="E8B8C0"/>
                </a:solidFill>
                <a:latin typeface="Consolas"/>
              </a:rPr>
              <a:t># Flight   grpc://localhost:19090</a:t>
            </a:r>
          </a:p>
          <a:p>
            <a:pPr>
              <a:lnSpc>
                <a:spcPct val="100000"/>
              </a:lnSpc>
              <a:spcBef>
                <a:spcPts val="0"/>
              </a:spcBef>
              <a:spcAft>
                <a:spcPts val="0"/>
              </a:spcAft>
            </a:pPr>
            <a:r>
              <a:rPr sz="1200" b="0" i="0">
                <a:solidFill>
                  <a:srgbClr val="E8B8C0"/>
                </a:solidFill>
                <a:latin typeface="Consolas"/>
              </a:rPr>
              <a:t># REST     http://localhost:18080</a:t>
            </a:r>
          </a:p>
          <a:p>
            <a:pPr>
              <a:lnSpc>
                <a:spcPct val="100000"/>
              </a:lnSpc>
              <a:spcBef>
                <a:spcPts val="0"/>
              </a:spcBef>
              <a:spcAft>
                <a:spcPts val="0"/>
              </a:spcAft>
            </a:pPr>
            <a:r>
              <a:rPr sz="1200" b="0" i="0">
                <a:solidFill>
                  <a:srgbClr val="E8B8C0"/>
                </a:solidFill>
                <a:latin typeface="Consolas"/>
              </a:rPr>
              <a:t># psql     localhost:15432</a:t>
            </a:r>
          </a:p>
        </p:txBody>
      </p:sp>
      <p:sp>
        <p:nvSpPr>
          <p:cNvPr id="13" name="TextBox 12"/>
          <p:cNvSpPr txBox="1"/>
          <p:nvPr/>
        </p:nvSpPr>
        <p:spPr>
          <a:xfrm>
            <a:off x="6810588" y="1378204"/>
            <a:ext cx="4603866"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PRAVAHA_HOME</a:t>
            </a:r>
          </a:p>
          <a:p>
            <a:pPr lvl="1">
              <a:lnSpc>
                <a:spcPct val="120000"/>
              </a:lnSpc>
              <a:spcBef>
                <a:spcPts val="0"/>
              </a:spcBef>
              <a:spcAft>
                <a:spcPts val="0"/>
              </a:spcAft>
            </a:pPr>
            <a:r>
              <a:rPr sz="1250" b="0">
                <a:solidFill>
                  <a:srgbClr val="4A5058"/>
                </a:solidFill>
                <a:latin typeface="Source Sans 3"/>
              </a:rPr>
              <a:t>conf/, secrets/, plugins/, data/, logs/, tmp/ — the same layout in a container and in an unpacked distribution; relative paths mean the same in both.</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As you, read-only root</a:t>
            </a:r>
          </a:p>
          <a:p>
            <a:pPr lvl="1">
              <a:lnSpc>
                <a:spcPct val="120000"/>
              </a:lnSpc>
              <a:spcBef>
                <a:spcPts val="0"/>
              </a:spcBef>
              <a:spcAft>
                <a:spcPts val="0"/>
              </a:spcAft>
            </a:pPr>
            <a:r>
              <a:rPr sz="1250" b="0">
                <a:solidFill>
                  <a:srgbClr val="4A5058"/>
                </a:solidFill>
                <a:latin typeface="Source Sans 3"/>
              </a:rPr>
              <a:t>Engine and console run as the invoking uid:gid; nothing is written outside the home.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Profiles</a:t>
            </a:r>
          </a:p>
          <a:p>
            <a:pPr lvl="1">
              <a:lnSpc>
                <a:spcPct val="120000"/>
              </a:lnSpc>
              <a:spcBef>
                <a:spcPts val="0"/>
              </a:spcBef>
              <a:spcAft>
                <a:spcPts val="0"/>
              </a:spcAft>
            </a:pPr>
            <a:r>
              <a:rPr sz="1250" b="0">
                <a:solidFill>
                  <a:srgbClr val="4A5058"/>
                </a:solidFill>
                <a:latin typeface="Source Sans 3"/>
              </a:rPr>
              <a:t>seed, cdc (PostgreSQL, MySQL), stores (Aerospike, Cassandra), observability (Prometheus, Grafana), tools.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every asset vendored so it runs air-gapped; four themes, crimson by default. 1,937 console tests pass with the browser suites, zero axe violations in every theme;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grants and policies; AI models; the audit trail; Lanes.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Everyone: Catalog and Alerts</a:t>
            </a:r>
          </a:p>
          <a:p>
            <a:pPr lvl="1">
              <a:lnSpc>
                <a:spcPct val="120000"/>
              </a:lnSpc>
              <a:spcBef>
                <a:spcPts val="0"/>
              </a:spcBef>
              <a:spcAft>
                <a:spcPts val="0"/>
              </a:spcAft>
            </a:pPr>
            <a:r>
              <a:rPr sz="1550" b="0">
                <a:solidFill>
                  <a:srgbClr val="4A5058"/>
                </a:solidFill>
                <a:latin typeface="Source Sans 3"/>
              </a:rPr>
              <a:t>Objects with owners, tags and grants; alerts firing, snoozed and acknowledged.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SDKSTANDALONE-1</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The client SDKs build, ship and run without the server</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or the server's jar carries SDK classes. The standalone check found SDKNETTYMIX-1: a Maven client resolved two Netty lines and failed on its first call — invisible to tests inside the build.</a:t>
            </a:r>
          </a:p>
        </p:txBody>
      </p:sp>
      <p:sp>
        <p:nvSpPr>
          <p:cNvPr id="12" name="Rectangle 11"/>
          <p:cNvSpPr/>
          <p:nvPr/>
        </p:nvSpPr>
        <p:spPr>
          <a:xfrm>
            <a:off x="777240"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pravaha-sdk-java-flight</a:t>
            </a:r>
          </a:p>
        </p:txBody>
      </p:sp>
      <p:sp>
        <p:nvSpPr>
          <p:cNvPr id="16" name="TextBox 15"/>
          <p:cNvSpPr txBox="1"/>
          <p:nvPr/>
        </p:nvSpPr>
        <p:spPr>
          <a:xfrm>
            <a:off x="960120"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thin jar through Maven or Gradle — the default — or a 19 MB -all jar with every runtime dependency, for a client with no build tool. Sources and javadoc jars attached.</a:t>
            </a:r>
          </a:p>
        </p:txBody>
      </p:sp>
      <p:sp>
        <p:nvSpPr>
          <p:cNvPr id="17" name="Rectangle 16"/>
          <p:cNvSpPr/>
          <p:nvPr/>
        </p:nvSpPr>
        <p:spPr>
          <a:xfrm>
            <a:off x="4377842"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4560722"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4560722"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pip install "pravaha[flight]" adds Flight. The pravaha CLI and the assistant ship in it.</a:t>
            </a:r>
          </a:p>
        </p:txBody>
      </p:sp>
      <p:sp>
        <p:nvSpPr>
          <p:cNvPr id="22" name="Rectangle 21"/>
          <p:cNvSpPr/>
          <p:nvPr/>
        </p:nvSpPr>
        <p:spPr>
          <a:xfrm>
            <a:off x="7978444"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PROVED OUTSIDE</a:t>
            </a:r>
          </a:p>
        </p:txBody>
      </p:sp>
      <p:sp>
        <p:nvSpPr>
          <p:cNvPr id="25" name="TextBox 24"/>
          <p:cNvSpPr txBox="1"/>
          <p:nvPr/>
        </p:nvSpPr>
        <p:spPr>
          <a:xfrm>
            <a:off x="8161324"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sdk-standalone-check.sh</a:t>
            </a:r>
          </a:p>
        </p:txBody>
      </p:sp>
      <p:sp>
        <p:nvSpPr>
          <p:cNvPr id="26" name="TextBox 25"/>
          <p:cNvSpPr txBox="1"/>
          <p:nvPr/>
        </p:nvSpPr>
        <p:spPr>
          <a:xfrm>
            <a:off x="8161324"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Four clients outside the repository against a throwaway node: Maven, the -all jar with plain java, the wheel with and without [flight].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BI TOOLS · THE POSTGRESQL GATEWAY</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Power BI, psql and psycopg read views as if from PostgreSQL</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with the real Npgsql 4.0.17, pgjdbc, psycopg 3 and psql. Power BI Desktop itself was not run.</a:t>
            </a:r>
          </a:p>
        </p:txBody>
      </p:sp>
      <p:sp>
        <p:nvSpPr>
          <p:cNvPr id="12" name="Rectangle 11"/>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was needed</a:t>
            </a:r>
          </a:p>
        </p:txBody>
      </p:sp>
      <p:sp>
        <p:nvSpPr>
          <p:cNvPr id="15" name="TextBox 14"/>
          <p:cNvSpPr txBox="1"/>
          <p:nvPr/>
        </p:nvSpPr>
        <p:spPr>
          <a:xfrm>
            <a:off x="777240"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Npgsql 4.0.17, Power BI's own driver</a:t>
            </a:r>
          </a:p>
          <a:p>
            <a:pPr lvl="1">
              <a:lnSpc>
                <a:spcPct val="120000"/>
              </a:lnSpc>
              <a:spcBef>
                <a:spcPts val="0"/>
              </a:spcBef>
              <a:spcAft>
                <a:spcPts val="0"/>
              </a:spcAft>
            </a:pPr>
            <a:r>
              <a:rPr sz="1300" b="0">
                <a:solidFill>
                  <a:srgbClr val="4A5058"/>
                </a:solidFill>
                <a:latin typeface="Source Sans 3"/>
              </a:rPr>
              <a:t>Its type-loading queries, binary results for every type, the navigator's INFORMATION_SCHEMA queries, DirectQuery's LIMIT 1000001.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Transactions, as no-ops</a:t>
            </a:r>
          </a:p>
          <a:p>
            <a:pPr lvl="1">
              <a:lnSpc>
                <a:spcPct val="120000"/>
              </a:lnSpc>
              <a:spcBef>
                <a:spcPts val="0"/>
              </a:spcBef>
              <a:spcAft>
                <a:spcPts val="0"/>
              </a:spcAft>
            </a:pPr>
            <a:r>
              <a:rPr sz="1300" b="0">
                <a:solidFill>
                  <a:srgbClr val="4A5058"/>
                </a:solidFill>
                <a:latin typeface="Source Sans 3"/>
              </a:rPr>
              <a:t>BEGIN … COMMIT with PostgreSQL's tags and status: psycopg's default mode, pgjdbc without auto-commit, most ORMs (PGWIRE-TX-1).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psql 18</a:t>
            </a:r>
          </a:p>
          <a:p>
            <a:pPr lvl="1">
              <a:lnSpc>
                <a:spcPct val="120000"/>
              </a:lnSpc>
              <a:spcBef>
                <a:spcPts val="0"/>
              </a:spcBef>
              <a:spcAft>
                <a:spcPts val="0"/>
              </a:spcAft>
            </a:pPr>
            <a:r>
              <a:rPr sz="1300" b="0">
                <a:solidFill>
                  <a:srgbClr val="4A5058"/>
                </a:solidFill>
                <a:latin typeface="Source Sans 3"/>
              </a:rPr>
              <a:t>\d answered.</a:t>
            </a:r>
          </a:p>
        </p:txBody>
      </p:sp>
      <p:sp>
        <p:nvSpPr>
          <p:cNvPr id="16" name="Rectangle 15"/>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is stated, not implied</a:t>
            </a:r>
          </a:p>
        </p:txBody>
      </p:sp>
      <p:sp>
        <p:nvSpPr>
          <p:cNvPr id="19" name="TextBox 18"/>
          <p:cNvSpPr txBox="1"/>
          <p:nvPr/>
        </p:nvSpPr>
        <p:spPr>
          <a:xfrm>
            <a:off x="6278727"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READ COMMITTED, always</a:t>
            </a:r>
          </a:p>
          <a:p>
            <a:pPr lvl="1">
              <a:lnSpc>
                <a:spcPct val="120000"/>
              </a:lnSpc>
              <a:spcBef>
                <a:spcPts val="0"/>
              </a:spcBef>
              <a:spcAft>
                <a:spcPts val="0"/>
              </a:spcAft>
            </a:pPr>
            <a:r>
              <a:rPr sz="1300" b="0">
                <a:solidFill>
                  <a:srgbClr val="4A5058"/>
                </a:solidFill>
                <a:latin typeface="Source Sans 3"/>
              </a:rPr>
              <a:t>Each read sees the view as its last commit left it; REPEATABLE READ is accepted with a NOTICE saying so. Writes are refused.</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AVG of an integer is numeric here only</a:t>
            </a:r>
          </a:p>
          <a:p>
            <a:pPr lvl="1">
              <a:lnSpc>
                <a:spcPct val="120000"/>
              </a:lnSpc>
              <a:spcBef>
                <a:spcPts val="0"/>
              </a:spcBef>
              <a:spcAft>
                <a:spcPts val="0"/>
              </a:spcAft>
            </a:pPr>
            <a:r>
              <a:rPr sz="1300" b="0">
                <a:solidFill>
                  <a:srgbClr val="4A5058"/>
                </a:solidFill>
                <a:latin typeface="Source Sans 3"/>
              </a:rPr>
              <a:t>As PostgreSQL clients expect; every other surface keeps the engine's integer AVG.</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Same grants, filters and masks</a:t>
            </a:r>
          </a:p>
          <a:p>
            <a:pPr lvl="1">
              <a:lnSpc>
                <a:spcPct val="120000"/>
              </a:lnSpc>
              <a:spcBef>
                <a:spcPts val="0"/>
              </a:spcBef>
              <a:spcAft>
                <a:spcPts val="0"/>
              </a:spcAft>
            </a:pPr>
            <a:r>
              <a:rPr sz="1300" b="0">
                <a:solidFill>
                  <a:srgbClr val="4A5058"/>
                </a:solidFill>
                <a:latin typeface="Source Sans 3"/>
              </a:rPr>
              <a:t>Signed in with an API key or session token.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73</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Shipped beside them: four Grafana dashboards, Prometheus rules (and a Helm PrometheusRule), JSON logs with correlation and trace ids, OpenTelemetry tracing (off by default). Per-operator metrics cost about 12 % of throughput, so they are off by default.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ASSISTANT · ADR-058 · EXPERIMENTAL IN 1.0</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Plain English to continuous SQL, with the engine as the judge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sp>
        <p:nvSpPr>
          <p:cNvPr id="10" name="Rectangle 9"/>
          <p:cNvSpPr/>
          <p:nvPr/>
        </p:nvSpPr>
        <p:spPr>
          <a:xfrm>
            <a:off x="777240"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Context, as you</a:t>
            </a:r>
          </a:p>
        </p:txBody>
      </p:sp>
      <p:sp>
        <p:nvSpPr>
          <p:cNvPr id="13" name="TextBox 12"/>
          <p:cNvSpPr txBox="1"/>
          <p:nvPr/>
        </p:nvSpPr>
        <p:spPr>
          <a:xfrm>
            <a:off x="960120"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Streams and views you may read, sinks you may write to, the dialect's rules, a few worked examples. No row is ever sent.</a:t>
            </a:r>
          </a:p>
        </p:txBody>
      </p:sp>
      <p:sp>
        <p:nvSpPr>
          <p:cNvPr id="14" name="Rectangle 13"/>
          <p:cNvSpPr/>
          <p:nvPr/>
        </p:nvSpPr>
        <p:spPr>
          <a:xfrm>
            <a:off x="3505123"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model drafts</a:t>
            </a:r>
          </a:p>
        </p:txBody>
      </p:sp>
      <p:sp>
        <p:nvSpPr>
          <p:cNvPr id="17" name="TextBox 16"/>
          <p:cNvSpPr txBox="1"/>
          <p:nvPr/>
        </p:nvSpPr>
        <p:spPr>
          <a:xfrm>
            <a:off x="3688003"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4A5058"/>
                </a:solidFill>
                <a:latin typeface="Source Sans 3"/>
              </a:rPr>
              <a:t>Hosted or local — built-in providers, any OpenAI-compatible server, Ollama, or a plugin — with fallback chains and budgets; switched at runtime.</a:t>
            </a:r>
          </a:p>
        </p:txBody>
      </p:sp>
      <p:cxnSp>
        <p:nvCxnSpPr>
          <p:cNvPr id="18" name="Connector 17"/>
          <p:cNvCxnSpPr/>
          <p:nvPr/>
        </p:nvCxnSpPr>
        <p:spPr>
          <a:xfrm>
            <a:off x="3267379"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engine judges</a:t>
            </a:r>
          </a:p>
        </p:txBody>
      </p:sp>
      <p:sp>
        <p:nvSpPr>
          <p:cNvPr id="22" name="TextBox 21"/>
          <p:cNvSpPr txBox="1"/>
          <p:nvPr/>
        </p:nvSpPr>
        <p:spPr>
          <a:xfrm>
            <a:off x="6415887"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Validates and explains the draft; up to three repair turns, none allowed to change what the query reads.</a:t>
            </a:r>
          </a:p>
        </p:txBody>
      </p:sp>
      <p:cxnSp>
        <p:nvCxnSpPr>
          <p:cNvPr id="23" name="Connector 22"/>
          <p:cNvCxnSpPr/>
          <p:nvPr/>
        </p:nvCxnSpPr>
        <p:spPr>
          <a:xfrm>
            <a:off x="5995263"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person registers</a:t>
            </a:r>
          </a:p>
        </p:txBody>
      </p:sp>
      <p:sp>
        <p:nvSpPr>
          <p:cNvPr id="27" name="TextBox 26"/>
          <p:cNvSpPr txBox="1"/>
          <p:nvPr/>
        </p:nvSpPr>
        <p:spPr>
          <a:xfrm>
            <a:off x="9143771"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Only an accepted draft, only after confirmation; a running query with the same plan is offered for reuse.</a:t>
            </a:r>
          </a:p>
        </p:txBody>
      </p:sp>
      <p:cxnSp>
        <p:nvCxnSpPr>
          <p:cNvPr id="28" name="Connector 27"/>
          <p:cNvCxnSpPr/>
          <p:nvPr/>
        </p:nvCxnSpPr>
        <p:spPr>
          <a:xfrm>
            <a:off x="8723147"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505403"/>
            <a:ext cx="10637215" cy="2739948"/>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Where</a:t>
            </a:r>
          </a:p>
          <a:p>
            <a:pPr lvl="1">
              <a:lnSpc>
                <a:spcPct val="120000"/>
              </a:lnSpc>
              <a:spcBef>
                <a:spcPts val="0"/>
              </a:spcBef>
              <a:spcAft>
                <a:spcPts val="0"/>
              </a:spcAft>
            </a:pPr>
            <a:r>
              <a:rPr sz="1300" b="0">
                <a:solidFill>
                  <a:srgbClr val="4A5058"/>
                </a:solidFill>
                <a:latin typeface="Source Sans 3"/>
              </a:rPr>
              <a:t>pravaha ask, explain-sql and why; the console's Describe it and Explain; Admin · AI models.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Measured how</a:t>
            </a:r>
          </a:p>
          <a:p>
            <a:pPr lvl="1">
              <a:lnSpc>
                <a:spcPct val="120000"/>
              </a:lnSpc>
              <a:spcBef>
                <a:spcPts val="0"/>
              </a:spcBef>
              <a:spcAft>
                <a:spcPts val="0"/>
              </a:spcAft>
            </a:pPr>
            <a:r>
              <a:rPr sz="1300" b="0">
                <a:solidFill>
                  <a:srgbClr val="4A5058"/>
                </a:solidFill>
                <a:latin typeface="Source Sans 3"/>
              </a:rPr>
              <a:t>pravaha assist eval scores a model on a golden set generated from the case studies: 27 cases that must be accepted, 3 that must be refused or asked about. No score is claimed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77</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79</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80</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CREATE ALERT low_stock_alert ON low_stock NOTIFY buyers: FIRED sku-200 at 09:05, CLEARED at 09:20 — the retraction the binlog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81</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82</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83</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2.x, and where to start</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 Nexmark; micro-benchmarks</a:t>
            </a:r>
          </a:p>
          <a:p>
            <a:pPr>
              <a:lnSpc>
                <a:spcPct val="115000"/>
              </a:lnSpc>
              <a:spcBef>
                <a:spcPts val="0"/>
              </a:spcBef>
              <a:spcAft>
                <a:spcPts val="600"/>
              </a:spcAft>
            </a:pPr>
            <a:r>
              <a:rPr sz="1250" b="0" i="0">
                <a:solidFill>
                  <a:srgbClr val="F6E6E9"/>
                </a:solidFill>
                <a:latin typeface="Source Sans 3"/>
              </a:rPr>
              <a:t>How it is tested, and what testing found</a:t>
            </a:r>
          </a:p>
          <a:p>
            <a:pPr>
              <a:lnSpc>
                <a:spcPct val="115000"/>
              </a:lnSpc>
              <a:spcBef>
                <a:spcPts val="0"/>
              </a:spcBef>
              <a:spcAft>
                <a:spcPts val="600"/>
              </a:spcAft>
            </a:pPr>
            <a:r>
              <a:rPr sz="1250" b="0" i="0">
                <a:solidFill>
                  <a:srgbClr val="F6E6E9"/>
                </a:solidFill>
                <a:latin typeface="Source Sans 3"/>
              </a:rPr>
              <a:t>The adversarial round against 2.0.0, and three waves of fixes</a:t>
            </a:r>
          </a:p>
          <a:p>
            <a:pPr>
              <a:lnSpc>
                <a:spcPct val="115000"/>
              </a:lnSpc>
              <a:spcBef>
                <a:spcPts val="0"/>
              </a:spcBef>
              <a:spcAft>
                <a:spcPts val="600"/>
              </a:spcAft>
            </a:pPr>
            <a:r>
              <a:rPr sz="1250" b="0" i="0">
                <a:solidFill>
                  <a:srgbClr val="F6E6E9"/>
                </a:solidFill>
                <a:latin typeface="Source Sans 3"/>
              </a:rPr>
              <a:t>What 2.x promises, and what is experimental</a:t>
            </a:r>
          </a:p>
          <a:p>
            <a:pPr>
              <a:lnSpc>
                <a:spcPct val="115000"/>
              </a:lnSpc>
              <a:spcBef>
                <a:spcPts val="0"/>
              </a:spcBef>
              <a:spcAft>
                <a:spcPts val="600"/>
              </a:spcAft>
            </a:pPr>
            <a:r>
              <a:rPr sz="1250" b="0" i="0">
                <a:solidFill>
                  <a:srgbClr val="F6E6E9"/>
                </a:solidFill>
                <a:latin typeface="Source Sans 3"/>
              </a:rPr>
              <a:t>What is not built; 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85</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MEASURED 2026-09-20, RE-MEASURED 2026-09-26</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 running other build agents throughout, at load averages from 5.8 to 77.8.</a:t>
            </a:r>
          </a:p>
        </p:txBody>
      </p:sp>
      <p:graphicFrame>
        <p:nvGraphicFramePr>
          <p:cNvPr id="12" name="Table 11"/>
          <p:cNvGraphicFramePr>
            <a:graphicFrameLocks noGrp="1"/>
          </p:cNvGraphicFramePr>
          <p:nvPr/>
        </p:nvGraphicFramePr>
        <p:xfrm>
          <a:off x="777240" y="1410919"/>
          <a:ext cx="10637212" cy="3133138"/>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All 30 warm passes and 29 of 30 cold above it; the miss 1,043,974 at load 77</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1058468">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28–42 % (09-20); 33–46 % without the coverage agent (09-26); 30–31 % re-taken at load 3.1–5.2 (09-29); the machine's own ceiling for work sharing nothing: 51–55 %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Every one of 15 passes above it; the worst 1,096,560, during a load spike</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265876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292 M vs 28.7 M rows/s — roughly 10×</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level (0.95–1.13×):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21 M rows/s</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453 M vs 110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 2026-09-29 TO 10-01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Tiers, what each needs, and what each ran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green build without Docker has not tested any connector against its store. Error Prone runs under -Pep and CI gates it: 0 warnings; NullAway's backlog is listed, and the API and SDKs are at 0.</a:t>
            </a:r>
          </a:p>
        </p:txBody>
      </p:sp>
      <p:graphicFrame>
        <p:nvGraphicFramePr>
          <p:cNvPr id="12" name="Table 11"/>
          <p:cNvGraphicFramePr>
            <a:graphicFrameLocks noGrp="1"/>
          </p:cNvGraphicFramePr>
          <p:nvPr/>
        </p:nvGraphicFramePr>
        <p:xfrm>
          <a:off x="777240" y="1410919"/>
          <a:ext cx="10637214" cy="3189018"/>
        </p:xfrm>
        <a:graphic>
          <a:graphicData uri="http://schemas.openxmlformats.org/drawingml/2006/table">
            <a:tbl>
              <a:tblPr firstRow="1">
                <a:tableStyleId>{5C22544A-7EE6-4342-B048-85BDC9FD1C3A}</a:tableStyleId>
              </a:tblPr>
              <a:tblGrid>
                <a:gridCol w="3157923"/>
                <a:gridCol w="1828271"/>
                <a:gridCol w="5651020"/>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whole reactor</a:t>
                      </a:r>
                    </a:p>
                  </a:txBody>
                  <a:tcPr marL="82296" marR="64008" marT="32004" marB="32004" anchor="ctr">
                    <a:solidFill>
                      <a:srgbClr val="FFFFFF"/>
                    </a:solidFill>
                  </a:tcPr>
                </a:tc>
                <a:tc>
                  <a:txBody>
                    <a:bodyPr wrap="square"/>
                    <a:lstStyle/>
                    <a:p>
                      <a:r>
                        <a:rPr sz="1350" b="0">
                          <a:solidFill>
                            <a:srgbClr val="1A1A1A"/>
                          </a:solidFill>
                          <a:latin typeface="Source Sans 3"/>
                        </a:rPr>
                        <a:t>JDK 25</a:t>
                      </a:r>
                    </a:p>
                  </a:txBody>
                  <a:tcPr marL="82296" marR="64008" marT="32004" marB="32004" anchor="ctr">
                    <a:solidFill>
                      <a:srgbClr val="FFFFFF"/>
                    </a:solidFill>
                  </a:tcPr>
                </a:tc>
                <a:tc>
                  <a:txBody>
                    <a:bodyPr wrap="square"/>
                    <a:lstStyle/>
                    <a:p>
                      <a:r>
                        <a:rPr sz="1350" b="0">
                          <a:solidFill>
                            <a:srgbClr val="1A1A1A"/>
                          </a:solidFill>
                          <a:latin typeface="Source Sans 3"/>
                        </a:rPr>
                        <a:t>4,832 tests, 0 failures, 12 skipped (2026-10-01); the Python SDK's 426 against a node on 25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25</a:t>
                      </a:r>
                    </a:p>
                  </a:txBody>
                  <a:tcPr marL="82296" marR="64008" marT="32004" marB="32004" anchor="ctr">
                    <a:solidFill>
                      <a:srgbClr val="F7F5F2"/>
                    </a:solidFill>
                  </a:tcPr>
                </a:tc>
                <a:tc>
                  <a:txBody>
                    <a:bodyPr wrap="square"/>
                    <a:lstStyle/>
                    <a:p>
                      <a:r>
                        <a:rPr sz="1350" b="0">
                          <a:solidFill>
                            <a:srgbClr val="1A1A1A"/>
                          </a:solidFill>
                          <a:latin typeface="Source Sans 3"/>
                        </a:rPr>
                        <a:t>960 tests (counted on 21):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Testcontainers: Kafka 50, Postgres-CDC 60, JDBC 13, MySQL-CDC 9, Aerospike 40, Cassandra 39 — all green</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7F5F2"/>
                    </a:solidFill>
                  </a:tcPr>
                </a:tc>
                <a:tc>
                  <a:txBody>
                    <a:bodyPr wrap="square"/>
                    <a:lstStyle/>
                    <a:p>
                      <a:r>
                        <a:rPr sz="1350" b="0">
                          <a:solidFill>
                            <a:srgbClr val="1A1A1A"/>
                          </a:solidFill>
                          <a:latin typeface="Source Sans 3"/>
                        </a:rPr>
                        <a:t>Python · Chrome</a:t>
                      </a:r>
                    </a:p>
                  </a:txBody>
                  <a:tcPr marL="82296" marR="64008" marT="32004" marB="32004" anchor="ctr">
                    <a:solidFill>
                      <a:srgbClr val="F7F5F2"/>
                    </a:solidFill>
                  </a:tcPr>
                </a:tc>
                <a:tc>
                  <a:txBody>
                    <a:bodyPr wrap="square"/>
                    <a:lstStyle/>
                    <a:p>
                      <a:r>
                        <a:rPr sz="1350" b="0">
                          <a:solidFill>
                            <a:srgbClr val="1A1A1A"/>
                          </a:solidFill>
                          <a:latin typeface="Source Sans 3"/>
                        </a:rPr>
                        <a:t>426 passed · 1,937 passed with the browser suites, zero axe violations in every theme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FFFFF"/>
                    </a:solidFill>
                  </a:tcPr>
                </a:tc>
                <a:tc>
                  <a:txBody>
                    <a:bodyPr wrap="square"/>
                    <a:lstStyle/>
                    <a:p>
                      <a:r>
                        <a:rPr sz="1350" b="0">
                          <a:solidFill>
                            <a:srgbClr val="1A1A1A"/>
                          </a:solidFill>
                          <a:latin typeface="Source Sans 3"/>
                        </a:rPr>
                        <a:t>Docker, Maven</a:t>
                      </a:r>
                    </a:p>
                  </a:txBody>
                  <a:tcPr marL="82296" marR="64008" marT="32004" marB="32004" anchor="ctr">
                    <a:solidFill>
                      <a:srgbClr val="FFFFFF"/>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Performance gates</a:t>
                      </a:r>
                    </a:p>
                  </a:txBody>
                  <a:tcPr marL="82296" marR="64008" marT="32004" marB="32004" anchor="ctr">
                    <a:solidFill>
                      <a:srgbClr val="F7F5F2"/>
                    </a:solidFill>
                  </a:tcPr>
                </a:tc>
                <a:tc>
                  <a:txBody>
                    <a:bodyPr wrap="square"/>
                    <a:lstStyle/>
                    <a:p>
                      <a:r>
                        <a:rPr sz="1350" b="0">
                          <a:solidFill>
                            <a:srgbClr val="1A1A1A"/>
                          </a:solidFill>
                          <a:latin typeface="Source Sans 3"/>
                        </a:rPr>
                        <a:t>A quiet machine</a:t>
                      </a:r>
                    </a:p>
                  </a:txBody>
                  <a:tcPr marL="82296" marR="64008" marT="32004" marB="32004" anchor="ctr">
                    <a:solidFill>
                      <a:srgbClr val="F7F5F2"/>
                    </a:solidFill>
                  </a:tcPr>
                </a:tc>
                <a:tc>
                  <a:txBody>
                    <a:bodyPr wrap="square"/>
                    <a:lstStyle/>
                    <a:p>
                      <a:r>
                        <a:rPr sz="1350" b="0">
                          <a:solidFill>
                            <a:srgbClr val="1A1A1A"/>
                          </a:solidFill>
                          <a:latin typeface="Source Sans 3"/>
                        </a:rPr>
                        <a:t>Refuse to report under a coverage agent (PERF-1)</a:t>
                      </a:r>
                    </a:p>
                  </a:txBody>
                  <a:tcPr marL="82296" marR="64008" marT="32004" marB="32004" anchor="ctr">
                    <a:solidFill>
                      <a:srgbClr val="F7F5F2"/>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552 findings, none open — and each found one step outside the last test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533 fixed, 10 closed by design, 9 superseded, 0 open; a finding is fixed only when the case that found it has been re-run. The commonest defect: built, correct, connected to nothing.</a:t>
            </a:r>
          </a:p>
        </p:txBody>
      </p:sp>
      <p:graphicFrame>
        <p:nvGraphicFramePr>
          <p:cNvPr id="12" name="Table 11"/>
          <p:cNvGraphicFramePr>
            <a:graphicFrameLocks noGrp="1"/>
          </p:cNvGraphicFramePr>
          <p:nvPr/>
        </p:nvGraphicFramePr>
        <p:xfrm>
          <a:off x="777240" y="1623568"/>
          <a:ext cx="10637214" cy="3079291"/>
        </p:xfrm>
        <a:graphic>
          <a:graphicData uri="http://schemas.openxmlformats.org/drawingml/2006/table">
            <a:tbl>
              <a:tblPr firstRow="1">
                <a:tableStyleId>{5C22544A-7EE6-4342-B048-85BDC9FD1C3A}</a:tableStyleId>
              </a:tblPr>
              <a:tblGrid>
                <a:gridCol w="2160684"/>
                <a:gridCol w="3656542"/>
                <a:gridCol w="4819988"/>
              </a:tblGrid>
              <a:tr h="322376">
                <a:tc>
                  <a:txBody>
                    <a:bodyPr wrap="square"/>
                    <a:lstStyle/>
                    <a:p>
                      <a:r>
                        <a:rPr sz="1300" b="1">
                          <a:solidFill>
                            <a:srgbClr val="FFFFFF"/>
                          </a:solidFill>
                          <a:latin typeface="Source Sans 3"/>
                        </a:rPr>
                        <a:t>Finding</a:t>
                      </a:r>
                    </a:p>
                  </a:txBody>
                  <a:tcPr marL="82296" marR="64008" marT="32004" marB="32004" anchor="ctr">
                    <a:solidFill>
                      <a:srgbClr val="8A1626"/>
                    </a:solidFill>
                  </a:tcPr>
                </a:tc>
                <a:tc>
                  <a:txBody>
                    <a:bodyPr wrap="square"/>
                    <a:lstStyle/>
                    <a:p>
                      <a:r>
                        <a:rPr sz="1300" b="1">
                          <a:solidFill>
                            <a:srgbClr val="FFFFFF"/>
                          </a:solidFill>
                          <a:latin typeface="Source Sans 3"/>
                        </a:rPr>
                        <a:t>Found by</a:t>
                      </a:r>
                    </a:p>
                  </a:txBody>
                  <a:tcPr marL="82296" marR="64008" marT="32004" marB="32004" anchor="ctr">
                    <a:solidFill>
                      <a:srgbClr val="8A1626"/>
                    </a:solidFill>
                  </a:tcPr>
                </a:tc>
                <a:tc>
                  <a:txBody>
                    <a:bodyPr wrap="square"/>
                    <a:lstStyle/>
                    <a:p>
                      <a:r>
                        <a:rPr sz="1300" b="1">
                          <a:solidFill>
                            <a:srgbClr val="FFFFFF"/>
                          </a:solidFill>
                          <a:latin typeface="Source Sans 3"/>
                        </a:rPr>
                        <a:t>What it was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SINKKEYROWS-2</a:t>
                      </a:r>
                    </a:p>
                  </a:txBody>
                  <a:tcPr marL="82296" marR="64008" marT="32004" marB="32004" anchor="ctr">
                    <a:solidFill>
                      <a:srgbClr val="FFFFFF"/>
                    </a:solidFill>
                  </a:tcPr>
                </a:tc>
                <a:tc>
                  <a:txBody>
                    <a:bodyPr wrap="square"/>
                    <a:lstStyle/>
                    <a:p>
                      <a:r>
                        <a:rPr sz="1350" b="0">
                          <a:solidFill>
                            <a:srgbClr val="1A1A1A"/>
                          </a:solidFill>
                          <a:latin typeface="Source Sans 3"/>
                        </a:rPr>
                        <a:t>A broker test that had not run since a fix</a:t>
                      </a:r>
                    </a:p>
                  </a:txBody>
                  <a:tcPr marL="82296" marR="64008" marT="32004" marB="32004" anchor="ctr">
                    <a:solidFill>
                      <a:srgbClr val="FFFFFF"/>
                    </a:solidFill>
                  </a:tcPr>
                </a:tc>
                <a:tc>
                  <a:txBody>
                    <a:bodyPr wrap="square"/>
                    <a:lstStyle/>
                    <a:p>
                      <a:r>
                        <a:rPr sz="1350" b="0">
                          <a:solidFill>
                            <a:srgbClr val="1A1A1A"/>
                          </a:solidFill>
                          <a:latin typeface="Source Sans 3"/>
                        </a:rPr>
                        <a:t>A keyed Kafka sink saw a replaced key as a tombstone, then the value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PGWIRETX-1</a:t>
                      </a:r>
                    </a:p>
                  </a:txBody>
                  <a:tcPr marL="82296" marR="64008" marT="32004" marB="32004" anchor="ctr">
                    <a:solidFill>
                      <a:srgbClr val="F7F5F2"/>
                    </a:solidFill>
                  </a:tcPr>
                </a:tc>
                <a:tc>
                  <a:txBody>
                    <a:bodyPr wrap="square"/>
                    <a:lstStyle/>
                    <a:p>
                      <a:r>
                        <a:rPr sz="1350" b="0">
                          <a:solidFill>
                            <a:srgbClr val="1A1A1A"/>
                          </a:solidFill>
                          <a:latin typeface="Source Sans 3"/>
                        </a:rPr>
                        <a:t>psycopg against a running stack</a:t>
                      </a:r>
                    </a:p>
                  </a:txBody>
                  <a:tcPr marL="82296" marR="64008" marT="32004" marB="32004" anchor="ctr">
                    <a:solidFill>
                      <a:srgbClr val="F7F5F2"/>
                    </a:solidFill>
                  </a:tcPr>
                </a:tc>
                <a:tc>
                  <a:txBody>
                    <a:bodyPr wrap="square"/>
                    <a:lstStyle/>
                    <a:p>
                      <a:r>
                        <a:rPr sz="1350" b="0">
                          <a:solidFill>
                            <a:srgbClr val="1A1A1A"/>
                          </a:solidFill>
                          <a:latin typeface="Source Sans 3"/>
                        </a:rPr>
                        <a:t>BEGIN refused, so default-mode clients and ORMs failed on their first read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SDKNETTYMIX-1</a:t>
                      </a:r>
                    </a:p>
                  </a:txBody>
                  <a:tcPr marL="82296" marR="64008" marT="32004" marB="32004" anchor="ctr">
                    <a:solidFill>
                      <a:srgbClr val="FFFFFF"/>
                    </a:solidFill>
                  </a:tcPr>
                </a:tc>
                <a:tc>
                  <a:txBody>
                    <a:bodyPr wrap="square"/>
                    <a:lstStyle/>
                    <a:p>
                      <a:r>
                        <a:rPr sz="1350" b="0">
                          <a:solidFill>
                            <a:srgbClr val="1A1A1A"/>
                          </a:solidFill>
                          <a:latin typeface="Source Sans 3"/>
                        </a:rPr>
                        <a:t>A Maven client outside the build</a:t>
                      </a:r>
                    </a:p>
                  </a:txBody>
                  <a:tcPr marL="82296" marR="64008" marT="32004" marB="32004" anchor="ctr">
                    <a:solidFill>
                      <a:srgbClr val="FFFFFF"/>
                    </a:solidFill>
                  </a:tcPr>
                </a:tc>
                <a:tc>
                  <a:txBody>
                    <a:bodyPr wrap="square"/>
                    <a:lstStyle/>
                    <a:p>
                      <a:r>
                        <a:rPr sz="1350" b="0">
                          <a:solidFill>
                            <a:srgbClr val="1A1A1A"/>
                          </a:solidFill>
                          <a:latin typeface="Source Sans 3"/>
                        </a:rPr>
                        <a:t>Two Netty lines resolved; the SDK failed on its first call</a:t>
                      </a:r>
                    </a:p>
                  </a:txBody>
                  <a:tcPr marL="82296" marR="64008" marT="32004" marB="32004" anchor="ctr">
                    <a:solidFill>
                      <a:srgbClr val="FFFFFF"/>
                    </a:solidFill>
                  </a:tcPr>
                </a:tc>
              </a:tr>
              <a:tr h="551383">
                <a:tc>
                  <a:txBody>
                    <a:bodyPr wrap="square"/>
                    <a:lstStyle/>
                    <a:p>
                      <a:r>
                        <a:rPr sz="1350" b="1">
                          <a:solidFill>
                            <a:srgbClr val="8A1626"/>
                          </a:solidFill>
                          <a:latin typeface="Source Sans 3"/>
                        </a:rPr>
                        <a:t>VIEWW-1</a:t>
                      </a:r>
                    </a:p>
                  </a:txBody>
                  <a:tcPr marL="82296" marR="64008" marT="32004" marB="32004" anchor="ctr">
                    <a:solidFill>
                      <a:srgbClr val="F7F5F2"/>
                    </a:solidFill>
                  </a:tcPr>
                </a:tc>
                <a:tc>
                  <a:txBody>
                    <a:bodyPr wrap="square"/>
                    <a:lstStyle/>
                    <a:p>
                      <a:r>
                        <a:rPr sz="1350" b="0">
                          <a:solidFill>
                            <a:srgbClr val="1A1A1A"/>
                          </a:solidFill>
                          <a:latin typeface="Source Sans 3"/>
                        </a:rPr>
                        <a:t>The property test the research paper asked for</a:t>
                      </a:r>
                    </a:p>
                  </a:txBody>
                  <a:tcPr marL="82296" marR="64008" marT="32004" marB="32004" anchor="ctr">
                    <a:solidFill>
                      <a:srgbClr val="F7F5F2"/>
                    </a:solidFill>
                  </a:tcPr>
                </a:tc>
                <a:tc>
                  <a:txBody>
                    <a:bodyPr wrap="square"/>
                    <a:lstStyle/>
                    <a:p>
                      <a:r>
                        <a:rPr sz="1350" b="0">
                          <a:solidFill>
                            <a:srgbClr val="1A1A1A"/>
                          </a:solidFill>
                          <a:latin typeface="Source Sans 3"/>
                        </a:rPr>
                        <a:t>A key could show the row just retracted; fails 5 of 5 on the old code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TESTNAME-1</a:t>
                      </a:r>
                    </a:p>
                  </a:txBody>
                  <a:tcPr marL="82296" marR="64008" marT="32004" marB="32004" anchor="ctr">
                    <a:solidFill>
                      <a:srgbClr val="FFFFFF"/>
                    </a:solidFill>
                  </a:tcPr>
                </a:tc>
                <a:tc>
                  <a:txBody>
                    <a:bodyPr wrap="square"/>
                    <a:lstStyle/>
                    <a:p>
                      <a:r>
                        <a:rPr sz="1350" b="0">
                          <a:solidFill>
                            <a:srgbClr val="1A1A1A"/>
                          </a:solidFill>
                          <a:latin typeface="Source Sans 3"/>
                        </a:rPr>
                        <a:t>Closing the paper's own gaps</a:t>
                      </a:r>
                    </a:p>
                  </a:txBody>
                  <a:tcPr marL="82296" marR="64008" marT="32004" marB="32004" anchor="ctr">
                    <a:solidFill>
                      <a:srgbClr val="FFFFFF"/>
                    </a:solidFill>
                  </a:tcPr>
                </a:tc>
                <a:tc>
                  <a:txBody>
                    <a:bodyPr wrap="square"/>
                    <a:lstStyle/>
                    <a:p>
                      <a:r>
                        <a:rPr sz="1350" b="0">
                          <a:solidFill>
                            <a:srgbClr val="1A1A1A"/>
                          </a:solidFill>
                          <a:latin typeface="Source Sans 3"/>
                        </a:rPr>
                        <a:t>A property test whose name no test runner matched had never run</a:t>
                      </a:r>
                    </a:p>
                  </a:txBody>
                  <a:tcPr marL="82296" marR="64008" marT="32004" marB="32004" anchor="ctr">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 · DOCS/PROJECT/QA/SUMMARY.MD</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91</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TextBox 25"/>
          <p:cNvSpPr txBox="1"/>
          <p:nvPr/>
        </p:nvSpPr>
        <p:spPr>
          <a:xfrm>
            <a:off x="777240" y="2682443"/>
            <a:ext cx="10637215" cy="35629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and logged with evidence (an exploratory probe shaped the expression and window cases, and the log says so).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Against what</a:t>
            </a:r>
          </a:p>
          <a:p>
            <a:pPr lvl="1">
              <a:lnSpc>
                <a:spcPct val="120000"/>
              </a:lnSpc>
              <a:spcBef>
                <a:spcPts val="0"/>
              </a:spcBef>
              <a:spcAft>
                <a:spcPts val="0"/>
              </a:spcAft>
            </a:pPr>
            <a:r>
              <a:rPr sz="1200" b="0">
                <a:solidFill>
                  <a:srgbClr val="4A5058"/>
                </a:solidFill>
                <a:latin typeface="Source Sans 3"/>
              </a:rPr>
              <a:t>v2.0.0 on JDK 25, no product code changed: the embedded engine, a child JVM killed with SIGKILL, a node with four principals in two tenants, and the shipped images in a 1 GiB container, through psql, psycopg, pgjdbc, pyarrow, the CLI and the console.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WHAT HELD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seams and the governance held; the edges did not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92</a:t>
            </a:r>
          </a:p>
        </p:txBody>
      </p:sp>
      <p:sp>
        <p:nvSpPr>
          <p:cNvPr id="10" name="Rectangle 9"/>
          <p:cNvSpPr/>
          <p:nvPr/>
        </p:nvSpPr>
        <p:spPr>
          <a:xfrm>
            <a:off x="777240"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Held, against an independent oracle</a:t>
            </a:r>
          </a:p>
        </p:txBody>
      </p:sp>
      <p:sp>
        <p:nvSpPr>
          <p:cNvPr id="13" name="TextBox 12"/>
          <p:cNvSpPr txBox="1"/>
          <p:nvPr/>
        </p:nvSpPr>
        <p:spPr>
          <a:xfrm>
            <a:off x="777240"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420 seeded window runs</a:t>
            </a:r>
          </a:p>
          <a:p>
            <a:pPr lvl="1">
              <a:lnSpc>
                <a:spcPct val="120000"/>
              </a:lnSpc>
              <a:spcBef>
                <a:spcPts val="0"/>
              </a:spcBef>
              <a:spcAft>
                <a:spcPts val="0"/>
              </a:spcAft>
            </a:pPr>
            <a:r>
              <a:rPr sz="1150" b="0">
                <a:solidFill>
                  <a:srgbClr val="4A5058"/>
                </a:solidFill>
                <a:latin typeface="Source Sans 3"/>
              </a:rPr>
              <a:t>≈11,000 watermark advances compared; late data and corrections matched exactly</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40 seeds × 150 chained operations</a:t>
            </a:r>
          </a:p>
          <a:p>
            <a:pPr lvl="1">
              <a:lnSpc>
                <a:spcPct val="120000"/>
              </a:lnSpc>
              <a:spcBef>
                <a:spcPts val="0"/>
              </a:spcBef>
              <a:spcAft>
                <a:spcPts val="0"/>
              </a:spcAft>
            </a:pPr>
            <a:r>
              <a:rPr sz="1150" b="0">
                <a:solidFill>
                  <a:srgbClr val="4A5058"/>
                </a:solidFill>
                <a:latin typeface="Source Sans 3"/>
              </a:rPr>
              <a:t>Queries on queries, top-N and interval joins matched on every step</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19 SIGKILLs</a:t>
            </a:r>
          </a:p>
          <a:p>
            <a:pPr lvl="1">
              <a:lnSpc>
                <a:spcPct val="120000"/>
              </a:lnSpc>
              <a:spcBef>
                <a:spcPts val="0"/>
              </a:spcBef>
              <a:spcAft>
                <a:spcPts val="0"/>
              </a:spcAft>
            </a:pPr>
            <a:r>
              <a:rPr sz="1150" b="0">
                <a:solidFill>
                  <a:srgbClr val="4A5058"/>
                </a:solidFill>
                <a:latin typeface="Source Sans 3"/>
              </a:rPr>
              <a:t>At random points: nothing lost, nothing doubled</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9,800 random predicates</a:t>
            </a:r>
          </a:p>
          <a:p>
            <a:pPr lvl="1">
              <a:lnSpc>
                <a:spcPct val="120000"/>
              </a:lnSpc>
              <a:spcBef>
                <a:spcPts val="0"/>
              </a:spcBef>
              <a:spcAft>
                <a:spcPts val="0"/>
              </a:spcAft>
            </a:pPr>
            <a:r>
              <a:rPr sz="1150" b="0">
                <a:solidFill>
                  <a:srgbClr val="4A5058"/>
                </a:solidFill>
                <a:latin typeface="Source Sans 3"/>
              </a:rPr>
              <a:t>Interpreted and generated agreed, apart from NANNOT-1</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Masks, row filters, tenants, grants</a:t>
            </a:r>
          </a:p>
          <a:p>
            <a:pPr lvl="1">
              <a:lnSpc>
                <a:spcPct val="120000"/>
              </a:lnSpc>
              <a:spcBef>
                <a:spcPts val="0"/>
              </a:spcBef>
              <a:spcAft>
                <a:spcPts val="0"/>
              </a:spcAft>
            </a:pPr>
            <a:r>
              <a:rPr sz="1150" b="0">
                <a:solidFill>
                  <a:srgbClr val="4A5058"/>
                </a:solidFill>
                <a:latin typeface="Source Sans 3"/>
              </a:rPr>
              <a:t>Held on every read path tried; every escalation refused</a:t>
            </a:r>
          </a:p>
        </p:txBody>
      </p:sp>
      <p:sp>
        <p:nvSpPr>
          <p:cNvPr id="14" name="Rectangle 13"/>
          <p:cNvSpPr/>
          <p:nvPr/>
        </p:nvSpPr>
        <p:spPr>
          <a:xfrm>
            <a:off x="6278727"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Broke, in four classes</a:t>
            </a:r>
          </a:p>
        </p:txBody>
      </p:sp>
      <p:sp>
        <p:nvSpPr>
          <p:cNvPr id="17" name="TextBox 16"/>
          <p:cNvSpPr txBox="1"/>
          <p:nvPr/>
        </p:nvSpPr>
        <p:spPr>
          <a:xfrm>
            <a:off x="6278727"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The value domain's edges</a:t>
            </a:r>
          </a:p>
          <a:p>
            <a:pPr lvl="1">
              <a:lnSpc>
                <a:spcPct val="120000"/>
              </a:lnSpc>
              <a:spcBef>
                <a:spcPts val="0"/>
              </a:spcBef>
              <a:spcAft>
                <a:spcPts val="0"/>
              </a:spcAft>
            </a:pPr>
            <a:r>
              <a:rPr sz="1150" b="0">
                <a:solidFill>
                  <a:srgbClr val="4A5058"/>
                </a:solidFill>
                <a:latin typeface="Source Sans 3"/>
              </a:rPr>
              <a:t>Empty groups, narrow integers, −0.0 and NaN, hop alignment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Bookkeeping around recovery</a:t>
            </a:r>
          </a:p>
          <a:p>
            <a:pPr lvl="1">
              <a:lnSpc>
                <a:spcPct val="120000"/>
              </a:lnSpc>
              <a:spcBef>
                <a:spcPts val="0"/>
              </a:spcBef>
              <a:spcAft>
                <a:spcPts val="0"/>
              </a:spcAft>
            </a:pPr>
            <a:r>
              <a:rPr sz="1150" b="0">
                <a:solidFill>
                  <a:srgbClr val="4A5058"/>
                </a:solidFill>
                <a:latin typeface="Source Sans 3"/>
              </a:rPr>
              <a:t>Checksums, journal damage, a shared name's state, a lost CDC slot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What a stranger or a setting can exhaust</a:t>
            </a:r>
          </a:p>
          <a:p>
            <a:pPr lvl="1">
              <a:lnSpc>
                <a:spcPct val="120000"/>
              </a:lnSpc>
              <a:spcBef>
                <a:spcPts val="0"/>
              </a:spcBef>
              <a:spcAft>
                <a:spcPts val="0"/>
              </a:spcAft>
            </a:pPr>
            <a:r>
              <a:rPr sz="1150" b="0">
                <a:solidFill>
                  <a:srgbClr val="4A5058"/>
                </a:solidFill>
                <a:latin typeface="Source Sans 3"/>
              </a:rPr>
              <a:t>Pre-auth allocation, request bodies, a 1 ms hop over a day, a 512-byte cell</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Credentials</a:t>
            </a:r>
          </a:p>
          <a:p>
            <a:pPr lvl="1">
              <a:lnSpc>
                <a:spcPct val="120000"/>
              </a:lnSpc>
              <a:spcBef>
                <a:spcPts val="0"/>
              </a:spcBef>
              <a:spcAft>
                <a:spcPts val="0"/>
              </a:spcAft>
            </a:pPr>
            <a:r>
              <a:rPr sz="1150" b="0">
                <a:solidFill>
                  <a:srgbClr val="4A5058"/>
                </a:solidFill>
                <a:latin typeface="Source Sans 3"/>
              </a:rPr>
              <a:t>A revoked key still reading; lockout naming real users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Ten severe defects in a release with one open finding</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93</a:t>
            </a:r>
          </a:p>
        </p:txBody>
      </p:sp>
      <p:graphicFrame>
        <p:nvGraphicFramePr>
          <p:cNvPr id="10" name="Table 9"/>
          <p:cNvGraphicFramePr>
            <a:graphicFrameLocks noGrp="1"/>
          </p:cNvGraphicFramePr>
          <p:nvPr/>
        </p:nvGraphicFramePr>
        <p:xfrm>
          <a:off x="777240" y="1378204"/>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pgwire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pre-auth, capped sockets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pgwire</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 A 1 GIB CONTAINER, THE IMAGE'S DEFAULTS, JDK 25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an unauthenticated client could do to the heap, before and after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Single replays, recorded with the findings: they bound the attack on this configuration and say nothing about throughput. TLS was not exercised; Npgsql was not run (no .NET here).</a:t>
            </a:r>
          </a:p>
        </p:txBody>
      </p:sp>
      <p:graphicFrame>
        <p:nvGraphicFramePr>
          <p:cNvPr id="12" name="Table 11"/>
          <p:cNvGraphicFramePr>
            <a:graphicFrameLocks noGrp="1"/>
          </p:cNvGraphicFramePr>
          <p:nvPr/>
        </p:nvGraphicFramePr>
        <p:xfrm>
          <a:off x="777240" y="1623568"/>
          <a:ext cx="10637214" cy="2712616"/>
        </p:xfrm>
        <a:graphic>
          <a:graphicData uri="http://schemas.openxmlformats.org/drawingml/2006/table">
            <a:tbl>
              <a:tblPr firstRow="1">
                <a:tableStyleId>{5C22544A-7EE6-4342-B048-85BDC9FD1C3A}</a:tableStyleId>
              </a:tblPr>
              <a:tblGrid>
                <a:gridCol w="3822749"/>
                <a:gridCol w="3490336"/>
                <a:gridCol w="3324129"/>
              </a:tblGrid>
              <a:tr h="322376">
                <a:tc>
                  <a:txBody>
                    <a:bodyPr wrap="square"/>
                    <a:lstStyle/>
                    <a:p>
                      <a:r>
                        <a:rPr sz="1300" b="1">
                          <a:solidFill>
                            <a:srgbClr val="FFFFFF"/>
                          </a:solidFill>
                          <a:latin typeface="Source Sans 3"/>
                        </a:rPr>
                        <a:t>Attack</a:t>
                      </a:r>
                    </a:p>
                  </a:txBody>
                  <a:tcPr marL="82296" marR="64008" marT="32004" marB="32004" anchor="ctr">
                    <a:solidFill>
                      <a:srgbClr val="8A1626"/>
                    </a:solidFill>
                  </a:tcPr>
                </a:tc>
                <a:tc>
                  <a:txBody>
                    <a:bodyPr wrap="square"/>
                    <a:lstStyle/>
                    <a:p>
                      <a:r>
                        <a:rPr sz="1300" b="1">
                          <a:solidFill>
                            <a:srgbClr val="FFFFFF"/>
                          </a:solidFill>
                          <a:latin typeface="Source Sans 3"/>
                        </a:rPr>
                        <a:t>Release 2.0.0</a:t>
                      </a:r>
                    </a:p>
                  </a:txBody>
                  <a:tcPr marL="82296" marR="64008" marT="32004" marB="32004" anchor="ctr">
                    <a:solidFill>
                      <a:srgbClr val="8A1626"/>
                    </a:solidFill>
                  </a:tcPr>
                </a:tc>
                <a:tc>
                  <a:txBody>
                    <a:bodyPr wrap="square"/>
                    <a:lstStyle/>
                    <a:p>
                      <a:r>
                        <a:rPr sz="1300" b="1">
                          <a:solidFill>
                            <a:srgbClr val="FFFFFF"/>
                          </a:solidFill>
                          <a:latin typeface="Source Sans 3"/>
                        </a:rPr>
                        <a:t>After the fix</a:t>
                      </a:r>
                    </a:p>
                  </a:txBody>
                  <a:tcPr marL="82296" marR="64008" marT="32004" marB="32004" anchor="ctr">
                    <a:solidFill>
                      <a:srgbClr val="8A1626"/>
                    </a:solidFill>
                  </a:tcPr>
                </a:tc>
              </a:tr>
              <a:tr h="796747">
                <a:tc>
                  <a:txBody>
                    <a:bodyPr wrap="square"/>
                    <a:lstStyle/>
                    <a:p>
                      <a:r>
                        <a:rPr sz="1400" b="1">
                          <a:solidFill>
                            <a:srgbClr val="8A1626"/>
                          </a:solidFill>
                          <a:latin typeface="Source Sans 3"/>
                        </a:rPr>
                        <a:t>pgwire sockets, each declaring a 16 MiB password message (PGPREAUTH-1)</a:t>
                      </a:r>
                    </a:p>
                  </a:txBody>
                  <a:tcPr marL="82296" marR="64008" marT="32004" marB="32004" anchor="ctr">
                    <a:solidFill>
                      <a:srgbClr val="FFFFFF"/>
                    </a:solidFill>
                  </a:tcPr>
                </a:tc>
                <a:tc>
                  <a:txBody>
                    <a:bodyPr wrap="square"/>
                    <a:lstStyle/>
                    <a:p>
                      <a:r>
                        <a:rPr sz="1400" b="0">
                          <a:solidFill>
                            <a:srgbClr val="1A1A1A"/>
                          </a:solidFill>
                          <a:latin typeface="Source Sans 3"/>
                        </a:rPr>
                        <a:t>60 sockets: OutOfMemoryError, container exit 3</a:t>
                      </a:r>
                    </a:p>
                  </a:txBody>
                  <a:tcPr marL="82296" marR="64008" marT="32004" marB="32004" anchor="ctr">
                    <a:solidFill>
                      <a:srgbClr val="FFFFFF"/>
                    </a:solidFill>
                  </a:tcPr>
                </a:tc>
                <a:tc>
                  <a:txBody>
                    <a:bodyPr wrap="square"/>
                    <a:lstStyle/>
                    <a:p>
                      <a:r>
                        <a:rPr sz="1400" b="0">
                          <a:solidFill>
                            <a:srgbClr val="1A1A1A"/>
                          </a:solidFill>
                          <a:latin typeface="Source Sans 3"/>
                        </a:rPr>
                        <a:t>60 and 300 sockets: heap ≤ 272 MiB, node UP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Concurrent anonymous sign-ins with a 19 MB body (HTTPBODY-1)</a:t>
                      </a:r>
                    </a:p>
                  </a:txBody>
                  <a:tcPr marL="82296" marR="64008" marT="32004" marB="32004" anchor="ctr">
                    <a:solidFill>
                      <a:srgbClr val="F7F5F2"/>
                    </a:solidFill>
                  </a:tcPr>
                </a:tc>
                <a:tc>
                  <a:txBody>
                    <a:bodyPr wrap="square"/>
                    <a:lstStyle/>
                    <a:p>
                      <a:r>
                        <a:rPr sz="1400" b="0">
                          <a:solidFill>
                            <a:srgbClr val="1A1A1A"/>
                          </a:solidFill>
                          <a:latin typeface="Source Sans 3"/>
                        </a:rPr>
                        <a:t>30 at once: OutOfMemoryError, container exit 3</a:t>
                      </a:r>
                    </a:p>
                  </a:txBody>
                  <a:tcPr marL="82296" marR="64008" marT="32004" marB="32004" anchor="ctr">
                    <a:solidFill>
                      <a:srgbClr val="F7F5F2"/>
                    </a:solidFill>
                  </a:tcPr>
                </a:tc>
                <a:tc>
                  <a:txBody>
                    <a:bodyPr wrap="square"/>
                    <a:lstStyle/>
                    <a:p>
                      <a:r>
                        <a:rPr sz="1400" b="0">
                          <a:solidFill>
                            <a:srgbClr val="1A1A1A"/>
                          </a:solidFill>
                          <a:latin typeface="Source Sans 3"/>
                        </a:rPr>
                        <a:t>3 bursts of 30: heap ≤ 276 MiB, node UP</a:t>
                      </a:r>
                    </a:p>
                  </a:txBody>
                  <a:tcPr marL="82296" marR="64008" marT="32004" marB="32004" anchor="ctr">
                    <a:solidFill>
                      <a:srgbClr val="F7F5F2"/>
                    </a:solidFill>
                  </a:tcPr>
                </a:tc>
              </a:tr>
              <a:tr h="1025753">
                <a:tc>
                  <a:txBody>
                    <a:bodyPr wrap="square"/>
                    <a:lstStyle/>
                    <a:p>
                      <a:r>
                        <a:rPr sz="1400" b="1">
                          <a:solidFill>
                            <a:srgbClr val="8A1626"/>
                          </a:solidFill>
                          <a:latin typeface="Source Sans 3"/>
                        </a:rPr>
                        <a:t>Both, on a node with -Xmx1g and no exit on error</a:t>
                      </a:r>
                    </a:p>
                  </a:txBody>
                  <a:tcPr marL="82296" marR="64008" marT="32004" marB="32004" anchor="ctr">
                    <a:solidFill>
                      <a:srgbClr val="FFFFFF"/>
                    </a:solidFill>
                  </a:tcPr>
                </a:tc>
                <a:tc>
                  <a:txBody>
                    <a:bodyPr wrap="square"/>
                    <a:lstStyle/>
                    <a:p>
                      <a:r>
                        <a:rPr sz="1400" b="0">
                          <a:solidFill>
                            <a:srgbClr val="1A1A1A"/>
                          </a:solidFill>
                          <a:latin typeface="Source Sans 3"/>
                        </a:rPr>
                        <a:t>100 sockets: heap 1,043,804 of 1,048,576 KiB, 42 OutOfMemoryErrors; 30 sign-ins: 38</a:t>
                      </a:r>
                    </a:p>
                  </a:txBody>
                  <a:tcPr marL="82296" marR="64008" marT="32004" marB="32004" anchor="ctr">
                    <a:solidFill>
                      <a:srgbClr val="FFFFFF"/>
                    </a:solidFill>
                  </a:tcPr>
                </a:tc>
                <a:tc>
                  <a:txBody>
                    <a:bodyPr wrap="square"/>
                    <a:lstStyle/>
                    <a:p>
                      <a:r>
                        <a:rPr sz="1400" b="0">
                          <a:solidFill>
                            <a:srgbClr val="1A1A1A"/>
                          </a:solidFill>
                          <a:latin typeface="Source Sans 3"/>
                        </a:rPr>
                        <a: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FROM FINDING TO FIX · 2026-10-01 TO 10-02</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Three waves, each fix with its reproduction switched on</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95</a:t>
            </a:r>
          </a:p>
        </p:txBody>
      </p:sp>
      <p:sp>
        <p:nvSpPr>
          <p:cNvPr id="10" name="Rectangle 9"/>
          <p:cNvSpPr/>
          <p:nvPr/>
        </p:nvSpPr>
        <p:spPr>
          <a:xfrm>
            <a:off x="777240"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Two passes</a:t>
            </a:r>
          </a:p>
        </p:txBody>
      </p:sp>
      <p:sp>
        <p:nvSpPr>
          <p:cNvPr id="13" name="TextBox 12"/>
          <p:cNvSpPr txBox="1"/>
          <p:nvPr/>
        </p:nvSpPr>
        <p:spPr>
          <a:xfrm>
            <a:off x="960120"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322 cases written first; every verdict logged with evidence</a:t>
            </a:r>
          </a:p>
        </p:txBody>
      </p:sp>
      <p:sp>
        <p:nvSpPr>
          <p:cNvPr id="14" name="Rectangle 13"/>
          <p:cNvSpPr/>
          <p:nvPr/>
        </p:nvSpPr>
        <p:spPr>
          <a:xfrm>
            <a:off x="2959547"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1</a:t>
            </a:r>
          </a:p>
        </p:txBody>
      </p:sp>
      <p:sp>
        <p:nvSpPr>
          <p:cNvPr id="17" name="TextBox 16"/>
          <p:cNvSpPr txBox="1"/>
          <p:nvPr/>
        </p:nvSpPr>
        <p:spPr>
          <a:xfrm>
            <a:off x="3142427"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5058"/>
                </a:solidFill>
                <a:latin typeface="Source Sans 3"/>
              </a:rPr>
              <a:t>The ten high: answers, recovery, heap, credentials</a:t>
            </a:r>
          </a:p>
        </p:txBody>
      </p:sp>
      <p:cxnSp>
        <p:nvCxnSpPr>
          <p:cNvPr id="18" name="Connector 17"/>
          <p:cNvCxnSpPr/>
          <p:nvPr/>
        </p:nvCxnSpPr>
        <p:spPr>
          <a:xfrm>
            <a:off x="272180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2</a:t>
            </a:r>
          </a:p>
        </p:txBody>
      </p:sp>
      <p:sp>
        <p:nvSpPr>
          <p:cNvPr id="22" name="TextBox 21"/>
          <p:cNvSpPr txBox="1"/>
          <p:nvPr/>
        </p:nvSpPr>
        <p:spPr>
          <a:xfrm>
            <a:off x="5324734"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seventeen medium: casts, checksums, grouping, hops, DLQ</a:t>
            </a:r>
          </a:p>
        </p:txBody>
      </p:sp>
      <p:cxnSp>
        <p:nvCxnSpPr>
          <p:cNvPr id="23" name="Connector 22"/>
          <p:cNvCxnSpPr/>
          <p:nvPr/>
        </p:nvCxnSpPr>
        <p:spPr>
          <a:xfrm>
            <a:off x="4904110"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3</a:t>
            </a:r>
          </a:p>
        </p:txBody>
      </p:sp>
      <p:sp>
        <p:nvSpPr>
          <p:cNvPr id="27" name="TextBox 26"/>
          <p:cNvSpPr txBox="1"/>
          <p:nvPr/>
        </p:nvSpPr>
        <p:spPr>
          <a:xfrm>
            <a:off x="7507041"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nineteen low and the four design notes</a:t>
            </a:r>
          </a:p>
        </p:txBody>
      </p:sp>
      <p:cxnSp>
        <p:nvCxnSpPr>
          <p:cNvPr id="28" name="Connector 27"/>
          <p:cNvCxnSpPr/>
          <p:nvPr/>
        </p:nvCxnSpPr>
        <p:spPr>
          <a:xfrm>
            <a:off x="708641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a:t>
            </a:r>
          </a:p>
        </p:txBody>
      </p:sp>
      <p:sp>
        <p:nvSpPr>
          <p:cNvPr id="32" name="TextBox 31"/>
          <p:cNvSpPr txBox="1"/>
          <p:nvPr/>
        </p:nvSpPr>
        <p:spPr>
          <a:xfrm>
            <a:off x="9689348"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552 findings, 0 open; 3 more found while fixing, fixed</a:t>
            </a:r>
          </a:p>
        </p:txBody>
      </p:sp>
      <p:cxnSp>
        <p:nvCxnSpPr>
          <p:cNvPr id="33" name="Connector 32"/>
          <p:cNvCxnSpPr/>
          <p:nvPr/>
        </p:nvCxnSpPr>
        <p:spPr>
          <a:xfrm>
            <a:off x="9268724"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Kept, not thrown away</a:t>
            </a:r>
          </a:p>
          <a:p>
            <a:pPr lvl="1">
              <a:lnSpc>
                <a:spcPct val="120000"/>
              </a:lnSpc>
              <a:spcBef>
                <a:spcPts val="0"/>
              </a:spcBef>
              <a:spcAft>
                <a:spcPts val="0"/>
              </a:spcAft>
            </a:pPr>
            <a:r>
              <a:rPr sz="1150" b="0">
                <a:solidFill>
                  <a:srgbClr val="4A5058"/>
                </a:solidFill>
                <a:latin typeface="Source Sans 3"/>
              </a:rPr>
              <a:t>The engine round's reproductions stay in pravaha-it (opt-in, -Dpravaha.qa.adversarial=true) and the surface round's in tests/qa/adv_surface, against a running node.</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Two narrower fixes, and why</a:t>
            </a:r>
          </a:p>
          <a:p>
            <a:pPr lvl="1">
              <a:lnSpc>
                <a:spcPct val="120000"/>
              </a:lnSpc>
              <a:spcBef>
                <a:spcPts val="0"/>
              </a:spcBef>
              <a:spcAft>
                <a:spcPts val="0"/>
              </a:spcAft>
            </a:pPr>
            <a:r>
              <a:rPr sz="1150" b="0">
                <a:solidFill>
                  <a:srgbClr val="4A5058"/>
                </a:solidFill>
                <a:latin typeface="Source Sans 3"/>
              </a:rPr>
              <a:t>No per-record journal checksum: a 2.0.0 node would read it as a torn tail. MIN/MAX over retractions refused rather than supported: that needs per-slice value multisets.</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The uncomfortable lesson</a:t>
            </a:r>
          </a:p>
          <a:p>
            <a:pPr lvl="1">
              <a:lnSpc>
                <a:spcPct val="120000"/>
              </a:lnSpc>
              <a:spcBef>
                <a:spcPts val="0"/>
              </a:spcBef>
              <a:spcAft>
                <a:spcPts val="0"/>
              </a:spcAft>
            </a:pPr>
            <a:r>
              <a:rPr sz="1150" b="0">
                <a:solidFill>
                  <a:srgbClr val="4A5058"/>
                </a:solidFill>
                <a:latin typeface="Source Sans 3"/>
              </a:rPr>
              <a:t>A green reactor of 4,832 tests still held 46 defects. “None open” describes what has been looked for.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96</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Java 25, and the language and APIs</a:t>
            </a:r>
          </a:p>
          <a:p>
            <a:pPr lvl="1">
              <a:lnSpc>
                <a:spcPct val="120000"/>
              </a:lnSpc>
              <a:spcBef>
                <a:spcPts val="0"/>
              </a:spcBef>
              <a:spcAft>
                <a:spcPts val="0"/>
              </a:spcAft>
            </a:pPr>
            <a:r>
              <a:rPr sz="1200" b="0">
                <a:solidFill>
                  <a:srgbClr val="4A5058"/>
                </a:solidFill>
                <a:latin typeface="Source Sans 3"/>
              </a:rPr>
              <a:t>JDK 25 the minimum through 2.x. The SQL dialect; the SDKs; every /api/v1 path and field (an OpenAPI lock checks it); Flight verbs and columns; what pgwire clients send.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Operations</a:t>
            </a:r>
          </a:p>
          <a:p>
            <a:pPr lvl="1">
              <a:lnSpc>
                <a:spcPct val="120000"/>
              </a:lnSpc>
              <a:spcBef>
                <a:spcPts val="0"/>
              </a:spcBef>
              <a:spcAft>
                <a:spcPts val="0"/>
              </a:spcAft>
            </a:pPr>
            <a:r>
              <a:rPr sz="1200" b="0">
                <a:solidFill>
                  <a:srgbClr val="4A5058"/>
                </a:solidFill>
                <a:latin typeface="Source Sans 3"/>
              </a:rPr>
              <a:t>PRV codes and SQLSTATEs, never reused; CLI commands and exit codes; pravaha.* keys; metric names; the /opt/pravaha layout.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State on disk</a:t>
            </a:r>
          </a:p>
          <a:p>
            <a:pPr lvl="1">
              <a:lnSpc>
                <a:spcPct val="120000"/>
              </a:lnSpc>
              <a:spcBef>
                <a:spcPts val="0"/>
              </a:spcBef>
              <a:spcAft>
                <a:spcPts val="0"/>
              </a:spcAft>
            </a:pPr>
            <a:r>
              <a:rPr sz="1200" b="0">
                <a:solidFill>
                  <a:srgbClr val="4A5058"/>
                </a:solidFill>
                <a:latin typeface="Source Sans 3"/>
              </a:rPr>
              <a:t>A 2.x node reads what any 1.x or 2.x wrote. Going back is not promised.</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in 2.0</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The assistant</a:t>
            </a:r>
          </a:p>
          <a:p>
            <a:pPr lvl="1">
              <a:lnSpc>
                <a:spcPct val="120000"/>
              </a:lnSpc>
              <a:spcBef>
                <a:spcPts val="0"/>
              </a:spcBef>
              <a:spcAft>
                <a:spcPts val="0"/>
              </a:spcAft>
            </a:pPr>
            <a:r>
              <a:rPr sz="1200" b="0">
                <a:solidFill>
                  <a:srgbClr val="4A5058"/>
                </a:solidFill>
                <a:latin typeface="Source Sans 3"/>
              </a:rPr>
              <a:t>Works and is tested; may change in a minor release.</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catalogue beyond phases 1–2</a:t>
            </a:r>
          </a:p>
          <a:p>
            <a:pPr lvl="1">
              <a:lnSpc>
                <a:spcPct val="120000"/>
              </a:lnSpc>
              <a:spcBef>
                <a:spcPts val="0"/>
              </a:spcBef>
              <a:spcAft>
                <a:spcPts val="0"/>
              </a:spcAft>
            </a:pPr>
            <a:r>
              <a:rPr sz="1200" b="0">
                <a:solidFill>
                  <a:srgbClr val="4A5058"/>
                </a:solidFill>
                <a:latin typeface="Source Sans 3"/>
              </a:rPr>
              <a:t>Grants, namespaces, filters and masks are stable; lineage and contracts are not built.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Cluster mode (wave 11)</a:t>
            </a:r>
          </a:p>
          <a:p>
            <a:pPr lvl="1">
              <a:lnSpc>
                <a:spcPct val="120000"/>
              </a:lnSpc>
              <a:spcBef>
                <a:spcPts val="0"/>
              </a:spcBef>
              <a:spcAft>
                <a:spcPts val="0"/>
              </a:spcAft>
            </a:pPr>
            <a:r>
              <a:rPr sz="1200" b="0">
                <a:solidFill>
                  <a:srgbClr val="4A5058"/>
                </a:solidFill>
                <a:latin typeface="Source Sans 3"/>
              </a:rPr>
              <a:t>On hold; when it comes, a 2.x addition a single node need not adopt.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 patch may change an answer</a:t>
            </a:r>
          </a:p>
          <a:p>
            <a:pPr lvl="1">
              <a:lnSpc>
                <a:spcPct val="120000"/>
              </a:lnSpc>
              <a:spcBef>
                <a:spcPts val="0"/>
              </a:spcBef>
              <a:spcAft>
                <a:spcPts val="0"/>
              </a:spcAft>
            </a:pPr>
            <a:r>
              <a:rPr sz="1200" b="0">
                <a:solidFill>
                  <a:srgbClr val="4A5058"/>
                </a:solidFill>
                <a:latin typeface="Source Sans 3"/>
              </a:rPr>
              <a:t>Only where the old one was the defect, and the release notes say so.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One node, feature-complete; these are deferred, or not yet done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97</a:t>
            </a:r>
          </a:p>
        </p:txBody>
      </p:sp>
      <p:sp>
        <p:nvSpPr>
          <p:cNvPr id="10" name="Rectangle 9"/>
          <p:cNvSpPr/>
          <p:nvPr/>
        </p:nvSpPr>
        <p:spPr>
          <a:xfrm>
            <a:off x="777240"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24837"/>
            <a:ext cx="5135727" cy="442051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Multi-node execution — wave 11, on hold</a:t>
            </a:r>
          </a:p>
          <a:p>
            <a:pPr lvl="1">
              <a:lnSpc>
                <a:spcPct val="120000"/>
              </a:lnSpc>
              <a:spcBef>
                <a:spcPts val="0"/>
              </a:spcBef>
              <a:spcAft>
                <a:spcPts val="0"/>
              </a:spcAft>
            </a:pPr>
            <a:r>
              <a:rPr sz="135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MFA and single sign-on</a:t>
            </a:r>
          </a:p>
          <a:p>
            <a:pPr lvl="1">
              <a:lnSpc>
                <a:spcPct val="120000"/>
              </a:lnSpc>
              <a:spcBef>
                <a:spcPts val="0"/>
              </a:spcBef>
              <a:spcAft>
                <a:spcPts val="0"/>
              </a:spcAft>
            </a:pPr>
            <a:r>
              <a:rPr sz="135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Not yet proven</a:t>
            </a:r>
          </a:p>
          <a:p>
            <a:pPr lvl="1">
              <a:lnSpc>
                <a:spcPct val="120000"/>
              </a:lnSpc>
              <a:spcBef>
                <a:spcPts val="0"/>
              </a:spcBef>
              <a:spcAft>
                <a:spcPts val="0"/>
              </a:spcAft>
            </a:pPr>
            <a:r>
              <a:rPr sz="1350" b="0">
                <a:solidFill>
                  <a:srgbClr val="4A5058"/>
                </a:solidFill>
                <a:latin typeface="Source Sans 3"/>
              </a:rPr>
              <a:t>The eight-lane scaling target; the manual WCAG 2.2 AA audit.</a:t>
            </a:r>
          </a:p>
        </p:txBody>
      </p:sp>
      <p:sp>
        <p:nvSpPr>
          <p:cNvPr id="14" name="Rectangle 13"/>
          <p:cNvSpPr/>
          <p:nvPr/>
        </p:nvSpPr>
        <p:spPr>
          <a:xfrm>
            <a:off x="6278727"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24837"/>
          <a:ext cx="5135726" cy="3079290"/>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330555">
                <a:tc>
                  <a:txBody>
                    <a:bodyPr wrap="square"/>
                    <a:lstStyle/>
                    <a:p>
                      <a:r>
                        <a:rPr sz="1350" b="1">
                          <a:solidFill>
                            <a:srgbClr val="8A1626"/>
                          </a:solidFill>
                          <a:latin typeface="Source Sans 3"/>
                        </a:rPr>
                        <a:t>mysql-cdc</a:t>
                      </a:r>
                    </a:p>
                  </a:txBody>
                  <a:tcPr marL="82296" marR="64008" marT="32004" marB="32004" anchor="ctr">
                    <a:solidFill>
                      <a:srgbClr val="FFFFFF"/>
                    </a:solidFill>
                  </a:tcPr>
                </a:tc>
                <a:tc>
                  <a:txBody>
                    <a:bodyPr wrap="square"/>
                    <a:lstStyle/>
                    <a:p>
                      <a:r>
                        <a:rPr sz="1350" b="0">
                          <a:solidFill>
                            <a:srgbClr val="1A1A1A"/>
                          </a:solidFill>
                          <a:latin typeface="Source Sans 3"/>
                        </a:rPr>
                        <a:t>An initial snapshot, TLS</a:t>
                      </a:r>
                    </a:p>
                  </a:txBody>
                  <a:tcPr marL="82296" marR="64008" marT="32004" marB="32004" anchor="ctr">
                    <a:solidFill>
                      <a:srgbClr val="FFFFFF"/>
                    </a:solidFill>
                  </a:tcPr>
                </a:tc>
              </a:tr>
              <a:tr h="772210">
                <a:tc>
                  <a:txBody>
                    <a:bodyPr wrap="square"/>
                    <a:lstStyle/>
                    <a:p>
                      <a:r>
                        <a:rPr sz="1350" b="1">
                          <a:solidFill>
                            <a:srgbClr val="8A1626"/>
                          </a:solidFill>
                          <a:latin typeface="Source Sans 3"/>
                        </a:rPr>
                        <a:t>iceberg-sink</a:t>
                      </a:r>
                    </a:p>
                  </a:txBody>
                  <a:tcPr marL="82296" marR="64008" marT="32004" marB="32004" anchor="ctr">
                    <a:solidFill>
                      <a:srgbClr val="F7F5F2"/>
                    </a:solidFill>
                  </a:tcPr>
                </a:tc>
                <a:tc>
                  <a:txBody>
                    <a:bodyPr wrap="square"/>
                    <a:lstStyle/>
                    <a:p>
                      <a:r>
                        <a:rPr sz="1350" b="0">
                          <a:solidFill>
                            <a:srgbClr val="1A1A1A"/>
                          </a:solidFill>
                          <a:latin typeface="Source Sans 3"/>
                        </a:rPr>
                        <a:t>Object stores, catalogs, partitioned tables, schema evolution</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350" b="0">
                          <a:solidFill>
                            <a:srgbClr val="1A1A1A"/>
                          </a:solidFill>
                          <a:latin typeface="Source Sans 3"/>
                        </a:rPr>
                        <a:t>Delta and JDBC; a CDC binding has one consumer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Queries on queries</a:t>
                      </a:r>
                    </a:p>
                  </a:txBody>
                  <a:tcPr marL="82296" marR="64008" marT="32004" marB="32004" anchor="ctr">
                    <a:solidFill>
                      <a:srgbClr val="F7F5F2"/>
                    </a:solidFill>
                  </a:tcPr>
                </a:tc>
                <a:tc>
                  <a:txBody>
                    <a:bodyPr wrap="square"/>
                    <a:lstStyle/>
                    <a:p>
                      <a:r>
                        <a:rPr sz="1350" b="0">
                          <a:solidFill>
                            <a:srgbClr val="1A1A1A"/>
                          </a:solidFill>
                          <a:latin typeface="Source Sans 3"/>
                        </a:rPr>
                        <a:t>Windows, joins, MIN/MAX over a view; replacing a chain member</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Alerts</a:t>
                      </a:r>
                    </a:p>
                  </a:txBody>
                  <a:tcPr marL="82296" marR="64008" marT="32004" marB="32004" anchor="ctr">
                    <a:solidFill>
                      <a:srgbClr val="FFFFFF"/>
                    </a:solidFill>
                  </a:tcPr>
                </a:tc>
                <a:tc>
                  <a:txBody>
                    <a:bodyPr wrap="square"/>
                    <a:lstStyle/>
                    <a:p>
                      <a:r>
                        <a:rPr sz="1350" b="0">
                          <a:solidFill>
                            <a:srgbClr val="1A1A1A"/>
                          </a:solidFill>
                          <a:latin typeface="Source Sans 3"/>
                        </a:rPr>
                        <a:t>Email, Teams and PagerDuty channels</a:t>
                      </a:r>
                    </a:p>
                  </a:txBody>
                  <a:tcPr marL="82296" marR="64008" marT="32004" marB="32004" anchor="ct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Never pre-combined at a source, and over an input that deletes refused at registration (PRV-2076).</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transaction over a live answer is READ COMMITTED</a:t>
            </a:r>
          </a:p>
          <a:p>
            <a:pPr lvl="1">
              <a:lnSpc>
                <a:spcPct val="120000"/>
              </a:lnSpc>
              <a:spcBef>
                <a:spcPts val="0"/>
              </a:spcBef>
              <a:spcAft>
                <a:spcPts val="0"/>
              </a:spcAft>
            </a:pPr>
            <a:r>
              <a:rPr sz="1550" b="0">
                <a:solidFill>
                  <a:srgbClr val="4A5058"/>
                </a:solidFill>
                <a:latin typeface="Source Sans 3"/>
              </a:rPr>
              <a:t>Each read sees the last commit; the gateway says so rather than promise repeatable reads.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99</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287005"/>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22376">
                <a:tc>
                  <a:txBody>
                    <a:bodyPr wrap="square"/>
                    <a:lstStyle/>
                    <a:p>
                      <a:r>
                        <a:rPr sz="13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300" b="0">
                          <a:solidFill>
                            <a:srgbClr val="1A1A1A"/>
                          </a:solidFill>
                          <a:latin typeface="Source Sans 3"/>
                        </a:rPr>
                        <a:t>Clone to a running, changing view in about ten minutes</a:t>
                      </a:r>
                    </a:p>
                  </a:txBody>
                  <a:tcPr marL="82296" marR="64008" marT="32004" marB="32004" anchor="ctr">
                    <a:solidFill>
                      <a:srgbClr val="FFFFFF"/>
                    </a:solidFill>
                  </a:tcPr>
                </a:tc>
              </a:tr>
              <a:tr h="747674">
                <a:tc>
                  <a:txBody>
                    <a:bodyPr wrap="square"/>
                    <a:lstStyle/>
                    <a:p>
                      <a:r>
                        <a:rPr sz="1300" b="1">
                          <a:solidFill>
                            <a:srgbClr val="8A1626"/>
                          </a:solidFill>
                          <a:latin typeface="Source Sans 3"/>
                        </a:rPr>
                        <a:t>docs/operations/RUNNING_IN_DOCKER.md</a:t>
                      </a:r>
                    </a:p>
                  </a:txBody>
                  <a:tcPr marL="82296" marR="64008" marT="32004" marB="32004" anchor="ctr">
                    <a:solidFill>
                      <a:srgbClr val="F7F5F2"/>
                    </a:solidFill>
                  </a:tcPr>
                </a:tc>
                <a:tc>
                  <a:txBody>
                    <a:bodyPr wrap="square"/>
                    <a:lstStyle/>
                    <a:p>
                      <a:r>
                        <a:rPr sz="1300" b="0">
                          <a:solidFill>
                            <a:srgbClr val="1A1A1A"/>
                          </a:solidFill>
                          <a:latin typeface="Source Sans 3"/>
                        </a:rPr>
                        <a:t>Images, the compose stack and its profiles, /opt/pravaha</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docs/operations/COMPATIBILITY.md</a:t>
                      </a:r>
                    </a:p>
                  </a:txBody>
                  <a:tcPr marL="82296" marR="64008" marT="32004" marB="32004" anchor="ctr">
                    <a:solidFill>
                      <a:srgbClr val="FFFFFF"/>
                    </a:solidFill>
                  </a:tcPr>
                </a:tc>
                <a:tc>
                  <a:txBody>
                    <a:bodyPr wrap="square"/>
                    <a:lstStyle/>
                    <a:p>
                      <a:r>
                        <a:rPr sz="1300" b="0">
                          <a:solidFill>
                            <a:srgbClr val="1A1A1A"/>
                          </a:solidFill>
                          <a:latin typeface="Source Sans 3"/>
                        </a:rPr>
                        <a:t>What 1.x keeps stable, and what is experimental</a:t>
                      </a:r>
                    </a:p>
                  </a:txBody>
                  <a:tcPr marL="82296" marR="64008" marT="32004" marB="32004" anchor="ctr">
                    <a:solidFill>
                      <a:srgbClr val="FFFFFF"/>
                    </a:solidFill>
                  </a:tcPr>
                </a:tc>
              </a:tr>
              <a:tr h="322376">
                <a:tc>
                  <a:txBody>
                    <a:bodyPr wrap="square"/>
                    <a:lstStyle/>
                    <a:p>
                      <a:r>
                        <a:rPr sz="1300" b="1">
                          <a:solidFill>
                            <a:srgbClr val="8A1626"/>
                          </a:solidFill>
                          <a:latin typeface="Source Sans 3"/>
                        </a:rPr>
                        <a:t>docs/guides/CONCEPTS.md</a:t>
                      </a:r>
                    </a:p>
                  </a:txBody>
                  <a:tcPr marL="82296" marR="64008" marT="32004" marB="32004" anchor="ctr">
                    <a:solidFill>
                      <a:srgbClr val="F7F5F2"/>
                    </a:solidFill>
                  </a:tcPr>
                </a:tc>
                <a:tc>
                  <a:txBody>
                    <a:bodyPr wrap="square"/>
                    <a:lstStyle/>
                    <a:p>
                      <a:r>
                        <a:rPr sz="1300" b="0">
                          <a:solidFill>
                            <a:srgbClr val="1A1A1A"/>
                          </a:solidFill>
                          <a:latin typeface="Source Sans 3"/>
                        </a:rPr>
                        <a:t>The eight ideas; most surprises are one of them working correctly</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docs/guides/tutorials/</a:t>
                      </a:r>
                    </a:p>
                  </a:txBody>
                  <a:tcPr marL="82296" marR="64008" marT="32004" marB="32004" anchor="ctr">
                    <a:solidFill>
                      <a:srgbClr val="FFFFFF"/>
                    </a:solidFill>
                  </a:tcPr>
                </a:tc>
                <a:tc>
                  <a:txBody>
                    <a:bodyPr wrap="square"/>
                    <a:lstStyle/>
                    <a:p>
                      <a:r>
                        <a:rPr sz="130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22376">
                <a:tc>
                  <a:txBody>
                    <a:bodyPr wrap="square"/>
                    <a:lstStyle/>
                    <a:p>
                      <a:r>
                        <a:rPr sz="130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300" b="0">
                          <a:solidFill>
                            <a:srgbClr val="1A1A1A"/>
                          </a:solidFill>
                          <a:latin typeface="Source Sans 3"/>
                        </a:rPr>
                        <a:t>Thirteen worked systems to copy, each checked by the build</a:t>
                      </a:r>
                    </a:p>
                  </a:txBody>
                  <a:tcPr marL="82296" marR="64008" marT="32004" marB="32004" anchor="ctr">
                    <a:solidFill>
                      <a:srgbClr val="F7F5F2"/>
                    </a:solidFill>
                  </a:tcPr>
                </a:tc>
              </a:tr>
              <a:tr h="747674">
                <a:tc>
                  <a:txBody>
                    <a:bodyPr wrap="square"/>
                    <a:lstStyle/>
                    <a:p>
                      <a:r>
                        <a:rPr sz="1300" b="1">
                          <a:solidFill>
                            <a:srgbClr val="8A1626"/>
                          </a:solidFill>
                          <a:latin typeface="Source Sans 3"/>
                        </a:rPr>
                        <a:t>docs/guides/CONTINUOUS_QUERIES.md</a:t>
                      </a:r>
                    </a:p>
                  </a:txBody>
                  <a:tcPr marL="82296" marR="64008" marT="32004" marB="32004" anchor="ctr">
                    <a:solidFill>
                      <a:srgbClr val="FFFFFF"/>
                    </a:solidFill>
                  </a:tcPr>
                </a:tc>
                <a:tc>
                  <a:txBody>
                    <a:bodyPr wrap="square"/>
                    <a:lstStyle/>
                    <a:p>
                      <a:r>
                        <a:rPr sz="130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30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docs/design/adr/</a:t>
                      </a:r>
                    </a:p>
                  </a:txBody>
                  <a:tcPr marL="82296" marR="64008" marT="32004" marB="32004" anchor="ctr">
                    <a:solidFill>
                      <a:srgbClr val="FFFFFF"/>
                    </a:solidFill>
                  </a:tcPr>
                </a:tc>
                <a:tc>
                  <a:txBody>
                    <a:bodyPr wrap="square"/>
                    <a:lstStyle/>
                    <a:p>
                      <a:r>
                        <a:rPr sz="130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2026-10-02T12:00:00Z</dcterms:created>
  <dcterms:modified xsi:type="dcterms:W3CDTF">2026-10-02T12:00:00Z</dcterms:modified>
  <cp:category/>
</cp:coreProperties>
</file>