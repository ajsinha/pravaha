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25); brand/README.md (the name and slogan); docs/project/RELEASE_NOTES.md '2.0.0 — 2026-10-01' and 'Unreleased'; docs/operations/COMPATIBILITY.md (2.0 is a one-node release); docs/design/adr/061-jdk-25-is-the-baseline-from-2-0.md.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'2.0.0 — 2026-10-01' (who it breaks, Docker, proved on 25) and 'Unreleased' (register line: 553 findings — 533 fixed, 1 open); docs/operations/COMPATIBILITY.md '2.0: what breaks'; docs/design/adr/061-jdk-25-is-the-baseline-from-2-0.md (Consequences: Boot 3.4 and 3.5 pass 41 tests on 25); docs/project/qa/FINDINGS.md header (10 BY DESIGN, 9 SUPERSEDED); docs/project/qa/SUMMARY.md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(problem statements); docs/guides/CONCEPTS.md §1; README.md 'What it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ecommerce-checkout-funnel/README.md, telecom-cdr-fraud/README.md, lakehouse-orders-iceberg/README.md (problem statements,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examples/case-studies/finance-counterparty-exposure/README.md; retail-inventory-mysql/README.md; logistics-delivery-sla/README.md; docs/design/system_design.md §19 (connector shapes table, 'Poll with a watermark').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 continuous query is a computation, not a request' (costs measured by NodeScaleTest, per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header, 'What it is', 'How it is built', 'Building' (plugin list; plugins/ holds ten connector plugins plus pravaha-cluster-zookeeper), 'What is not built' (PRV-9002); examples/case-studies/README.md (thirteen studies;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§1–§2; docs/guides/CONCEPTS.md; docs/design/EXECUTION_MODEL.md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 'The three nouns' (table and the source → stream → continuous query → view → SELECT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'Declaring a stream' (the three blocks and the YAML, schema line wrapped for the slide); docs/guides/CONNECTORS.md §4 ('a binding is per stream name, not per query'); README.md 'Sources' (one reader per source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§2 'Event time, not clock time' and §3 'Watermarks' (10-second default, minimum across partitions, idle exclusion, PRV-2002 / TIME-6).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'Changes carry weights' (STRM-1); docs/guides/USER_GUIDE.md 'Subscribing to a registered query' (per commit, never per row); examples/case-studies/manufacturing-sensor-anomalies/README.md step 5 (the snapshot and commit lines, columns trimmed; temperatures are deci-degrees).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§1–§2 ('One thread, one inbox, one arena, one processor, one loop'); docs/design/adr/008-aligned-checkpoints.md; README.md 'Recovery', 'Sinks', 'How it is built'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§3–§4; docs/design/ARCHITECTURE.md §4, trace two.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'Registering a continuous query' (the statement verbatim, the TUMBLE line wrapped for the slide; --keys, --retain, TY-21).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'What happens at registration' (six steps, condensed to five); docs/guides/CONCEPTS.md §5 'Sharing is by fingerprint'; docs/design/adr/050-a-tenant-owns-names-and-state-and-shares-only-with-itself.md (tenant in the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(PRV-2002, TIME-6), §3 steps 2 (PRV-2042, PRV-2041); docs/guides/CONCEPTS.md §7 (PRV-2050); README.md 'Windows and event time' (PRV-2020), 'Sinks' (PRV-8010); docs/guides/CONNECTORS.md §1 (a sink reports schema() and keyColumns()); docs/design/adr/050 §2 (PRV-8020, PRV-8021).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(both SDK snippets, string literal split across lines for the slide) and 'Serving'; docs/design/ARCHITECTURE.md §3, trace one (the read).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'Subscribing to a registered query' (snapshot then commits; CONFLATE, DROP_OLDEST, FAIL); docs/guides/CONCEPTS.md §8 (STRM-8); docs/operations/OPERATIONS.md 'What to watch' (dropped()/conflated(), ChangeBatch.droppedBefore, STRM-10).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README.md 'Corrections', 'Recovery', 'Survival', 'How it is built'; docs/guides/CONCEPTS.md §4, §7.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'Implementation status — as of 2026-09-14' (W8-2, W8-3, W8-4; IngestPump.pumpOnce, QueryExecution.checkpoint, freezeIngest; the two named tests).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('Output is cut at the same marker (amended 2026-09-19, ADR-043 "As built")', ADR-029 cap); README.md 'Sinks' and 'Boundaries' (transactional sinks; capped by whether the source can rewind); docs/operations/OPERATIONS.md sink delivery table.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'Restarts: what survives' and 'Checkpoints: what is actually true' (PRV-8006; pravaha.checkpoint.keep default 3); docs/design/adr/008 ('The exchange is not cut', QueryExecution.refuseWhileRowsCrossTheExchange).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README.md 'Corrections' and 'Sinks' (kafka-sink tombstone, iceberg-sink equality deletes).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§3 (lateness belongs to the source; 10-second default; allowed lateness defaults to zero); docs/guides/CONTINUOUS_QUERIES.md §2 (TIME-3; join takes the minimum); examples/case-studies/manufacturing-sensor-anomalies/README.md step 5 ('A correction is emitted when event time next moves').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'Survival', 'State', 'Boundaries' (ADR-044); docs/guides/CONCEPTS.md §7 (state_held, _ceiling, _fraction; PRV-4001); docs/design/EXECUTION_MODEL.md §2 'A lane fails alone'; docs/project/RELEASE_NOTES.md 'Unreleased' (DLQPROJ-1: PRV-3027).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'What holds memory, and what bounds it' (rows abridged); docs/guides/CONCEPTS.md §7.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(ALLNULLAGG-1, NARROWINT-1, NANGROUP-1, HOPALIGN-1, FINEHOP-1, MINRETRACT-1; 'Answers change'); docs/project/qa/FINDINGS.md status lines; docs/project/qa/logs/ADV-ENGINE.md (QE-001–006, 045–048, 065, 159, 163).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(CKPTSUM-1, RETYPERESTORE-1, JOURNALMID-1, SHAREDLOSS-1, RECOVERYHEALTH-1, CDCSLOT-1, TOPICGONE-1); docs/project/qa/SUMMARY.md 'What held' (19 SIGKILLs).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'Project status', 'Many queries on one node'; docs/design/EXECUTION_MODEL.md;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 'A lane', §2 'Why there are no locks', §3 'Lane vs thread'; docs/operations/OPERATIONS.md 'Sizing a node for many queries' (PRV-3001).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and 'Performance' (200 queries, 24 threads; 1 MiB idle; 3.7 ms and 61 MiB on JDK 21, NodeScaleTest and SourceScaleTest); docs/project/gates/measured-2026-10-04-jdk25/README.md (ThousandQueryTest on JDK 25: 2.6 ms, 62 MiB); docs/operations/OPERATIONS.md 'Sizing a node for many queries' (1,024 KiB, 1,328 KiB, 64 KiB) and 'Sharing lanes between queries' (SRC-2).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'Sizing a node for many queries' (settings table) and 'Sharing lanes between queries'; docs/project/RELEASE_NOTES.md '1.0.0' ('Lane sharing is on by default, as auto').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'Sharing lanes between queries' (SharedLaneDensityTest; LANE-2; PRV-3002); README.md 'Many queries on one node', 'Continuous queries'.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'Keeping one query on its own lane' (statements quoted, names elided); docs/project/RELEASE_NOTES.md '1.0.0' (WITH (lane = 'dedicated'), the L record, PRV-8017, GET /api/v1/queries lane and sharedLane); commit fba15e14.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'An administrator rebalances by hand'; commits 14914ae0, 6869419b, 86dd3e19;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docs/design/adr/054-an-ordered-source-is-shared-at-an-exact-seam.md (Decision, table verbatim, 'Which sources'); README.md 'What is not built' first-versions table; docs/project/RELEASE_NOTES.md 0.2.0.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docs/design/adr/055-an-equality-index-over-a-column-outside-the-key.md §1–§4 (ServedView.commit, SecondaryIndexTest, SecondaryIndexRegistryTest, MAX_EQUALITY_INDEXES, PRV-2074); docs/project/RELEASE_NOTES.md '1.0.0' (IDXVIS-1: access paths visible).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docs/guides/CONTINUOUS_QUERIES.md §8.1.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'Decision' and 'Alternatives considered' (paraphrased closely).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('What happens, in order'; PRV-4013, PRV-4014); docs/design/adr/046 §1 (OffsetSplicedReader), §4 (P, C, E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 §2–§3 and 'Consequences'; docs/guides/CONTINUOUS_QUERIES.md §8.1 ('What a reader / subscriber / sink sees'); README.md 'The console' (backfill and cutover).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(the statement verbatim, reflowed; options table; refusals table); docs/design/adr/050 §3 / docs/operations/SECURITY.md 'A replacement stays in its tenant' (PRV-8022); README.md 'Blue/green replacement' (eight gauges).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docs/design/adr/057-alerts.md;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§3.1 (the three statements, verbatim, reflowed); docs/design/adr/056-queries-on-queries.md §1, §4, §5; docs/project/RELEASE_NOTES.md '1.0.0' (Queries on queries).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§2 (the image, the freeze, restore by difference, the 65,536-change queue); QueryChainsTest, UpstreamReaderTest; docs/publications/research/continuous-queries-as-maintained-answers.tex §8 (Theorem: a chain is exact).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§1–§3, §5 (statement shape and options from §2; channels built and designed); docs/project/RELEASE_NOTES.md '1.0.0' (Alerts).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§4 (journal, restart, redelivery, idempotency key) and §6 (PRV-8024); docs/project/RELEASE_NOTES.md '1.0.0' (Alerts,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plugins/ (ten connector plugins and pravaha-cluster-zookeeper); docs/guides/CONNECTORS.md; README.md 'Sources', 'Sinks'.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'Sources'; docs/guides/CONNECTORS.md §1 (kinds and shipped examples, lookup names with suffix); plugins/*/src/main/resources/META-INF/services/ (which plugin declares which kind); docs/design/adr/054 ('Which sources').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'Sinks'; docs/guides/CONNECTORS.md §1 (StreamSinkPlugin row); docs/project/RELEASE_NOTES.md 0.2.0 (Avro/Protobuf, commit.mode: prepared) and '1.0.0' (iceberg-sink).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docs/design/adr/041-change-data-capture-without-debezium.md; README.md 'Sources' (postgres-cdc, mysql-cdc); docs/project/RELEASE_NOTES.md '1.0.0' (mysql-cdc, PRV-5152).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docs/guides/CONNECTORS.md §1 (PRV-5090, CFG-4); docs/design/system_design.md §33 ADR-028 row; docs/guides/CONTINUOUS_QUERIES.md §2.1 (PRV-2042, deletes: detect); README.md 'Sources' and 'Boundaries' (TLS; lz4).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docs/design/adr/052; docs/design/adr/050; docs/design/adr/059; docs/design/adr/060; docs/operations/SECURITY.md.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'Why it cannot be delegated to the store'.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 (three pieces; soundness rule); docs/operations/SECURITY.md 'What a registration is allowed to read / write', 'A conditional entitlement cannot subscribe' (STRM-13; catalogue filters enforced per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Pravaha Catalog, phase 1); docs/design/adr/059-the-pravaha-catalog-governs-live-answers.md 'Phase 1, as built' (mid-stream revocation every two seconds); README.md 'Governed catalogue'.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'Row filters and masks as catalogue objects (ADR-059 §4)' (the statements, verbatim, reflowed); docs/project/RELEASE_NOTES.md '1.0.0' (phase 2: where it is enforced; PRV-7006; the fingerprint); docs/design/adr/059 'Phase 2, as built'.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(TAUTOFILTER-1: the listed filters, PRV-7003, PRV-7038); commit af5ee635 (VACUITYGAP-1: a &lt; 5 OR a &gt; 2, regions); docs/design/adr/059 'Vacuity'; FilterVacuityTest.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docs/design/adr/052-the-engine-is-the-identity-authority.md (secrets table, policy, lockout, API keys, sessions, store; status line: stages 4 and 5 dropped 2026-09-27); README.md 'Security'; docs/project/RELEASE_NOTES.md 'Unreleased' (LOCKENUM-1: identical 401 PRV-7010, five per address, fifty per account).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(PGREVOKE-1, PGPREAUTH-1, HTTPBODY-1, COOKIETOKEN-1, FLIGHTPRINCIPAL-1, CONSOLEHDR-1); docs/project/qa/FINDINGS.md 'Found by the adversarial QA of 2.0.0, surfaces' (status lines); docs/project/qa/logs/ADV-SURFACE.md.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docs/design/adr/050-a-tenant-owns-names-and-state-and-shares-only-with-itself.md §1–§2; docs/design/adr/060-view-names-are-unique-per-tenant.md; docs/operations/SECURITY.md 'Tenants'; docs/project/RELEASE_NOTES.md '1.0.0' (upgrade notes; LIFE-040, SX-6 ownership; one-way upgrade).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'Transport', 'What is not built'; docs/design/adr/059 status line (phases 3 and 4 not built); docs/design/adr/052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'How it is built' (Deployment), 'The console', 'Try it', 'Observability', 'Time-travel debugger'.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and 'How it is built' (Deployment; ADR-019, ADR-024, ADR-045, ADR-047, ADR-053).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docs/operations/RUNNING_IN_DOCKER.md 'The short version' (commands, ports) and 'One root: PRAVAHA_HOME' (layout); commit 36d766f8 (compose stack: profiles, uid:gid, read-only roots); commit c2af8cfb (PRAVAHA_HOME, PravahaHomeLayoutTest).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'The console'; docs/project/RELEASE_NOTES.md '1.0.0' (Admin → Lanes, Admin · AI models, Catalog and Admin → Grants/Policies, Alerts screens, MAYA design and four themes); docs/development/TESTING.md tiers table (console 1,937 passed); commit ff9fae5d.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Java CLI is now pravaha-engine; commands moved to the Python CLI); docs/guides/QUICKSTART.md (pip install); docs/design/ARCHITECTURE.md module table (pravaha-cli). Commit 90b14871.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'Surviving a restart: reconnect' (both snippets, reflowed); docs/project/RELEASE_NOTES.md '1.0.0' (JavaSdkReconnectTest, test_reconnect.py).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(SDKSTANDALONE-1, SDKNETTYMIX-1); docs/development/TESTING.md 'The SDKs on their own'; commit bc971c6b (sources and javadoc jars).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(Power BI through the gateway; PGWIRE-TX-1; AVGINT-1; PGWIREPASS-1); commit 2a77768a (psql 18's \d); README.md 'BI tools'.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'Watching a running node' (per-query and per-node tables; FEED-1; ADR-037 B1); docs/project/RELEASE_NOTES.md '1.0.0' (Observability, built out; PERF-1: about 12 %, re-taken without the coverage agent); OPERATIONS.md 'What it costs' (10–13 % on JDK 25, 2026-10-04).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docs/design/adr/058-plain-english-to-continuous-sql.md (status; §1, §2, §3); docs/project/RELEASE_NOTES.md '1.0.0' (the assistant, phases 1–3; 27 + 3 golden cases); docs/operations/COMPATIBILITY.md 'Experimental in 1.0'; docs/guides/ASSIST.md.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'Time-travel debugger'; docs/design/adr/048-a-debug-fork-is-a-second-computation-nothing-can-read.md.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the study table ('Shows' column abridged).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('What they have in common', the test paragraphs); commit f2ff2572 and 89d56996 (the four wrong keys; the windowing defect).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examples/case-studies/manufacturing-sensor-anomalies/README.md step 5 (output lines trimmed of line_id and vibration; temperatures in deci-degrees; the three bullets follow 'What happened, reading by reading').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examples/case-studies/retail-inventory-mysql/README.md steps 4–5 (the morning table, abridged to four of six statements; units per warehouse) and step 7 (the alert, its FIRED and CLEARED lines); checked by CaseStudyRunTest and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examples/case-studies/lakehouse-orders-iceberg/README.md step 5 (commit lines trimmed of the date; the collapse to one row, customers staying 4);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examples/case-studies/payments-shared-kafka/README.md (the statement verbatim, one line wrapped; the quotation; coffee and books totals); ADR-054, ADR-055;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examples/case-studies/adtech-click-attribution/README.md (generator output 'wrote 61 impressions and 17 clicks'; 'Fourteen clicks are attributed in all'; PRV-4025); examples/case-studies/logistics-delivery-sla/README.md ('wrote 25 dispatches and 23 deliveries'; undelivered output;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benchmarks/README.md; docs/design/adr/042-the-throughput-bar-is-the-requirement.md; docs/development/TESTING.md; docs/project/qa/FINDINGS.md; docs/operations/COMPATIBILITY.md; README.md 'Performance', 'What is not built'.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docs/design/adr/042-the-throughput-bar-is-the-requirement.md (Decision; 'Why this is not the thing this project forbids'; 'What this decision does NOT license');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(verdict line; 'The machine, named'; Gate P2 throughput and scaling; re-measured 2026-09-26 incl. machineScalingReference; Gate P3; W5); docs/project/RELEASE_NOTES.md '1.0.0' PERF-1 and commit 75e9fc9e (30–31 % at load 3.1–5.2); docs/project/gates/measured-2026-10-04-jdk25/README.md (JDK 25).</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'Coverage re-measured on 2026-09-26 — 12 of 23' and 'The head-to-head cannot be run here';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benchmarks/README.md (Profile A generated vs interpreted; lane scaling; false sharing; PF-2); docs/project/gates/measured-2026-09-20/README.md 'C-7: generated against interpreted, end to end'; docs/project/gates/measured-2026-10-04-jdk25/README.md.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docs/development/TESTING.md 'Where the numbers come from' (4,832 tests, 12 skipped, on 25), 'The tiers at a glance', 'With Docker', 'Static analysis: Error Prone and NullAway'; docs/project/RELEASE_NOTES.md '2.0.0' (proved on 25), '1.0.0' (PERF-1), 'Unreleased' (ERRORPRONE-1).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(header counts: 553 — 533 FIXED, 1 OPEN, 10 BY DESIGN, 9 SUPERSEDED; SINKKEYROWS-2, PGWIRETX-1, SDKNETTYMIX-1, VIEWW-1, TESTNAME-1; 'The commonest defect'); docs/development/TESTING.md 'What this pass found'; docs/project/RELEASE_NOTES.md '1.0.0', 'Unreleased'.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'Adversarial QA of 2.0.0' (table, outcome); docs/project/qa/cases/ADV-ENGINE.md (stance, harnesses); docs/project/qa/logs/ADV-ENGINE.md ('A note on method'); docs/project/qa/logs/ADV-SURFACE.md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'What held' and HIGH list; docs/project/qa/logs/ADV-ENGINE.md (differential volume; QE-077 SIGKILLs); docs/project/qa/FINDINGS.md 'Found by the adversarial QA of 2.0.0' (both sections).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HIGH list; docs/project/qa/FINDINGS.md status lines for each; docs/project/RELEASE_NOTES.md 'Unreleased'; '2.0.0' register line (492 findings, 1 open).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PGPREAUTH-1 and HTTPBODY-1 status lines (replays: heap ≤272 MiB, ≤276 MiB, node UP); docs/project/qa/logs/ADV-SURFACE.md (QI-012, QI-045 before the fix; -Xmx1g node figures; 'No .NET on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'Outcome (2026-10-02)'; docs/project/RELEASE_NOTES.md 'Unreleased' (register line); docs/project/qa/FINDINGS.md (JOURNALMID-1 and MINRETRACT-1 status lines; FLIGHTPRINCIPAL-1, CLIDLQ-1, ERRORPRONE-1); docs/development/TESTING.md (4,832 tests).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docs/operations/COMPATIBILITY.md (opening: a patch changes nothing a client relies on except where the old behaviour was the defect; 2.0: what breaks; Stable in 2.x; Experimental in 1.0 and 2.0; Clients and servers); docs/project/RELEASE_NOTES.md 'Unreleased' ('Answers change').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is not built, or not finished' (deferred by decision; first versions table; not yet proven); docs/design/adr/039; docs/design/adr/052 status line; docs/design/adr/056 'Consequences'; docs/design/adr/057 status line; docs/project/RELEASE_NOTES.md '1.0.0' (MYC-2 GTID positions; IDXVIS-1 access paths visible; CDCREPL-2).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'Boundaries: limits of a store, a format or a recorded decision'; docs/project/RELEASE_NOTES.md '1.0.0' (PGWIRE-TX-1: READ COMMITTED, REPEATABLE READ with a NOTICE), 'Unreleased' (MINRETRACT-1: PRV-2076).</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docs/guides/CONCEPTS.md opening; examples/case-studies/README.md (docs/guides/tutorials/, four lessons); docs/operations/RUNNING_IN_DOCKER.md; docs/operations/COMPATIBILITY.md.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800" b="1" i="0">
                <a:solidFill>
                  <a:srgbClr val="FFFFFF"/>
                </a:solidFill>
                <a:latin typeface="Source Sans 3"/>
              </a:rPr>
              <a:t>A continuous SQL engine:</a:t>
            </a:r>
          </a:p>
          <a:p>
            <a:pPr>
              <a:lnSpc>
                <a:spcPct val="108000"/>
              </a:lnSpc>
              <a:spcBef>
                <a:spcPts val="0"/>
              </a:spcBef>
              <a:spcAft>
                <a:spcPts val="0"/>
              </a:spcAft>
            </a:pPr>
            <a:r>
              <a:rPr sz="3800" b="1" i="0">
                <a:solidFill>
                  <a:srgbClr val="FFFFFF"/>
                </a:solidFill>
                <a:latin typeface="Source Sans 3"/>
              </a:rPr>
              <a:t>design and evidence</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2 October 2026</a:t>
            </a:r>
          </a:p>
          <a:p>
            <a:pPr>
              <a:lnSpc>
                <a:spcPct val="120000"/>
              </a:lnSpc>
              <a:spcBef>
                <a:spcPts val="0"/>
              </a:spcBef>
              <a:spcAft>
                <a:spcPts val="0"/>
              </a:spcAft>
            </a:pPr>
            <a:r>
              <a:rPr sz="1100" b="0" i="0">
                <a:solidFill>
                  <a:srgbClr val="4A5058"/>
                </a:solidFill>
                <a:latin typeface="Source Sans 3"/>
              </a:rPr>
              <a:t>Pravaha 2.x · one node · Java 25</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Why ask once, answer always</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The vocabulary, from nothing</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A query's life</a:t>
            </a:r>
          </a:p>
          <a:p>
            <a:pPr>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Correctness: exactly once, retractions, late data</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Scale on one node</a:t>
            </a:r>
          </a:p>
          <a:p>
            <a:pPr>
              <a:lnSpc>
                <a:spcPct val="120000"/>
              </a:lnSpc>
              <a:spcBef>
                <a:spcPts val="0"/>
              </a:spcBef>
              <a:spcAft>
                <a:spcPts val="300"/>
              </a:spcAft>
            </a:pPr>
            <a:r>
              <a:rPr sz="1100" b="1">
                <a:solidFill>
                  <a:srgbClr val="A51C30"/>
                </a:solidFill>
                <a:latin typeface="Source Sans 3"/>
              </a:rPr>
              <a:t>6  </a:t>
            </a:r>
            <a:r>
              <a:rPr sz="1100" b="0">
                <a:solidFill>
                  <a:srgbClr val="4A5058"/>
                </a:solidFill>
                <a:latin typeface="Source Sans 3"/>
              </a:rPr>
              <a:t>Changing a running query</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050" b="1">
                <a:solidFill>
                  <a:srgbClr val="A51C30"/>
                </a:solidFill>
                <a:latin typeface="Source Sans 3"/>
              </a:rPr>
              <a:t>7  </a:t>
            </a:r>
            <a:r>
              <a:rPr sz="1050" b="0">
                <a:solidFill>
                  <a:srgbClr val="4A5058"/>
                </a:solidFill>
                <a:latin typeface="Source Sans 3"/>
              </a:rPr>
              <a:t>Answers built on answers: chains and alerts</a:t>
            </a:r>
          </a:p>
          <a:p>
            <a:pPr>
              <a:lnSpc>
                <a:spcPct val="120000"/>
              </a:lnSpc>
              <a:spcBef>
                <a:spcPts val="0"/>
              </a:spcBef>
              <a:spcAft>
                <a:spcPts val="300"/>
              </a:spcAft>
            </a:pPr>
            <a:r>
              <a:rPr sz="1050" b="1">
                <a:solidFill>
                  <a:srgbClr val="A51C30"/>
                </a:solidFill>
                <a:latin typeface="Source Sans 3"/>
              </a:rPr>
              <a:t>8  </a:t>
            </a:r>
            <a:r>
              <a:rPr sz="1050" b="0">
                <a:solidFill>
                  <a:srgbClr val="4A5058"/>
                </a:solidFill>
                <a:latin typeface="Source Sans 3"/>
              </a:rPr>
              <a:t>Connectors</a:t>
            </a:r>
          </a:p>
          <a:p>
            <a:pPr>
              <a:lnSpc>
                <a:spcPct val="120000"/>
              </a:lnSpc>
              <a:spcBef>
                <a:spcPts val="0"/>
              </a:spcBef>
              <a:spcAft>
                <a:spcPts val="300"/>
              </a:spcAft>
            </a:pPr>
            <a:r>
              <a:rPr sz="1050" b="1">
                <a:solidFill>
                  <a:srgbClr val="A51C30"/>
                </a:solidFill>
                <a:latin typeface="Source Sans 3"/>
              </a:rPr>
              <a:t>9  </a:t>
            </a:r>
            <a:r>
              <a:rPr sz="1050" b="0">
                <a:solidFill>
                  <a:srgbClr val="4A5058"/>
                </a:solidFill>
                <a:latin typeface="Source Sans 3"/>
              </a:rPr>
              <a:t>Security, identity and governance</a:t>
            </a:r>
          </a:p>
          <a:p>
            <a:pPr>
              <a:lnSpc>
                <a:spcPct val="120000"/>
              </a:lnSpc>
              <a:spcBef>
                <a:spcPts val="0"/>
              </a:spcBef>
              <a:spcAft>
                <a:spcPts val="300"/>
              </a:spcAft>
            </a:pPr>
            <a:r>
              <a:rPr sz="1050" b="1">
                <a:solidFill>
                  <a:srgbClr val="A51C30"/>
                </a:solidFill>
                <a:latin typeface="Source Sans 3"/>
              </a:rPr>
              <a:t>10  </a:t>
            </a:r>
            <a:r>
              <a:rPr sz="1050" b="0">
                <a:solidFill>
                  <a:srgbClr val="4A5058"/>
                </a:solidFill>
                <a:latin typeface="Source Sans 3"/>
              </a:rPr>
              <a:t>Operating it</a:t>
            </a:r>
          </a:p>
          <a:p>
            <a:pPr>
              <a:lnSpc>
                <a:spcPct val="120000"/>
              </a:lnSpc>
              <a:spcBef>
                <a:spcPts val="0"/>
              </a:spcBef>
              <a:spcAft>
                <a:spcPts val="300"/>
              </a:spcAft>
            </a:pPr>
            <a:r>
              <a:rPr sz="1050" b="1">
                <a:solidFill>
                  <a:srgbClr val="A51C30"/>
                </a:solidFill>
                <a:latin typeface="Source Sans 3"/>
              </a:rPr>
              <a:t>11  </a:t>
            </a:r>
            <a:r>
              <a:rPr sz="1050" b="0">
                <a:solidFill>
                  <a:srgbClr val="4A5058"/>
                </a:solidFill>
                <a:latin typeface="Source Sans 3"/>
              </a:rPr>
              <a:t>Thirteen worked systems</a:t>
            </a:r>
          </a:p>
          <a:p>
            <a:pPr>
              <a:lnSpc>
                <a:spcPct val="120000"/>
              </a:lnSpc>
              <a:spcBef>
                <a:spcPts val="0"/>
              </a:spcBef>
              <a:spcAft>
                <a:spcPts val="300"/>
              </a:spcAft>
            </a:pPr>
            <a:r>
              <a:rPr sz="1050" b="1">
                <a:solidFill>
                  <a:srgbClr val="A51C30"/>
                </a:solidFill>
                <a:latin typeface="Source Sans 3"/>
              </a:rPr>
              <a:t>12  </a:t>
            </a:r>
            <a:r>
              <a:rPr sz="1050" b="0">
                <a:solidFill>
                  <a:srgbClr val="4A5058"/>
                </a:solidFill>
                <a:latin typeface="Source Sans 3"/>
              </a:rPr>
              <a:t>Evidence, 2.x, and where to start</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2.0.0 · 1 OCTOBER 2026 · NOW 2.0.1-SNAPSHOT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Java 25 through and through; everything else 1.x promised, kept</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Every module, the API and the Java SDKs included, is Java 25 class files</a:t>
            </a:r>
          </a:p>
        </p:txBody>
      </p:sp>
      <p:sp>
        <p:nvSpPr>
          <p:cNvPr id="14" name="Rectangle 13"/>
          <p:cNvSpPr/>
          <p:nvPr/>
        </p:nvSpPr>
        <p:spPr>
          <a:xfrm>
            <a:off x="3486835"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Boot 3.4+</a:t>
            </a:r>
          </a:p>
        </p:txBody>
      </p:sp>
      <p:sp>
        <p:nvSpPr>
          <p:cNvPr id="17" name="TextBox 16"/>
          <p:cNvSpPr txBox="1"/>
          <p:nvPr/>
        </p:nvSpPr>
        <p:spPr>
          <a:xfrm>
            <a:off x="3688003"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Spring Boot starter: 3.2 and 3.3 cannot read Java 25 classes</a:t>
            </a:r>
          </a:p>
        </p:txBody>
      </p:sp>
      <p:sp>
        <p:nvSpPr>
          <p:cNvPr id="18" name="Rectangle 17"/>
          <p:cNvSpPr/>
          <p:nvPr/>
        </p:nvSpPr>
        <p:spPr>
          <a:xfrm>
            <a:off x="6196431"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 breaks</a:t>
            </a:r>
          </a:p>
        </p:txBody>
      </p:sp>
      <p:sp>
        <p:nvSpPr>
          <p:cNvPr id="21" name="TextBox 20"/>
          <p:cNvSpPr txBox="1"/>
          <p:nvPr/>
        </p:nvSpPr>
        <p:spPr>
          <a:xfrm>
            <a:off x="6397599"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Java baseline, and legacy-read removed as 1.0 announced</a:t>
            </a:r>
          </a:p>
        </p:txBody>
      </p:sp>
      <p:sp>
        <p:nvSpPr>
          <p:cNvPr id="22" name="Rectangle 21"/>
          <p:cNvSpPr/>
          <p:nvPr/>
        </p:nvSpPr>
        <p:spPr>
          <a:xfrm>
            <a:off x="8906027"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open</a:t>
            </a:r>
          </a:p>
        </p:txBody>
      </p:sp>
      <p:sp>
        <p:nvSpPr>
          <p:cNvPr id="25" name="TextBox 24"/>
          <p:cNvSpPr txBox="1"/>
          <p:nvPr/>
        </p:nvSpPr>
        <p:spPr>
          <a:xfrm>
            <a:off x="9107195"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553 findings: 533 fixed, 10 by design, 9 superseded</a:t>
            </a:r>
          </a:p>
        </p:txBody>
      </p:sp>
      <p:sp>
        <p:nvSpPr>
          <p:cNvPr id="26" name="TextBox 25"/>
          <p:cNvSpPr txBox="1"/>
          <p:nvPr/>
        </p:nvSpPr>
        <p:spPr>
          <a:xfrm>
            <a:off x="777240" y="2666085"/>
            <a:ext cx="10637215" cy="3579266"/>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Who it breaks</a:t>
            </a:r>
          </a:p>
          <a:p>
            <a:pPr lvl="1">
              <a:lnSpc>
                <a:spcPct val="120000"/>
              </a:lnSpc>
              <a:spcBef>
                <a:spcPts val="0"/>
              </a:spcBef>
              <a:spcAft>
                <a:spcPts val="0"/>
              </a:spcAft>
            </a:pPr>
            <a:r>
              <a:rPr sz="1250" b="0">
                <a:solidFill>
                  <a:srgbClr val="4A5058"/>
                </a:solidFill>
                <a:latin typeface="Source Sans 3"/>
              </a:rPr>
              <a:t>Embedders, plugins and Java SDK clients: the JVM must be 25 (class-file version 69). Launchers on 21 stop at once naming Java 25. A node still setting legacy-read refuses to start (PRV-7004): grant MODIFY or MANAGE instead.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What stays</a:t>
            </a:r>
          </a:p>
          <a:p>
            <a:pPr lvl="1">
              <a:lnSpc>
                <a:spcPct val="120000"/>
              </a:lnSpc>
              <a:spcBef>
                <a:spcPts val="0"/>
              </a:spcBef>
              <a:spcAft>
                <a:spcPts val="0"/>
              </a:spcAft>
            </a:pPr>
            <a:r>
              <a:rPr sz="1250" b="0">
                <a:solidFill>
                  <a:srgbClr val="4A5058"/>
                </a:solidFill>
                <a:latin typeface="Source Sans 3"/>
              </a:rPr>
              <a:t>The SQL, the wire protocols, the HTTP API, the Python SDK, every other key and the state on disk. The image was already on Java 25; the -jre21 tag is gone.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Since 2.0.0</a:t>
            </a:r>
          </a:p>
          <a:p>
            <a:pPr lvl="1">
              <a:lnSpc>
                <a:spcPct val="120000"/>
              </a:lnSpc>
              <a:spcBef>
                <a:spcPts val="0"/>
              </a:spcBef>
              <a:spcAft>
                <a:spcPts val="0"/>
              </a:spcAft>
            </a:pPr>
            <a:r>
              <a:rPr sz="1250" b="0">
                <a:solidFill>
                  <a:srgbClr val="4A5058"/>
                </a:solidFill>
                <a:latin typeface="Source Sans 3"/>
              </a:rPr>
              <a:t>An adversarial QA round, 46 defects and 4 design notes, all fixed in three waves; some answers change, and the release notes say which.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Why ask once, answer always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batch answer is as old as its last run, and a poll pays for its freshness by re-reading what it has already read. Pravaha inverts the arrangement: the question is registered once, and the engine keeps its answer current as the data changes.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batch answer costs, in the case studies' own words</a:t>
            </a:r>
          </a:p>
          <a:p>
            <a:pPr>
              <a:lnSpc>
                <a:spcPct val="115000"/>
              </a:lnSpc>
              <a:spcBef>
                <a:spcPts val="0"/>
              </a:spcBef>
              <a:spcAft>
                <a:spcPts val="600"/>
              </a:spcAft>
            </a:pPr>
            <a:r>
              <a:rPr sz="1250" b="0" i="0">
                <a:solidFill>
                  <a:srgbClr val="F6E6E9"/>
                </a:solidFill>
                <a:latin typeface="Source Sans 3"/>
              </a:rPr>
              <a:t>What polling re-reads, and what it misses</a:t>
            </a:r>
          </a:p>
          <a:p>
            <a:pPr>
              <a:lnSpc>
                <a:spcPct val="115000"/>
              </a:lnSpc>
              <a:spcBef>
                <a:spcPts val="0"/>
              </a:spcBef>
              <a:spcAft>
                <a:spcPts val="600"/>
              </a:spcAft>
            </a:pPr>
            <a:r>
              <a:rPr sz="1250" b="0" i="0">
                <a:solidFill>
                  <a:srgbClr val="F6E6E9"/>
                </a:solidFill>
                <a:latin typeface="Source Sans 3"/>
              </a:rPr>
              <a:t>The inversion: a computation, not a request</a:t>
            </a:r>
          </a:p>
          <a:p>
            <a:pPr>
              <a:lnSpc>
                <a:spcPct val="115000"/>
              </a:lnSpc>
              <a:spcBef>
                <a:spcPts val="0"/>
              </a:spcBef>
              <a:spcAft>
                <a:spcPts val="600"/>
              </a:spcAft>
            </a:pPr>
            <a:r>
              <a:rPr sz="1250" b="0" i="0">
                <a:solidFill>
                  <a:srgbClr val="F6E6E9"/>
                </a:solidFill>
                <a:latin typeface="Source Sans 3"/>
              </a:rPr>
              <a:t>One query, end to end</a:t>
            </a:r>
          </a:p>
          <a:p>
            <a:pPr>
              <a:lnSpc>
                <a:spcPct val="115000"/>
              </a:lnSpc>
              <a:spcBef>
                <a:spcPts val="0"/>
              </a:spcBef>
              <a:spcAft>
                <a:spcPts val="600"/>
              </a:spcAft>
            </a:pPr>
            <a:r>
              <a:rPr sz="1250" b="0" i="0">
                <a:solidFill>
                  <a:srgbClr val="F6E6E9"/>
                </a:solidFill>
                <a:latin typeface="Source Sans 3"/>
              </a:rPr>
              <a:t>Pravaha in one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BATCH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batch answer is as old as the last run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Five of the thirteen case studies open with the same complaint. Each quotation is from the study's own README.</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Nobody in these studies is short of data. They are short of an answer that is current when somebody needs to act on it.</a:t>
            </a:r>
          </a:p>
        </p:txBody>
      </p:sp>
      <p:graphicFrame>
        <p:nvGraphicFramePr>
          <p:cNvPr id="13" name="Table 12"/>
          <p:cNvGraphicFramePr>
            <a:graphicFrameLocks noGrp="1"/>
          </p:cNvGraphicFramePr>
          <p:nvPr/>
        </p:nvGraphicFramePr>
        <p:xfrm>
          <a:off x="777240" y="2073351"/>
          <a:ext cx="10637215" cy="3161076"/>
        </p:xfrm>
        <a:graphic>
          <a:graphicData uri="http://schemas.openxmlformats.org/drawingml/2006/table">
            <a:tbl>
              <a:tblPr firstRow="1">
                <a:tableStyleId>{5C22544A-7EE6-4342-B048-85BDC9FD1C3A}</a:tableStyleId>
              </a:tblPr>
              <a:tblGrid>
                <a:gridCol w="2954782"/>
                <a:gridCol w="7682433"/>
              </a:tblGrid>
              <a:tr h="322376">
                <a:tc>
                  <a:txBody>
                    <a:bodyPr wrap="square"/>
                    <a:lstStyle/>
                    <a:p>
                      <a:r>
                        <a:rPr sz="1300" b="1">
                          <a:solidFill>
                            <a:srgbClr val="FFFFFF"/>
                          </a:solidFill>
                          <a:latin typeface="Source Sans 3"/>
                        </a:rPr>
                        <a:t>Study</a:t>
                      </a:r>
                    </a:p>
                  </a:txBody>
                  <a:tcPr marL="82296" marR="64008" marT="32004" marB="32004" anchor="ctr">
                    <a:solidFill>
                      <a:srgbClr val="8A1626"/>
                    </a:solidFill>
                  </a:tcPr>
                </a:tc>
                <a:tc>
                  <a:txBody>
                    <a:bodyPr wrap="square"/>
                    <a:lstStyle/>
                    <a:p>
                      <a:r>
                        <a:rPr sz="1300" b="1">
                          <a:solidFill>
                            <a:srgbClr val="FFFFFF"/>
                          </a:solidFill>
                          <a:latin typeface="Source Sans 3"/>
                        </a:rPr>
                        <a:t>What the batch answer costs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Card authorisation velocity</a:t>
                      </a:r>
                    </a:p>
                  </a:txBody>
                  <a:tcPr marL="82296" marR="64008" marT="32004" marB="32004" anchor="ctr">
                    <a:solidFill>
                      <a:srgbClr val="FFFFFF"/>
                    </a:solidFill>
                  </a:tcPr>
                </a:tc>
                <a:tc>
                  <a:txBody>
                    <a:bodyPr wrap="square"/>
                    <a:lstStyle/>
                    <a:p>
                      <a:r>
                        <a:rPr sz="1400" b="0">
                          <a:solidFill>
                            <a:srgbClr val="1A1A1A"/>
                          </a:solidFill>
                          <a:latin typeface="Source Sans 3"/>
                        </a:rPr>
                        <a:t>“The fraud is detected four minutes after the fourth authorisation cleared.”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Intraday counterparty exposure</a:t>
                      </a:r>
                    </a:p>
                  </a:txBody>
                  <a:tcPr marL="82296" marR="64008" marT="32004" marB="32004" anchor="ctr">
                    <a:solidFill>
                      <a:srgbClr val="F7F5F2"/>
                    </a:solidFill>
                  </a:tcPr>
                </a:tc>
                <a:tc>
                  <a:txBody>
                    <a:bodyPr wrap="square"/>
                    <a:lstStyle/>
                    <a:p>
                      <a:r>
                        <a:rPr sz="1400" b="0">
                          <a:solidFill>
                            <a:srgbClr val="1A1A1A"/>
                          </a:solidFill>
                          <a:latin typeface="Source Sans 3"/>
                        </a:rPr>
                        <a:t>“The number on the risk screen is as old as the last run.”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Checkout funnel</a:t>
                      </a:r>
                    </a:p>
                  </a:txBody>
                  <a:tcPr marL="82296" marR="64008" marT="32004" marB="32004" anchor="ctr">
                    <a:solidFill>
                      <a:srgbClr val="FFFFFF"/>
                    </a:solidFill>
                  </a:tcPr>
                </a:tc>
                <a:tc>
                  <a:txBody>
                    <a:bodyPr wrap="square"/>
                    <a:lstStyle/>
                    <a:p>
                      <a:r>
                        <a:rPr sz="1400" b="0">
                          <a:solidFill>
                            <a:srgbClr val="1A1A1A"/>
                          </a:solidFill>
                          <a:latin typeface="Source Sans 3"/>
                        </a:rPr>
                        <a:t>The payment integration starts failing at 10:06; “the dashboard — refreshed from the warehouse every hour — shows nothing until eleven.”</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Call-detail-record fraud</a:t>
                      </a:r>
                    </a:p>
                  </a:txBody>
                  <a:tcPr marL="82296" marR="64008" marT="32004" marB="32004" anchor="ctr">
                    <a:solidFill>
                      <a:srgbClr val="F7F5F2"/>
                    </a:solidFill>
                  </a:tcPr>
                </a:tc>
                <a:tc>
                  <a:txBody>
                    <a:bodyPr wrap="square"/>
                    <a:lstStyle/>
                    <a:p>
                      <a:r>
                        <a:rPr sz="1400" b="0">
                          <a:solidFill>
                            <a:srgbClr val="1A1A1A"/>
                          </a:solidFill>
                          <a:latin typeface="Source Sans 3"/>
                        </a:rPr>
                        <a:t>SIM-box bypass and revenue-share fraud: “a nightly batch over the day's CDRs finds both, twelve hours and several thousand pounds late.”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Order revenue into Iceberg</a:t>
                      </a:r>
                    </a:p>
                  </a:txBody>
                  <a:tcPr marL="82296" marR="64008" marT="32004" marB="32004" anchor="ctr">
                    <a:solidFill>
                      <a:srgbClr val="FFFFFF"/>
                    </a:solidFill>
                  </a:tcPr>
                </a:tc>
                <a:tc>
                  <a:txBody>
                    <a:bodyPr wrap="square"/>
                    <a:lstStyle/>
                    <a:p>
                      <a:r>
                        <a:rPr sz="1400" b="0">
                          <a:solidFill>
                            <a:srgbClr val="1A1A1A"/>
                          </a:solidFill>
                          <a:latin typeface="Source Sans 3"/>
                        </a:rPr>
                        <a:t>“By mid-morning the analysts are looking at yesterday.”</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POLLING</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Polling buys freshness by reading everything again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The usual fix for a stale answer is to ask more often. Two of the studies say what that costs the database and what it still cannot see.</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re-reads</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interesting part is not that batch is slow — it is that the job re-reads rows it has already read, every run, forever.” (counterparty exposure)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scan on the database that serves the tills</a:t>
            </a:r>
          </a:p>
          <a:p>
            <a:pPr lvl="1">
              <a:lnSpc>
                <a:spcPct val="120000"/>
              </a:lnSpc>
              <a:spcBef>
                <a:spcPts val="0"/>
              </a:spcBef>
              <a:spcAft>
                <a:spcPts val="0"/>
              </a:spcAft>
            </a:pPr>
            <a:r>
              <a:rPr sz="1350" b="0">
                <a:solidFill>
                  <a:srgbClr val="4A5058"/>
                </a:solidFill>
                <a:latin typeface="Source Sans 3"/>
              </a:rPr>
              <a:t>Polling WHERE on_hand &lt;= reorder_point “puts a scan on the database that serves the tills.” (stock levels from MySQL)</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cannot see</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change between two polls</a:t>
            </a:r>
          </a:p>
          <a:p>
            <a:pPr lvl="1">
              <a:lnSpc>
                <a:spcPct val="120000"/>
              </a:lnSpc>
              <a:spcBef>
                <a:spcPts val="0"/>
              </a:spcBef>
              <a:spcAft>
                <a:spcPts val="0"/>
              </a:spcAft>
            </a:pPr>
            <a:r>
              <a:rPr sz="1350" b="0">
                <a:solidFill>
                  <a:srgbClr val="4A5058"/>
                </a:solidFill>
                <a:latin typeface="Source Sans 3"/>
              </a:rPr>
              <a:t>The same poll “misses a line that dips and recovers between polls.”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delete</a:t>
            </a:r>
          </a:p>
          <a:p>
            <a:pPr lvl="1">
              <a:lnSpc>
                <a:spcPct val="120000"/>
              </a:lnSpc>
              <a:spcBef>
                <a:spcPts val="0"/>
              </a:spcBef>
              <a:spcAft>
                <a:spcPts val="0"/>
              </a:spcAft>
            </a:pPr>
            <a:r>
              <a:rPr sz="1350" b="0">
                <a:solidFill>
                  <a:srgbClr val="4A5058"/>
                </a:solidFill>
                <a:latin typeface="Source Sans 3"/>
              </a:rPr>
              <a:t>A poll with a watermark carries “the honest admission that deletes are invisible” (design §19).</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Something that did not happen</a:t>
            </a:r>
          </a:p>
          <a:p>
            <a:pPr lvl="1">
              <a:lnSpc>
                <a:spcPct val="120000"/>
              </a:lnSpc>
              <a:spcBef>
                <a:spcPts val="0"/>
              </a:spcBef>
              <a:spcAft>
                <a:spcPts val="0"/>
              </a:spcAft>
            </a:pPr>
            <a:r>
              <a:rPr sz="1350" b="0">
                <a:solidFill>
                  <a:srgbClr val="4A5058"/>
                </a:solidFill>
                <a:latin typeface="Source Sans 3"/>
              </a:rPr>
              <a:t>“‘No scan yet’ is not an event anything can react to.” (delivery SLA breaches)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INVERSION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continuous query is a computation, not a request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database answers a question when asked. Pravaha is told the question in advance and maintains the answer, so asking is a hash probe rather than a scan.</a:t>
            </a:r>
          </a:p>
        </p:txBody>
      </p:sp>
      <p:sp>
        <p:nvSpPr>
          <p:cNvPr id="11" name="TextBox 10"/>
          <p:cNvSpPr txBox="1"/>
          <p:nvPr/>
        </p:nvSpPr>
        <p:spPr>
          <a:xfrm>
            <a:off x="777240" y="2073351"/>
            <a:ext cx="10637215" cy="417200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Register the SQL once</a:t>
            </a:r>
          </a:p>
          <a:p>
            <a:pPr lvl="1">
              <a:lnSpc>
                <a:spcPct val="120000"/>
              </a:lnSpc>
              <a:spcBef>
                <a:spcPts val="0"/>
              </a:spcBef>
              <a:spcAft>
                <a:spcPts val="0"/>
              </a:spcAft>
            </a:pPr>
            <a:r>
              <a:rPr sz="1550" b="0">
                <a:solidFill>
                  <a:srgbClr val="4A5058"/>
                </a:solidFill>
                <a:latin typeface="Source Sans 3"/>
              </a:rPr>
              <a:t>It keeps running, and keeps a view current,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Registering is expensive; querying is cheap</a:t>
            </a:r>
          </a:p>
          <a:p>
            <a:pPr lvl="1">
              <a:lnSpc>
                <a:spcPct val="120000"/>
              </a:lnSpc>
              <a:spcBef>
                <a:spcPts val="0"/>
              </a:spcBef>
              <a:spcAft>
                <a:spcPts val="0"/>
              </a:spcAft>
            </a:pPr>
            <a:r>
              <a:rPr sz="1550" b="0">
                <a:solidFill>
                  <a:srgbClr val="4A5058"/>
                </a:solidFill>
                <a:latin typeface="Source Sans 3"/>
              </a:rPr>
              <a:t>A registration commits the node to memory and a share of a lane for as long as it exists, which is why registering is authorised separately from reading.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one costs, measured</a:t>
            </a:r>
          </a:p>
          <a:p>
            <a:pPr lvl="1">
              <a:lnSpc>
                <a:spcPct val="120000"/>
              </a:lnSpc>
              <a:spcBef>
                <a:spcPts val="0"/>
              </a:spcBef>
              <a:spcAft>
                <a:spcPts val="0"/>
              </a:spcAft>
            </a:pPr>
            <a:r>
              <a:rPr sz="1550" b="0">
                <a:solidFill>
                  <a:srgbClr val="4A5058"/>
                </a:solidFill>
                <a:latin typeface="Source Sans 3"/>
              </a:rPr>
              <a:t>About 1 MiB off-heap idle, 1.3 MiB once rows move, ~65 KiB of heap, ~16 ms to register (mostly planning), and no platform thread of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Two ways to take the answer</a:t>
            </a:r>
          </a:p>
          <a:p>
            <a:pPr lvl="1">
              <a:lnSpc>
                <a:spcPct val="120000"/>
              </a:lnSpc>
              <a:spcBef>
                <a:spcPts val="0"/>
              </a:spcBef>
              <a:spcAft>
                <a:spcPts val="0"/>
              </a:spcAft>
            </a:pPr>
            <a:r>
              <a:rPr sz="1550" b="0">
                <a:solidFill>
                  <a:srgbClr val="4A5058"/>
                </a:solidFill>
                <a:latin typeface="Source Sans 3"/>
              </a:rPr>
              <a:t>Read the view by key, or subscribe and receive every commit as weighted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Four things in one statement</a:t>
            </a:r>
          </a:p>
          <a:p>
            <a:pPr lvl="1">
              <a:lnSpc>
                <a:spcPct val="120000"/>
              </a:lnSpc>
              <a:spcBef>
                <a:spcPts val="0"/>
              </a:spcBef>
              <a:spcAft>
                <a:spcPts val="0"/>
              </a:spcAft>
            </a:pPr>
            <a:r>
              <a:rPr sz="14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Run against a real Aerospike</a:t>
            </a:r>
          </a:p>
          <a:p>
            <a:pPr lvl="1">
              <a:lnSpc>
                <a:spcPct val="120000"/>
              </a:lnSpc>
              <a:spcBef>
                <a:spcPts val="0"/>
              </a:spcBef>
              <a:spcAft>
                <a:spcPts val="0"/>
              </a:spcAft>
            </a:pPr>
            <a:r>
              <a:rPr sz="1450" b="0">
                <a:solidFill>
                  <a:srgbClr val="4A5058"/>
                </a:solidFill>
                <a:latin typeface="Source Sans 3"/>
              </a:rPr>
              <a:t>By AerospikeContinuousQueryIT, over a binding with deletes: detect — without it a scan re-reads an updated record as another row, and the aggregate is refused (PRV-2042).</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Every query is continuous</a:t>
            </a:r>
          </a:p>
          <a:p>
            <a:pPr lvl="1">
              <a:lnSpc>
                <a:spcPct val="120000"/>
              </a:lnSpc>
              <a:spcBef>
                <a:spcPts val="0"/>
              </a:spcBef>
              <a:spcAft>
                <a:spcPts val="0"/>
              </a:spcAft>
            </a:pPr>
            <a:r>
              <a:rPr sz="1450" b="0">
                <a:solidFill>
                  <a:srgbClr val="4A5058"/>
                </a:solidFill>
                <a:latin typeface="Source Sans 3"/>
              </a:rPr>
              <a:t>SELECT STREAM is accepted and redundant. Registered as CREATE CONTINUOUS QUERY txn_volume KEYED BY (window_end, user_id) AS SELECT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PRAVAHA IN ONE SLIDE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Continuous SQL where your data already lives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One language. Calcite plans; Pravaha's own operators execute</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 plugins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Source and sink connectors under plugins/, each its own jar</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node</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Clustering is not built; a node refuses PARTITIONED mode (PRV-9002)</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13 studies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Worked systems, each run and checked by the build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What it is</a:t>
            </a:r>
          </a:p>
          <a:p>
            <a:pPr lvl="1">
              <a:lnSpc>
                <a:spcPct val="120000"/>
              </a:lnSpc>
              <a:spcBef>
                <a:spcPts val="0"/>
              </a:spcBef>
              <a:spcAft>
                <a:spcPts val="0"/>
              </a:spcAft>
            </a:pPr>
            <a:r>
              <a:rPr sz="1450" b="0">
                <a:solidFill>
                  <a:srgbClr val="4A5058"/>
                </a:solidFill>
                <a:latin typeface="Source Sans 3"/>
              </a:rPr>
              <a:t>An embeddable, store-native, incrementally-maintained SQL engine. It runs continuous SQL over Aerospike, Cassandra, PostgreSQL or any JDBC database, MySQL, Kafka, files and Delta tables, keeps each answer current, and serves it back by key — so the result needs no second database to live in.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How it is reached</a:t>
            </a:r>
          </a:p>
          <a:p>
            <a:pPr lvl="1">
              <a:lnSpc>
                <a:spcPct val="120000"/>
              </a:lnSpc>
              <a:spcBef>
                <a:spcPts val="0"/>
              </a:spcBef>
              <a:spcAft>
                <a:spcPts val="0"/>
              </a:spcAft>
            </a:pPr>
            <a:r>
              <a:rPr sz="1450" b="0">
                <a:solidFill>
                  <a:srgbClr val="4A5058"/>
                </a:solidFill>
                <a:latin typeface="Source Sans 3"/>
              </a:rPr>
              <a:t>Arrow Flight SQL and the PostgreSQL wire protocol for rows; REST under /api/v1 for everything that manages the engine; Java and Python SDKs; a console; or in process.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The vocabulary, from nothing</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handful of words carry the rest of this deck. Each is defined here before it is used, and each definition is the one the engine's own documentation gives.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Stream, continuous query, view</a:t>
            </a:r>
          </a:p>
          <a:p>
            <a:pPr>
              <a:lnSpc>
                <a:spcPct val="115000"/>
              </a:lnSpc>
              <a:spcBef>
                <a:spcPts val="0"/>
              </a:spcBef>
              <a:spcAft>
                <a:spcPts val="600"/>
              </a:spcAft>
            </a:pPr>
            <a:r>
              <a:rPr sz="1250" b="0" i="0">
                <a:solidFill>
                  <a:srgbClr val="F6E6E9"/>
                </a:solidFill>
                <a:latin typeface="Source Sans 3"/>
              </a:rPr>
              <a:t>Source, binding, lookup</a:t>
            </a:r>
          </a:p>
          <a:p>
            <a:pPr>
              <a:lnSpc>
                <a:spcPct val="115000"/>
              </a:lnSpc>
              <a:spcBef>
                <a:spcPts val="0"/>
              </a:spcBef>
              <a:spcAft>
                <a:spcPts val="600"/>
              </a:spcAft>
            </a:pPr>
            <a:r>
              <a:rPr sz="1250" b="0" i="0">
                <a:solidFill>
                  <a:srgbClr val="F6E6E9"/>
                </a:solidFill>
                <a:latin typeface="Source Sans 3"/>
              </a:rPr>
              <a:t>Event time and the watermark</a:t>
            </a:r>
          </a:p>
          <a:p>
            <a:pPr>
              <a:lnSpc>
                <a:spcPct val="115000"/>
              </a:lnSpc>
              <a:spcBef>
                <a:spcPts val="0"/>
              </a:spcBef>
              <a:spcAft>
                <a:spcPts val="600"/>
              </a:spcAft>
            </a:pPr>
            <a:r>
              <a:rPr sz="1250" b="0" i="0">
                <a:solidFill>
                  <a:srgbClr val="F6E6E9"/>
                </a:solidFill>
                <a:latin typeface="Source Sans 3"/>
              </a:rPr>
              <a:t>A weight on every row, and the commit</a:t>
            </a:r>
          </a:p>
          <a:p>
            <a:pPr>
              <a:lnSpc>
                <a:spcPct val="115000"/>
              </a:lnSpc>
              <a:spcBef>
                <a:spcPts val="0"/>
              </a:spcBef>
              <a:spcAft>
                <a:spcPts val="600"/>
              </a:spcAft>
            </a:pPr>
            <a:r>
              <a:rPr sz="1250" b="0" i="0">
                <a:solidFill>
                  <a:srgbClr val="F6E6E9"/>
                </a:solidFill>
                <a:latin typeface="Source Sans 3"/>
              </a:rPr>
              <a:t>Lane, checkpoint, sink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NOUNS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becomes a query becomes a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sp>
        <p:nvSpPr>
          <p:cNvPr id="10" name="Rectangle 9"/>
          <p:cNvSpPr/>
          <p:nvPr/>
        </p:nvSpPr>
        <p:spPr>
          <a:xfrm>
            <a:off x="777240"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Source</a:t>
            </a:r>
          </a:p>
        </p:txBody>
      </p:sp>
      <p:sp>
        <p:nvSpPr>
          <p:cNvPr id="13" name="TextBox 12"/>
          <p:cNvSpPr txBox="1"/>
          <p:nvPr/>
        </p:nvSpPr>
        <p:spPr>
          <a:xfrm>
            <a:off x="960120"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plugin that produces rows: a file, a table, a topic, a change log</a:t>
            </a:r>
          </a:p>
        </p:txBody>
      </p:sp>
      <p:sp>
        <p:nvSpPr>
          <p:cNvPr id="14" name="Rectangle 13"/>
          <p:cNvSpPr/>
          <p:nvPr/>
        </p:nvSpPr>
        <p:spPr>
          <a:xfrm>
            <a:off x="2959547"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Stream</a:t>
            </a:r>
          </a:p>
        </p:txBody>
      </p:sp>
      <p:sp>
        <p:nvSpPr>
          <p:cNvPr id="17" name="TextBox 16"/>
          <p:cNvSpPr txBox="1"/>
          <p:nvPr/>
        </p:nvSpPr>
        <p:spPr>
          <a:xfrm>
            <a:off x="3142427"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named, typed, unbounded sequence of rows, bound to a source</a:t>
            </a:r>
          </a:p>
        </p:txBody>
      </p:sp>
      <p:cxnSp>
        <p:nvCxnSpPr>
          <p:cNvPr id="18" name="Connector 17"/>
          <p:cNvCxnSpPr/>
          <p:nvPr/>
        </p:nvCxnSpPr>
        <p:spPr>
          <a:xfrm>
            <a:off x="2721803"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Continuous query</a:t>
            </a:r>
          </a:p>
        </p:txBody>
      </p:sp>
      <p:sp>
        <p:nvSpPr>
          <p:cNvPr id="22" name="TextBox 21"/>
          <p:cNvSpPr txBox="1"/>
          <p:nvPr/>
        </p:nvSpPr>
        <p:spPr>
          <a:xfrm>
            <a:off x="5324734"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A registered computation over one or more streams</a:t>
            </a:r>
          </a:p>
        </p:txBody>
      </p:sp>
      <p:cxnSp>
        <p:nvCxnSpPr>
          <p:cNvPr id="23" name="Connector 22"/>
          <p:cNvCxnSpPr/>
          <p:nvPr/>
        </p:nvCxnSpPr>
        <p:spPr>
          <a:xfrm>
            <a:off x="4904110"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a:t>
            </a:r>
          </a:p>
        </p:txBody>
      </p:sp>
      <p:sp>
        <p:nvSpPr>
          <p:cNvPr id="27" name="TextBox 26"/>
          <p:cNvSpPr txBox="1"/>
          <p:nvPr/>
        </p:nvSpPr>
        <p:spPr>
          <a:xfrm>
            <a:off x="7507041"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query's answer, maintained incrementally, readable by SQL</a:t>
            </a:r>
          </a:p>
        </p:txBody>
      </p:sp>
      <p:cxnSp>
        <p:nvCxnSpPr>
          <p:cNvPr id="28" name="Connector 27"/>
          <p:cNvCxnSpPr/>
          <p:nvPr/>
        </p:nvCxnSpPr>
        <p:spPr>
          <a:xfrm>
            <a:off x="7086417"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or subscribe</a:t>
            </a:r>
          </a:p>
        </p:txBody>
      </p:sp>
      <p:sp>
        <p:nvSpPr>
          <p:cNvPr id="32" name="TextBox 31"/>
          <p:cNvSpPr txBox="1"/>
          <p:nvPr/>
        </p:nvSpPr>
        <p:spPr>
          <a:xfrm>
            <a:off x="9689348"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SELECT by key, or a batch of weighted changes per commit</a:t>
            </a:r>
          </a:p>
        </p:txBody>
      </p:sp>
      <p:cxnSp>
        <p:nvCxnSpPr>
          <p:cNvPr id="33" name="Connector 32"/>
          <p:cNvCxnSpPr/>
          <p:nvPr/>
        </p:nvCxnSpPr>
        <p:spPr>
          <a:xfrm>
            <a:off x="9268724"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34" name="Table 33"/>
          <p:cNvGraphicFramePr>
            <a:graphicFrameLocks noGrp="1"/>
          </p:cNvGraphicFramePr>
          <p:nvPr/>
        </p:nvGraphicFramePr>
        <p:xfrm>
          <a:off x="777240" y="3404311"/>
          <a:ext cx="10637214" cy="2123744"/>
        </p:xfrm>
        <a:graphic>
          <a:graphicData uri="http://schemas.openxmlformats.org/drawingml/2006/table">
            <a:tbl>
              <a:tblPr firstRow="1">
                <a:tableStyleId>{5C22544A-7EE6-4342-B048-85BDC9FD1C3A}</a:tableStyleId>
              </a:tblPr>
              <a:tblGrid>
                <a:gridCol w="2085728"/>
                <a:gridCol w="2294301"/>
                <a:gridCol w="6257185"/>
              </a:tblGrid>
              <a:tr h="322376">
                <a:tc>
                  <a:txBody>
                    <a:bodyPr wrap="square"/>
                    <a:lstStyle/>
                    <a:p>
                      <a:r>
                        <a:rPr sz="1300" b="1">
                          <a:solidFill>
                            <a:srgbClr val="FFFFFF"/>
                          </a:solidFill>
                          <a:latin typeface="Source Sans 3"/>
                        </a:rPr>
                        <a:t>Noun</a:t>
                      </a:r>
                    </a:p>
                  </a:txBody>
                  <a:tcPr marL="82296" marR="64008" marT="32004" marB="32004" anchor="ctr">
                    <a:solidFill>
                      <a:srgbClr val="8A1626"/>
                    </a:solidFill>
                  </a:tcPr>
                </a:tc>
                <a:tc>
                  <a:txBody>
                    <a:bodyPr wrap="square"/>
                    <a:lstStyle/>
                    <a:p>
                      <a:r>
                        <a:rPr sz="1300" b="1">
                          <a:solidFill>
                            <a:srgbClr val="FFFFFF"/>
                          </a:solidFill>
                          <a:latin typeface="Source Sans 3"/>
                        </a:rPr>
                        <a:t>Lives for</a:t>
                      </a:r>
                    </a:p>
                  </a:txBody>
                  <a:tcPr marL="82296" marR="64008" marT="32004" marB="32004" anchor="ctr">
                    <a:solidFill>
                      <a:srgbClr val="8A1626"/>
                    </a:solidFill>
                  </a:tcPr>
                </a:tc>
                <a:tc>
                  <a:txBody>
                    <a:bodyPr wrap="square"/>
                    <a:lstStyle/>
                    <a:p>
                      <a:r>
                        <a:rPr sz="1300" b="1">
                          <a:solidFill>
                            <a:srgbClr val="FFFFFF"/>
                          </a:solidFill>
                          <a:latin typeface="Source Sans 3"/>
                        </a:rPr>
                        <a:t>Note</a:t>
                      </a:r>
                    </a:p>
                  </a:txBody>
                  <a:tcPr marL="82296" marR="64008" marT="32004" marB="32004" anchor="ctr">
                    <a:solidFill>
                      <a:srgbClr val="8A1626"/>
                    </a:solidFill>
                  </a:tcPr>
                </a:tc>
              </a:tr>
              <a:tr h="600456">
                <a:tc>
                  <a:txBody>
                    <a:bodyPr wrap="square"/>
                    <a:lstStyle/>
                    <a:p>
                      <a:r>
                        <a:rPr sz="1500" b="1">
                          <a:solidFill>
                            <a:srgbClr val="8A1626"/>
                          </a:solidFill>
                          <a:latin typeface="Source Sans 3"/>
                        </a:rPr>
                        <a:t>Stream</a:t>
                      </a:r>
                    </a:p>
                  </a:txBody>
                  <a:tcPr marL="82296" marR="64008" marT="32004" marB="32004" anchor="ctr">
                    <a:solidFill>
                      <a:srgbClr val="FFFFFF"/>
                    </a:solidFill>
                  </a:tcPr>
                </a:tc>
                <a:tc>
                  <a:txBody>
                    <a:bodyPr wrap="square"/>
                    <a:lstStyle/>
                    <a:p>
                      <a:r>
                        <a:rPr sz="1500" b="0">
                          <a:solidFill>
                            <a:srgbClr val="1A1A1A"/>
                          </a:solidFill>
                          <a:latin typeface="Source Sans 3"/>
                        </a:rPr>
                        <a:t>The node's lifetime</a:t>
                      </a:r>
                    </a:p>
                  </a:txBody>
                  <a:tcPr marL="82296" marR="64008" marT="32004" marB="32004" anchor="ctr">
                    <a:solidFill>
                      <a:srgbClr val="FFFFFF"/>
                    </a:solidFill>
                  </a:tcPr>
                </a:tc>
                <a:tc>
                  <a:txBody>
                    <a:bodyPr wrap="square"/>
                    <a:lstStyle/>
                    <a:p>
                      <a:r>
                        <a:rPr sz="1500" b="0">
                          <a:solidFill>
                            <a:srgbClr val="1A1A1A"/>
                          </a:solidFill>
                          <a:latin typeface="Source Sans 3"/>
                        </a:rPr>
                        <a:t>Declared with a schema and the column that carries its event time</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Continuous query</a:t>
                      </a:r>
                    </a:p>
                  </a:txBody>
                  <a:tcPr marL="82296" marR="64008" marT="32004" marB="32004" anchor="ctr">
                    <a:solidFill>
                      <a:srgbClr val="F7F5F2"/>
                    </a:solidFill>
                  </a:tcPr>
                </a:tc>
                <a:tc>
                  <a:txBody>
                    <a:bodyPr wrap="square"/>
                    <a:lstStyle/>
                    <a:p>
                      <a:r>
                        <a:rPr sz="1500" b="0">
                          <a:solidFill>
                            <a:srgbClr val="1A1A1A"/>
                          </a:solidFill>
                          <a:latin typeface="Source Sans 3"/>
                        </a:rPr>
                        <a:t>Until dropped</a:t>
                      </a:r>
                    </a:p>
                  </a:txBody>
                  <a:tcPr marL="82296" marR="64008" marT="32004" marB="32004" anchor="ctr">
                    <a:solidFill>
                      <a:srgbClr val="F7F5F2"/>
                    </a:solidFill>
                  </a:tcPr>
                </a:tc>
                <a:tc>
                  <a:txBody>
                    <a:bodyPr wrap="square"/>
                    <a:lstStyle/>
                    <a:p>
                      <a:r>
                        <a:rPr sz="1500" b="0">
                          <a:solidFill>
                            <a:srgbClr val="1A1A1A"/>
                          </a:solidFill>
                          <a:latin typeface="Source Sans 3"/>
                        </a:rPr>
                        <a:t>You do not ask it for an answer; you register it once and it keeps one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View</a:t>
                      </a:r>
                    </a:p>
                  </a:txBody>
                  <a:tcPr marL="82296" marR="64008" marT="32004" marB="32004" anchor="ctr">
                    <a:solidFill>
                      <a:srgbClr val="FFFFFF"/>
                    </a:solidFill>
                  </a:tcPr>
                </a:tc>
                <a:tc>
                  <a:txBody>
                    <a:bodyPr wrap="square"/>
                    <a:lstStyle/>
                    <a:p>
                      <a:r>
                        <a:rPr sz="1500" b="0">
                          <a:solidFill>
                            <a:srgbClr val="1A1A1A"/>
                          </a:solidFill>
                          <a:latin typeface="Source Sans 3"/>
                        </a:rPr>
                        <a:t>As long as its query</a:t>
                      </a:r>
                    </a:p>
                  </a:txBody>
                  <a:tcPr marL="82296" marR="64008" marT="32004" marB="32004" anchor="ctr">
                    <a:solidFill>
                      <a:srgbClr val="FFFFFF"/>
                    </a:solidFill>
                  </a:tcPr>
                </a:tc>
                <a:tc>
                  <a:txBody>
                    <a:bodyPr wrap="square"/>
                    <a:lstStyle/>
                    <a:p>
                      <a:r>
                        <a:rPr sz="1500" b="0">
                          <a:solidFill>
                            <a:srgbClr val="1A1A1A"/>
                          </a:solidFill>
                          <a:latin typeface="Source Sans 3"/>
                        </a:rPr>
                        <a:t>Reading it is cheap, repeatable, and not the query running again</a:t>
                      </a:r>
                    </a:p>
                  </a:txBody>
                  <a:tcPr marL="82296" marR="64008" marT="32004" marB="32004"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ROWS COME FROM</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is declared; a source is bound to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1410919"/>
            <a:ext cx="5348471"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pravaha:</a:t>
            </a:r>
          </a:p>
          <a:p>
            <a:pPr>
              <a:lnSpc>
                <a:spcPct val="100000"/>
              </a:lnSpc>
              <a:spcBef>
                <a:spcPts val="0"/>
              </a:spcBef>
              <a:spcAft>
                <a:spcPts val="0"/>
              </a:spcAft>
            </a:pPr>
            <a:r>
              <a:rPr sz="1200" b="0" i="0">
                <a:solidFill>
                  <a:srgbClr val="F1EEE9"/>
                </a:solidFill>
                <a:latin typeface="Consolas"/>
              </a:rPr>
              <a:t>  streams: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schema: "txn_id:INT64,user_id:STRING,</a:t>
            </a:r>
          </a:p>
          <a:p>
            <a:pPr>
              <a:lnSpc>
                <a:spcPct val="100000"/>
              </a:lnSpc>
              <a:spcBef>
                <a:spcPts val="0"/>
              </a:spcBef>
              <a:spcAft>
                <a:spcPts val="0"/>
              </a:spcAft>
            </a:pPr>
            <a:r>
              <a:rPr sz="1200" b="0" i="0">
                <a:solidFill>
                  <a:srgbClr val="F1EEE9"/>
                </a:solidFill>
                <a:latin typeface="Consolas"/>
              </a:rPr>
              <a:t>               amount:INT64,event_time:TIMESTAMP"</a:t>
            </a:r>
          </a:p>
          <a:p>
            <a:pPr>
              <a:lnSpc>
                <a:spcPct val="100000"/>
              </a:lnSpc>
              <a:spcBef>
                <a:spcPts val="0"/>
              </a:spcBef>
              <a:spcAft>
                <a:spcPts val="0"/>
              </a:spcAft>
            </a:pPr>
            <a:r>
              <a:rPr sz="1200" b="0" i="0">
                <a:solidFill>
                  <a:srgbClr val="F1EEE9"/>
                </a:solidFill>
                <a:latin typeface="Consolas"/>
              </a:rPr>
              <a:t>      event-time: event_time</a:t>
            </a:r>
          </a:p>
          <a:p>
            <a:pPr>
              <a:lnSpc>
                <a:spcPct val="100000"/>
              </a:lnSpc>
              <a:spcBef>
                <a:spcPts val="0"/>
              </a:spcBef>
              <a:spcAft>
                <a:spcPts val="0"/>
              </a:spcAft>
            </a:pPr>
            <a:r>
              <a:rPr sz="1200" b="0" i="0">
                <a:solidFill>
                  <a:srgbClr val="F1EEE9"/>
                </a:solidFill>
                <a:latin typeface="Consolas"/>
              </a:rPr>
              <a:t>      out-of-orderness: 10s</a:t>
            </a:r>
          </a:p>
          <a:p>
            <a:pPr>
              <a:lnSpc>
                <a:spcPct val="100000"/>
              </a:lnSpc>
              <a:spcBef>
                <a:spcPts val="0"/>
              </a:spcBef>
              <a:spcAft>
                <a:spcPts val="0"/>
              </a:spcAft>
            </a:pPr>
            <a:r>
              <a:rPr sz="1200" b="0" i="0">
                <a:solidFill>
                  <a:srgbClr val="F1EEE9"/>
                </a:solidFill>
                <a:latin typeface="Consolas"/>
              </a:rPr>
              <a:t>  sources: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plugin: filesystem</a:t>
            </a:r>
          </a:p>
          <a:p>
            <a:pPr>
              <a:lnSpc>
                <a:spcPct val="100000"/>
              </a:lnSpc>
              <a:spcBef>
                <a:spcPts val="0"/>
              </a:spcBef>
              <a:spcAft>
                <a:spcPts val="0"/>
              </a:spcAft>
            </a:pPr>
            <a:r>
              <a:rPr sz="1200" b="0" i="0">
                <a:solidFill>
                  <a:srgbClr val="F1EEE9"/>
                </a:solidFill>
                <a:latin typeface="Consolas"/>
              </a:rPr>
              <a:t>      options:</a:t>
            </a:r>
          </a:p>
          <a:p>
            <a:pPr>
              <a:lnSpc>
                <a:spcPct val="100000"/>
              </a:lnSpc>
              <a:spcBef>
                <a:spcPts val="0"/>
              </a:spcBef>
              <a:spcAft>
                <a:spcPts val="0"/>
              </a:spcAft>
            </a:pPr>
            <a:r>
              <a:rPr sz="1200" b="0" i="0">
                <a:solidFill>
                  <a:srgbClr val="F1EEE9"/>
                </a:solidFill>
                <a:latin typeface="Consolas"/>
              </a:rPr>
              <a:t>        path: /opt/pravaha/data/incoming/txn.csv</a:t>
            </a:r>
          </a:p>
          <a:p>
            <a:pPr>
              <a:lnSpc>
                <a:spcPct val="100000"/>
              </a:lnSpc>
              <a:spcBef>
                <a:spcPts val="0"/>
              </a:spcBef>
              <a:spcAft>
                <a:spcPts val="0"/>
              </a:spcAft>
            </a:pPr>
            <a:r>
              <a:rPr sz="1200" b="0" i="0">
                <a:solidFill>
                  <a:srgbClr val="F1EEE9"/>
                </a:solidFill>
                <a:latin typeface="Consolas"/>
              </a:rPr>
              <a:t>        event.time: event_time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Stream: what it is</a:t>
            </a:r>
          </a:p>
          <a:p>
            <a:pPr lvl="1">
              <a:lnSpc>
                <a:spcPct val="120000"/>
              </a:lnSpc>
              <a:spcBef>
                <a:spcPts val="0"/>
              </a:spcBef>
              <a:spcAft>
                <a:spcPts val="0"/>
              </a:spcAft>
            </a:pPr>
            <a:r>
              <a:rPr sz="1450" b="0">
                <a:solidFill>
                  <a:srgbClr val="4A5058"/>
                </a:solidFill>
                <a:latin typeface="Source Sans 3"/>
              </a:rPr>
              <a:t>pravaha.streams.&lt;name&gt; — schema, event time, lateness. Enough to plan and validate a query with nothing attached.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Source binding: where rows come from</a:t>
            </a:r>
          </a:p>
          <a:p>
            <a:pPr lvl="1">
              <a:lnSpc>
                <a:spcPct val="120000"/>
              </a:lnSpc>
              <a:spcBef>
                <a:spcPts val="0"/>
              </a:spcBef>
              <a:spcAft>
                <a:spcPts val="0"/>
              </a:spcAft>
            </a:pPr>
            <a:r>
              <a:rPr sz="1450" b="0">
                <a:solidFill>
                  <a:srgbClr val="4A5058"/>
                </a:solidFill>
                <a:latin typeface="Source Sans 3"/>
              </a:rPr>
              <a:t>pravaha.sources.&lt;name&gt; — a plugin and its options, keyed by the stream it feeds. A binding is per stream name, not per query: one reader per binding can feed every query.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Lookup: a table a query may ask</a:t>
            </a:r>
          </a:p>
          <a:p>
            <a:pPr lvl="1">
              <a:lnSpc>
                <a:spcPct val="120000"/>
              </a:lnSpc>
              <a:spcBef>
                <a:spcPts val="0"/>
              </a:spcBef>
              <a:spcAft>
                <a:spcPts val="0"/>
              </a:spcAft>
            </a:pPr>
            <a:r>
              <a:rPr sz="1450" b="0">
                <a:solidFill>
                  <a:srgbClr val="4A5058"/>
                </a:solidFill>
                <a:latin typeface="Source Sans 3"/>
              </a:rPr>
              <a:t>pravaha.lookups.&lt;name&gt; — the right side of a temporal join. A source is consumed and advances event time; a lookup is only asked.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EVENT TIME AND THE WATERMARK</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A window closes because data said so, not because time passed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TextBox 9"/>
          <p:cNvSpPr txBox="1"/>
          <p:nvPr/>
        </p:nvSpPr>
        <p:spPr>
          <a:xfrm>
            <a:off x="777240" y="1329131"/>
            <a:ext cx="10637215" cy="49162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Event time</a:t>
            </a:r>
          </a:p>
          <a:p>
            <a:pPr lvl="1">
              <a:lnSpc>
                <a:spcPct val="120000"/>
              </a:lnSpc>
              <a:spcBef>
                <a:spcPts val="0"/>
              </a:spcBef>
              <a:spcAft>
                <a:spcPts val="0"/>
              </a:spcAft>
            </a:pPr>
            <a:r>
              <a:rPr sz="1550" b="0">
                <a:solidFill>
                  <a:srgbClr val="4A5058"/>
                </a:solidFill>
                <a:latin typeface="Source Sans 3"/>
              </a:rPr>
              <a:t>Every window, watermark and retention is measured in the timestamp in the data. Load the same rows in any order, at any speed, tomorrow, and the answer is the same.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Watermark: “nothing earlier is coming”</a:t>
            </a:r>
          </a:p>
          <a:p>
            <a:pPr lvl="1">
              <a:lnSpc>
                <a:spcPct val="120000"/>
              </a:lnSpc>
              <a:spcBef>
                <a:spcPts val="0"/>
              </a:spcBef>
              <a:spcAft>
                <a:spcPts val="0"/>
              </a:spcAft>
            </a:pPr>
            <a:r>
              <a:rPr sz="1550" b="0">
                <a:solidFill>
                  <a:srgbClr val="4A5058"/>
                </a:solidFill>
                <a:latin typeface="Source Sans 3"/>
              </a:rPr>
              <a:t>At a watermark T no row earlier than T will arrive, so everything ending at or before T can be published. It closes windows and releases join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How late is late belongs to the stream</a:t>
            </a:r>
          </a:p>
          <a:p>
            <a:pPr lvl="1">
              <a:lnSpc>
                <a:spcPct val="120000"/>
              </a:lnSpc>
              <a:spcBef>
                <a:spcPts val="0"/>
              </a:spcBef>
              <a:spcAft>
                <a:spcPts val="0"/>
              </a:spcAft>
            </a:pPr>
            <a:r>
              <a:rPr sz="1550" b="0">
                <a:solidFill>
                  <a:srgbClr val="4A5058"/>
                </a:solidFill>
                <a:latin typeface="Source Sans 3"/>
              </a:rPr>
              <a:t>Out-of-orderness is declared per stream; a stream that says nothing gets 10 seconds. Each source partition contributes a watermark, the query takes the minimum, and a partition that has gone quiet is excluded rather than holding everyone back.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event time, no window</a:t>
            </a:r>
          </a:p>
          <a:p>
            <a:pPr lvl="1">
              <a:lnSpc>
                <a:spcPct val="120000"/>
              </a:lnSpc>
              <a:spcBef>
                <a:spcPts val="0"/>
              </a:spcBef>
              <a:spcAft>
                <a:spcPts val="0"/>
              </a:spcAft>
            </a:pPr>
            <a:r>
              <a:rPr sz="1550" b="0">
                <a:solidFill>
                  <a:srgbClr val="4A5058"/>
                </a:solidFill>
                <a:latin typeface="Source Sans 3"/>
              </a:rPr>
              <a:t>A windowed query over a stream that declares no event-time column is refused at registration (PRV-2002) — it would report RUNNING, ingest everything and emit nothing.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change is a row with a weight; a correction is −1 then +1</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panel is a real run: a late reading from press-02 corrected the 08:03 minute (machine sensor anomalies, step 5), trimmed to the columns that changed.</a:t>
            </a:r>
          </a:p>
        </p:txBody>
      </p:sp>
      <p:sp>
        <p:nvSpPr>
          <p:cNvPr id="12" name="Rectangle 11"/>
          <p:cNvSpPr/>
          <p:nvPr/>
        </p:nvSpPr>
        <p:spPr>
          <a:xfrm>
            <a:off x="777240" y="1345488"/>
            <a:ext cx="5135727" cy="1302003"/>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5720" cy="1302003"/>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46656"/>
            <a:ext cx="4733391" cy="899667"/>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E8B8C0"/>
                </a:solidFill>
                <a:latin typeface="Consolas"/>
              </a:rPr>
              <a:t>-- snapshot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E8B8C0"/>
                </a:solidFill>
                <a:latin typeface="Consolas"/>
              </a:rPr>
              <a:t>-- commit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F1EEE9"/>
                </a:solidFill>
                <a:latin typeface="Consolas"/>
              </a:rPr>
              <a:t>+1 {window_end 08:03, press-02, readings 7, max 991}</a:t>
            </a:r>
          </a:p>
        </p:txBody>
      </p:sp>
      <p:sp>
        <p:nvSpPr>
          <p:cNvPr id="15" name="TextBox 14"/>
          <p:cNvSpPr txBox="1"/>
          <p:nvPr/>
        </p:nvSpPr>
        <p:spPr>
          <a:xfrm>
            <a:off x="6278727" y="1345488"/>
            <a:ext cx="5135727" cy="43256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Weight: the Z-set row</a:t>
            </a:r>
          </a:p>
          <a:p>
            <a:pPr lvl="1">
              <a:lnSpc>
                <a:spcPct val="120000"/>
              </a:lnSpc>
              <a:spcBef>
                <a:spcPts val="0"/>
              </a:spcBef>
              <a:spcAft>
                <a:spcPts val="0"/>
              </a:spcAft>
            </a:pPr>
            <a:r>
              <a:rPr sz="1450" b="0">
                <a:solidFill>
                  <a:srgbClr val="4A5058"/>
                </a:solidFill>
                <a:latin typeface="Source Sans 3"/>
              </a:rPr>
              <a:t>+1 is a row appearing, −1 one being withdrawn. A row is present exactly while its weights sum positive; a change of weight zero is never delivered.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Commit</a:t>
            </a:r>
          </a:p>
          <a:p>
            <a:pPr lvl="1">
              <a:lnSpc>
                <a:spcPct val="120000"/>
              </a:lnSpc>
              <a:spcBef>
                <a:spcPts val="0"/>
              </a:spcBef>
              <a:spcAft>
                <a:spcPts val="0"/>
              </a:spcAft>
            </a:pPr>
            <a:r>
              <a:rPr sz="1450" b="0">
                <a:solidFill>
                  <a:srgbClr val="4A5058"/>
                </a:solidFill>
                <a:latin typeface="Source Sans 3"/>
              </a:rPr>
              <a:t>The point at which the engine says a prefix of the input is fully processed. Changes arrive per commit, never per row, so nobody acts on a total still being assembled.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What a consumer does</a:t>
            </a:r>
          </a:p>
          <a:p>
            <a:pPr lvl="1">
              <a:lnSpc>
                <a:spcPct val="120000"/>
              </a:lnSpc>
              <a:spcBef>
                <a:spcPts val="0"/>
              </a:spcBef>
              <a:spcAft>
                <a:spcPts val="0"/>
              </a:spcAft>
            </a:pPr>
            <a:r>
              <a:rPr sz="1450" b="0">
                <a:solidFill>
                  <a:srgbClr val="4A5058"/>
                </a:solidFill>
                <a:latin typeface="Source Sans 3"/>
              </a:rPr>
              <a:t>Wants current values: ignore −1 and overwrite by key. Keeps its own aggregate: apply the weights, or it drifts from the view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IT RUNS, AND WHAT SURVIVES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Lane, checkpoint, sink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sp>
        <p:nvSpPr>
          <p:cNvPr id="10" name="Rectangle 9"/>
          <p:cNvSpPr/>
          <p:nvPr/>
        </p:nvSpPr>
        <p:spPr>
          <a:xfrm>
            <a:off x="777240"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LANE</a:t>
            </a:r>
          </a:p>
        </p:txBody>
      </p:sp>
      <p:sp>
        <p:nvSpPr>
          <p:cNvPr id="13" name="TextBox 12"/>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One thread at a time, one inbox, one arena</a:t>
            </a:r>
          </a:p>
        </p:txBody>
      </p:sp>
      <p:sp>
        <p:nvSpPr>
          <p:cNvPr id="14" name="TextBox 13"/>
          <p:cNvSpPr txBox="1"/>
          <p:nvPr/>
        </p:nvSpPr>
        <p:spPr>
          <a:xfrm>
            <a:off x="960120"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unit of execution: a driver and the memory only it may touch — an off-heap inbox ring, off-heap arena slabs and a compiled operator pipeline. One thread per core steps many lanes; no locks in the steady state.</a:t>
            </a:r>
          </a:p>
        </p:txBody>
      </p:sp>
      <p:sp>
        <p:nvSpPr>
          <p:cNvPr id="15" name="Rectangle 14"/>
          <p:cNvSpPr/>
          <p:nvPr/>
        </p:nvSpPr>
        <p:spPr>
          <a:xfrm>
            <a:off x="4377842"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CHECKPOINT</a:t>
            </a:r>
          </a:p>
        </p:txBody>
      </p:sp>
      <p:sp>
        <p:nvSpPr>
          <p:cNvPr id="18" name="TextBox 17"/>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Operator state, source offsets and the view, at one cut</a:t>
            </a:r>
          </a:p>
        </p:txBody>
      </p:sp>
      <p:sp>
        <p:nvSpPr>
          <p:cNvPr id="19" name="TextBox 18"/>
          <p:cNvSpPr txBox="1"/>
          <p:nvPr/>
        </p:nvSpPr>
        <p:spPr>
          <a:xfrm>
            <a:off x="4560722" y="2634538"/>
            <a:ext cx="3070250" cy="348279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Taken with every input held between rows, so the state and the offsets name the same point (ADR-008). A restart resumes from it rather than replaying from scratch or starting empty.</a:t>
            </a:r>
          </a:p>
        </p:txBody>
      </p:sp>
      <p:sp>
        <p:nvSpPr>
          <p:cNvPr id="20" name="Rectangle 19"/>
          <p:cNvSpPr/>
          <p:nvPr/>
        </p:nvSpPr>
        <p:spPr>
          <a:xfrm>
            <a:off x="7978444"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SINK</a:t>
            </a:r>
          </a:p>
        </p:txBody>
      </p:sp>
      <p:sp>
        <p:nvSpPr>
          <p:cNvPr id="23" name="TextBox 22"/>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Where every commit of a view is also written</a:t>
            </a:r>
          </a:p>
        </p:txBody>
      </p:sp>
      <p:sp>
        <p:nvSpPr>
          <p:cNvPr id="24" name="TextBox 23"/>
          <p:cNvSpPr txBox="1"/>
          <p:nvPr/>
        </p:nvSpPr>
        <p:spPr>
          <a:xfrm>
            <a:off x="8161324"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Named at registration and sent retractions too. Its delivery is stated up front: exactly once to a transactional sink, effectively once to an idempotent upsert, at least once to a plain append.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3</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 query's life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From CREATE CONTINUOUS QUERY to a planned, fingerprinted computation on a lane, to a view a reader asks by key and a subscriber follows commit by commit.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Registering: the statement and its key</a:t>
            </a:r>
          </a:p>
          <a:p>
            <a:pPr>
              <a:lnSpc>
                <a:spcPct val="115000"/>
              </a:lnSpc>
              <a:spcBef>
                <a:spcPts val="0"/>
              </a:spcBef>
              <a:spcAft>
                <a:spcPts val="600"/>
              </a:spcAft>
            </a:pPr>
            <a:r>
              <a:rPr sz="1250" b="0" i="0">
                <a:solidFill>
                  <a:srgbClr val="F6E6E9"/>
                </a:solidFill>
                <a:latin typeface="Source Sans 3"/>
              </a:rPr>
              <a:t>What happens at registration</a:t>
            </a:r>
          </a:p>
          <a:p>
            <a:pPr>
              <a:lnSpc>
                <a:spcPct val="115000"/>
              </a:lnSpc>
              <a:spcBef>
                <a:spcPts val="0"/>
              </a:spcBef>
              <a:spcAft>
                <a:spcPts val="600"/>
              </a:spcAft>
            </a:pPr>
            <a:r>
              <a:rPr sz="1250" b="0" i="0">
                <a:solidFill>
                  <a:srgbClr val="F6E6E9"/>
                </a:solidFill>
                <a:latin typeface="Source Sans 3"/>
              </a:rPr>
              <a:t>Refused at registration, not discovered later</a:t>
            </a:r>
          </a:p>
          <a:p>
            <a:pPr>
              <a:lnSpc>
                <a:spcPct val="115000"/>
              </a:lnSpc>
              <a:spcBef>
                <a:spcPts val="0"/>
              </a:spcBef>
              <a:spcAft>
                <a:spcPts val="600"/>
              </a:spcAft>
            </a:pPr>
            <a:r>
              <a:rPr sz="1250" b="0" i="0">
                <a:solidFill>
                  <a:srgbClr val="F6E6E9"/>
                </a:solidFill>
                <a:latin typeface="Source Sans 3"/>
              </a:rPr>
              <a:t>Reading the answer</a:t>
            </a:r>
          </a:p>
          <a:p>
            <a:pPr>
              <a:lnSpc>
                <a:spcPct val="115000"/>
              </a:lnSpc>
              <a:spcBef>
                <a:spcPts val="0"/>
              </a:spcBef>
              <a:spcAft>
                <a:spcPts val="600"/>
              </a:spcAft>
            </a:pPr>
            <a:r>
              <a:rPr sz="1250" b="0" i="0">
                <a:solidFill>
                  <a:srgbClr val="F6E6E9"/>
                </a:solidFill>
                <a:latin typeface="Source Sans 3"/>
              </a:rPr>
              <a:t>Subscribing to the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REGISTER</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CREATE CONTINUOUS QUERY: a name, a key, a retention</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394561"/>
            <a:ext cx="5454844" cy="24470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5720" cy="24470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95729"/>
            <a:ext cx="5052508" cy="204469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CREATE CONTINUOUS QUERY hourly_spend</a:t>
            </a:r>
          </a:p>
          <a:p>
            <a:pPr>
              <a:lnSpc>
                <a:spcPct val="100000"/>
              </a:lnSpc>
              <a:spcBef>
                <a:spcPts val="0"/>
              </a:spcBef>
              <a:spcAft>
                <a:spcPts val="0"/>
              </a:spcAft>
            </a:pPr>
            <a:r>
              <a:rPr sz="1250" b="0" i="0">
                <a:solidFill>
                  <a:srgbClr val="F1EEE9"/>
                </a:solidFill>
                <a:latin typeface="Consolas"/>
              </a:rPr>
              <a:t>    KEYED BY (user_id, window_end)</a:t>
            </a:r>
          </a:p>
          <a:p>
            <a:pPr>
              <a:lnSpc>
                <a:spcPct val="100000"/>
              </a:lnSpc>
              <a:spcBef>
                <a:spcPts val="0"/>
              </a:spcBef>
              <a:spcAft>
                <a:spcPts val="0"/>
              </a:spcAft>
            </a:pPr>
            <a:r>
              <a:rPr sz="1250" b="0" i="0">
                <a:solidFill>
                  <a:srgbClr val="F1EEE9"/>
                </a:solidFill>
                <a:latin typeface="Consolas"/>
              </a:rPr>
              <a:t>    RETAIN FOR P7D</a:t>
            </a:r>
          </a:p>
          <a:p>
            <a:pPr>
              <a:lnSpc>
                <a:spcPct val="100000"/>
              </a:lnSpc>
              <a:spcBef>
                <a:spcPts val="0"/>
              </a:spcBef>
              <a:spcAft>
                <a:spcPts val="0"/>
              </a:spcAft>
            </a:pPr>
            <a:r>
              <a:rPr sz="1250" b="0" i="0">
                <a:solidFill>
                  <a:srgbClr val="F1EEE9"/>
                </a:solidFill>
                <a:latin typeface="Consolas"/>
              </a:rPr>
              <a:t>AS</a:t>
            </a:r>
          </a:p>
          <a:p>
            <a:pPr>
              <a:lnSpc>
                <a:spcPct val="100000"/>
              </a:lnSpc>
              <a:spcBef>
                <a:spcPts val="0"/>
              </a:spcBef>
              <a:spcAft>
                <a:spcPts val="0"/>
              </a:spcAft>
            </a:pPr>
            <a:r>
              <a:rPr sz="1250" b="0" i="0">
                <a:solidFill>
                  <a:srgbClr val="F1EEE9"/>
                </a:solidFill>
                <a:latin typeface="Consolas"/>
              </a:rPr>
              <a:t>SELECT user_id,</a:t>
            </a:r>
          </a:p>
          <a:p>
            <a:pPr>
              <a:lnSpc>
                <a:spcPct val="100000"/>
              </a:lnSpc>
              <a:spcBef>
                <a:spcPts val="0"/>
              </a:spcBef>
              <a:spcAft>
                <a:spcPts val="0"/>
              </a:spcAft>
            </a:pPr>
            <a:r>
              <a:rPr sz="1250" b="0" i="0">
                <a:solidFill>
                  <a:srgbClr val="F1EEE9"/>
                </a:solidFill>
                <a:latin typeface="Consolas"/>
              </a:rPr>
              <a:t>       window_end,</a:t>
            </a:r>
          </a:p>
          <a:p>
            <a:pPr>
              <a:lnSpc>
                <a:spcPct val="100000"/>
              </a:lnSpc>
              <a:spcBef>
                <a:spcPts val="0"/>
              </a:spcBef>
              <a:spcAft>
                <a:spcPts val="0"/>
              </a:spcAft>
            </a:pPr>
            <a:r>
              <a:rPr sz="1250" b="0" i="0">
                <a:solidFill>
                  <a:srgbClr val="F1EEE9"/>
                </a:solidFill>
                <a:latin typeface="Consolas"/>
              </a:rPr>
              <a:t>       SUM(amount) AS spend</a:t>
            </a:r>
          </a:p>
          <a:p>
            <a:pPr>
              <a:lnSpc>
                <a:spcPct val="100000"/>
              </a:lnSpc>
              <a:spcBef>
                <a:spcPts val="0"/>
              </a:spcBef>
              <a:spcAft>
                <a:spcPts val="0"/>
              </a:spcAft>
            </a:pPr>
            <a:r>
              <a:rPr sz="1250" b="0" i="0">
                <a:solidFill>
                  <a:srgbClr val="F1EEE9"/>
                </a:solidFill>
                <a:latin typeface="Consolas"/>
              </a:rPr>
              <a:t>FROM TABLE(TUMBLE(TABLE txn,</a:t>
            </a:r>
          </a:p>
          <a:p>
            <a:pPr>
              <a:lnSpc>
                <a:spcPct val="100000"/>
              </a:lnSpc>
              <a:spcBef>
                <a:spcPts val="0"/>
              </a:spcBef>
              <a:spcAft>
                <a:spcPts val="0"/>
              </a:spcAft>
            </a:pPr>
            <a:r>
              <a:rPr sz="1250" b="0" i="0">
                <a:solidFill>
                  <a:srgbClr val="F1EEE9"/>
                </a:solidFill>
                <a:latin typeface="Consolas"/>
              </a:rPr>
              <a:t>     DESCRIPTOR(event_time), INTERVAL '1' HOUR))</a:t>
            </a:r>
          </a:p>
          <a:p>
            <a:pPr>
              <a:lnSpc>
                <a:spcPct val="100000"/>
              </a:lnSpc>
              <a:spcBef>
                <a:spcPts val="0"/>
              </a:spcBef>
              <a:spcAft>
                <a:spcPts val="0"/>
              </a:spcAft>
            </a:pPr>
            <a:r>
              <a:rPr sz="1250" b="0" i="0">
                <a:solidFill>
                  <a:srgbClr val="F1EEE9"/>
                </a:solidFill>
                <a:latin typeface="Consolas"/>
              </a:rPr>
              <a:t>GROUP BY user_id, window_start, window_end;</a:t>
            </a:r>
          </a:p>
        </p:txBody>
      </p:sp>
      <p:sp>
        <p:nvSpPr>
          <p:cNvPr id="13" name="TextBox 12"/>
          <p:cNvSpPr txBox="1"/>
          <p:nvPr/>
        </p:nvSpPr>
        <p:spPr>
          <a:xfrm>
            <a:off x="6597844" y="1394561"/>
            <a:ext cx="4816611" cy="485079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KEYED BY decides what a row replaces</a:t>
            </a:r>
          </a:p>
          <a:p>
            <a:pPr lvl="1">
              <a:lnSpc>
                <a:spcPct val="120000"/>
              </a:lnSpc>
              <a:spcBef>
                <a:spcPts val="0"/>
              </a:spcBef>
              <a:spcAft>
                <a:spcPts val="0"/>
              </a:spcAft>
            </a:pPr>
            <a:r>
              <a:rPr sz="1450" b="0">
                <a:solidFill>
                  <a:srgbClr val="4A5058"/>
                </a:solidFill>
                <a:latin typeface="Source Sans 3"/>
              </a:rPr>
              <a:t>A second row with the same key supersedes the first. Given by column name, resolved by planning the SELECT; part of the query's identity.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RETAIN FOR: event time the view keeps</a:t>
            </a:r>
          </a:p>
          <a:p>
            <a:pPr lvl="1">
              <a:lnSpc>
                <a:spcPct val="120000"/>
              </a:lnSpc>
              <a:spcBef>
                <a:spcPts val="0"/>
              </a:spcBef>
              <a:spcAft>
                <a:spcPts val="0"/>
              </a:spcAft>
            </a:pPr>
            <a:r>
              <a:rPr sz="1450" b="0">
                <a:solidFill>
                  <a:srgbClr val="4A5058"/>
                </a:solidFill>
                <a:latin typeface="Source Sans 3"/>
              </a:rPr>
              <a:t>Left out, the view keeps forever. Also part of the fingerprint, and journalled.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From anywhere SQL arrives</a:t>
            </a:r>
          </a:p>
          <a:p>
            <a:pPr lvl="1">
              <a:lnSpc>
                <a:spcPct val="120000"/>
              </a:lnSpc>
              <a:spcBef>
                <a:spcPts val="0"/>
              </a:spcBef>
              <a:spcAft>
                <a:spcPts val="0"/>
              </a:spcAft>
            </a:pPr>
            <a:r>
              <a:rPr sz="1450" b="0">
                <a:solidFill>
                  <a:srgbClr val="4A5058"/>
                </a:solidFill>
                <a:latin typeface="Source Sans 3"/>
              </a:rPr>
              <a:t>Any Flight SQL client, the CLI, an SDK, the console, the embedded engine. SHOW, PAUSE, RESUME and DROP CONTINUOUS QUERY manage what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HAPPENS AT REGISTRATION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Plan once, fingerprint, share or place, then serve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Rectangle 9"/>
          <p:cNvSpPr/>
          <p:nvPr/>
        </p:nvSpPr>
        <p:spPr>
          <a:xfrm>
            <a:off x="777240"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Parse, validate</a:t>
            </a:r>
          </a:p>
        </p:txBody>
      </p:sp>
      <p:sp>
        <p:nvSpPr>
          <p:cNvPr id="13" name="TextBox 12"/>
          <p:cNvSpPr txBox="1"/>
          <p:nvPr/>
        </p:nvSpPr>
        <p:spPr>
          <a:xfrm>
            <a:off x="960120"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Against the declared streams, by Calcite</a:t>
            </a:r>
          </a:p>
        </p:txBody>
      </p:sp>
      <p:sp>
        <p:nvSpPr>
          <p:cNvPr id="14" name="Rectangle 13"/>
          <p:cNvSpPr/>
          <p:nvPr/>
        </p:nvSpPr>
        <p:spPr>
          <a:xfrm>
            <a:off x="2959547"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Check sources and sink</a:t>
            </a:r>
          </a:p>
        </p:txBody>
      </p:sp>
      <p:sp>
        <p:nvSpPr>
          <p:cNvPr id="17" name="TextBox 16"/>
          <p:cNvSpPr txBox="1"/>
          <p:nvPr/>
        </p:nvSpPr>
        <p:spPr>
          <a:xfrm>
            <a:off x="3142427" y="2157679"/>
            <a:ext cx="1542227" cy="86258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Does a source repeat rows? Can the sink take this changelog?</a:t>
            </a:r>
          </a:p>
        </p:txBody>
      </p:sp>
      <p:cxnSp>
        <p:nvCxnSpPr>
          <p:cNvPr id="18" name="Connector 17"/>
          <p:cNvCxnSpPr/>
          <p:nvPr/>
        </p:nvCxnSpPr>
        <p:spPr>
          <a:xfrm>
            <a:off x="2721803"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and fingerprint</a:t>
            </a:r>
          </a:p>
        </p:txBody>
      </p:sp>
      <p:sp>
        <p:nvSpPr>
          <p:cNvPr id="22" name="TextBox 21"/>
          <p:cNvSpPr txBox="1"/>
          <p:nvPr/>
        </p:nvSpPr>
        <p:spPr>
          <a:xfrm>
            <a:off x="5324734"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Plan, row filters, key columns, retention — and the tenant</a:t>
            </a:r>
          </a:p>
        </p:txBody>
      </p:sp>
      <p:cxnSp>
        <p:nvCxnSpPr>
          <p:cNvPr id="23" name="Connector 22"/>
          <p:cNvCxnSpPr/>
          <p:nvPr/>
        </p:nvCxnSpPr>
        <p:spPr>
          <a:xfrm>
            <a:off x="4904110"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Share or place</a:t>
            </a:r>
          </a:p>
        </p:txBody>
      </p:sp>
      <p:sp>
        <p:nvSpPr>
          <p:cNvPr id="27" name="TextBox 26"/>
          <p:cNvSpPr txBox="1"/>
          <p:nvPr/>
        </p:nvSpPr>
        <p:spPr>
          <a:xfrm>
            <a:off x="7507041"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Same fingerprint running: join it. Otherwise a lane and a feed</a:t>
            </a:r>
          </a:p>
        </p:txBody>
      </p:sp>
      <p:cxnSp>
        <p:nvCxnSpPr>
          <p:cNvPr id="28" name="Connector 27"/>
          <p:cNvCxnSpPr/>
          <p:nvPr/>
        </p:nvCxnSpPr>
        <p:spPr>
          <a:xfrm>
            <a:off x="7086417"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 the view</a:t>
            </a:r>
          </a:p>
        </p:txBody>
      </p:sp>
      <p:sp>
        <p:nvSpPr>
          <p:cNvPr id="32" name="TextBox 31"/>
          <p:cNvSpPr txBox="1"/>
          <p:nvPr/>
        </p:nvSpPr>
        <p:spPr>
          <a:xfrm>
            <a:off x="9689348"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In the catalogue; readable at once</a:t>
            </a:r>
          </a:p>
        </p:txBody>
      </p:sp>
      <p:cxnSp>
        <p:nvCxnSpPr>
          <p:cNvPr id="33" name="Connector 32"/>
          <p:cNvCxnSpPr/>
          <p:nvPr/>
        </p:nvCxnSpPr>
        <p:spPr>
          <a:xfrm>
            <a:off x="9268724"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8591"/>
            <a:ext cx="10637215" cy="288676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Why a thousand dashboards cost one computation</a:t>
            </a:r>
          </a:p>
          <a:p>
            <a:pPr lvl="1">
              <a:lnSpc>
                <a:spcPct val="120000"/>
              </a:lnSpc>
              <a:spcBef>
                <a:spcPts val="0"/>
              </a:spcBef>
              <a:spcAft>
                <a:spcPts val="0"/>
              </a:spcAft>
            </a:pPr>
            <a:r>
              <a:rPr sz="1450" b="0">
                <a:solidFill>
                  <a:srgbClr val="4A5058"/>
                </a:solidFill>
                <a:latin typeface="Source Sans 3"/>
              </a:rPr>
              <a:t>Identical fingerprints share one computation under many names. The match is on the normalised plan, so whitespace and aliases do not matter — operand order does.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Released only by its last name</a:t>
            </a:r>
          </a:p>
          <a:p>
            <a:pPr lvl="1">
              <a:lnSpc>
                <a:spcPct val="120000"/>
              </a:lnSpc>
              <a:spcBef>
                <a:spcPts val="0"/>
              </a:spcBef>
              <a:spcAft>
                <a:spcPts val="0"/>
              </a:spcAft>
            </a:pPr>
            <a:r>
              <a:rPr sz="1450" b="0">
                <a:solidFill>
                  <a:srgbClr val="4A5058"/>
                </a:solidFill>
                <a:latin typeface="Source Sans 3"/>
              </a:rPr>
              <a:t>Neither registrant knows the other exists, so dropping eagerly would be an outage caused by somebody tidying up their own query.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REFUSED BY NAME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cannot work is refused at registration, before anything opens</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refusal names the setting to change. A query that could never answer is not allowed to report RUNNING with an empty view.</a:t>
            </a:r>
          </a:p>
        </p:txBody>
      </p:sp>
      <p:graphicFrame>
        <p:nvGraphicFramePr>
          <p:cNvPr id="12" name="Table 11"/>
          <p:cNvGraphicFramePr>
            <a:graphicFrameLocks noGrp="1"/>
          </p:cNvGraphicFramePr>
          <p:nvPr/>
        </p:nvGraphicFramePr>
        <p:xfrm>
          <a:off x="777240" y="1296416"/>
          <a:ext cx="10637213" cy="4067550"/>
        </p:xfrm>
        <a:graphic>
          <a:graphicData uri="http://schemas.openxmlformats.org/drawingml/2006/table">
            <a:tbl>
              <a:tblPr firstRow="1">
                <a:tableStyleId>{5C22544A-7EE6-4342-B048-85BDC9FD1C3A}</a:tableStyleId>
              </a:tblPr>
              <a:tblGrid>
                <a:gridCol w="1806319"/>
                <a:gridCol w="4415447"/>
                <a:gridCol w="4415447"/>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Refuses</a:t>
                      </a:r>
                    </a:p>
                  </a:txBody>
                  <a:tcPr marL="82296" marR="64008" marT="32004" marB="32004" anchor="ctr">
                    <a:solidFill>
                      <a:srgbClr val="8A1626"/>
                    </a:solidFill>
                  </a:tcPr>
                </a:tc>
                <a:tc>
                  <a:txBody>
                    <a:bodyPr wrap="square"/>
                    <a:lstStyle/>
                    <a:p>
                      <a:r>
                        <a:rPr sz="1300" b="1">
                          <a:solidFill>
                            <a:srgbClr val="FFFFFF"/>
                          </a:solidFill>
                          <a:latin typeface="Source Sans 3"/>
                        </a:rPr>
                        <a:t>Because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PRV-2002</a:t>
                      </a:r>
                    </a:p>
                  </a:txBody>
                  <a:tcPr marL="82296" marR="64008" marT="32004" marB="32004" anchor="ctr">
                    <a:solidFill>
                      <a:srgbClr val="FFFFFF"/>
                    </a:solidFill>
                  </a:tcPr>
                </a:tc>
                <a:tc>
                  <a:txBody>
                    <a:bodyPr wrap="square"/>
                    <a:lstStyle/>
                    <a:p>
                      <a:r>
                        <a:rPr sz="1400" b="0">
                          <a:solidFill>
                            <a:srgbClr val="1A1A1A"/>
                          </a:solidFill>
                          <a:latin typeface="Source Sans 3"/>
                        </a:rPr>
                        <a:t>A windowed query over a stream with no event-time column</a:t>
                      </a:r>
                    </a:p>
                  </a:txBody>
                  <a:tcPr marL="82296" marR="64008" marT="32004" marB="32004" anchor="ctr">
                    <a:solidFill>
                      <a:srgbClr val="FFFFFF"/>
                    </a:solidFill>
                  </a:tcPr>
                </a:tc>
                <a:tc>
                  <a:txBody>
                    <a:bodyPr wrap="square"/>
                    <a:lstStyle/>
                    <a:p>
                      <a:r>
                        <a:rPr sz="1400" b="0">
                          <a:solidFill>
                            <a:srgbClr val="1A1A1A"/>
                          </a:solidFill>
                          <a:latin typeface="Source Sans 3"/>
                        </a:rPr>
                        <a:t>No watermark would advance, so no window could ever close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PRV-2050</a:t>
                      </a:r>
                    </a:p>
                  </a:txBody>
                  <a:tcPr marL="82296" marR="64008" marT="32004" marB="32004" anchor="ctr">
                    <a:solidFill>
                      <a:srgbClr val="F7F5F2"/>
                    </a:solidFill>
                  </a:tcPr>
                </a:tc>
                <a:tc>
                  <a:txBody>
                    <a:bodyPr wrap="square"/>
                    <a:lstStyle/>
                    <a:p>
                      <a:r>
                        <a:rPr sz="1400" b="0">
                          <a:solidFill>
                            <a:srgbClr val="1A1A1A"/>
                          </a:solidFill>
                          <a:latin typeface="Source Sans 3"/>
                        </a:rPr>
                        <a:t>GROUP BY a key with no window</a:t>
                      </a:r>
                    </a:p>
                  </a:txBody>
                  <a:tcPr marL="82296" marR="64008" marT="32004" marB="32004" anchor="ctr">
                    <a:solidFill>
                      <a:srgbClr val="F7F5F2"/>
                    </a:solidFill>
                  </a:tcPr>
                </a:tc>
                <a:tc>
                  <a:txBody>
                    <a:bodyPr wrap="square"/>
                    <a:lstStyle/>
                    <a:p>
                      <a:r>
                        <a:rPr sz="1400" b="0">
                          <a:solidFill>
                            <a:srgbClr val="1A1A1A"/>
                          </a:solidFill>
                          <a:latin typeface="Source Sans 3"/>
                        </a:rPr>
                        <a:t>One accumulator per key for ever: unbounded state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PRV-2042</a:t>
                      </a:r>
                    </a:p>
                  </a:txBody>
                  <a:tcPr marL="82296" marR="64008" marT="32004" marB="32004" anchor="ctr">
                    <a:solidFill>
                      <a:srgbClr val="FFFFFF"/>
                    </a:solidFill>
                  </a:tcPr>
                </a:tc>
                <a:tc>
                  <a:txBody>
                    <a:bodyPr wrap="square"/>
                    <a:lstStyle/>
                    <a:p>
                      <a:r>
                        <a:rPr sz="1400" b="0">
                          <a:solidFill>
                            <a:srgbClr val="1A1A1A"/>
                          </a:solidFill>
                          <a:latin typeface="Source Sans 3"/>
                        </a:rPr>
                        <a:t>An aggregate or join over a source that repeats rows</a:t>
                      </a:r>
                    </a:p>
                  </a:txBody>
                  <a:tcPr marL="82296" marR="64008" marT="32004" marB="32004" anchor="ctr">
                    <a:solidFill>
                      <a:srgbClr val="FFFFFF"/>
                    </a:solidFill>
                  </a:tcPr>
                </a:tc>
                <a:tc>
                  <a:txBody>
                    <a:bodyPr wrap="square"/>
                    <a:lstStyle/>
                    <a:p>
                      <a:r>
                        <a:rPr sz="1400" b="0">
                          <a:solidFill>
                            <a:srgbClr val="1A1A1A"/>
                          </a:solidFill>
                          <a:latin typeface="Source Sans 3"/>
                        </a:rPr>
                        <a:t>It would count a re-read record twice; the fix is deletes: detect</a:t>
                      </a:r>
                    </a:p>
                  </a:txBody>
                  <a:tcPr marL="82296" marR="64008" marT="32004" marB="32004" anchor="ctr">
                    <a:solidFill>
                      <a:srgbClr val="FFFFFF"/>
                    </a:solidFill>
                  </a:tcPr>
                </a:tc>
              </a:tr>
              <a:tr h="338734">
                <a:tc>
                  <a:txBody>
                    <a:bodyPr wrap="square"/>
                    <a:lstStyle/>
                    <a:p>
                      <a:r>
                        <a:rPr sz="1400" b="1">
                          <a:solidFill>
                            <a:srgbClr val="8A1626"/>
                          </a:solidFill>
                          <a:latin typeface="Source Sans 3"/>
                        </a:rPr>
                        <a:t>PRV-2041</a:t>
                      </a:r>
                    </a:p>
                  </a:txBody>
                  <a:tcPr marL="82296" marR="64008" marT="32004" marB="32004" anchor="ctr">
                    <a:solidFill>
                      <a:srgbClr val="F7F5F2"/>
                    </a:solidFill>
                  </a:tcPr>
                </a:tc>
                <a:tc>
                  <a:txBody>
                    <a:bodyPr wrap="square"/>
                    <a:lstStyle/>
                    <a:p>
                      <a:r>
                        <a:rPr sz="1400" b="0">
                          <a:solidFill>
                            <a:srgbClr val="1A1A1A"/>
                          </a:solidFill>
                          <a:latin typeface="Source Sans 3"/>
                        </a:rPr>
                        <a:t>A revising query into an append-only sink</a:t>
                      </a:r>
                    </a:p>
                  </a:txBody>
                  <a:tcPr marL="82296" marR="64008" marT="32004" marB="32004" anchor="ctr">
                    <a:solidFill>
                      <a:srgbClr val="F7F5F2"/>
                    </a:solidFill>
                  </a:tcPr>
                </a:tc>
                <a:tc>
                  <a:txBody>
                    <a:bodyPr wrap="square"/>
                    <a:lstStyle/>
                    <a:p>
                      <a:r>
                        <a:rPr sz="1400" b="0">
                          <a:solidFill>
                            <a:srgbClr val="1A1A1A"/>
                          </a:solidFill>
                          <a:latin typeface="Source Sans 3"/>
                        </a:rPr>
                        <a:t>The sink cannot take a retraction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PRV-8010</a:t>
                      </a:r>
                    </a:p>
                  </a:txBody>
                  <a:tcPr marL="82296" marR="64008" marT="32004" marB="32004" anchor="ctr">
                    <a:solidFill>
                      <a:srgbClr val="FFFFFF"/>
                    </a:solidFill>
                  </a:tcPr>
                </a:tc>
                <a:tc>
                  <a:txBody>
                    <a:bodyPr wrap="square"/>
                    <a:lstStyle/>
                    <a:p>
                      <a:r>
                        <a:rPr sz="1400" b="0">
                          <a:solidFill>
                            <a:srgbClr val="1A1A1A"/>
                          </a:solidFill>
                          <a:latin typeface="Source Sans 3"/>
                        </a:rPr>
                        <a:t>A sink whose columns or key differ from the query's</a:t>
                      </a:r>
                    </a:p>
                  </a:txBody>
                  <a:tcPr marL="82296" marR="64008" marT="32004" marB="32004" anchor="ctr">
                    <a:solidFill>
                      <a:srgbClr val="FFFFFF"/>
                    </a:solidFill>
                  </a:tcPr>
                </a:tc>
                <a:tc>
                  <a:txBody>
                    <a:bodyPr wrap="square"/>
                    <a:lstStyle/>
                    <a:p>
                      <a:r>
                        <a:rPr sz="1400" b="0">
                          <a:solidFill>
                            <a:srgbClr val="1A1A1A"/>
                          </a:solidFill>
                          <a:latin typeface="Source Sans 3"/>
                        </a:rPr>
                        <a:t>Checked against the sink's declared schema() and keyColumns()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PRV-2020</a:t>
                      </a:r>
                    </a:p>
                  </a:txBody>
                  <a:tcPr marL="82296" marR="64008" marT="32004" marB="32004" anchor="ctr">
                    <a:solidFill>
                      <a:srgbClr val="F7F5F2"/>
                    </a:solidFill>
                  </a:tcPr>
                </a:tc>
                <a:tc>
                  <a:txBody>
                    <a:bodyPr wrap="square"/>
                    <a:lstStyle/>
                    <a:p>
                      <a:r>
                        <a:rPr sz="1400" b="0">
                          <a:solidFill>
                            <a:srgbClr val="1A1A1A"/>
                          </a:solidFill>
                          <a:latin typeface="Source Sans 3"/>
                        </a:rPr>
                        <a:t>Session windows</a:t>
                      </a:r>
                    </a:p>
                  </a:txBody>
                  <a:tcPr marL="82296" marR="64008" marT="32004" marB="32004" anchor="ctr">
                    <a:solidFill>
                      <a:srgbClr val="F7F5F2"/>
                    </a:solidFill>
                  </a:tcPr>
                </a:tc>
                <a:tc>
                  <a:txBody>
                    <a:bodyPr wrap="square"/>
                    <a:lstStyle/>
                    <a:p>
                      <a:r>
                        <a:rPr sz="1400" b="0">
                          <a:solidFill>
                            <a:srgbClr val="1A1A1A"/>
                          </a:solidFill>
                          <a:latin typeface="Source Sans 3"/>
                        </a:rPr>
                        <a:t>Not built; tumbling and hopping windows are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PRV-8020 · 8021</a:t>
                      </a:r>
                    </a:p>
                  </a:txBody>
                  <a:tcPr marL="82296" marR="64008" marT="32004" marB="32004" anchor="ctr">
                    <a:solidFill>
                      <a:srgbClr val="FFFFFF"/>
                    </a:solidFill>
                  </a:tcPr>
                </a:tc>
                <a:tc>
                  <a:txBody>
                    <a:bodyPr wrap="square"/>
                    <a:lstStyle/>
                    <a:p>
                      <a:r>
                        <a:rPr sz="1400" b="0">
                          <a:solidFill>
                            <a:srgbClr val="1A1A1A"/>
                          </a:solidFill>
                          <a:latin typeface="Source Sans 3"/>
                        </a:rPr>
                        <a:t>A registration over its tenant's query or state quota</a:t>
                      </a:r>
                    </a:p>
                  </a:txBody>
                  <a:tcPr marL="82296" marR="64008" marT="32004" marB="32004" anchor="ctr">
                    <a:solidFill>
                      <a:srgbClr val="FFFFFF"/>
                    </a:solidFill>
                  </a:tcPr>
                </a:tc>
                <a:tc>
                  <a:txBody>
                    <a:bodyPr wrap="square"/>
                    <a:lstStyle/>
                    <a:p>
                      <a:r>
                        <a:rPr sz="1400" b="0">
                          <a:solidFill>
                            <a:srgbClr val="1A1A1A"/>
                          </a:solidFill>
                          <a:latin typeface="Source Sans 3"/>
                        </a:rPr>
                        <a:t>Admission is decided before a sink opens or a feed starts</a:t>
                      </a:r>
                    </a:p>
                  </a:txBody>
                  <a:tcPr marL="82296" marR="64008" marT="32004" marB="32004"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Reading the answer is ordinary SQL over the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1410919"/>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Java SDK</a:t>
            </a:r>
          </a:p>
          <a:p>
            <a:pPr>
              <a:lnSpc>
                <a:spcPct val="100000"/>
              </a:lnSpc>
              <a:spcBef>
                <a:spcPts val="0"/>
              </a:spcBef>
              <a:spcAft>
                <a:spcPts val="0"/>
              </a:spcAft>
            </a:pPr>
            <a:r>
              <a:rPr sz="1300" b="0" i="0">
                <a:solidFill>
                  <a:srgbClr val="F1EEE9"/>
                </a:solidFill>
                <a:latin typeface="Consolas"/>
              </a:rPr>
              <a:t>try (QueryResult result =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 WHERE user_id = ?", "u42")) {</a:t>
            </a:r>
          </a:p>
          <a:p>
            <a:pPr>
              <a:lnSpc>
                <a:spcPct val="100000"/>
              </a:lnSpc>
              <a:spcBef>
                <a:spcPts val="0"/>
              </a:spcBef>
              <a:spcAft>
                <a:spcPts val="0"/>
              </a:spcAft>
            </a:pPr>
            <a:r>
              <a:rPr sz="1300" b="0" i="0">
                <a:solidFill>
                  <a:srgbClr val="F1EEE9"/>
                </a:solidFill>
                <a:latin typeface="Consolas"/>
              </a:rPr>
              <a:t>  for (Row row : result) {</a:t>
            </a:r>
          </a:p>
          <a:p>
            <a:pPr>
              <a:lnSpc>
                <a:spcPct val="100000"/>
              </a:lnSpc>
              <a:spcBef>
                <a:spcPts val="0"/>
              </a:spcBef>
              <a:spcAft>
                <a:spcPts val="0"/>
              </a:spcAft>
            </a:pPr>
            <a:r>
              <a:rPr sz="1300" b="0" i="0">
                <a:solidFill>
                  <a:srgbClr val="F1EEE9"/>
                </a:solidFill>
                <a:latin typeface="Consolas"/>
              </a:rPr>
              <a:t>    long volume = row.getLong("total_volume");</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Python SDK, against the same engine</a:t>
            </a:r>
          </a:p>
          <a:p>
            <a:pPr>
              <a:lnSpc>
                <a:spcPct val="100000"/>
              </a:lnSpc>
              <a:spcBef>
                <a:spcPts val="0"/>
              </a:spcBef>
              <a:spcAft>
                <a:spcPts val="0"/>
              </a:spcAft>
            </a:pPr>
            <a:r>
              <a:rPr sz="1300" b="0" i="0">
                <a:solidFill>
                  <a:srgbClr val="F1EEE9"/>
                </a:solidFill>
                <a:latin typeface="Consolas"/>
              </a:rPr>
              <a:t>for row in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WHERE user_id = ?", "u42"):</a:t>
            </a:r>
          </a:p>
          <a:p>
            <a:pPr>
              <a:lnSpc>
                <a:spcPct val="100000"/>
              </a:lnSpc>
              <a:spcBef>
                <a:spcPts val="0"/>
              </a:spcBef>
              <a:spcAft>
                <a:spcPts val="0"/>
              </a:spcAft>
            </a:pPr>
            <a:r>
              <a:rPr sz="1300" b="0" i="0">
                <a:solidFill>
                  <a:srgbClr val="F1EEE9"/>
                </a:solidFill>
                <a:latin typeface="Consolas"/>
              </a:rPr>
              <a:t>    volume = row["total_volume"]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same planner and operators</a:t>
            </a:r>
          </a:p>
          <a:p>
            <a:pPr lvl="1">
              <a:lnSpc>
                <a:spcPct val="120000"/>
              </a:lnSpc>
              <a:spcBef>
                <a:spcPts val="0"/>
              </a:spcBef>
              <a:spcAft>
                <a:spcPts val="0"/>
              </a:spcAft>
            </a:pPr>
            <a:r>
              <a:rPr sz="1450" b="0">
                <a:solidFill>
                  <a:srgbClr val="4A5058"/>
                </a:solidFill>
                <a:latin typeface="Source Sans 3"/>
              </a:rPr>
              <a:t>A read is planned by the planner a continuous query uses, so a WHERE means exactly what it means there rather than nearly. A lookup by key is a hash probe.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Arrow Flight SQL</a:t>
            </a:r>
          </a:p>
          <a:p>
            <a:pPr lvl="1">
              <a:lnSpc>
                <a:spcPct val="120000"/>
              </a:lnSpc>
              <a:spcBef>
                <a:spcPts val="0"/>
              </a:spcBef>
              <a:spcAft>
                <a:spcPts val="0"/>
              </a:spcAft>
            </a:pPr>
            <a:r>
              <a:rPr sz="1450" b="0">
                <a:solidFill>
                  <a:srgbClr val="4A5058"/>
                </a:solidFill>
                <a:latin typeface="Source Sans 3"/>
              </a:rPr>
              <a:t>The Java and Python SDKs, the CLI and the console.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the PostgreSQL wire protocol</a:t>
            </a:r>
          </a:p>
          <a:p>
            <a:pPr lvl="1">
              <a:lnSpc>
                <a:spcPct val="120000"/>
              </a:lnSpc>
              <a:spcBef>
                <a:spcPts val="0"/>
              </a:spcBef>
              <a:spcAft>
                <a:spcPts val="0"/>
              </a:spcAft>
            </a:pPr>
            <a:r>
              <a:rPr sz="1450" b="0">
                <a:solidFill>
                  <a:srgbClr val="4A5058"/>
                </a:solidFill>
                <a:latin typeface="Source Sans 3"/>
              </a:rPr>
              <a:t>Off by default (pravaha.pgwire.enabled): psql, DBeaver, Grafana and any Postgres driver can read a view, with TLS.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SUBSCRIBE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subscriber follows the view commit by commit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From a snapshot, with nothing lost between</a:t>
            </a:r>
          </a:p>
          <a:p>
            <a:pPr lvl="1">
              <a:lnSpc>
                <a:spcPct val="120000"/>
              </a:lnSpc>
              <a:spcBef>
                <a:spcPts val="0"/>
              </a:spcBef>
              <a:spcAft>
                <a:spcPts val="0"/>
              </a:spcAft>
            </a:pPr>
            <a:r>
              <a:rPr sz="1550" b="0">
                <a:solidFill>
                  <a:srgbClr val="4A5058"/>
                </a:solidFill>
                <a:latin typeface="Source Sans 3"/>
              </a:rPr>
              <a:t>The first batch is the view as a commit left it; every batch after is a later commit, whole and in order. Applying the snapshot, then each commit by weight, gives the view.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Registration and subscription are separate</a:t>
            </a:r>
          </a:p>
          <a:p>
            <a:pPr lvl="1">
              <a:lnSpc>
                <a:spcPct val="120000"/>
              </a:lnSpc>
              <a:spcBef>
                <a:spcPts val="0"/>
              </a:spcBef>
              <a:spcAft>
                <a:spcPts val="0"/>
              </a:spcAft>
            </a:pPr>
            <a:r>
              <a:rPr sz="1550" b="0">
                <a:solidFill>
                  <a:srgbClr val="4A5058"/>
                </a:solidFill>
                <a:latin typeface="Source Sans 3"/>
              </a:rPr>
              <a:t>Many subscribers share one computation, which outlives them all: a reconnecting dashboard costs nothing. Each may tap its own filter — still one read, one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slow subscriber never blocks the engine</a:t>
            </a:r>
          </a:p>
          <a:p>
            <a:pPr lvl="1">
              <a:lnSpc>
                <a:spcPct val="120000"/>
              </a:lnSpc>
              <a:spcBef>
                <a:spcPts val="0"/>
              </a:spcBef>
              <a:spcAft>
                <a:spcPts val="0"/>
              </a:spcAft>
            </a:pPr>
            <a:r>
              <a:rPr sz="1550" b="0">
                <a:solidFill>
                  <a:srgbClr val="4A5058"/>
                </a:solidFill>
                <a:latin typeface="Source Sans 3"/>
              </a:rPr>
              <a:t>Its buffer is bounded and overflow is declared — CONFLATE, DROP_OLDEST or FAIL — and whatever is lost is counted, and reaches the client over Flight.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Its consumer runs on its own thread</a:t>
            </a:r>
          </a:p>
          <a:p>
            <a:pPr lvl="1">
              <a:lnSpc>
                <a:spcPct val="120000"/>
              </a:lnSpc>
              <a:spcBef>
                <a:spcPts val="0"/>
              </a:spcBef>
              <a:spcAft>
                <a:spcPts val="0"/>
              </a:spcAft>
            </a:pPr>
            <a:r>
              <a:rPr sz="1550" b="0">
                <a:solidFill>
                  <a:srgbClr val="4A5058"/>
                </a:solidFill>
                <a:latin typeface="Source Sans 3"/>
              </a:rPr>
              <a:t>A commit hands each subscriber the batch and returns; a slow consumer backs up its own buffer, not the feed's publish timer.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4</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Correctness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Exactly-once state, output cut at the same point, a weight on every change, and late data applied as a correction rather than dropped or double-counted — with each guarantee stated as narrowly as the engine can keep 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One checkpoint is one cut (ADR-008)</a:t>
            </a:r>
          </a:p>
          <a:p>
            <a:pPr>
              <a:lnSpc>
                <a:spcPct val="115000"/>
              </a:lnSpc>
              <a:spcBef>
                <a:spcPts val="0"/>
              </a:spcBef>
              <a:spcAft>
                <a:spcPts val="600"/>
              </a:spcAft>
            </a:pPr>
            <a:r>
              <a:rPr sz="1250" b="0" i="0">
                <a:solidFill>
                  <a:srgbClr val="F6E6E9"/>
                </a:solidFill>
                <a:latin typeface="Source Sans 3"/>
              </a:rPr>
              <a:t>Output cut at the same marker</a:t>
            </a:r>
          </a:p>
          <a:p>
            <a:pPr>
              <a:lnSpc>
                <a:spcPct val="115000"/>
              </a:lnSpc>
              <a:spcBef>
                <a:spcPts val="0"/>
              </a:spcBef>
              <a:spcAft>
                <a:spcPts val="600"/>
              </a:spcAft>
            </a:pPr>
            <a:r>
              <a:rPr sz="1250" b="0" i="0">
                <a:solidFill>
                  <a:srgbClr val="F6E6E9"/>
                </a:solidFill>
                <a:latin typeface="Source Sans 3"/>
              </a:rPr>
              <a:t>Recovery: what a restart gives back</a:t>
            </a:r>
          </a:p>
          <a:p>
            <a:pPr>
              <a:lnSpc>
                <a:spcPct val="115000"/>
              </a:lnSpc>
              <a:spcBef>
                <a:spcPts val="0"/>
              </a:spcBef>
              <a:spcAft>
                <a:spcPts val="600"/>
              </a:spcAft>
            </a:pPr>
            <a:r>
              <a:rPr sz="1250" b="0" i="0">
                <a:solidFill>
                  <a:srgbClr val="F6E6E9"/>
                </a:solidFill>
                <a:latin typeface="Source Sans 3"/>
              </a:rPr>
              <a:t>Weights and retractions</a:t>
            </a:r>
          </a:p>
          <a:p>
            <a:pPr>
              <a:lnSpc>
                <a:spcPct val="115000"/>
              </a:lnSpc>
              <a:spcBef>
                <a:spcPts val="0"/>
              </a:spcBef>
              <a:spcAft>
                <a:spcPts val="600"/>
              </a:spcAft>
            </a:pPr>
            <a:r>
              <a:rPr sz="1250" b="0" i="0">
                <a:solidFill>
                  <a:srgbClr val="F6E6E9"/>
                </a:solidFill>
                <a:latin typeface="Source Sans 3"/>
              </a:rPr>
              <a:t>Late data: two settings, two meanings</a:t>
            </a:r>
          </a:p>
          <a:p>
            <a:pPr>
              <a:lnSpc>
                <a:spcPct val="115000"/>
              </a:lnSpc>
              <a:spcBef>
                <a:spcPts val="0"/>
              </a:spcBef>
              <a:spcAft>
                <a:spcPts val="600"/>
              </a:spcAft>
            </a:pPr>
            <a:r>
              <a:rPr sz="1250" b="0" i="0">
                <a:solidFill>
                  <a:srgbClr val="F6E6E9"/>
                </a:solidFill>
                <a:latin typeface="Source Sans 3"/>
              </a:rPr>
              <a:t>Survival, and state that degrades</a:t>
            </a:r>
          </a:p>
          <a:p>
            <a:pPr>
              <a:lnSpc>
                <a:spcPct val="115000"/>
              </a:lnSpc>
              <a:spcBef>
                <a:spcPts val="0"/>
              </a:spcBef>
              <a:spcAft>
                <a:spcPts val="600"/>
              </a:spcAft>
            </a:pPr>
            <a:r>
              <a:rPr sz="1250" b="0" i="0">
                <a:solidFill>
                  <a:srgbClr val="F6E6E9"/>
                </a:solidFill>
                <a:latin typeface="Source Sans 3"/>
              </a:rPr>
              <a:t>A bound that changes the answer</a:t>
            </a:r>
          </a:p>
          <a:p>
            <a:pPr>
              <a:lnSpc>
                <a:spcPct val="115000"/>
              </a:lnSpc>
              <a:spcBef>
                <a:spcPts val="0"/>
              </a:spcBef>
              <a:spcAft>
                <a:spcPts val="600"/>
              </a:spcAft>
            </a:pPr>
            <a:r>
              <a:rPr sz="1250" b="0" i="0">
                <a:solidFill>
                  <a:srgbClr val="F6E6E9"/>
                </a:solidFill>
                <a:latin typeface="Source Sans 3"/>
              </a:rPr>
              <a:t>Answers SQL defines, and recovery that refuses aloud (2.0.1)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EXACTLY-ONCE STATE · ADR-008</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checkpoint is one cut across every input, not a snapshot per lane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Three separate defects each broke the promise before they were fixed. The fix for each is what the guarantee now rests 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AlignedCheckpointBarrierTest and ControlTaskBarrierTest hold all three, taking checkpoints with the sources still running.</a:t>
            </a:r>
          </a:p>
        </p:txBody>
      </p:sp>
      <p:sp>
        <p:nvSpPr>
          <p:cNvPr id="13" name="Rectangle 12"/>
          <p:cNvSpPr/>
          <p:nvPr/>
        </p:nvSpPr>
        <p:spPr>
          <a:xfrm>
            <a:off x="777240"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 · HOLD</a:t>
            </a:r>
          </a:p>
        </p:txBody>
      </p:sp>
      <p:sp>
        <p:nvSpPr>
          <p:cNvPr id="16" name="TextBox 15"/>
          <p:cNvSpPr txBox="1"/>
          <p:nvPr/>
        </p:nvSpPr>
        <p:spPr>
          <a:xfrm>
            <a:off x="960120"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Every source is held between rows for the cut</a:t>
            </a:r>
          </a:p>
        </p:txBody>
      </p:sp>
      <p:sp>
        <p:nvSpPr>
          <p:cNvPr id="17" name="TextBox 16"/>
          <p:cNvSpPr txBox="1"/>
          <p:nvPr/>
        </p:nvSpPr>
        <p:spPr>
          <a:xfrm>
            <a:off x="960120" y="2994355"/>
            <a:ext cx="3070250" cy="254873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Inside one freeze the engine reads every source's offset and hands every lane its marker, and only then waits. The offsets and the state name the same rows. Before, offsets were read after the snapshots and a restore skipped rows.</a:t>
            </a:r>
          </a:p>
        </p:txBody>
      </p:sp>
      <p:sp>
        <p:nvSpPr>
          <p:cNvPr id="18" name="Rectangle 17"/>
          <p:cNvSpPr/>
          <p:nvPr/>
        </p:nvSpPr>
        <p:spPr>
          <a:xfrm>
            <a:off x="4377842"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 · EXACT</a:t>
            </a:r>
          </a:p>
        </p:txBody>
      </p:sp>
      <p:sp>
        <p:nvSpPr>
          <p:cNvPr id="21" name="TextBox 20"/>
          <p:cNvSpPr txBox="1"/>
          <p:nvPr/>
        </p:nvSpPr>
        <p:spPr>
          <a:xfrm>
            <a:off x="4560722"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A marker is honoured exactly, not approximately</a:t>
            </a:r>
          </a:p>
        </p:txBody>
      </p:sp>
      <p:sp>
        <p:nvSpPr>
          <p:cNvPr id="22" name="TextBox 21"/>
          <p:cNvSpPr txBox="1"/>
          <p:nvPr/>
        </p:nvSpPr>
        <p:spPr>
          <a:xfrm>
            <a:off x="4560722" y="2961640"/>
            <a:ext cx="3070250" cy="25814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lane cuts its batch at the marker, so a snapshot holds the state at the position it names — not a batch's worth beyond it, which the recorded offset would replay.</a:t>
            </a:r>
          </a:p>
        </p:txBody>
      </p:sp>
      <p:sp>
        <p:nvSpPr>
          <p:cNvPr id="23" name="Rectangle 22"/>
          <p:cNvSpPr/>
          <p:nvPr/>
        </p:nvSpPr>
        <p:spPr>
          <a:xfrm>
            <a:off x="7978444"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 · EVERY</a:t>
            </a:r>
          </a:p>
        </p:txBody>
      </p:sp>
      <p:sp>
        <p:nvSpPr>
          <p:cNvPr id="26" name="TextBox 25"/>
          <p:cNvSpPr txBox="1"/>
          <p:nvPr/>
        </p:nvSpPr>
        <p:spPr>
          <a:xfrm>
            <a:off x="8161324"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 source's offset is recorded</a:t>
            </a:r>
          </a:p>
        </p:txBody>
      </p:sp>
      <p:sp>
        <p:nvSpPr>
          <p:cNvPr id="27" name="TextBox 26"/>
          <p:cNvSpPr txBox="1"/>
          <p:nvPr/>
        </p:nvSpPr>
        <p:spPr>
          <a:xfrm>
            <a:off x="8161324" y="3010712"/>
            <a:ext cx="3070250" cy="253238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Including a shuffling one: the pumps feeding a multi-lane query were missing from the offsets map, so such a checkpoint could not be rewound to at 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OUTPUT · ADR-008 AS AMENDED, ADR-043</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Output is cut at the same marker, and its guarantee is stated per sink</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sp>
        <p:nvSpPr>
          <p:cNvPr id="10" name="TextBox 9"/>
          <p:cNvSpPr txBox="1"/>
          <p:nvPr/>
        </p:nvSpPr>
        <p:spPr>
          <a:xfrm>
            <a:off x="777240" y="1623568"/>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registered query's view is committed and snapshotted on the lane at the marker. What a sink then gets depends on what the sink can do, and is said at registration.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End to end is still capped by the source: anything read from Aerospike is at least once, whatever the engine does (ADR-029), and a source that cannot rewind caps every sink behind it.</a:t>
            </a:r>
          </a:p>
        </p:txBody>
      </p:sp>
      <p:graphicFrame>
        <p:nvGraphicFramePr>
          <p:cNvPr id="13" name="Table 12"/>
          <p:cNvGraphicFramePr>
            <a:graphicFrameLocks noGrp="1"/>
          </p:cNvGraphicFramePr>
          <p:nvPr/>
        </p:nvGraphicFramePr>
        <p:xfrm>
          <a:off x="777240" y="2286000"/>
          <a:ext cx="10637212" cy="2426358"/>
        </p:xfrm>
        <a:graphic>
          <a:graphicData uri="http://schemas.openxmlformats.org/drawingml/2006/table">
            <a:tbl>
              <a:tblPr firstRow="1">
                <a:tableStyleId>{5C22544A-7EE6-4342-B048-85BDC9FD1C3A}</a:tableStyleId>
              </a:tblPr>
              <a:tblGrid>
                <a:gridCol w="1887247"/>
                <a:gridCol w="2916655"/>
                <a:gridCol w="1715679"/>
                <a:gridCol w="4117631"/>
              </a:tblGrid>
              <a:tr h="322376">
                <a:tc>
                  <a:txBody>
                    <a:bodyPr wrap="square"/>
                    <a:lstStyle/>
                    <a:p>
                      <a:r>
                        <a:rPr sz="1300" b="1">
                          <a:solidFill>
                            <a:srgbClr val="FFFFFF"/>
                          </a:solidFill>
                          <a:latin typeface="Source Sans 3"/>
                        </a:rPr>
                        <a:t>Sink kind</a:t>
                      </a:r>
                    </a:p>
                  </a:txBody>
                  <a:tcPr marL="82296" marR="64008" marT="32004" marB="32004" anchor="ctr">
                    <a:solidFill>
                      <a:srgbClr val="8A1626"/>
                    </a:solidFill>
                  </a:tcPr>
                </a:tc>
                <a:tc>
                  <a:txBody>
                    <a:bodyPr wrap="square"/>
                    <a:lstStyle/>
                    <a:p>
                      <a:r>
                        <a:rPr sz="1300" b="1">
                          <a:solidFill>
                            <a:srgbClr val="FFFFFF"/>
                          </a:solidFill>
                          <a:latin typeface="Source Sans 3"/>
                        </a:rPr>
                        <a:t>Shipped examples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c>
                  <a:txBody>
                    <a:bodyPr wrap="square"/>
                    <a:lstStyle/>
                    <a:p>
                      <a:r>
                        <a:rPr sz="1300" b="1">
                          <a:solidFill>
                            <a:srgbClr val="FFFFFF"/>
                          </a:solidFill>
                          <a:latin typeface="Source Sans 3"/>
                        </a:rPr>
                        <a:t>How</a:t>
                      </a:r>
                    </a:p>
                  </a:txBody>
                  <a:tcPr marL="82296" marR="64008" marT="32004" marB="32004" anchor="ctr">
                    <a:solidFill>
                      <a:srgbClr val="8A1626"/>
                    </a:solidFill>
                  </a:tcPr>
                </a:tc>
              </a:tr>
              <a:tr h="870356">
                <a:tc>
                  <a:txBody>
                    <a:bodyPr wrap="square"/>
                    <a:lstStyle/>
                    <a:p>
                      <a:r>
                        <a:rPr sz="1550" b="1">
                          <a:solidFill>
                            <a:srgbClr val="8A1626"/>
                          </a:solidFill>
                          <a:latin typeface="Source Sans 3"/>
                        </a:rPr>
                        <a:t>Transactional</a:t>
                      </a:r>
                    </a:p>
                  </a:txBody>
                  <a:tcPr marL="82296" marR="64008" marT="32004" marB="32004" anchor="ctr">
                    <a:solidFill>
                      <a:srgbClr val="FFFFFF"/>
                    </a:solidFill>
                  </a:tcPr>
                </a:tc>
                <a:tc>
                  <a:txBody>
                    <a:bodyPr wrap="square"/>
                    <a:lstStyle/>
                    <a:p>
                      <a:r>
                        <a:rPr sz="1550" b="0">
                          <a:solidFill>
                            <a:srgbClr val="1A1A1A"/>
                          </a:solidFill>
                          <a:latin typeface="Source Sans 3"/>
                        </a:rPr>
                        <a:t>jdbc-sink, kafka-sink, delta-sink, iceberg-sink</a:t>
                      </a:r>
                    </a:p>
                  </a:txBody>
                  <a:tcPr marL="82296" marR="64008" marT="32004" marB="32004" anchor="ctr">
                    <a:solidFill>
                      <a:srgbClr val="FFFFFF"/>
                    </a:solidFill>
                  </a:tcPr>
                </a:tc>
                <a:tc>
                  <a:txBody>
                    <a:bodyPr wrap="square"/>
                    <a:lstStyle/>
                    <a:p>
                      <a:r>
                        <a:rPr sz="1550" b="0">
                          <a:solidFill>
                            <a:srgbClr val="1A1A1A"/>
                          </a:solidFill>
                          <a:latin typeface="Source Sans 3"/>
                        </a:rPr>
                        <a:t>Exactly once</a:t>
                      </a:r>
                    </a:p>
                  </a:txBody>
                  <a:tcPr marL="82296" marR="64008" marT="32004" marB="32004" anchor="ctr">
                    <a:solidFill>
                      <a:srgbClr val="FFFFFF"/>
                    </a:solidFill>
                  </a:tcPr>
                </a:tc>
                <a:tc>
                  <a:txBody>
                    <a:bodyPr wrap="square"/>
                    <a:lstStyle/>
                    <a:p>
                      <a:r>
                        <a:rPr sz="1550" b="0">
                          <a:solidFill>
                            <a:srgbClr val="1A1A1A"/>
                          </a:solidFill>
                          <a:latin typeface="Source Sans 3"/>
                        </a:rPr>
                        <a:t>Prepared at the checkpoint's cut; committed once the checkpoint is durable</a:t>
                      </a:r>
                    </a:p>
                  </a:txBody>
                  <a:tcPr marL="82296" marR="64008" marT="32004" marB="32004" anchor="ctr">
                    <a:solidFill>
                      <a:srgbClr val="FFFFFF"/>
                    </a:solidFill>
                  </a:tcPr>
                </a:tc>
              </a:tr>
              <a:tr h="616813">
                <a:tc>
                  <a:txBody>
                    <a:bodyPr wrap="square"/>
                    <a:lstStyle/>
                    <a:p>
                      <a:r>
                        <a:rPr sz="1550" b="1">
                          <a:solidFill>
                            <a:srgbClr val="8A1626"/>
                          </a:solidFill>
                          <a:latin typeface="Source Sans 3"/>
                        </a:rPr>
                        <a:t>Idempotent upsert</a:t>
                      </a:r>
                    </a:p>
                  </a:txBody>
                  <a:tcPr marL="82296" marR="64008" marT="32004" marB="32004" anchor="ctr">
                    <a:solidFill>
                      <a:srgbClr val="F7F5F2"/>
                    </a:solidFill>
                  </a:tcPr>
                </a:tc>
                <a:tc>
                  <a:txBody>
                    <a:bodyPr wrap="square"/>
                    <a:lstStyle/>
                    <a:p>
                      <a:r>
                        <a:rPr sz="1550" b="0">
                          <a:solidFill>
                            <a:srgbClr val="1A1A1A"/>
                          </a:solidFill>
                          <a:latin typeface="Source Sans 3"/>
                        </a:rPr>
                        <a:t>aerospike-sink</a:t>
                      </a:r>
                    </a:p>
                  </a:txBody>
                  <a:tcPr marL="82296" marR="64008" marT="32004" marB="32004" anchor="ctr">
                    <a:solidFill>
                      <a:srgbClr val="F7F5F2"/>
                    </a:solidFill>
                  </a:tcPr>
                </a:tc>
                <a:tc>
                  <a:txBody>
                    <a:bodyPr wrap="square"/>
                    <a:lstStyle/>
                    <a:p>
                      <a:r>
                        <a:rPr sz="1550" b="0">
                          <a:solidFill>
                            <a:srgbClr val="1A1A1A"/>
                          </a:solidFill>
                          <a:latin typeface="Source Sans 3"/>
                        </a:rPr>
                        <a:t>Effectively once</a:t>
                      </a:r>
                    </a:p>
                  </a:txBody>
                  <a:tcPr marL="82296" marR="64008" marT="32004" marB="32004" anchor="ctr">
                    <a:solidFill>
                      <a:srgbClr val="F7F5F2"/>
                    </a:solidFill>
                  </a:tcPr>
                </a:tc>
                <a:tc>
                  <a:txBody>
                    <a:bodyPr wrap="square"/>
                    <a:lstStyle/>
                    <a:p>
                      <a:r>
                        <a:rPr sz="1550" b="0">
                          <a:solidFill>
                            <a:srgbClr val="1A1A1A"/>
                          </a:solidFill>
                          <a:latin typeface="Source Sans 3"/>
                        </a:rPr>
                        <a:t>A repeated upsert rewrites the values already there</a:t>
                      </a:r>
                    </a:p>
                  </a:txBody>
                  <a:tcPr marL="82296" marR="64008" marT="32004" marB="32004" anchor="ctr">
                    <a:solidFill>
                      <a:srgbClr val="F7F5F2"/>
                    </a:solidFill>
                  </a:tcPr>
                </a:tc>
              </a:tr>
              <a:tr h="616813">
                <a:tc>
                  <a:txBody>
                    <a:bodyPr wrap="square"/>
                    <a:lstStyle/>
                    <a:p>
                      <a:r>
                        <a:rPr sz="1550" b="1">
                          <a:solidFill>
                            <a:srgbClr val="8A1626"/>
                          </a:solidFill>
                          <a:latin typeface="Source Sans 3"/>
                        </a:rPr>
                        <a:t>Plain append</a:t>
                      </a:r>
                    </a:p>
                  </a:txBody>
                  <a:tcPr marL="82296" marR="64008" marT="32004" marB="32004" anchor="ctr">
                    <a:solidFill>
                      <a:srgbClr val="FFFFFF"/>
                    </a:solidFill>
                  </a:tcPr>
                </a:tc>
                <a:tc>
                  <a:txBody>
                    <a:bodyPr wrap="square"/>
                    <a:lstStyle/>
                    <a:p>
                      <a:r>
                        <a:rPr sz="1550" b="0">
                          <a:solidFill>
                            <a:srgbClr val="1A1A1A"/>
                          </a:solidFill>
                          <a:latin typeface="Source Sans 3"/>
                        </a:rPr>
                        <a:t>filesystem</a:t>
                      </a:r>
                    </a:p>
                  </a:txBody>
                  <a:tcPr marL="82296" marR="64008" marT="32004" marB="32004" anchor="ctr">
                    <a:solidFill>
                      <a:srgbClr val="FFFFFF"/>
                    </a:solidFill>
                  </a:tcPr>
                </a:tc>
                <a:tc>
                  <a:txBody>
                    <a:bodyPr wrap="square"/>
                    <a:lstStyle/>
                    <a:p>
                      <a:r>
                        <a:rPr sz="1550" b="0">
                          <a:solidFill>
                            <a:srgbClr val="1A1A1A"/>
                          </a:solidFill>
                          <a:latin typeface="Source Sans 3"/>
                        </a:rPr>
                        <a:t>At least once</a:t>
                      </a:r>
                    </a:p>
                  </a:txBody>
                  <a:tcPr marL="82296" marR="64008" marT="32004" marB="32004" anchor="ctr">
                    <a:solidFill>
                      <a:srgbClr val="FFFFFF"/>
                    </a:solidFill>
                  </a:tcPr>
                </a:tc>
                <a:tc>
                  <a:txBody>
                    <a:bodyPr wrap="square"/>
                    <a:lstStyle/>
                    <a:p>
                      <a:r>
                        <a:rPr sz="1550" b="0">
                          <a:solidFill>
                            <a:srgbClr val="1A1A1A"/>
                          </a:solidFill>
                          <a:latin typeface="Source Sans 3"/>
                        </a:rPr>
                        <a:t>A restart may repeat what it appended</a:t>
                      </a:r>
                    </a:p>
                  </a:txBody>
                  <a:tcPr marL="82296" marR="64008" marT="32004" marB="32004"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a restart gives back, and what it refuses to</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Registrations come back from a journal</a:t>
            </a:r>
          </a:p>
          <a:p>
            <a:pPr lvl="1">
              <a:lnSpc>
                <a:spcPct val="120000"/>
              </a:lnSpc>
              <a:spcBef>
                <a:spcPts val="0"/>
              </a:spcBef>
              <a:spcAft>
                <a:spcPts val="0"/>
              </a:spcAft>
            </a:pPr>
            <a:r>
              <a:rPr sz="1550" b="0">
                <a:solidFill>
                  <a:srgbClr val="4A5058"/>
                </a:solidFill>
                <a:latin typeface="Source Sans 3"/>
              </a:rPr>
              <a:t>Name, SQL, key, owner, retention and bound values: small, rarely changed, and impossible to recompute. A journal that cannot be written refuses the registration.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comes back only if checkpointing is on</a:t>
            </a:r>
          </a:p>
          <a:p>
            <a:pPr lvl="1">
              <a:lnSpc>
                <a:spcPct val="120000"/>
              </a:lnSpc>
              <a:spcBef>
                <a:spcPts val="0"/>
              </a:spcBef>
              <a:spcAft>
                <a:spcPts val="0"/>
              </a:spcAft>
            </a:pPr>
            <a:r>
              <a:rPr sz="1550" b="0">
                <a:solidFill>
                  <a:srgbClr val="4A5058"/>
                </a:solidFill>
                <a:latin typeface="Source Sans 3"/>
              </a:rPr>
              <a:t>With pravaha.checkpoint.directory set, state, offsets and the view resume from the newest checkpoint (the newest 3 are kept). Unset is the default, and the node says so at startup; a restart then costs a warm-up, not an outage.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Owners are re-checked on replay</a:t>
            </a:r>
          </a:p>
          <a:p>
            <a:pPr lvl="1">
              <a:lnSpc>
                <a:spcPct val="120000"/>
              </a:lnSpc>
              <a:spcBef>
                <a:spcPts val="0"/>
              </a:spcBef>
              <a:spcAft>
                <a:spcPts val="0"/>
              </a:spcAft>
            </a:pPr>
            <a:r>
              <a:rPr sz="1550" b="0">
                <a:solidFill>
                  <a:srgbClr val="4A5058"/>
                </a:solidFill>
                <a:latin typeface="Source Sans 3"/>
              </a:rPr>
              <a:t>A principal who has lost access does not get the query back; recovery names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Rows in flight between lanes are refused, not dropped</a:t>
            </a:r>
          </a:p>
          <a:p>
            <a:pPr lvl="1">
              <a:lnSpc>
                <a:spcPct val="120000"/>
              </a:lnSpc>
              <a:spcBef>
                <a:spcPts val="0"/>
              </a:spcBef>
              <a:spcAft>
                <a:spcPts val="0"/>
              </a:spcAft>
            </a:pPr>
            <a:r>
              <a:rPr sz="1550" b="0">
                <a:solidFill>
                  <a:srgbClr val="4A5058"/>
                </a:solidFill>
                <a:latin typeface="Source Sans 3"/>
              </a:rPr>
              <a:t>The exchange between lanes is not cut. No compiled pipeline sends on it, and a checkpoint that would have to cut it is refused rather than stored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WEIGHTS AND RETRACTIONS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Every change carries a weight, from the engine to the SDK</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sp>
        <p:nvSpPr>
          <p:cNvPr id="10" name="TextBox 9"/>
          <p:cNvSpPr txBox="1"/>
          <p:nvPr/>
        </p:nvSpPr>
        <p:spPr>
          <a:xfrm>
            <a:off x="777240" y="1361846"/>
            <a:ext cx="10637215" cy="4883505"/>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One arithmetic for everything</a:t>
            </a:r>
          </a:p>
          <a:p>
            <a:pPr lvl="1">
              <a:lnSpc>
                <a:spcPct val="120000"/>
              </a:lnSpc>
              <a:spcBef>
                <a:spcPts val="0"/>
              </a:spcBef>
              <a:spcAft>
                <a:spcPts val="0"/>
              </a:spcAft>
            </a:pPr>
            <a:r>
              <a:rPr sz="1550" b="0">
                <a:solidFill>
                  <a:srgbClr val="4A5058"/>
                </a:solidFill>
                <a:latin typeface="Source Sans 3"/>
              </a:rPr>
              <a:t>A correction is a −1 for the old row and a +1 for the new, not a special message type every consumer must recognise. That is the Z-set idea, and why an aggregate is maintained incrementally without a separate retract path to get wrong.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Carried the whole way</a:t>
            </a:r>
          </a:p>
          <a:p>
            <a:pPr lvl="1">
              <a:lnSpc>
                <a:spcPct val="120000"/>
              </a:lnSpc>
              <a:spcBef>
                <a:spcPts val="0"/>
              </a:spcBef>
              <a:spcAft>
                <a:spcPts val="0"/>
              </a:spcAft>
            </a:pPr>
            <a:r>
              <a:rPr sz="1550" b="0">
                <a:solidFill>
                  <a:srgbClr val="4A5058"/>
                </a:solidFill>
                <a:latin typeface="Source Sans 3"/>
              </a:rPr>
              <a:t>Through the engine, across the wire and into both SDKs. A sink receives retractions too: a tombstone in kafka-sink, an equality delete in iceberg-sink.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Present while the weights sum positive</a:t>
            </a:r>
          </a:p>
          <a:p>
            <a:pPr lvl="1">
              <a:lnSpc>
                <a:spcPct val="120000"/>
              </a:lnSpc>
              <a:spcBef>
                <a:spcPts val="0"/>
              </a:spcBef>
              <a:spcAft>
                <a:spcPts val="0"/>
              </a:spcAft>
            </a:pPr>
            <a:r>
              <a:rPr sz="1550" b="0">
                <a:solidFill>
                  <a:srgbClr val="4A5058"/>
                </a:solidFill>
                <a:latin typeface="Source Sans 3"/>
              </a:rPr>
              <a:t>A net weight of zero means the row is not there, so a change of weight zero is never delivered to a subscriber (STRM-1).</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consumer that ignores weights drifts</a:t>
            </a:r>
          </a:p>
          <a:p>
            <a:pPr lvl="1">
              <a:lnSpc>
                <a:spcPct val="120000"/>
              </a:lnSpc>
              <a:spcBef>
                <a:spcPts val="0"/>
              </a:spcBef>
              <a:spcAft>
                <a:spcPts val="0"/>
              </a:spcAft>
            </a:pPr>
            <a:r>
              <a:rPr sz="1550" b="0">
                <a:solidFill>
                  <a:srgbClr val="4A5058"/>
                </a:solidFill>
                <a:latin typeface="Source Sans 3"/>
              </a:rPr>
              <a:t>Overwrite by key if only current values matter; apply the weights if you keep your own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LATE DATA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Two settings, two meanings: waiting and correcting</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Both are declared per stream, because a topic fed by phones over a flaky network and a scan of data at rest have nothing in common.</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Out-of-orderness: how long to wait</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Decides when a window is complete</a:t>
            </a:r>
          </a:p>
          <a:p>
            <a:pPr lvl="1">
              <a:lnSpc>
                <a:spcPct val="120000"/>
              </a:lnSpc>
              <a:spcBef>
                <a:spcPts val="0"/>
              </a:spcBef>
              <a:spcAft>
                <a:spcPts val="0"/>
              </a:spcAft>
            </a:pPr>
            <a:r>
              <a:rPr sz="1350" b="0">
                <a:solidFill>
                  <a:srgbClr val="4A5058"/>
                </a:solidFill>
                <a:latin typeface="Source Sans 3"/>
              </a:rPr>
              <a:t>10 seconds unless the stream says otherwise; the watermark trails the data by 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join is as current as its laggiest input</a:t>
            </a:r>
          </a:p>
          <a:p>
            <a:pPr lvl="1">
              <a:lnSpc>
                <a:spcPct val="120000"/>
              </a:lnSpc>
              <a:spcBef>
                <a:spcPts val="0"/>
              </a:spcBef>
              <a:spcAft>
                <a:spcPts val="0"/>
              </a:spcAft>
            </a:pPr>
            <a:r>
              <a:rPr sz="1350" b="0">
                <a:solidFill>
                  <a:srgbClr val="4A5058"/>
                </a:solidFill>
                <a:latin typeface="Source Sans 3"/>
              </a:rPr>
              <a:t>It takes the minimum of its streams' watermarks.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Unitless is seconds</a:t>
            </a:r>
          </a:p>
          <a:p>
            <a:pPr lvl="1">
              <a:lnSpc>
                <a:spcPct val="120000"/>
              </a:lnSpc>
              <a:spcBef>
                <a:spcPts val="0"/>
              </a:spcBef>
              <a:spcAft>
                <a:spcPts val="0"/>
              </a:spcAft>
            </a:pPr>
            <a:r>
              <a:rPr sz="1350" b="0">
                <a:solidFill>
                  <a:srgbClr val="4A5058"/>
                </a:solidFill>
                <a:latin typeface="Source Sans 3"/>
              </a:rPr>
              <a:t>out-of-orderness: 60 is a minute; it once bound as milliseconds (TIME-3).</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Allowed lateness: whether to correct</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Zero by default</a:t>
            </a:r>
          </a:p>
          <a:p>
            <a:pPr lvl="1">
              <a:lnSpc>
                <a:spcPct val="120000"/>
              </a:lnSpc>
              <a:spcBef>
                <a:spcPts val="0"/>
              </a:spcBef>
              <a:spcAft>
                <a:spcPts val="0"/>
              </a:spcAft>
            </a:pPr>
            <a:r>
              <a:rPr sz="1350" b="0">
                <a:solidFill>
                  <a:srgbClr val="4A5058"/>
                </a:solidFill>
                <a:latin typeface="Source Sans 3"/>
              </a:rPr>
              <a:t>A row arriving after its window closed is counted as late and dropped.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Declared, a late row is a correction</a:t>
            </a:r>
          </a:p>
          <a:p>
            <a:pPr lvl="1">
              <a:lnSpc>
                <a:spcPct val="120000"/>
              </a:lnSpc>
              <a:spcBef>
                <a:spcPts val="0"/>
              </a:spcBef>
              <a:spcAft>
                <a:spcPts val="0"/>
              </a:spcAft>
            </a:pPr>
            <a:r>
              <a:rPr sz="1350" b="0">
                <a:solidFill>
                  <a:srgbClr val="4A5058"/>
                </a:solidFill>
                <a:latin typeface="Source Sans 3"/>
              </a:rPr>
              <a:t>pravaha.streams.&lt;name&gt;.allowed-lateness reopens the window: a retraction of the published answer and the corrected one, in one commit.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Published when event time next moves</a:t>
            </a:r>
          </a:p>
          <a:p>
            <a:pPr lvl="1">
              <a:lnSpc>
                <a:spcPct val="120000"/>
              </a:lnSpc>
              <a:spcBef>
                <a:spcPts val="0"/>
              </a:spcBef>
              <a:spcAft>
                <a:spcPts val="0"/>
              </a:spcAft>
            </a:pPr>
            <a:r>
              <a:rPr sz="1350" b="0">
                <a:solidFill>
                  <a:srgbClr val="4A5058"/>
                </a:solidFill>
                <a:latin typeface="Source Sans 3"/>
              </a:rPr>
              <a:t>Not the instant the late row is read.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SURVIVAL ON ONE NODE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Failures that end one thing, loudly, instead of everything, quietly</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TextBox 9"/>
          <p:cNvSpPr txBox="1"/>
          <p:nvPr/>
        </p:nvSpPr>
        <p:spPr>
          <a:xfrm>
            <a:off x="777240" y="1296416"/>
            <a:ext cx="10637215" cy="4948936"/>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node claims the directories it writes</a:t>
            </a:r>
          </a:p>
          <a:p>
            <a:pPr lvl="1">
              <a:lnSpc>
                <a:spcPct val="120000"/>
              </a:lnSpc>
              <a:spcBef>
                <a:spcPts val="0"/>
              </a:spcBef>
              <a:spcAft>
                <a:spcPts val="0"/>
              </a:spcAft>
            </a:pPr>
            <a:r>
              <a:rPr sz="1550" b="0">
                <a:solidFill>
                  <a:srgbClr val="4A5058"/>
                </a:solidFill>
                <a:latin typeface="Source Sans 3"/>
              </a:rPr>
              <a:t>Two nodes cannot silently share state (PRV-4003). A standby takes over when the claim goes stale and reports what the takeover cost.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Bad rows go to a dead-letter directory</a:t>
            </a:r>
          </a:p>
          <a:p>
            <a:pPr lvl="1">
              <a:lnSpc>
                <a:spcPct val="120000"/>
              </a:lnSpc>
              <a:spcBef>
                <a:spcPts val="0"/>
              </a:spcBef>
              <a:spcAft>
                <a:spcPts val="0"/>
              </a:spcAft>
            </a:pPr>
            <a:r>
              <a:rPr sz="1550" b="0">
                <a:solidFill>
                  <a:srgbClr val="4A5058"/>
                </a:solidFill>
                <a:latin typeface="Source Sans 3"/>
              </a:rPr>
              <a:t>Undecodable input, and a row whose WHERE or projection fails (PRV-3027), instead of ending the query.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past its ceiling can spill instead of stopping</a:t>
            </a:r>
          </a:p>
          <a:p>
            <a:pPr lvl="1">
              <a:lnSpc>
                <a:spcPct val="120000"/>
              </a:lnSpc>
              <a:spcBef>
                <a:spcPts val="0"/>
              </a:spcBef>
              <a:spcAft>
                <a:spcPts val="0"/>
              </a:spcAft>
            </a:pPr>
            <a:r>
              <a:rPr sz="1550" b="0">
                <a:solidFill>
                  <a:srgbClr val="4A5058"/>
                </a:solidFill>
                <a:latin typeface="Source Sans 3"/>
              </a:rPr>
              <a:t>With pravaha.state.spill.* set, state beyond its memory ceiling moves to memory-mapped files and the query slows. There is no RocksDB, by decision (ADR-044).</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ceiling you can see coming</a:t>
            </a:r>
          </a:p>
          <a:p>
            <a:pPr lvl="1">
              <a:lnSpc>
                <a:spcPct val="120000"/>
              </a:lnSpc>
              <a:spcBef>
                <a:spcPts val="0"/>
              </a:spcBef>
              <a:spcAft>
                <a:spcPts val="0"/>
              </a:spcAft>
            </a:pPr>
            <a:r>
              <a:rPr sz="1550" b="0">
                <a:solidFill>
                  <a:srgbClr val="4A5058"/>
                </a:solidFill>
                <a:latin typeface="Source Sans 3"/>
              </a:rPr>
              <a:t>Each query reports state held against its ceiling: alert on pravaha_query_state_fraction before PRV-4001 refuses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lane fails alone</a:t>
            </a:r>
          </a:p>
          <a:p>
            <a:pPr lvl="1">
              <a:lnSpc>
                <a:spcPct val="120000"/>
              </a:lnSpc>
              <a:spcBef>
                <a:spcPts val="0"/>
              </a:spcBef>
              <a:spcAft>
                <a:spcPts val="0"/>
              </a:spcAft>
            </a:pPr>
            <a:r>
              <a:rPr sz="1550" b="0">
                <a:solidFill>
                  <a:srgbClr val="4A5058"/>
                </a:solidFill>
                <a:latin typeface="Source Sans 3"/>
              </a:rPr>
              <a:t>A throwing pipeline drops its lane; sibling lanes never learn of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BOUNDS</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bound that changes the answer belongs in the query</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TextBox 9"/>
          <p:cNvSpPr txBox="1"/>
          <p:nvPr/>
        </p:nvSpPr>
        <p:spPr>
          <a:xfrm>
            <a:off x="777240" y="1394561"/>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bound that protects the machine belongs in configuration, and fails rather than quietly altering results.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view forgets because retention is a cache policy; a join fails because evicting to fit would silently lose matches the query asked for.</a:t>
            </a:r>
          </a:p>
        </p:txBody>
      </p:sp>
      <p:graphicFrame>
        <p:nvGraphicFramePr>
          <p:cNvPr id="13" name="Table 12"/>
          <p:cNvGraphicFramePr>
            <a:graphicFrameLocks noGrp="1"/>
          </p:cNvGraphicFramePr>
          <p:nvPr/>
        </p:nvGraphicFramePr>
        <p:xfrm>
          <a:off x="777240" y="2056993"/>
          <a:ext cx="10637214" cy="3462322"/>
        </p:xfrm>
        <a:graphic>
          <a:graphicData uri="http://schemas.openxmlformats.org/drawingml/2006/table">
            <a:tbl>
              <a:tblPr firstRow="1">
                <a:tableStyleId>{5C22544A-7EE6-4342-B048-85BDC9FD1C3A}</a:tableStyleId>
              </a:tblPr>
              <a:tblGrid>
                <a:gridCol w="2954782"/>
                <a:gridCol w="3939709"/>
                <a:gridCol w="3742723"/>
              </a:tblGrid>
              <a:tr h="322376">
                <a:tc>
                  <a:txBody>
                    <a:bodyPr wrap="square"/>
                    <a:lstStyle/>
                    <a:p>
                      <a:r>
                        <a:rPr sz="1300" b="1">
                          <a:solidFill>
                            <a:srgbClr val="FFFFFF"/>
                          </a:solidFill>
                          <a:latin typeface="Source Sans 3"/>
                        </a:rPr>
                        <a:t>Holder</a:t>
                      </a:r>
                    </a:p>
                  </a:txBody>
                  <a:tcPr marL="82296" marR="64008" marT="32004" marB="32004" anchor="ctr">
                    <a:solidFill>
                      <a:srgbClr val="8A1626"/>
                    </a:solidFill>
                  </a:tcPr>
                </a:tc>
                <a:tc>
                  <a:txBody>
                    <a:bodyPr wrap="square"/>
                    <a:lstStyle/>
                    <a:p>
                      <a:r>
                        <a:rPr sz="1300" b="1">
                          <a:solidFill>
                            <a:srgbClr val="FFFFFF"/>
                          </a:solidFill>
                          <a:latin typeface="Source Sans 3"/>
                        </a:rPr>
                        <a:t>Bounded by</a:t>
                      </a:r>
                    </a:p>
                  </a:txBody>
                  <a:tcPr marL="82296" marR="64008" marT="32004" marB="32004" anchor="ctr">
                    <a:solidFill>
                      <a:srgbClr val="8A1626"/>
                    </a:solidFill>
                  </a:tcPr>
                </a:tc>
                <a:tc>
                  <a:txBody>
                    <a:bodyPr wrap="square"/>
                    <a:lstStyle/>
                    <a:p>
                      <a:r>
                        <a:rPr sz="1300" b="1">
                          <a:solidFill>
                            <a:srgbClr val="FFFFFF"/>
                          </a:solidFill>
                          <a:latin typeface="Source Sans 3"/>
                        </a:rPr>
                        <a:t>On exceeding</a:t>
                      </a:r>
                    </a:p>
                  </a:txBody>
                  <a:tcPr marL="82296" marR="64008" marT="32004" marB="32004" anchor="ctr">
                    <a:solidFill>
                      <a:srgbClr val="8A1626"/>
                    </a:solidFill>
                  </a:tcPr>
                </a:tc>
              </a:tr>
              <a:tr h="346913">
                <a:tc>
                  <a:txBody>
                    <a:bodyPr wrap="square"/>
                    <a:lstStyle/>
                    <a:p>
                      <a:r>
                        <a:rPr sz="1450" b="1">
                          <a:solidFill>
                            <a:srgbClr val="8A1626"/>
                          </a:solidFill>
                          <a:latin typeface="Source Sans 3"/>
                        </a:rPr>
                        <a:t>Windowed aggregate state</a:t>
                      </a:r>
                    </a:p>
                  </a:txBody>
                  <a:tcPr marL="82296" marR="64008" marT="32004" marB="32004" anchor="ctr">
                    <a:solidFill>
                      <a:srgbClr val="FFFFFF"/>
                    </a:solidFill>
                  </a:tcPr>
                </a:tc>
                <a:tc>
                  <a:txBody>
                    <a:bodyPr wrap="square"/>
                    <a:lstStyle/>
                    <a:p>
                      <a:r>
                        <a:rPr sz="1450" b="0">
                          <a:solidFill>
                            <a:srgbClr val="1A1A1A"/>
                          </a:solidFill>
                          <a:latin typeface="Source Sans 3"/>
                        </a:rPr>
                        <a:t>The window — it closes and releases</a:t>
                      </a:r>
                    </a:p>
                  </a:txBody>
                  <a:tcPr marL="82296" marR="64008" marT="32004" marB="32004" anchor="ctr">
                    <a:solidFill>
                      <a:srgbClr val="FFFFFF"/>
                    </a:solidFill>
                  </a:tcPr>
                </a:tc>
                <a:tc>
                  <a:txBody>
                    <a:bodyPr wrap="square"/>
                    <a:lstStyle/>
                    <a:p>
                      <a:r>
                        <a:rPr sz="1450" b="0">
                          <a:solidFill>
                            <a:srgbClr val="1A1A1A"/>
                          </a:solidFill>
                          <a:latin typeface="Source Sans 3"/>
                        </a:rPr>
                        <a:t>—</a:t>
                      </a:r>
                    </a:p>
                  </a:txBody>
                  <a:tcPr marL="82296" marR="64008" marT="32004" marB="32004" anchor="ctr">
                    <a:solidFill>
                      <a:srgbClr val="FFFFFF"/>
                    </a:solidFill>
                  </a:tcPr>
                </a:tc>
              </a:tr>
              <a:tr h="584098">
                <a:tc>
                  <a:txBody>
                    <a:bodyPr wrap="square"/>
                    <a:lstStyle/>
                    <a:p>
                      <a:r>
                        <a:rPr sz="1450" b="1">
                          <a:solidFill>
                            <a:srgbClr val="8A1626"/>
                          </a:solidFill>
                          <a:latin typeface="Source Sans 3"/>
                        </a:rPr>
                        <a:t>Unwindowed keyed aggregate</a:t>
                      </a:r>
                    </a:p>
                  </a:txBody>
                  <a:tcPr marL="82296" marR="64008" marT="32004" marB="32004" anchor="ctr">
                    <a:solidFill>
                      <a:srgbClr val="F7F5F2"/>
                    </a:solidFill>
                  </a:tcPr>
                </a:tc>
                <a:tc>
                  <a:txBody>
                    <a:bodyPr wrap="square"/>
                    <a:lstStyle/>
                    <a:p>
                      <a:r>
                        <a:rPr sz="1450" b="0">
                          <a:solidFill>
                            <a:srgbClr val="1A1A1A"/>
                          </a:solidFill>
                          <a:latin typeface="Source Sans 3"/>
                        </a:rPr>
                        <a:t>Nothing</a:t>
                      </a:r>
                    </a:p>
                  </a:txBody>
                  <a:tcPr marL="82296" marR="64008" marT="32004" marB="32004" anchor="ctr">
                    <a:solidFill>
                      <a:srgbClr val="F7F5F2"/>
                    </a:solidFill>
                  </a:tcPr>
                </a:tc>
                <a:tc>
                  <a:txBody>
                    <a:bodyPr wrap="square"/>
                    <a:lstStyle/>
                    <a:p>
                      <a:r>
                        <a:rPr sz="1450" b="0">
                          <a:solidFill>
                            <a:srgbClr val="1A1A1A"/>
                          </a:solidFill>
                          <a:latin typeface="Source Sans 3"/>
                        </a:rPr>
                        <a:t>Refused at planning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Stream-to-stream join state</a:t>
                      </a:r>
                    </a:p>
                  </a:txBody>
                  <a:tcPr marL="82296" marR="64008" marT="32004" marB="32004" anchor="ctr">
                    <a:solidFill>
                      <a:srgbClr val="FFFFFF"/>
                    </a:solidFill>
                  </a:tcPr>
                </a:tc>
                <a:tc>
                  <a:txBody>
                    <a:bodyPr wrap="square"/>
                    <a:lstStyle/>
                    <a:p>
                      <a:r>
                        <a:rPr sz="1450" b="0">
                          <a:solidFill>
                            <a:srgbClr val="1A1A1A"/>
                          </a:solidFill>
                          <a:latin typeface="Source Sans 3"/>
                        </a:rPr>
                        <a:t>The match window (1 h event time by default)</a:t>
                      </a:r>
                    </a:p>
                  </a:txBody>
                  <a:tcPr marL="82296" marR="64008" marT="32004" marB="32004" anchor="ctr">
                    <a:solidFill>
                      <a:srgbClr val="FFFFFF"/>
                    </a:solidFill>
                  </a:tcPr>
                </a:tc>
                <a:tc>
                  <a:txBody>
                    <a:bodyPr wrap="square"/>
                    <a:lstStyle/>
                    <a:p>
                      <a:r>
                        <a:rPr sz="1450" b="0">
                          <a:solidFill>
                            <a:srgbClr val="1A1A1A"/>
                          </a:solidFill>
                          <a:latin typeface="Source Sans 3"/>
                        </a:rPr>
                        <a:t>Rows released as the watermark passes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maxRowsPerSide</a:t>
                      </a:r>
                    </a:p>
                  </a:txBody>
                  <a:tcPr marL="82296" marR="64008" marT="32004" marB="32004" anchor="ctr">
                    <a:solidFill>
                      <a:srgbClr val="F7F5F2"/>
                    </a:solidFill>
                  </a:tcPr>
                </a:tc>
                <a:tc>
                  <a:txBody>
                    <a:bodyPr wrap="square"/>
                    <a:lstStyle/>
                    <a:p>
                      <a:r>
                        <a:rPr sz="1450" b="0">
                          <a:solidFill>
                            <a:srgbClr val="1A1A1A"/>
                          </a:solidFill>
                          <a:latin typeface="Source Sans 3"/>
                        </a:rPr>
                        <a:t>Fails (PRV-3021) — never evicts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served view</a:t>
                      </a:r>
                    </a:p>
                  </a:txBody>
                  <a:tcPr marL="82296" marR="64008" marT="32004" marB="32004" anchor="ctr">
                    <a:solidFill>
                      <a:srgbClr val="FFFFFF"/>
                    </a:solidFill>
                  </a:tcPr>
                </a:tc>
                <a:tc>
                  <a:txBody>
                    <a:bodyPr wrap="square"/>
                    <a:lstStyle/>
                    <a:p>
                      <a:r>
                        <a:rPr sz="1450" b="0">
                          <a:solidFill>
                            <a:srgbClr val="1A1A1A"/>
                          </a:solidFill>
                          <a:latin typeface="Source Sans 3"/>
                        </a:rPr>
                        <a:t>Retention: forever unless RETAIN FOR says</a:t>
                      </a:r>
                    </a:p>
                  </a:txBody>
                  <a:tcPr marL="82296" marR="64008" marT="32004" marB="32004" anchor="ctr">
                    <a:solidFill>
                      <a:srgbClr val="FFFFFF"/>
                    </a:solidFill>
                  </a:tcPr>
                </a:tc>
                <a:tc>
                  <a:txBody>
                    <a:bodyPr wrap="square"/>
                    <a:lstStyle/>
                    <a:p>
                      <a:r>
                        <a:rPr sz="1450" b="0">
                          <a:solidFill>
                            <a:srgbClr val="1A1A1A"/>
                          </a:solidFill>
                          <a:latin typeface="Source Sans 3"/>
                        </a:rPr>
                        <a:t>Oldest rows forgotten</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maxKeys</a:t>
                      </a:r>
                    </a:p>
                  </a:txBody>
                  <a:tcPr marL="82296" marR="64008" marT="32004" marB="32004" anchor="ctr">
                    <a:solidFill>
                      <a:srgbClr val="F7F5F2"/>
                    </a:solidFill>
                  </a:tcPr>
                </a:tc>
                <a:tc>
                  <a:txBody>
                    <a:bodyPr wrap="square"/>
                    <a:lstStyle/>
                    <a:p>
                      <a:r>
                        <a:rPr sz="1450" b="0">
                          <a:solidFill>
                            <a:srgbClr val="1A1A1A"/>
                          </a:solidFill>
                          <a:latin typeface="Source Sans 3"/>
                        </a:rPr>
                        <a:t>Fails (PRV-4022)</a:t>
                      </a:r>
                    </a:p>
                  </a:txBody>
                  <a:tcPr marL="82296" marR="64008" marT="32004" marB="32004" anchor="ctr">
                    <a:solidFill>
                      <a:srgbClr val="F7F5F2"/>
                    </a:solidFill>
                  </a:tcPr>
                </a:tc>
              </a:tr>
              <a:tr h="346913">
                <a:tc>
                  <a:txBody>
                    <a:bodyPr wrap="square"/>
                    <a:lstStyle/>
                    <a:p>
                      <a:r>
                        <a:rPr sz="1450" b="1">
                          <a:solidFill>
                            <a:srgbClr val="8A1626"/>
                          </a:solidFill>
                          <a:latin typeface="Source Sans 3"/>
                        </a:rPr>
                        <a:t>Subscriber buffers</a:t>
                      </a:r>
                    </a:p>
                  </a:txBody>
                  <a:tcPr marL="82296" marR="64008" marT="32004" marB="32004" anchor="ctr">
                    <a:solidFill>
                      <a:srgbClr val="FFFFFF"/>
                    </a:solidFill>
                  </a:tcPr>
                </a:tc>
                <a:tc>
                  <a:txBody>
                    <a:bodyPr wrap="square"/>
                    <a:lstStyle/>
                    <a:p>
                      <a:r>
                        <a:rPr sz="1450" b="0">
                          <a:solidFill>
                            <a:srgbClr val="1A1A1A"/>
                          </a:solidFill>
                          <a:latin typeface="Source Sans 3"/>
                        </a:rPr>
                        <a:t>The subscriber's options</a:t>
                      </a:r>
                    </a:p>
                  </a:txBody>
                  <a:tcPr marL="82296" marR="64008" marT="32004" marB="32004" anchor="ctr">
                    <a:solidFill>
                      <a:srgbClr val="FFFFFF"/>
                    </a:solidFill>
                  </a:tcPr>
                </a:tc>
                <a:tc>
                  <a:txBody>
                    <a:bodyPr wrap="square"/>
                    <a:lstStyle/>
                    <a:p>
                      <a:r>
                        <a:rPr sz="1450" b="0">
                          <a:solidFill>
                            <a:srgbClr val="1A1A1A"/>
                          </a:solidFill>
                          <a:latin typeface="Source Sans 3"/>
                        </a:rPr>
                        <a:t>Conflate, drop or fail — counted</a:t>
                      </a:r>
                    </a:p>
                  </a:txBody>
                  <a:tcPr marL="82296" marR="64008" marT="32004" marB="32004"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SEMANTICS FIXED IN 2.0.1 · THE ADVERSARIAL ROUND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Answers now say what SQL says — and some answers change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tumbling window, and a hop whose size is a multiple of its slide, keep exactly the windows they had. The release notes mark every answer that changes and what it does to an older checkpoint.</a:t>
            </a:r>
          </a:p>
        </p:txBody>
      </p:sp>
      <p:graphicFrame>
        <p:nvGraphicFramePr>
          <p:cNvPr id="12" name="Table 11"/>
          <p:cNvGraphicFramePr>
            <a:graphicFrameLocks noGrp="1"/>
          </p:cNvGraphicFramePr>
          <p:nvPr/>
        </p:nvGraphicFramePr>
        <p:xfrm>
          <a:off x="777240" y="1361846"/>
          <a:ext cx="10637213" cy="3532526"/>
        </p:xfrm>
        <a:graphic>
          <a:graphicData uri="http://schemas.openxmlformats.org/drawingml/2006/table">
            <a:tbl>
              <a:tblPr firstRow="1">
                <a:tableStyleId>{5C22544A-7EE6-4342-B048-85BDC9FD1C3A}</a:tableStyleId>
              </a:tblPr>
              <a:tblGrid>
                <a:gridCol w="2916655"/>
                <a:gridCol w="3259791"/>
                <a:gridCol w="4460767"/>
              </a:tblGrid>
              <a:tr h="322376">
                <a:tc>
                  <a:txBody>
                    <a:bodyPr wrap="square"/>
                    <a:lstStyle/>
                    <a:p>
                      <a:r>
                        <a:rPr sz="1300" b="1">
                          <a:solidFill>
                            <a:srgbClr val="FFFFFF"/>
                          </a:solidFill>
                          <a:latin typeface="Source Sans 3"/>
                        </a:rPr>
                        <a:t>Case</a:t>
                      </a:r>
                    </a:p>
                  </a:txBody>
                  <a:tcPr marL="82296" marR="64008" marT="32004" marB="32004" anchor="ctr">
                    <a:solidFill>
                      <a:srgbClr val="8A1626"/>
                    </a:solidFill>
                  </a:tcPr>
                </a:tc>
                <a:tc>
                  <a:txBody>
                    <a:bodyPr wrap="square"/>
                    <a:lstStyle/>
                    <a:p>
                      <a:r>
                        <a:rPr sz="1300" b="1">
                          <a:solidFill>
                            <a:srgbClr val="FFFFFF"/>
                          </a:solidFill>
                          <a:latin typeface="Source Sans 3"/>
                        </a:rPr>
                        <a:t>2.0.0 published</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SUM, AVG, MIN, MAX of a group with only NULLs</a:t>
                      </a:r>
                    </a:p>
                  </a:txBody>
                  <a:tcPr marL="82296" marR="64008" marT="32004" marB="32004" anchor="ctr">
                    <a:solidFill>
                      <a:srgbClr val="FFFFFF"/>
                    </a:solidFill>
                  </a:tcPr>
                </a:tc>
                <a:tc>
                  <a:txBody>
                    <a:bodyPr wrap="square"/>
                    <a:lstStyle/>
                    <a:p>
                      <a:r>
                        <a:rPr sz="1300" b="0">
                          <a:solidFill>
                            <a:srgbClr val="1A1A1A"/>
                          </a:solidFill>
                          <a:latin typeface="Source Sans 3"/>
                        </a:rPr>
                        <a:t>0 — a real total of zero, to a reader</a:t>
                      </a:r>
                    </a:p>
                  </a:txBody>
                  <a:tcPr marL="82296" marR="64008" marT="32004" marB="32004" anchor="ctr">
                    <a:solidFill>
                      <a:srgbClr val="FFFFFF"/>
                    </a:solidFill>
                  </a:tcPr>
                </a:tc>
                <a:tc>
                  <a:txBody>
                    <a:bodyPr wrap="square"/>
                    <a:lstStyle/>
                    <a:p>
                      <a:r>
                        <a:rPr sz="1300" b="0">
                          <a:solidFill>
                            <a:srgbClr val="1A1A1A"/>
                          </a:solidFill>
                          <a:latin typeface="Source Sans 3"/>
                        </a:rPr>
                        <a:t>NULL; COUNT(col) is 0; a retraction back to all-NULL is NULL again (ALLNULLAGG-1)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INT, SMALLINT, TINYINT out of range</a:t>
                      </a:r>
                    </a:p>
                  </a:txBody>
                  <a:tcPr marL="82296" marR="64008" marT="32004" marB="32004" anchor="ctr">
                    <a:solidFill>
                      <a:srgbClr val="F7F5F2"/>
                    </a:solidFill>
                  </a:tcPr>
                </a:tc>
                <a:tc>
                  <a:txBody>
                    <a:bodyPr wrap="square"/>
                    <a:lstStyle/>
                    <a:p>
                      <a:r>
                        <a:rPr sz="1300" b="0">
                          <a:solidFill>
                            <a:srgbClr val="1A1A1A"/>
                          </a:solidFill>
                          <a:latin typeface="Source Sans 3"/>
                        </a:rPr>
                        <a:t>2e9 * 2 as −294,967,296; WHERE i * 2 &gt; 0 kept the row</a:t>
                      </a:r>
                    </a:p>
                  </a:txBody>
                  <a:tcPr marL="82296" marR="64008" marT="32004" marB="32004" anchor="ctr">
                    <a:solidFill>
                      <a:srgbClr val="F7F5F2"/>
                    </a:solidFill>
                  </a:tcPr>
                </a:tc>
                <a:tc>
                  <a:txBody>
                    <a:bodyPr wrap="square"/>
                    <a:lstStyle/>
                    <a:p>
                      <a:r>
                        <a:rPr sz="1300" b="0">
                          <a:solidFill>
                            <a:srgbClr val="1A1A1A"/>
                          </a:solidFill>
                          <a:latin typeface="Source Sans 3"/>
                        </a:rPr>
                        <a:t>An overflow, as BIGINT's is; filter and projection agree (NARROWINT-1)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GROUP BY a DOUBLE holding −0.0, 0.0, NaNs</a:t>
                      </a:r>
                    </a:p>
                  </a:txBody>
                  <a:tcPr marL="82296" marR="64008" marT="32004" marB="32004" anchor="ctr">
                    <a:solidFill>
                      <a:srgbClr val="FFFFFF"/>
                    </a:solidFill>
                  </a:tcPr>
                </a:tc>
                <a:tc>
                  <a:txBody>
                    <a:bodyPr wrap="square"/>
                    <a:lstStyle/>
                    <a:p>
                      <a:r>
                        <a:rPr sz="1300" b="0">
                          <a:solidFill>
                            <a:srgbClr val="1A1A1A"/>
                          </a:solidFill>
                          <a:latin typeface="Source Sans 3"/>
                        </a:rPr>
                        <a:t>Five rows in, counts summing to four</a:t>
                      </a:r>
                    </a:p>
                  </a:txBody>
                  <a:tcPr marL="82296" marR="64008" marT="32004" marB="32004" anchor="ctr">
                    <a:solidFill>
                      <a:srgbClr val="FFFFFF"/>
                    </a:solidFill>
                  </a:tcPr>
                </a:tc>
                <a:tc>
                  <a:txBody>
                    <a:bodyPr wrap="square"/>
                    <a:lstStyle/>
                    <a:p>
                      <a:r>
                        <a:rPr sz="1300" b="0">
                          <a:solidFill>
                            <a:srgbClr val="1A1A1A"/>
                          </a:solidFill>
                          <a:latin typeface="Source Sans 3"/>
                        </a:rPr>
                        <a:t>Either zero is one group, every NaN one (NANGROUP-1)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HOP(10 s slide, 25 s size), a row at 12 s</a:t>
                      </a:r>
                    </a:p>
                  </a:txBody>
                  <a:tcPr marL="82296" marR="64008" marT="32004" marB="32004" anchor="ctr">
                    <a:solidFill>
                      <a:srgbClr val="F7F5F2"/>
                    </a:solidFill>
                  </a:tcPr>
                </a:tc>
                <a:tc>
                  <a:txBody>
                    <a:bodyPr wrap="square"/>
                    <a:lstStyle/>
                    <a:p>
                      <a:r>
                        <a:rPr sz="1300" b="0">
                          <a:solidFill>
                            <a:srgbClr val="1A1A1A"/>
                          </a:solidFill>
                          <a:latin typeface="Source Sans 3"/>
                        </a:rPr>
                        <a:t>Windows [−5, 20) and [5, 30)</a:t>
                      </a:r>
                    </a:p>
                  </a:txBody>
                  <a:tcPr marL="82296" marR="64008" marT="32004" marB="32004" anchor="ctr">
                    <a:solidFill>
                      <a:srgbClr val="F7F5F2"/>
                    </a:solidFill>
                  </a:tcPr>
                </a:tc>
                <a:tc>
                  <a:txBody>
                    <a:bodyPr wrap="square"/>
                    <a:lstStyle/>
                    <a:p>
                      <a:r>
                        <a:rPr sz="1300" b="0">
                          <a:solidFill>
                            <a:srgbClr val="1A1A1A"/>
                          </a:solidFill>
                          <a:latin typeface="Source Sans 3"/>
                        </a:rPr>
                        <a:t>[−10, 15), [0, 25), [10, 35) — as Calcite and Flink (HOPALIGN-1)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HOP(1 ms, 1 day)</a:t>
                      </a:r>
                    </a:p>
                  </a:txBody>
                  <a:tcPr marL="82296" marR="64008" marT="32004" marB="32004" anchor="ctr">
                    <a:solidFill>
                      <a:srgbClr val="FFFFFF"/>
                    </a:solidFill>
                  </a:tcPr>
                </a:tc>
                <a:tc>
                  <a:txBody>
                    <a:bodyPr wrap="square"/>
                    <a:lstStyle/>
                    <a:p>
                      <a:r>
                        <a:rPr sz="1300" b="0">
                          <a:solidFill>
                            <a:srgbClr val="1A1A1A"/>
                          </a:solidFill>
                          <a:latin typeface="Source Sans 3"/>
                        </a:rPr>
                        <a:t>Accepted; one row wedged its lane and stream</a:t>
                      </a:r>
                    </a:p>
                  </a:txBody>
                  <a:tcPr marL="82296" marR="64008" marT="32004" marB="32004" anchor="ctr">
                    <a:solidFill>
                      <a:srgbClr val="FFFFFF"/>
                    </a:solidFill>
                  </a:tcPr>
                </a:tc>
                <a:tc>
                  <a:txBody>
                    <a:bodyPr wrap="square"/>
                    <a:lstStyle/>
                    <a:p>
                      <a:r>
                        <a:rPr sz="1300" b="0">
                          <a:solidFill>
                            <a:srgbClr val="1A1A1A"/>
                          </a:solidFill>
                          <a:latin typeface="Source Sans 3"/>
                        </a:rPr>
                        <a:t>Refused at registration, PRV-3026 (FINEHOP-1)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MIN or MAX over a source that deletes</a:t>
                      </a:r>
                    </a:p>
                  </a:txBody>
                  <a:tcPr marL="82296" marR="64008" marT="32004" marB="32004" anchor="ctr">
                    <a:solidFill>
                      <a:srgbClr val="F7F5F2"/>
                    </a:solidFill>
                  </a:tcPr>
                </a:tc>
                <a:tc>
                  <a:txBody>
                    <a:bodyPr wrap="square"/>
                    <a:lstStyle/>
                    <a:p>
                      <a:r>
                        <a:rPr sz="1300" b="0">
                          <a:solidFill>
                            <a:srgbClr val="1A1A1A"/>
                          </a:solidFill>
                          <a:latin typeface="Source Sans 3"/>
                        </a:rPr>
                        <a:t>Accepted; stopped on the first retraction</a:t>
                      </a:r>
                    </a:p>
                  </a:txBody>
                  <a:tcPr marL="82296" marR="64008" marT="32004" marB="32004" anchor="ctr">
                    <a:solidFill>
                      <a:srgbClr val="F7F5F2"/>
                    </a:solidFill>
                  </a:tcPr>
                </a:tc>
                <a:tc>
                  <a:txBody>
                    <a:bodyPr wrap="square"/>
                    <a:lstStyle/>
                    <a:p>
                      <a:r>
                        <a:rPr sz="1300" b="0">
                          <a:solidFill>
                            <a:srgbClr val="1A1A1A"/>
                          </a:solidFill>
                          <a:latin typeface="Source Sans 3"/>
                        </a:rPr>
                        <a:t>Refused at registration, PRV-2076 (MINRETRACT-1)</a:t>
                      </a:r>
                    </a:p>
                  </a:txBody>
                  <a:tcPr marL="82296" marR="64008" marT="32004" marB="32004" anchor="ctr">
                    <a:solidFill>
                      <a:srgbClr val="F7F5F2"/>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 restart is restored from is checked, and a refusal is visible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19 SIGKILLs at random points lost and doubled nothing: the cut held. What it was restored from, and whether anybody was told, did not.</a:t>
            </a:r>
          </a:p>
        </p:txBody>
      </p:sp>
      <p:graphicFrame>
        <p:nvGraphicFramePr>
          <p:cNvPr id="12" name="Table 11"/>
          <p:cNvGraphicFramePr>
            <a:graphicFrameLocks noGrp="1"/>
          </p:cNvGraphicFramePr>
          <p:nvPr/>
        </p:nvGraphicFramePr>
        <p:xfrm>
          <a:off x="777240" y="1296416"/>
          <a:ext cx="10637214" cy="3532526"/>
        </p:xfrm>
        <a:graphic>
          <a:graphicData uri="http://schemas.openxmlformats.org/drawingml/2006/table">
            <a:tbl>
              <a:tblPr firstRow="1">
                <a:tableStyleId>{5C22544A-7EE6-4342-B048-85BDC9FD1C3A}</a:tableStyleId>
              </a:tblPr>
              <a:tblGrid>
                <a:gridCol w="5490175"/>
                <a:gridCol w="5147039"/>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A flipped bit in a checkpoint was restored and published: 8–10 of 16 flips (CKPTSUM-1)</a:t>
                      </a:r>
                    </a:p>
                  </a:txBody>
                  <a:tcPr marL="82296" marR="64008" marT="32004" marB="32004" anchor="ctr">
                    <a:solidFill>
                      <a:srgbClr val="FFFFFF"/>
                    </a:solidFill>
                  </a:tcPr>
                </a:tc>
                <a:tc>
                  <a:txBody>
                    <a:bodyPr wrap="square"/>
                    <a:lstStyle/>
                    <a:p>
                      <a:r>
                        <a:rPr sz="1300" b="0">
                          <a:solidFill>
                            <a:srgbClr val="1A1A1A"/>
                          </a:solidFill>
                          <a:latin typeface="Source Sans 3"/>
                        </a:rPr>
                        <a:t>A CRC32C ends every checkpoint; a mismatch is skipped (PRV-4094) and the one before restored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checkpoint of another output schema was restored into the view (RETYPERESTORE-1)</a:t>
                      </a:r>
                    </a:p>
                  </a:txBody>
                  <a:tcPr marL="82296" marR="64008" marT="32004" marB="32004" anchor="ctr">
                    <a:solidFill>
                      <a:srgbClr val="F7F5F2"/>
                    </a:solidFill>
                  </a:tcPr>
                </a:tc>
                <a:tc>
                  <a:txBody>
                    <a:bodyPr wrap="square"/>
                    <a:lstStyle/>
                    <a:p>
                      <a:r>
                        <a:rPr sz="1300" b="0">
                          <a:solidFill>
                            <a:srgbClr val="1A1A1A"/>
                          </a:solidFill>
                          <a:latin typeface="Source Sans 3"/>
                        </a:rPr>
                        <a:t>Not restored (PRV-4095); the query rebuilds from its sources</a:t>
                      </a:r>
                    </a:p>
                  </a:txBody>
                  <a:tcPr marL="82296" marR="64008" marT="32004" marB="32004" anchor="ctr">
                    <a:solidFill>
                      <a:srgbClr val="F7F5F2"/>
                    </a:solidFill>
                  </a:tcPr>
                </a:tc>
              </a:tr>
              <a:tr h="535025">
                <a:tc>
                  <a:txBody>
                    <a:bodyPr wrap="square"/>
                    <a:lstStyle/>
                    <a:p>
                      <a:r>
                        <a:rPr sz="1300" b="1">
                          <a:solidFill>
                            <a:srgbClr val="8A1626"/>
                          </a:solidFill>
                          <a:latin typeface="Source Sans 3"/>
                        </a:rPr>
                        <a:t>One damaged length mid-journal dropped every later registration, at every start (JOURNALMID-1)</a:t>
                      </a:r>
                    </a:p>
                  </a:txBody>
                  <a:tcPr marL="82296" marR="64008" marT="32004" marB="32004" anchor="ctr">
                    <a:solidFill>
                      <a:srgbClr val="FFFFFF"/>
                    </a:solidFill>
                  </a:tcPr>
                </a:tc>
                <a:tc>
                  <a:txBody>
                    <a:bodyPr wrap="square"/>
                    <a:lstStyle/>
                    <a:p>
                      <a:r>
                        <a:rPr sz="1300" b="0">
                          <a:solidFill>
                            <a:srgbClr val="1A1A1A"/>
                          </a:solidFill>
                          <a:latin typeface="Source Sans 3"/>
                        </a:rPr>
                        <a:t>The start is refused, PRV-8005, naming both byte offsets</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shared computation's surviving name came back empty (SHAREDLOSS-1)</a:t>
                      </a:r>
                    </a:p>
                  </a:txBody>
                  <a:tcPr marL="82296" marR="64008" marT="32004" marB="32004" anchor="ctr">
                    <a:solidFill>
                      <a:srgbClr val="F7F5F2"/>
                    </a:solidFill>
                  </a:tcPr>
                </a:tc>
                <a:tc>
                  <a:txBody>
                    <a:bodyPr wrap="square"/>
                    <a:lstStyle/>
                    <a:p>
                      <a:r>
                        <a:rPr sz="1300" b="0">
                          <a:solidFill>
                            <a:srgbClr val="1A1A1A"/>
                          </a:solidFill>
                          <a:latin typeface="Source Sans 3"/>
                        </a:rPr>
                        <a:t>Its checkpoint home is journalled with the drop</a:t>
                      </a:r>
                    </a:p>
                  </a:txBody>
                  <a:tcPr marL="82296" marR="64008" marT="32004" marB="32004" anchor="ctr">
                    <a:solidFill>
                      <a:srgbClr val="F7F5F2"/>
                    </a:solidFill>
                  </a:tcPr>
                </a:tc>
              </a:tr>
              <a:tr h="535025">
                <a:tc>
                  <a:txBody>
                    <a:bodyPr wrap="square"/>
                    <a:lstStyle/>
                    <a:p>
                      <a:r>
                        <a:rPr sz="1300" b="1">
                          <a:solidFill>
                            <a:srgbClr val="8A1626"/>
                          </a:solidFill>
                          <a:latin typeface="Source Sans 3"/>
                        </a:rPr>
                        <a:t>A registration refused at recovery vanished; health UP (RECOVERYHEALTH-1)</a:t>
                      </a:r>
                    </a:p>
                  </a:txBody>
                  <a:tcPr marL="82296" marR="64008" marT="32004" marB="32004" anchor="ctr">
                    <a:solidFill>
                      <a:srgbClr val="FFFFFF"/>
                    </a:solidFill>
                  </a:tcPr>
                </a:tc>
                <a:tc>
                  <a:txBody>
                    <a:bodyPr wrap="square"/>
                    <a:lstStyle/>
                    <a:p>
                      <a:r>
                        <a:rPr sz="1300" b="0">
                          <a:solidFill>
                            <a:srgbClr val="1A1A1A"/>
                          </a:solidFill>
                          <a:latin typeface="Source Sans 3"/>
                        </a:rPr>
                        <a:t>Listed FAILED with its code; health DEGRADED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dropped CDC slot or deleted topic: RUNNING, UP, changes lost (CDCSLOT-1, TOPICGONE-1)</a:t>
                      </a:r>
                    </a:p>
                  </a:txBody>
                  <a:tcPr marL="82296" marR="64008" marT="32004" marB="32004" anchor="ctr">
                    <a:solidFill>
                      <a:srgbClr val="F7F5F2"/>
                    </a:solidFill>
                  </a:tcPr>
                </a:tc>
                <a:tc>
                  <a:txBody>
                    <a:bodyPr wrap="square"/>
                    <a:lstStyle/>
                    <a:p>
                      <a:r>
                        <a:rPr sz="1300" b="0">
                          <a:solidFill>
                            <a:srgbClr val="1A1A1A"/>
                          </a:solidFill>
                          <a:latin typeface="Source Sans 3"/>
                        </a:rPr>
                        <a:t>The feed stops, PRV-5117 or PRV-5130; health DEGRADED</a:t>
                      </a:r>
                    </a:p>
                  </a:txBody>
                  <a:tcPr marL="82296" marR="64008" marT="32004" marB="32004" anchor="ctr">
                    <a:solidFill>
                      <a:srgbClr val="F7F5F2"/>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5</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Scale on one node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Thousands of continuous queries on one node, at a thread and memory cost that stops following the query count — and an operator who can see, and change, where each one runs.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lane is, and why it has no locks</a:t>
            </a:r>
          </a:p>
          <a:p>
            <a:pPr>
              <a:lnSpc>
                <a:spcPct val="115000"/>
              </a:lnSpc>
              <a:spcBef>
                <a:spcPts val="0"/>
              </a:spcBef>
              <a:spcAft>
                <a:spcPts val="600"/>
              </a:spcAft>
            </a:pPr>
            <a:r>
              <a:rPr sz="1250" b="0" i="0">
                <a:solidFill>
                  <a:srgbClr val="F6E6E9"/>
                </a:solidFill>
                <a:latin typeface="Source Sans 3"/>
              </a:rPr>
              <a:t>Threads follow cores, not queries</a:t>
            </a:r>
          </a:p>
          <a:p>
            <a:pPr>
              <a:lnSpc>
                <a:spcPct val="115000"/>
              </a:lnSpc>
              <a:spcBef>
                <a:spcPts val="0"/>
              </a:spcBef>
              <a:spcAft>
                <a:spcPts val="600"/>
              </a:spcAft>
            </a:pPr>
            <a:r>
              <a:rPr sz="1250" b="0" i="0">
                <a:solidFill>
                  <a:srgbClr val="F6E6E9"/>
                </a:solidFill>
                <a:latin typeface="Source Sans 3"/>
              </a:rPr>
              <a:t>Sharing lanes: the auto mode</a:t>
            </a:r>
          </a:p>
          <a:p>
            <a:pPr>
              <a:lnSpc>
                <a:spcPct val="115000"/>
              </a:lnSpc>
              <a:spcBef>
                <a:spcPts val="0"/>
              </a:spcBef>
              <a:spcAft>
                <a:spcPts val="600"/>
              </a:spcAft>
            </a:pPr>
            <a:r>
              <a:rPr sz="1250" b="0" i="0">
                <a:solidFill>
                  <a:srgbClr val="F6E6E9"/>
                </a:solidFill>
                <a:latin typeface="Source Sans 3"/>
              </a:rPr>
              <a:t>One row written once per lane</a:t>
            </a:r>
          </a:p>
          <a:p>
            <a:pPr>
              <a:lnSpc>
                <a:spcPct val="115000"/>
              </a:lnSpc>
              <a:spcBef>
                <a:spcPts val="0"/>
              </a:spcBef>
              <a:spcAft>
                <a:spcPts val="600"/>
              </a:spcAft>
            </a:pPr>
            <a:r>
              <a:rPr sz="1250" b="0" i="0">
                <a:solidFill>
                  <a:srgbClr val="F6E6E9"/>
                </a:solidFill>
                <a:latin typeface="Source Sans 3"/>
              </a:rPr>
              <a:t>Dedicated lanes and admin rebalance</a:t>
            </a:r>
          </a:p>
          <a:p>
            <a:pPr>
              <a:lnSpc>
                <a:spcPct val="115000"/>
              </a:lnSpc>
              <a:spcBef>
                <a:spcPts val="0"/>
              </a:spcBef>
              <a:spcAft>
                <a:spcPts val="600"/>
              </a:spcAft>
            </a:pPr>
            <a:r>
              <a:rPr sz="1250" b="0" i="0">
                <a:solidFill>
                  <a:srgbClr val="F6E6E9"/>
                </a:solidFill>
                <a:latin typeface="Source Sans 3"/>
              </a:rPr>
              <a:t>One reader at an exact seam (ADR-054)</a:t>
            </a:r>
          </a:p>
          <a:p>
            <a:pPr>
              <a:lnSpc>
                <a:spcPct val="115000"/>
              </a:lnSpc>
              <a:spcBef>
                <a:spcPts val="0"/>
              </a:spcBef>
              <a:spcAft>
                <a:spcPts val="600"/>
              </a:spcAft>
            </a:pPr>
            <a:r>
              <a:rPr sz="1250" b="0" i="0">
                <a:solidFill>
                  <a:srgbClr val="F6E6E9"/>
                </a:solidFill>
                <a:latin typeface="Source Sans 3"/>
              </a:rPr>
              <a:t>An equality index (ADR-055)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EXECUTION MODEL</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One thread, one inbox, one arena, one processor, one loop</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full inbox backpressures the source rather than spilling; a row wider than a cell is refused at ingest (PRV-3001) rather than buffered.</a:t>
            </a:r>
          </a:p>
        </p:txBody>
      </p:sp>
      <p:sp>
        <p:nvSpPr>
          <p:cNvPr id="12" name="Rectangle 11"/>
          <p:cNvSpPr/>
          <p:nvPr/>
        </p:nvSpPr>
        <p:spPr>
          <a:xfrm>
            <a:off x="777240"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THE LANE</a:t>
            </a:r>
          </a:p>
        </p:txBody>
      </p:sp>
      <p:sp>
        <p:nvSpPr>
          <p:cNvPr id="15" name="TextBox 14"/>
          <p:cNvSpPr txBox="1"/>
          <p:nvPr/>
        </p:nvSpPr>
        <p:spPr>
          <a:xfrm>
            <a:off x="960120"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Everything it touches, it owns</a:t>
            </a:r>
          </a:p>
        </p:txBody>
      </p:sp>
      <p:sp>
        <p:nvSpPr>
          <p:cNvPr id="16" name="TextBox 15"/>
          <p:cNvSpPr txBox="1"/>
          <p:nvPr/>
        </p:nvSpPr>
        <p:spPr>
          <a:xfrm>
            <a:off x="960120"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off-heap inbox ring many producers write and one lane reads; off-heap arena slabs rewound once per batch; its own compiled pipeline. Rows are flyweights over bytes in a cell, not copies.</a:t>
            </a:r>
          </a:p>
        </p:txBody>
      </p:sp>
      <p:sp>
        <p:nvSpPr>
          <p:cNvPr id="17" name="Rectangle 16"/>
          <p:cNvSpPr/>
          <p:nvPr/>
        </p:nvSpPr>
        <p:spPr>
          <a:xfrm>
            <a:off x="4377842"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NO LOCKS</a:t>
            </a:r>
          </a:p>
        </p:txBody>
      </p:sp>
      <p:sp>
        <p:nvSpPr>
          <p:cNvPr id="20" name="TextBox 19"/>
          <p:cNvSpPr txBox="1"/>
          <p:nvPr/>
        </p:nvSpPr>
        <p:spPr>
          <a:xfrm>
            <a:off x="4560722"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Confinement is the correctness model</a:t>
            </a:r>
          </a:p>
        </p:txBody>
      </p:sp>
      <p:sp>
        <p:nvSpPr>
          <p:cNvPr id="21" name="TextBox 20"/>
          <p:cNvSpPr txBox="1"/>
          <p:nvPr/>
        </p:nvSpPr>
        <p:spPr>
          <a:xfrm>
            <a:off x="4560722"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synchronized, no concurrent map, no CAS on a shared aggregate in the steady state. A key hashes to one of 1024 virtual partitions, and a partition belongs to one lane.</a:t>
            </a:r>
          </a:p>
        </p:txBody>
      </p:sp>
      <p:sp>
        <p:nvSpPr>
          <p:cNvPr id="22" name="Rectangle 21"/>
          <p:cNvSpPr/>
          <p:nvPr/>
        </p:nvSpPr>
        <p:spPr>
          <a:xfrm>
            <a:off x="7978444"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ONE THREAD AT A TIME</a:t>
            </a:r>
          </a:p>
        </p:txBody>
      </p:sp>
      <p:sp>
        <p:nvSpPr>
          <p:cNvPr id="25" name="TextBox 24"/>
          <p:cNvSpPr txBox="1"/>
          <p:nvPr/>
        </p:nvSpPr>
        <p:spPr>
          <a:xfrm>
            <a:off x="8161324"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Not one thread per lane</a:t>
            </a:r>
          </a:p>
        </p:txBody>
      </p:sp>
      <p:sp>
        <p:nvSpPr>
          <p:cNvPr id="26" name="TextBox 25"/>
          <p:cNvSpPr txBox="1"/>
          <p:nvPr/>
        </p:nvSpPr>
        <p:spPr>
          <a:xfrm>
            <a:off x="8161324" y="2143810"/>
            <a:ext cx="3070250" cy="339928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fixed pool of one thread per core steps many lanes in turn, the event-loop shape. A lane stays on its runner thread, so every ordering rule still holds.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ON THE DEVELOPMENT MACHINE, JDK 25, 2026-10-04</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Threads follow cores, not queries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Added by 200 queries on 24 cores — where they once added 400</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Off-heap per idle query on a lane of its own; 1.3 MiB active</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2.6 ms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To register each of a thousand distinct continuous queries (3.7 ms on JDK 21)</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62 MiB</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for those thousand, at the advised inbox sizing</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per-query megabyte is the inbox</a:t>
            </a:r>
          </a:p>
          <a:p>
            <a:pPr lvl="1">
              <a:lnSpc>
                <a:spcPct val="120000"/>
              </a:lnSpc>
              <a:spcBef>
                <a:spcPts val="0"/>
              </a:spcBef>
              <a:spcAft>
                <a:spcPts val="0"/>
              </a:spcAft>
            </a:pPr>
            <a:r>
              <a:rPr sz="1450" b="0">
                <a:solidFill>
                  <a:srgbClr val="4A5058"/>
                </a:solidFill>
                <a:latin typeface="Source Sans 3"/>
              </a:rPr>
              <a:t>2,048 cells × 512 bytes = 1,024 KiB. Sized to 256 × 256 for a slow source, it is 64 KiB — about 64 MB for a thousand queries rather than a gigabyte.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No per-query platform thread is left</a:t>
            </a:r>
          </a:p>
          <a:p>
            <a:pPr lvl="1">
              <a:lnSpc>
                <a:spcPct val="120000"/>
              </a:lnSpc>
              <a:spcBef>
                <a:spcPts val="0"/>
              </a:spcBef>
              <a:spcAft>
                <a:spcPts val="0"/>
              </a:spcAft>
            </a:pPr>
            <a:r>
              <a:rPr sz="1450" b="0">
                <a:solidFill>
                  <a:srgbClr val="4A5058"/>
                </a:solidFill>
                <a:latin typeface="Source Sans 3"/>
              </a:rPr>
              <a:t>Lanes share the runner pool; periodic work shares one process-wide clock; the feed loop and Flight's call executor are virtual; Aerospike shares one client per cluster per credential.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LANES · THE DEFAULT IS AUTO</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Isolation while it is cheap, sharing once memory binds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pravaha.lane.multiplex.*</a:t>
            </a:r>
          </a:p>
        </p:txBody>
      </p:sp>
      <p:graphicFrame>
        <p:nvGraphicFramePr>
          <p:cNvPr id="13" name="Table 12"/>
          <p:cNvGraphicFramePr>
            <a:graphicFrameLocks noGrp="1"/>
          </p:cNvGraphicFramePr>
          <p:nvPr/>
        </p:nvGraphicFramePr>
        <p:xfrm>
          <a:off x="777240" y="1890267"/>
          <a:ext cx="5135726" cy="3795621"/>
        </p:xfrm>
        <a:graphic>
          <a:graphicData uri="http://schemas.openxmlformats.org/drawingml/2006/table">
            <a:tbl>
              <a:tblPr firstRow="1">
                <a:tableStyleId>{5C22544A-7EE6-4342-B048-85BDC9FD1C3A}</a:tableStyleId>
              </a:tblPr>
              <a:tblGrid>
                <a:gridCol w="1750816"/>
                <a:gridCol w="817047"/>
                <a:gridCol w="2567863"/>
              </a:tblGrid>
              <a:tr h="747674">
                <a:tc>
                  <a:txBody>
                    <a:bodyPr wrap="square"/>
                    <a:lstStyle/>
                    <a:p>
                      <a:r>
                        <a:rPr sz="1300" b="1">
                          <a:solidFill>
                            <a:srgbClr val="FFFFFF"/>
                          </a:solidFill>
                          <a:latin typeface="Source Sans 3"/>
                        </a:rPr>
                        <a:t>Key</a:t>
                      </a:r>
                    </a:p>
                  </a:txBody>
                  <a:tcPr marL="82296" marR="64008" marT="32004" marB="32004" anchor="ctr">
                    <a:solidFill>
                      <a:srgbClr val="8A1626"/>
                    </a:solidFill>
                  </a:tcPr>
                </a:tc>
                <a:tc>
                  <a:txBody>
                    <a:bodyPr wrap="square"/>
                    <a:lstStyle/>
                    <a:p>
                      <a:r>
                        <a:rPr sz="1300" b="1">
                          <a:solidFill>
                            <a:srgbClr val="FFFFFF"/>
                          </a:solidFill>
                          <a:latin typeface="Source Sans 3"/>
                        </a:rPr>
                        <a:t>Default</a:t>
                      </a:r>
                    </a:p>
                  </a:txBody>
                  <a:tcPr marL="82296" marR="64008" marT="32004" marB="32004" anchor="ctr">
                    <a:solidFill>
                      <a:srgbClr val="8A1626"/>
                    </a:solidFill>
                  </a:tcPr>
                </a:tc>
                <a:tc>
                  <a:txBody>
                    <a:bodyPr wrap="square"/>
                    <a:lstStyle/>
                    <a:p>
                      <a:r>
                        <a:rPr sz="1300" b="1">
                          <a:solidFill>
                            <a:srgbClr val="FFFFFF"/>
                          </a:solidFill>
                          <a:latin typeface="Source Sans 3"/>
                        </a:rPr>
                        <a:t>Decides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enabled</a:t>
                      </a:r>
                    </a:p>
                  </a:txBody>
                  <a:tcPr marL="82296" marR="64008" marT="32004" marB="32004" anchor="ctr">
                    <a:solidFill>
                      <a:srgbClr val="FFFFFF"/>
                    </a:solidFill>
                  </a:tcPr>
                </a:tc>
                <a:tc>
                  <a:txBody>
                    <a:bodyPr wrap="square"/>
                    <a:lstStyle/>
                    <a:p>
                      <a:r>
                        <a:rPr sz="1450" b="0">
                          <a:solidFill>
                            <a:srgbClr val="1A1A1A"/>
                          </a:solidFill>
                          <a:latin typeface="Source Sans 3"/>
                        </a:rPr>
                        <a:t>auto</a:t>
                      </a:r>
                    </a:p>
                  </a:txBody>
                  <a:tcPr marL="82296" marR="64008" marT="32004" marB="32004" anchor="ctr">
                    <a:solidFill>
                      <a:srgbClr val="FFFFFF"/>
                    </a:solidFill>
                  </a:tcPr>
                </a:tc>
                <a:tc>
                  <a:txBody>
                    <a:bodyPr wrap="square"/>
                    <a:lstStyle/>
                    <a:p>
                      <a:r>
                        <a:rPr sz="1450" b="0">
                          <a:solidFill>
                            <a:srgbClr val="1A1A1A"/>
                          </a:solidFill>
                          <a:latin typeface="Source Sans 3"/>
                        </a:rPr>
                        <a:t>auto shares after auto-from; true always; false never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auto-from</a:t>
                      </a:r>
                    </a:p>
                  </a:txBody>
                  <a:tcPr marL="82296" marR="64008" marT="32004" marB="32004" anchor="ctr">
                    <a:solidFill>
                      <a:srgbClr val="F7F5F2"/>
                    </a:solidFill>
                  </a:tcPr>
                </a:tc>
                <a:tc>
                  <a:txBody>
                    <a:bodyPr wrap="square"/>
                    <a:lstStyle/>
                    <a:p>
                      <a:r>
                        <a:rPr sz="1450" b="0">
                          <a:solidFill>
                            <a:srgbClr val="1A1A1A"/>
                          </a:solidFill>
                          <a:latin typeface="Source Sans 3"/>
                        </a:rPr>
                        <a:t>64</a:t>
                      </a:r>
                    </a:p>
                  </a:txBody>
                  <a:tcPr marL="82296" marR="64008" marT="32004" marB="32004" anchor="ctr">
                    <a:solidFill>
                      <a:srgbClr val="F7F5F2"/>
                    </a:solidFill>
                  </a:tcPr>
                </a:tc>
                <a:tc>
                  <a:txBody>
                    <a:bodyPr wrap="square"/>
                    <a:lstStyle/>
                    <a:p>
                      <a:r>
                        <a:rPr sz="1450" b="0">
                          <a:solidFill>
                            <a:srgbClr val="1A1A1A"/>
                          </a:solidFill>
                          <a:latin typeface="Source Sans 3"/>
                        </a:rPr>
                        <a:t>Queries that own a lane before sharing starts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lanes</a:t>
                      </a:r>
                    </a:p>
                  </a:txBody>
                  <a:tcPr marL="82296" marR="64008" marT="32004" marB="32004" anchor="ctr">
                    <a:solidFill>
                      <a:srgbClr val="FFFFFF"/>
                    </a:solidFill>
                  </a:tcPr>
                </a:tc>
                <a:tc>
                  <a:txBody>
                    <a:bodyPr wrap="square"/>
                    <a:lstStyle/>
                    <a:p>
                      <a:r>
                        <a:rPr sz="1450" b="0">
                          <a:solidFill>
                            <a:srgbClr val="1A1A1A"/>
                          </a:solidFill>
                          <a:latin typeface="Source Sans 3"/>
                        </a:rPr>
                        <a:t>0</a:t>
                      </a:r>
                    </a:p>
                  </a:txBody>
                  <a:tcPr marL="82296" marR="64008" marT="32004" marB="32004" anchor="ctr">
                    <a:solidFill>
                      <a:srgbClr val="FFFFFF"/>
                    </a:solidFill>
                  </a:tcPr>
                </a:tc>
                <a:tc>
                  <a:txBody>
                    <a:bodyPr wrap="square"/>
                    <a:lstStyle/>
                    <a:p>
                      <a:r>
                        <a:rPr sz="1450" b="0">
                          <a:solidFill>
                            <a:srgbClr val="1A1A1A"/>
                          </a:solidFill>
                          <a:latin typeface="Source Sans 3"/>
                        </a:rPr>
                        <a:t>Shared lanes; 0 is one per processor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max-queries-per-lane</a:t>
                      </a:r>
                    </a:p>
                  </a:txBody>
                  <a:tcPr marL="82296" marR="64008" marT="32004" marB="32004" anchor="ctr">
                    <a:solidFill>
                      <a:srgbClr val="F7F5F2"/>
                    </a:solidFill>
                  </a:tcPr>
                </a:tc>
                <a:tc>
                  <a:txBody>
                    <a:bodyPr wrap="square"/>
                    <a:lstStyle/>
                    <a:p>
                      <a:r>
                        <a:rPr sz="1450" b="0">
                          <a:solidFill>
                            <a:srgbClr val="1A1A1A"/>
                          </a:solidFill>
                          <a:latin typeface="Source Sans 3"/>
                        </a:rPr>
                        <a:t>300</a:t>
                      </a:r>
                    </a:p>
                  </a:txBody>
                  <a:tcPr marL="82296" marR="64008" marT="32004" marB="32004" anchor="ctr">
                    <a:solidFill>
                      <a:srgbClr val="F7F5F2"/>
                    </a:solidFill>
                  </a:tcPr>
                </a:tc>
                <a:tc>
                  <a:txBody>
                    <a:bodyPr wrap="square"/>
                    <a:lstStyle/>
                    <a:p>
                      <a:r>
                        <a:rPr sz="1450" b="0">
                          <a:solidFill>
                            <a:srgbClr val="1A1A1A"/>
                          </a:solidFill>
                          <a:latin typeface="Source Sans 3"/>
                        </a:rPr>
                        <a:t>The ceiling on one shared lane</a:t>
                      </a:r>
                    </a:p>
                  </a:txBody>
                  <a:tcPr marL="82296" marR="64008" marT="32004" marB="32004" anchor="ctr">
                    <a:solidFill>
                      <a:srgbClr val="F7F5F2"/>
                    </a:solidFill>
                  </a:tcPr>
                </a:tc>
              </a:tr>
            </a:tbl>
          </a:graphicData>
        </a:graphic>
      </p:graphicFrame>
      <p:sp>
        <p:nvSpPr>
          <p:cNvPr id="14" name="Rectangle 13"/>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How a registration is placed</a:t>
            </a:r>
          </a:p>
        </p:txBody>
      </p:sp>
      <p:sp>
        <p:nvSpPr>
          <p:cNvPr id="17" name="TextBox 16"/>
          <p:cNvSpPr txBox="1"/>
          <p:nvPr/>
        </p:nvSpPr>
        <p:spPr>
          <a:xfrm>
            <a:off x="6278727" y="1890267"/>
            <a:ext cx="5135727" cy="435508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Least loaded shared lane wins</a:t>
            </a:r>
          </a:p>
          <a:p>
            <a:pPr lvl="1">
              <a:lnSpc>
                <a:spcPct val="120000"/>
              </a:lnSpc>
              <a:spcBef>
                <a:spcPts val="0"/>
              </a:spcBef>
              <a:spcAft>
                <a:spcPts val="0"/>
              </a:spcAft>
            </a:pPr>
            <a:r>
              <a:rPr sz="1400" b="0">
                <a:solidFill>
                  <a:srgbClr val="4A5058"/>
                </a:solidFill>
                <a:latin typeface="Source Sans 3"/>
              </a:rPr>
              <a:t>By query count, below the ceiling. What it reads does not matter — joins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Nowhere to fit is not a refusal</a:t>
            </a:r>
          </a:p>
          <a:p>
            <a:pPr lvl="1">
              <a:lnSpc>
                <a:spcPct val="120000"/>
              </a:lnSpc>
              <a:spcBef>
                <a:spcPts val="0"/>
              </a:spcBef>
              <a:spcAft>
                <a:spcPts val="0"/>
              </a:spcAft>
            </a:pPr>
            <a:r>
              <a:rPr sz="1400" b="0">
                <a:solidFill>
                  <a:srgbClr val="4A5058"/>
                </a:solidFill>
                <a:latin typeface="Source Sans 3"/>
              </a:rPr>
              <a:t>It gets a lane of its own, visible as pravaha_lane_own_queries.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shared lane shares its fate</a:t>
            </a:r>
          </a:p>
          <a:p>
            <a:pPr lvl="1">
              <a:lnSpc>
                <a:spcPct val="120000"/>
              </a:lnSpc>
              <a:spcBef>
                <a:spcPts val="0"/>
              </a:spcBef>
              <a:spcAft>
                <a:spcPts val="0"/>
              </a:spcAft>
            </a:pPr>
            <a:r>
              <a:rPr sz="1400" b="0">
                <a:solidFill>
                  <a:srgbClr val="4A5058"/>
                </a:solidFill>
                <a:latin typeface="Source Sans 3"/>
              </a:rPr>
              <a:t>A throwing pipeline takes down every query on the lane — the reason the first 64 own one.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Running queries are never moved</a:t>
            </a:r>
          </a:p>
          <a:p>
            <a:pPr lvl="1">
              <a:lnSpc>
                <a:spcPct val="120000"/>
              </a:lnSpc>
              <a:spcBef>
                <a:spcPts val="0"/>
              </a:spcBef>
              <a:spcAft>
                <a:spcPts val="0"/>
              </a:spcAft>
            </a:pPr>
            <a:r>
              <a:rPr sz="1400" b="0">
                <a:solidFill>
                  <a:srgbClr val="4A5058"/>
                </a:solidFill>
                <a:latin typeface="Source Sans 3"/>
              </a:rPr>
              <a:t>A restart re-places every query in journal order.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WHAT IS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row is written once per lane, not once per query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copies</a:t>
            </a:r>
          </a:p>
        </p:txBody>
      </p:sp>
      <p:sp>
        <p:nvSpPr>
          <p:cNvPr id="13" name="TextBox 12"/>
          <p:cNvSpPr txBox="1"/>
          <p:nvPr/>
        </p:nvSpPr>
        <p:spPr>
          <a:xfrm>
            <a:off x="978408"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each row, for 1,000 queries over one source on 8 shared lanes</a:t>
            </a:r>
          </a:p>
        </p:txBody>
      </p:sp>
      <p:sp>
        <p:nvSpPr>
          <p:cNvPr id="14" name="Rectangle 13"/>
          <p:cNvSpPr/>
          <p:nvPr/>
        </p:nvSpPr>
        <p:spPr>
          <a:xfrm>
            <a:off x="4390034"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0034"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1202"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1,000 copies</a:t>
            </a:r>
          </a:p>
        </p:txBody>
      </p:sp>
      <p:sp>
        <p:nvSpPr>
          <p:cNvPr id="17" name="TextBox 16"/>
          <p:cNvSpPr txBox="1"/>
          <p:nvPr/>
        </p:nvSpPr>
        <p:spPr>
          <a:xfrm>
            <a:off x="4591202"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The same queries on lanes of their own</a:t>
            </a:r>
          </a:p>
        </p:txBody>
      </p:sp>
      <p:sp>
        <p:nvSpPr>
          <p:cNvPr id="18" name="Rectangle 17"/>
          <p:cNvSpPr/>
          <p:nvPr/>
        </p:nvSpPr>
        <p:spPr>
          <a:xfrm>
            <a:off x="8002828"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2828"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3996"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MiB</a:t>
            </a:r>
          </a:p>
        </p:txBody>
      </p:sp>
      <p:sp>
        <p:nvSpPr>
          <p:cNvPr id="21" name="TextBox 20"/>
          <p:cNvSpPr txBox="1"/>
          <p:nvPr/>
        </p:nvSpPr>
        <p:spPr>
          <a:xfrm>
            <a:off x="8203996"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inboxes at the defaults, shared — against about 1 GB</a:t>
            </a:r>
          </a:p>
        </p:txBody>
      </p:sp>
      <p:sp>
        <p:nvSpPr>
          <p:cNvPr id="22" name="TextBox 21"/>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One shared reader writes each row into a shared lane once</a:t>
            </a:r>
          </a:p>
          <a:p>
            <a:pPr lvl="1">
              <a:lnSpc>
                <a:spcPct val="120000"/>
              </a:lnSpc>
              <a:spcBef>
                <a:spcPts val="0"/>
              </a:spcBef>
              <a:spcAft>
                <a:spcPts val="0"/>
              </a:spcAft>
            </a:pPr>
            <a:r>
              <a:rPr sz="1450" b="0">
                <a:solidFill>
                  <a:srgbClr val="4A5058"/>
                </a:solidFill>
                <a:latin typeface="Source Sans 3"/>
              </a:rPr>
              <a:t>Every query on that lane reading it is handed the one copy (LANE-2); what a query is fed alone travels on its own route and reaches no other.</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slow neighbour drops nothing</a:t>
            </a:r>
          </a:p>
          <a:p>
            <a:pPr lvl="1">
              <a:lnSpc>
                <a:spcPct val="120000"/>
              </a:lnSpc>
              <a:spcBef>
                <a:spcPts val="0"/>
              </a:spcBef>
              <a:spcAft>
                <a:spcPts val="0"/>
              </a:spcAft>
            </a:pPr>
            <a:r>
              <a:rPr sz="1450" b="0">
                <a:solidFill>
                  <a:srgbClr val="4A5058"/>
                </a:solidFill>
                <a:latin typeface="Source Sans 3"/>
              </a:rPr>
              <a:t>It slows the lane's drain for every query on it; a full inbox holds everything feeding the lane, and a lane that frees no cell for 30 seconds fails the feed with PRV-3002 rather than hanging it.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Identical questions are one computation</a:t>
            </a:r>
          </a:p>
          <a:p>
            <a:pPr lvl="1">
              <a:lnSpc>
                <a:spcPct val="120000"/>
              </a:lnSpc>
              <a:spcBef>
                <a:spcPts val="0"/>
              </a:spcBef>
              <a:spcAft>
                <a:spcPts val="0"/>
              </a:spcAft>
            </a:pPr>
            <a:r>
              <a:rPr sz="1450" b="0">
                <a:solidFill>
                  <a:srgbClr val="4A5058"/>
                </a:solidFill>
                <a:latin typeface="Source Sans 3"/>
              </a:rPr>
              <a:t>Within a tenant, matched on the normalised plan: ten desks asking the same thing cost one read of the source.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DEDICATED LANES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Keeping one query on a lane of its own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1410919"/>
            <a:ext cx="5667588" cy="274147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741472"/>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339136"/>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a lane of its own, whatever the node's mode</a:t>
            </a:r>
          </a:p>
          <a:p>
            <a:pPr>
              <a:lnSpc>
                <a:spcPct val="100000"/>
              </a:lnSpc>
              <a:spcBef>
                <a:spcPts val="0"/>
              </a:spcBef>
              <a:spcAft>
                <a:spcPts val="0"/>
              </a:spcAft>
            </a:pPr>
            <a:r>
              <a:rPr sz="1300" b="0" i="0">
                <a:solidFill>
                  <a:srgbClr val="F1EEE9"/>
                </a:solidFill>
                <a:latin typeface="Consolas"/>
              </a:rPr>
              <a:t>CREATE CONTINUOUS QUERY &lt;name&gt;</a:t>
            </a:r>
          </a:p>
          <a:p>
            <a:pPr>
              <a:lnSpc>
                <a:spcPct val="100000"/>
              </a:lnSpc>
              <a:spcBef>
                <a:spcPts val="0"/>
              </a:spcBef>
              <a:spcAft>
                <a:spcPts val="0"/>
              </a:spcAft>
            </a:pPr>
            <a:r>
              <a:rPr sz="1300" b="0" i="0">
                <a:solidFill>
                  <a:srgbClr val="F1EEE9"/>
                </a:solidFill>
                <a:latin typeface="Consolas"/>
              </a:rPr>
              <a:t>    WITH (lane = 'dedicated') AS &lt;SQL&gt;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move a running query: a lossless cutover</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'dedicated') AS &lt;the same 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and back, under the node's mode</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'shared') AS &lt;the same SQL&gt;</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When isolation is worth an inbox</a:t>
            </a:r>
          </a:p>
          <a:p>
            <a:pPr lvl="1">
              <a:lnSpc>
                <a:spcPct val="120000"/>
              </a:lnSpc>
              <a:spcBef>
                <a:spcPts val="0"/>
              </a:spcBef>
              <a:spcAft>
                <a:spcPts val="0"/>
              </a:spcAft>
            </a:pPr>
            <a:r>
              <a:rPr sz="1450" b="0">
                <a:solidFill>
                  <a:srgbClr val="4A5058"/>
                </a:solidFill>
                <a:latin typeface="Source Sans 3"/>
              </a:rPr>
              <a:t>'shared', the default, follows the node's mode; anything else is PRV-8017.</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survives a restart</a:t>
            </a:r>
          </a:p>
          <a:p>
            <a:pPr lvl="1">
              <a:lnSpc>
                <a:spcPct val="120000"/>
              </a:lnSpc>
              <a:spcBef>
                <a:spcPts val="0"/>
              </a:spcBef>
              <a:spcAft>
                <a:spcPts val="0"/>
              </a:spcAft>
            </a:pPr>
            <a:r>
              <a:rPr sz="1450" b="0">
                <a:solidFill>
                  <a:srgbClr val="4A5058"/>
                </a:solidFill>
                <a:latin typeface="Source Sans 3"/>
              </a:rPr>
              <a:t>Journalled as an L record beside the registration; an older build refuses the journal by name rather than replaying the query onto a shared 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Where each query runs is visible</a:t>
            </a:r>
          </a:p>
          <a:p>
            <a:pPr lvl="1">
              <a:lnSpc>
                <a:spcPct val="120000"/>
              </a:lnSpc>
              <a:spcBef>
                <a:spcPts val="0"/>
              </a:spcBef>
              <a:spcAft>
                <a:spcPts val="0"/>
              </a:spcAft>
            </a:pPr>
            <a:r>
              <a:rPr sz="1450" b="0">
                <a:solidFill>
                  <a:srgbClr val="4A5058"/>
                </a:solidFill>
                <a:latin typeface="Source Sans 3"/>
              </a:rPr>
              <a:t>GET /api/v1/queries/{name} reports lane — dedicated, shared or own — and sharedLane.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One refusal</a:t>
            </a:r>
          </a:p>
          <a:p>
            <a:pPr lvl="1">
              <a:lnSpc>
                <a:spcPct val="120000"/>
              </a:lnSpc>
              <a:spcBef>
                <a:spcPts val="0"/>
              </a:spcBef>
              <a:spcAft>
                <a:spcPts val="0"/>
              </a:spcAft>
            </a:pPr>
            <a:r>
              <a:rPr sz="1450" b="0">
                <a:solidFill>
                  <a:srgbClr val="4A5058"/>
                </a:solidFill>
                <a:latin typeface="Source Sans 3"/>
              </a:rPr>
              <a:t>A dedicated registration that would join a computation already on a shared lane: PRV-8017.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ADMIN REBALANCE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Rebalancing is an administrator's action, never automatic</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Preview</a:t>
            </a:r>
          </a:p>
        </p:txBody>
      </p:sp>
      <p:sp>
        <p:nvSpPr>
          <p:cNvPr id="13" name="TextBox 12"/>
          <p:cNvSpPr txBox="1"/>
          <p:nvPr/>
        </p:nvSpPr>
        <p:spPr>
          <a:xfrm>
            <a:off x="960120"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plan first: dryRun=true, or pravaha lanes rebalance without --yes</a:t>
            </a:r>
          </a:p>
        </p:txBody>
      </p:sp>
      <p:sp>
        <p:nvSpPr>
          <p:cNvPr id="14" name="Rectangle 13"/>
          <p:cNvSpPr/>
          <p:nvPr/>
        </p:nvSpPr>
        <p:spPr>
          <a:xfrm>
            <a:off x="3505123"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Oldest first</a:t>
            </a:r>
          </a:p>
        </p:txBody>
      </p:sp>
      <p:sp>
        <p:nvSpPr>
          <p:cNvPr id="17" name="TextBox 16"/>
          <p:cNvSpPr txBox="1"/>
          <p:nvPr/>
        </p:nvSpPr>
        <p:spPr>
          <a:xfrm>
            <a:off x="3688003"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Room under auto-from goes to queries on shared lanes, one at a time</a:t>
            </a:r>
          </a:p>
        </p:txBody>
      </p:sp>
      <p:cxnSp>
        <p:nvCxnSpPr>
          <p:cNvPr id="18" name="Connector 17"/>
          <p:cNvCxnSpPr/>
          <p:nvPr/>
        </p:nvCxnSpPr>
        <p:spPr>
          <a:xfrm>
            <a:off x="3267379"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Blue/green move</a:t>
            </a:r>
          </a:p>
        </p:txBody>
      </p:sp>
      <p:sp>
        <p:nvSpPr>
          <p:cNvPr id="22" name="TextBox 21"/>
          <p:cNvSpPr txBox="1"/>
          <p:nvPr/>
        </p:nvSpPr>
        <p:spPr>
          <a:xfrm>
            <a:off x="6415887"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SQL unchanged, lane = 'own': a lane of its own, not pinned</a:t>
            </a:r>
          </a:p>
        </p:txBody>
      </p:sp>
      <p:cxnSp>
        <p:nvCxnSpPr>
          <p:cNvPr id="23" name="Connector 22"/>
          <p:cNvCxnSpPr/>
          <p:nvPr/>
        </p:nvCxnSpPr>
        <p:spPr>
          <a:xfrm>
            <a:off x="599526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Release</a:t>
            </a:r>
          </a:p>
        </p:txBody>
      </p:sp>
      <p:sp>
        <p:nvSpPr>
          <p:cNvPr id="27" name="TextBox 26"/>
          <p:cNvSpPr txBox="1"/>
          <p:nvPr/>
        </p:nvSpPr>
        <p:spPr>
          <a:xfrm>
            <a:off x="9143771"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old version is released once the new one has the name</a:t>
            </a:r>
          </a:p>
        </p:txBody>
      </p:sp>
      <p:cxnSp>
        <p:nvCxnSpPr>
          <p:cNvPr id="28" name="Connector 27"/>
          <p:cNvCxnSpPr/>
          <p:nvPr/>
        </p:nvCxnSpPr>
        <p:spPr>
          <a:xfrm>
            <a:off x="872314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Admin role only; the engine checks it either way</a:t>
            </a:r>
          </a:p>
          <a:p>
            <a:pPr lvl="1">
              <a:lnSpc>
                <a:spcPct val="120000"/>
              </a:lnSpc>
              <a:spcBef>
                <a:spcPts val="0"/>
              </a:spcBef>
              <a:spcAft>
                <a:spcPts val="0"/>
              </a:spcAft>
            </a:pPr>
            <a:r>
              <a:rPr sz="1450" b="0">
                <a:solidFill>
                  <a:srgbClr val="4A5058"/>
                </a:solidFill>
                <a:latin typeface="Source Sans 3"/>
              </a:rPr>
              <a:t>Console Admin → Lanes shows every query's lane, the mode and each shared lane's fill; pravaha lanes and GET|POST /api/v1/lanes/rebalance do the same from a shell.</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skips what it cannot move safely</a:t>
            </a:r>
          </a:p>
          <a:p>
            <a:pPr lvl="1">
              <a:lnSpc>
                <a:spcPct val="120000"/>
              </a:lnSpc>
              <a:spcBef>
                <a:spcPts val="0"/>
              </a:spcBef>
              <a:spcAft>
                <a:spcPts val="0"/>
              </a:spcAft>
            </a:pPr>
            <a:r>
              <a:rPr sz="1450" b="0">
                <a:solidFill>
                  <a:srgbClr val="4A5058"/>
                </a:solidFill>
                <a:latin typeface="Source Sans 3"/>
              </a:rPr>
              <a:t>Queries answering to several names or already being replaced are skipped; a move a replacement refuses is reported and the rest go 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READER, EXACTLY ONCE · ADR-054</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 ordered source is shared by meeting at an exact seam</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source that declares ordered positions and can stop reading before a position is read once for every query on it. Each member is in one of three states:</a:t>
            </a:r>
          </a:p>
        </p:txBody>
      </p:sp>
      <p:sp>
        <p:nvSpPr>
          <p:cNvPr id="11" name="Rectangle 10"/>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Built for Kafka and files read once through: a thousand queries over one topic read it once. Delta and JDBC follow when their order is shown total; CDC keeps a reader per query, because a slot can only be confirmed as far as its slowest member.</a:t>
            </a:r>
          </a:p>
        </p:txBody>
      </p:sp>
      <p:graphicFrame>
        <p:nvGraphicFramePr>
          <p:cNvPr id="13" name="Table 12"/>
          <p:cNvGraphicFramePr>
            <a:graphicFrameLocks noGrp="1"/>
          </p:cNvGraphicFramePr>
          <p:nvPr/>
        </p:nvGraphicFramePr>
        <p:xfrm>
          <a:off x="777240" y="2024278"/>
          <a:ext cx="10637213" cy="2123744"/>
        </p:xfrm>
        <a:graphic>
          <a:graphicData uri="http://schemas.openxmlformats.org/drawingml/2006/table">
            <a:tbl>
              <a:tblPr firstRow="1">
                <a:tableStyleId>{5C22544A-7EE6-4342-B048-85BDC9FD1C3A}</a:tableStyleId>
              </a:tblPr>
              <a:tblGrid>
                <a:gridCol w="2659303"/>
                <a:gridCol w="4909483"/>
                <a:gridCol w="3068427"/>
              </a:tblGrid>
              <a:tr h="322376">
                <a:tc>
                  <a:txBody>
                    <a:bodyPr wrap="square"/>
                    <a:lstStyle/>
                    <a:p>
                      <a:r>
                        <a:rPr sz="1300" b="1">
                          <a:solidFill>
                            <a:srgbClr val="FFFFFF"/>
                          </a:solidFill>
                          <a:latin typeface="Source Sans 3"/>
                        </a:rPr>
                        <a:t>State</a:t>
                      </a:r>
                    </a:p>
                  </a:txBody>
                  <a:tcPr marL="82296" marR="64008" marT="32004" marB="32004" anchor="ctr">
                    <a:solidFill>
                      <a:srgbClr val="8A1626"/>
                    </a:solidFill>
                  </a:tcPr>
                </a:tc>
                <a:tc>
                  <a:txBody>
                    <a:bodyPr wrap="square"/>
                    <a:lstStyle/>
                    <a:p>
                      <a:r>
                        <a:rPr sz="1300" b="1">
                          <a:solidFill>
                            <a:srgbClr val="FFFFFF"/>
                          </a:solidFill>
                          <a:latin typeface="Source Sans 3"/>
                        </a:rPr>
                        <a:t>Receives</a:t>
                      </a:r>
                    </a:p>
                  </a:txBody>
                  <a:tcPr marL="82296" marR="64008" marT="32004" marB="32004" anchor="ctr">
                    <a:solidFill>
                      <a:srgbClr val="8A1626"/>
                    </a:solidFill>
                  </a:tcPr>
                </a:tc>
                <a:tc>
                  <a:txBody>
                    <a:bodyPr wrap="square"/>
                    <a:lstStyle/>
                    <a:p>
                      <a:r>
                        <a:rPr sz="1300" b="1">
                          <a:solidFill>
                            <a:srgbClr val="FFFFFF"/>
                          </a:solidFill>
                          <a:latin typeface="Source Sans 3"/>
                        </a:rPr>
                        <a:t>Its checkpoint's offset</a:t>
                      </a:r>
                    </a:p>
                  </a:txBody>
                  <a:tcPr marL="82296" marR="64008" marT="32004" marB="32004" anchor="ctr">
                    <a:solidFill>
                      <a:srgbClr val="8A1626"/>
                    </a:solidFill>
                  </a:tcPr>
                </a:tc>
              </a:tr>
              <a:tr h="600456">
                <a:tc>
                  <a:txBody>
                    <a:bodyPr wrap="square"/>
                    <a:lstStyle/>
                    <a:p>
                      <a:r>
                        <a:rPr sz="1500" b="1">
                          <a:solidFill>
                            <a:srgbClr val="8A1626"/>
                          </a:solidFill>
                          <a:latin typeface="Source Sans 3"/>
                        </a:rPr>
                        <a:t>Attached</a:t>
                      </a:r>
                    </a:p>
                  </a:txBody>
                  <a:tcPr marL="82296" marR="64008" marT="32004" marB="32004" anchor="ctr">
                    <a:solidFill>
                      <a:srgbClr val="FFFFFF"/>
                    </a:solidFill>
                  </a:tcPr>
                </a:tc>
                <a:tc>
                  <a:txBody>
                    <a:bodyPr wrap="square"/>
                    <a:lstStyle/>
                    <a:p>
                      <a:r>
                        <a:rPr sz="1500" b="0">
                          <a:solidFill>
                            <a:srgbClr val="1A1A1A"/>
                          </a:solidFill>
                          <a:latin typeface="Source Sans 3"/>
                        </a:rPr>
                        <a:t>Every record the shared reader reads, through the fan-out</a:t>
                      </a:r>
                    </a:p>
                  </a:txBody>
                  <a:tcPr marL="82296" marR="64008" marT="32004" marB="32004" anchor="ctr">
                    <a:solidFill>
                      <a:srgbClr val="FFFFFF"/>
                    </a:solidFill>
                  </a:tcPr>
                </a:tc>
                <a:tc>
                  <a:txBody>
                    <a:bodyPr wrap="square"/>
                    <a:lstStyle/>
                    <a:p>
                      <a:r>
                        <a:rPr sz="1500" b="0">
                          <a:solidFill>
                            <a:srgbClr val="1A1A1A"/>
                          </a:solidFill>
                          <a:latin typeface="Source Sans 3"/>
                        </a:rPr>
                        <a:t>The shared reader's position</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Catching up (joined behind)</a:t>
                      </a:r>
                    </a:p>
                  </a:txBody>
                  <a:tcPr marL="82296" marR="64008" marT="32004" marB="32004" anchor="ctr">
                    <a:solidFill>
                      <a:srgbClr val="F7F5F2"/>
                    </a:solidFill>
                  </a:tcPr>
                </a:tc>
                <a:tc>
                  <a:txBody>
                    <a:bodyPr wrap="square"/>
                    <a:lstStyle/>
                    <a:p>
                      <a:r>
                        <a:rPr sz="1500" b="0">
                          <a:solidFill>
                            <a:srgbClr val="1A1A1A"/>
                          </a:solidFill>
                          <a:latin typeface="Source Sans 3"/>
                        </a:rPr>
                        <a:t>Only its private catch-up, read with pollBefore(shared position)</a:t>
                      </a:r>
                    </a:p>
                  </a:txBody>
                  <a:tcPr marL="82296" marR="64008" marT="32004" marB="32004" anchor="ctr">
                    <a:solidFill>
                      <a:srgbClr val="F7F5F2"/>
                    </a:solidFill>
                  </a:tcPr>
                </a:tc>
                <a:tc>
                  <a:txBody>
                    <a:bodyPr wrap="square"/>
                    <a:lstStyle/>
                    <a:p>
                      <a:r>
                        <a:rPr sz="1500" b="0">
                          <a:solidFill>
                            <a:srgbClr val="1A1A1A"/>
                          </a:solidFill>
                          <a:latin typeface="Source Sans 3"/>
                        </a:rPr>
                        <a:t>The catch-up's position</a:t>
                      </a:r>
                    </a:p>
                  </a:txBody>
                  <a:tcPr marL="82296" marR="64008" marT="32004" marB="32004" anchor="ctr">
                    <a:solidFill>
                      <a:srgbClr val="F7F5F2"/>
                    </a:solidFill>
                  </a:tcPr>
                </a:tc>
              </a:tr>
              <a:tr h="600456">
                <a:tc>
                  <a:txBody>
                    <a:bodyPr wrap="square"/>
                    <a:lstStyle/>
                    <a:p>
                      <a:r>
                        <a:rPr sz="1500" b="1">
                          <a:solidFill>
                            <a:srgbClr val="8A1626"/>
                          </a:solidFill>
                          <a:latin typeface="Source Sans 3"/>
                        </a:rPr>
                        <a:t>Waiting (joined ahead)</a:t>
                      </a:r>
                    </a:p>
                  </a:txBody>
                  <a:tcPr marL="82296" marR="64008" marT="32004" marB="32004" anchor="ctr">
                    <a:solidFill>
                      <a:srgbClr val="FFFFFF"/>
                    </a:solidFill>
                  </a:tcPr>
                </a:tc>
                <a:tc>
                  <a:txBody>
                    <a:bodyPr wrap="square"/>
                    <a:lstStyle/>
                    <a:p>
                      <a:r>
                        <a:rPr sz="1500" b="0">
                          <a:solidFill>
                            <a:srgbClr val="1A1A1A"/>
                          </a:solidFill>
                          <a:latin typeface="Source Sans 3"/>
                        </a:rPr>
                        <a:t>Nothing, until the shared reader reaches its position</a:t>
                      </a:r>
                    </a:p>
                  </a:txBody>
                  <a:tcPr marL="82296" marR="64008" marT="32004" marB="32004" anchor="ctr">
                    <a:solidFill>
                      <a:srgbClr val="FFFFFF"/>
                    </a:solidFill>
                  </a:tcPr>
                </a:tc>
                <a:tc>
                  <a:txBody>
                    <a:bodyPr wrap="square"/>
                    <a:lstStyle/>
                    <a:p>
                      <a:r>
                        <a:rPr sz="1500" b="0">
                          <a:solidFill>
                            <a:srgbClr val="1A1A1A"/>
                          </a:solidFill>
                          <a:latin typeface="Source Sans 3"/>
                        </a:rPr>
                        <a:t>Its own position</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EQUALITY INDEX · ADR-055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An index over a column outside the key that cannot disagree with the view</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it does</a:t>
            </a:r>
          </a:p>
        </p:txBody>
      </p:sp>
      <p:sp>
        <p:nvSpPr>
          <p:cNvPr id="13" name="TextBox 12"/>
          <p:cNvSpPr txBox="1"/>
          <p:nvPr/>
        </p:nvSpPr>
        <p:spPr>
          <a:xfrm>
            <a:off x="777240"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INDEX (column), or WITH (index = 'column')</a:t>
            </a:r>
          </a:p>
          <a:p>
            <a:pPr lvl="1">
              <a:lnSpc>
                <a:spcPct val="120000"/>
              </a:lnSpc>
              <a:spcBef>
                <a:spcPts val="0"/>
              </a:spcBef>
              <a:spcAft>
                <a:spcPts val="0"/>
              </a:spcAft>
            </a:pPr>
            <a:r>
              <a:rPr sz="1400" b="0">
                <a:solidFill>
                  <a:srgbClr val="4A5058"/>
                </a:solidFill>
                <a:latin typeface="Source Sans 3"/>
              </a:rPr>
              <a:t>WHERE column = literal, or IN (…), probes once per value instead of walking the view — over Flight SQL, REST and pgwire alike.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Allocated by the declaration, and written down</a:t>
            </a:r>
          </a:p>
          <a:p>
            <a:pPr lvl="1">
              <a:lnSpc>
                <a:spcPct val="120000"/>
              </a:lnSpc>
              <a:spcBef>
                <a:spcPts val="0"/>
              </a:spcBef>
              <a:spcAft>
                <a:spcPts val="0"/>
              </a:spcAft>
            </a:pPr>
            <a:r>
              <a:rPr sz="1400" b="0">
                <a:solidFill>
                  <a:srgbClr val="4A5058"/>
                </a:solidFill>
                <a:latin typeface="Source Sans 3"/>
              </a:rPr>
              <a:t>Built before the registration is acknowledged; journalled as an X record; carried to a replacement by column name.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Bounded</a:t>
            </a:r>
          </a:p>
          <a:p>
            <a:pPr lvl="1">
              <a:lnSpc>
                <a:spcPct val="120000"/>
              </a:lnSpc>
              <a:spcBef>
                <a:spcPts val="0"/>
              </a:spcBef>
              <a:spcAft>
                <a:spcPts val="0"/>
              </a:spcAft>
            </a:pPr>
            <a:r>
              <a:rPr sz="1400" b="0">
                <a:solidFill>
                  <a:srgbClr val="4A5058"/>
                </a:solidFill>
                <a:latin typeface="Source Sans 3"/>
              </a:rPr>
              <a:t>At most four per view, on the heap, one entry per visible row.</a:t>
            </a:r>
          </a:p>
        </p:txBody>
      </p:sp>
      <p:sp>
        <p:nvSpPr>
          <p:cNvPr id="14" name="Rectangle 13"/>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stays right</a:t>
            </a:r>
          </a:p>
        </p:txBody>
      </p:sp>
      <p:sp>
        <p:nvSpPr>
          <p:cNvPr id="17" name="TextBox 16"/>
          <p:cNvSpPr txBox="1"/>
          <p:nvPr/>
        </p:nvSpPr>
        <p:spPr>
          <a:xfrm>
            <a:off x="6278727"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Filed under the row the view held</a:t>
            </a:r>
          </a:p>
          <a:p>
            <a:pPr lvl="1">
              <a:lnSpc>
                <a:spcPct val="120000"/>
              </a:lnSpc>
              <a:spcBef>
                <a:spcPts val="0"/>
              </a:spcBef>
              <a:spcAft>
                <a:spcPts val="0"/>
              </a:spcAft>
            </a:pPr>
            <a:r>
              <a:rPr sz="1400" b="0">
                <a:solidFill>
                  <a:srgbClr val="4A5058"/>
                </a:solidFill>
                <a:latin typeface="Source Sans 3"/>
              </a:rPr>
              <a:t>The entry to delete is found from the view's own previous row, never from the retraction — so a retraction carrying a wrong value cannot mislead 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Tested against the obvious bug</a:t>
            </a:r>
          </a:p>
          <a:p>
            <a:pPr lvl="1">
              <a:lnSpc>
                <a:spcPct val="120000"/>
              </a:lnSpc>
              <a:spcBef>
                <a:spcPts val="0"/>
              </a:spcBef>
              <a:spcAft>
                <a:spcPts val="0"/>
              </a:spcAft>
            </a:pPr>
            <a:r>
              <a:rPr sz="1400" b="0">
                <a:solidFill>
                  <a:srgbClr val="4A5058"/>
                </a:solidFill>
                <a:latin typeface="Source Sans 3"/>
              </a:rPr>
              <a:t>Seeded with removal under the incoming row's value, both index tests fail.</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where equality lies</a:t>
            </a:r>
          </a:p>
          <a:p>
            <a:pPr lvl="1">
              <a:lnSpc>
                <a:spcPct val="120000"/>
              </a:lnSpc>
              <a:spcBef>
                <a:spcPts val="0"/>
              </a:spcBef>
              <a:spcAft>
                <a:spcPts val="0"/>
              </a:spcAft>
            </a:pPr>
            <a:r>
              <a:rPr sz="1400" b="0">
                <a:solidFill>
                  <a:srgbClr val="4A5058"/>
                </a:solidFill>
                <a:latin typeface="Source Sans 3"/>
              </a:rPr>
              <a:t>FLOAT, DECIMAL, BYTES and the whole key: PRV-2074.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6</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Changing a running query</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query's SQL is changed without taking its answer away. The new version runs beside the old, replays the source, and takes the name only when both have consumed exactly the same input — a position, not a moment.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at a moment</a:t>
            </a:r>
          </a:p>
          <a:p>
            <a:pPr>
              <a:lnSpc>
                <a:spcPct val="115000"/>
              </a:lnSpc>
              <a:spcBef>
                <a:spcPts val="0"/>
              </a:spcBef>
              <a:spcAft>
                <a:spcPts val="600"/>
              </a:spcAft>
            </a:pPr>
            <a:r>
              <a:rPr sz="1250" b="0" i="0">
                <a:solidFill>
                  <a:srgbClr val="F6E6E9"/>
                </a:solidFill>
                <a:latin typeface="Source Sans 3"/>
              </a:rPr>
              <a:t>Blue/green, step by step</a:t>
            </a:r>
          </a:p>
          <a:p>
            <a:pPr>
              <a:lnSpc>
                <a:spcPct val="115000"/>
              </a:lnSpc>
              <a:spcBef>
                <a:spcPts val="0"/>
              </a:spcBef>
              <a:spcAft>
                <a:spcPts val="600"/>
              </a:spcAft>
            </a:pPr>
            <a:r>
              <a:rPr sz="1250" b="0" i="0">
                <a:solidFill>
                  <a:srgbClr val="F6E6E9"/>
                </a:solidFill>
                <a:latin typeface="Source Sans 3"/>
              </a:rPr>
              <a:t>What readers, subscribers and sinks see</a:t>
            </a:r>
          </a:p>
          <a:p>
            <a:pPr>
              <a:lnSpc>
                <a:spcPct val="115000"/>
              </a:lnSpc>
              <a:spcBef>
                <a:spcPts val="0"/>
              </a:spcBef>
              <a:spcAft>
                <a:spcPts val="600"/>
              </a:spcAft>
            </a:pPr>
            <a:r>
              <a:rPr sz="1250" b="0" i="0">
                <a:solidFill>
                  <a:srgbClr val="F6E6E9"/>
                </a:solidFill>
                <a:latin typeface="Source Sans 3"/>
              </a:rPr>
              <a:t>The statement, its options and its refusals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ADR-046 · ALTERNATIVES CONSIDERED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cutover at a moment is wrong in a way nothing reports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41</a:t>
            </a:r>
          </a:p>
        </p:txBody>
      </p:sp>
      <p:graphicFrame>
        <p:nvGraphicFramePr>
          <p:cNvPr id="10" name="Table 9"/>
          <p:cNvGraphicFramePr>
            <a:graphicFrameLocks noGrp="1"/>
          </p:cNvGraphicFramePr>
          <p:nvPr/>
        </p:nvGraphicFramePr>
        <p:xfrm>
          <a:off x="777240" y="1361846"/>
          <a:ext cx="10637214" cy="4420613"/>
        </p:xfrm>
        <a:graphic>
          <a:graphicData uri="http://schemas.openxmlformats.org/drawingml/2006/table">
            <a:tbl>
              <a:tblPr firstRow="1">
                <a:tableStyleId>{5C22544A-7EE6-4342-B048-85BDC9FD1C3A}</a:tableStyleId>
              </a:tblPr>
              <a:tblGrid>
                <a:gridCol w="3403908"/>
                <a:gridCol w="7233306"/>
              </a:tblGrid>
              <a:tr h="322376">
                <a:tc>
                  <a:txBody>
                    <a:bodyPr wrap="square"/>
                    <a:lstStyle/>
                    <a:p>
                      <a:r>
                        <a:rPr sz="1300" b="1">
                          <a:solidFill>
                            <a:srgbClr val="FFFFFF"/>
                          </a:solidFill>
                          <a:latin typeface="Source Sans 3"/>
                        </a:rPr>
                        <a:t>Alternative</a:t>
                      </a:r>
                    </a:p>
                  </a:txBody>
                  <a:tcPr marL="82296" marR="64008" marT="32004" marB="32004" anchor="ctr">
                    <a:solidFill>
                      <a:srgbClr val="8A1626"/>
                    </a:solidFill>
                  </a:tcPr>
                </a:tc>
                <a:tc>
                  <a:txBody>
                    <a:bodyPr wrap="square"/>
                    <a:lstStyle/>
                    <a:p>
                      <a:r>
                        <a:rPr sz="1300" b="1">
                          <a:solidFill>
                            <a:srgbClr val="FFFFFF"/>
                          </a:solidFill>
                          <a:latin typeface="Source Sans 3"/>
                        </a:rPr>
                        <a:t>What goes wrong</a:t>
                      </a:r>
                    </a:p>
                  </a:txBody>
                  <a:tcPr marL="82296" marR="64008" marT="32004" marB="32004" anchor="ctr">
                    <a:solidFill>
                      <a:srgbClr val="8A1626"/>
                    </a:solidFill>
                  </a:tcPr>
                </a:tc>
              </a:tr>
              <a:tr h="870356">
                <a:tc>
                  <a:txBody>
                    <a:bodyPr wrap="square"/>
                    <a:lstStyle/>
                    <a:p>
                      <a:r>
                        <a:rPr sz="1550" b="1">
                          <a:solidFill>
                            <a:srgbClr val="8A1626"/>
                          </a:solidFill>
                          <a:latin typeface="Source Sans 3"/>
                        </a:rPr>
                        <a:t>Swap at a wall-clock instant</a:t>
                      </a:r>
                    </a:p>
                  </a:txBody>
                  <a:tcPr marL="82296" marR="64008" marT="32004" marB="32004" anchor="ctr">
                    <a:solidFill>
                      <a:srgbClr val="FFFFFF"/>
                    </a:solidFill>
                  </a:tcPr>
                </a:tc>
                <a:tc>
                  <a:txBody>
                    <a:bodyPr wrap="square"/>
                    <a:lstStyle/>
                    <a:p>
                      <a:r>
                        <a:rPr sz="1550" b="0">
                          <a:solidFill>
                            <a:srgbClr val="1A1A1A"/>
                          </a:solidFill>
                          <a:latin typeface="Source Sans 3"/>
                        </a:rPr>
                        <a:t>Two versions running at slightly different speeds either drop records between them or emit records from both. The numbers are merely a little off.</a:t>
                      </a:r>
                    </a:p>
                  </a:txBody>
                  <a:tcPr marL="82296" marR="64008" marT="32004" marB="32004" anchor="ctr">
                    <a:solidFill>
                      <a:srgbClr val="FFFFFF"/>
                    </a:solidFill>
                  </a:tcPr>
                </a:tc>
              </a:tr>
              <a:tr h="870356">
                <a:tc>
                  <a:txBody>
                    <a:bodyPr wrap="square"/>
                    <a:lstStyle/>
                    <a:p>
                      <a:r>
                        <a:rPr sz="1550" b="1">
                          <a:solidFill>
                            <a:srgbClr val="8A1626"/>
                          </a:solidFill>
                          <a:latin typeface="Source Sans 3"/>
                        </a:rPr>
                        <a:t>Swap when the candidate has read as many rows, or run long enough</a:t>
                      </a:r>
                    </a:p>
                  </a:txBody>
                  <a:tcPr marL="82296" marR="64008" marT="32004" marB="32004" anchor="ctr">
                    <a:solidFill>
                      <a:srgbClr val="F7F5F2"/>
                    </a:solidFill>
                  </a:tcPr>
                </a:tc>
                <a:tc>
                  <a:txBody>
                    <a:bodyPr wrap="square"/>
                    <a:lstStyle/>
                    <a:p>
                      <a:r>
                        <a:rPr sz="1550" b="0">
                          <a:solidFill>
                            <a:srgbClr val="1A1A1A"/>
                          </a:solidFill>
                          <a:latin typeface="Source Sans 3"/>
                        </a:rPr>
                        <a:t>Both are proxies, wrong exactly when the input rate changes — which is when somebody is most likely to be deploying.</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Take the name at once and let the new version warm up</a:t>
                      </a:r>
                    </a:p>
                  </a:txBody>
                  <a:tcPr marL="82296" marR="64008" marT="32004" marB="32004" anchor="ctr">
                    <a:solidFill>
                      <a:srgbClr val="FFFFFF"/>
                    </a:solidFill>
                  </a:tcPr>
                </a:tc>
                <a:tc>
                  <a:txBody>
                    <a:bodyPr wrap="square"/>
                    <a:lstStyle/>
                    <a:p>
                      <a:r>
                        <a:rPr sz="1550" b="0">
                          <a:solidFill>
                            <a:srgbClr val="1A1A1A"/>
                          </a:solidFill>
                          <a:latin typeface="Source Sans 3"/>
                        </a:rPr>
                        <a:t>It takes the answer away from whoever is reading it; the view they get back is an aggregate missing its history.</a:t>
                      </a:r>
                    </a:p>
                  </a:txBody>
                  <a:tcPr marL="82296" marR="64008" marT="32004" marB="32004" anchor="ctr">
                    <a:solidFill>
                      <a:srgbClr val="FFFFFF"/>
                    </a:solidFill>
                  </a:tcPr>
                </a:tc>
              </a:tr>
              <a:tr h="616813">
                <a:tc>
                  <a:txBody>
                    <a:bodyPr wrap="square"/>
                    <a:lstStyle/>
                    <a:p>
                      <a:r>
                        <a:rPr sz="1550" b="1">
                          <a:solidFill>
                            <a:srgbClr val="8A1626"/>
                          </a:solidFill>
                          <a:latin typeface="Source Sans 3"/>
                        </a:rPr>
                        <a:t>Move the checkpoint files at the cutover</a:t>
                      </a:r>
                    </a:p>
                  </a:txBody>
                  <a:tcPr marL="82296" marR="64008" marT="32004" marB="32004" anchor="ctr">
                    <a:solidFill>
                      <a:srgbClr val="F7F5F2"/>
                    </a:solidFill>
                  </a:tcPr>
                </a:tc>
                <a:tc>
                  <a:txBody>
                    <a:bodyPr wrap="square"/>
                    <a:lstStyle/>
                    <a:p>
                      <a:r>
                        <a:rPr sz="1550" b="0">
                          <a:solidFill>
                            <a:srgbClr val="1A1A1A"/>
                          </a:solidFill>
                          <a:latin typeface="Source Sans 3"/>
                        </a:rPr>
                        <a:t>A window in which a crash leaves the name pointing at the other version's state.</a:t>
                      </a:r>
                    </a:p>
                  </a:txBody>
                  <a:tcPr marL="82296" marR="64008" marT="32004" marB="32004" anchor="ctr">
                    <a:solidFill>
                      <a:srgbClr val="F7F5F2"/>
                    </a:solidFill>
                  </a:tcPr>
                </a:tc>
              </a:tr>
              <a:tr h="870356">
                <a:tc>
                  <a:txBody>
                    <a:bodyPr wrap="square"/>
                    <a:lstStyle/>
                    <a:p>
                      <a:r>
                        <a:rPr sz="1550" b="1">
                          <a:solidFill>
                            <a:srgbClr val="8A1626"/>
                          </a:solidFill>
                          <a:latin typeface="Source Sans 3"/>
                        </a:rPr>
                        <a:t>Chosen: meet at a position</a:t>
                      </a:r>
                    </a:p>
                  </a:txBody>
                  <a:tcPr marL="82296" marR="64008" marT="32004" marB="32004" anchor="ctr">
                    <a:solidFill>
                      <a:srgbClr val="FFFFFF"/>
                    </a:solidFill>
                  </a:tcPr>
                </a:tc>
                <a:tc>
                  <a:txBody>
                    <a:bodyPr wrap="square"/>
                    <a:lstStyle/>
                    <a:p>
                      <a:r>
                        <a:rPr sz="1550" b="0">
                          <a:solidFill>
                            <a:srgbClr val="1A1A1A"/>
                          </a:solidFill>
                          <a:latin typeface="Source Sans 3"/>
                        </a:rPr>
                        <a:t>Cut over when both versions have consumed exactly the same input, compared as source positions per partition, with both feeds stopped.</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BLUE/GREEN · CREATE OR REPLACE</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Replay, splice at the running version's position, then swap</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Beside, as a shadow</a:t>
            </a:r>
          </a:p>
        </p:txBody>
      </p:sp>
      <p:sp>
        <p:nvSpPr>
          <p:cNvPr id="13" name="TextBox 12"/>
          <p:cNvSpPr txBox="1"/>
          <p:nvPr/>
        </p:nvSpPr>
        <p:spPr>
          <a:xfrm>
            <a:off x="960120"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Its own state, checkpoints and readers; no reader can reach it</a:t>
            </a:r>
          </a:p>
        </p:txBody>
      </p:sp>
      <p:sp>
        <p:nvSpPr>
          <p:cNvPr id="14" name="Rectangle 13"/>
          <p:cNvSpPr/>
          <p:nvPr/>
        </p:nvSpPr>
        <p:spPr>
          <a:xfrm>
            <a:off x="2959547"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the history</a:t>
            </a:r>
          </a:p>
        </p:txBody>
      </p:sp>
      <p:sp>
        <p:nvSpPr>
          <p:cNvPr id="17" name="TextBox 16"/>
          <p:cNvSpPr txBox="1"/>
          <p:nvPr/>
        </p:nvSpPr>
        <p:spPr>
          <a:xfrm>
            <a:off x="3142427"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source from the beginning, throttled, one record at a time</a:t>
            </a:r>
          </a:p>
        </p:txBody>
      </p:sp>
      <p:cxnSp>
        <p:nvCxnSpPr>
          <p:cNvPr id="18" name="Connector 17"/>
          <p:cNvCxnSpPr/>
          <p:nvPr/>
        </p:nvCxnSpPr>
        <p:spPr>
          <a:xfrm>
            <a:off x="2721803"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Splice at the seam</a:t>
            </a:r>
          </a:p>
        </p:txBody>
      </p:sp>
      <p:sp>
        <p:nvSpPr>
          <p:cNvPr id="22" name="TextBox 21"/>
          <p:cNvSpPr txBox="1"/>
          <p:nvPr/>
        </p:nvSpPr>
        <p:spPr>
          <a:xfrm>
            <a:off x="5324734"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Read to the running version's exact position, then a reader opens at it</a:t>
            </a:r>
          </a:p>
        </p:txBody>
      </p:sp>
      <p:cxnSp>
        <p:nvCxnSpPr>
          <p:cNvPr id="23" name="Connector 22"/>
          <p:cNvCxnSpPr/>
          <p:nvPr/>
        </p:nvCxnSpPr>
        <p:spPr>
          <a:xfrm>
            <a:off x="4904110"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Caught up</a:t>
            </a:r>
          </a:p>
        </p:txBody>
      </p:sp>
      <p:sp>
        <p:nvSpPr>
          <p:cNvPr id="27" name="TextBox 26"/>
          <p:cNvSpPr txBox="1"/>
          <p:nvPr/>
        </p:nvSpPr>
        <p:spPr>
          <a:xfrm>
            <a:off x="7507041"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Every partition has reached the live stream</a:t>
            </a:r>
          </a:p>
        </p:txBody>
      </p:sp>
      <p:cxnSp>
        <p:nvCxnSpPr>
          <p:cNvPr id="28" name="Connector 27"/>
          <p:cNvCxnSpPr/>
          <p:nvPr/>
        </p:nvCxnSpPr>
        <p:spPr>
          <a:xfrm>
            <a:off x="7086417"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Cut over</a:t>
            </a:r>
          </a:p>
        </p:txBody>
      </p:sp>
      <p:sp>
        <p:nvSpPr>
          <p:cNvPr id="32" name="TextBox 31"/>
          <p:cNvSpPr txBox="1"/>
          <p:nvPr/>
        </p:nvSpPr>
        <p:spPr>
          <a:xfrm>
            <a:off x="9689348"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Both feeds stopped at the same input; the name moves</a:t>
            </a:r>
          </a:p>
        </p:txBody>
      </p:sp>
      <p:cxnSp>
        <p:nvCxnSpPr>
          <p:cNvPr id="33" name="Connector 32"/>
          <p:cNvCxnSpPr/>
          <p:nvPr/>
        </p:nvCxnSpPr>
        <p:spPr>
          <a:xfrm>
            <a:off x="9268724"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84600"/>
            <a:ext cx="10637215" cy="28607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reader sees the old answer up to the seam and the new one after it</a:t>
            </a:r>
          </a:p>
          <a:p>
            <a:pPr lvl="1">
              <a:lnSpc>
                <a:spcPct val="120000"/>
              </a:lnSpc>
              <a:spcBef>
                <a:spcPts val="0"/>
              </a:spcBef>
              <a:spcAft>
                <a:spcPts val="0"/>
              </a:spcAft>
            </a:pPr>
            <a:r>
              <a:rPr sz="1450" b="0">
                <a:solidFill>
                  <a:srgbClr val="4A5058"/>
                </a:solidFill>
                <a:latin typeface="Source Sans 3"/>
              </a:rPr>
              <a:t>No gap and nothing counted twice. A history that runs out before the seam stops with PRV-4013 rather than reading past it; a cutover that cannot find the same position in thirty seconds is refused with PRV-4014.</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replacement survives a restart</a:t>
            </a:r>
          </a:p>
          <a:p>
            <a:pPr lvl="1">
              <a:lnSpc>
                <a:spcPct val="120000"/>
              </a:lnSpc>
              <a:spcBef>
                <a:spcPts val="0"/>
              </a:spcBef>
              <a:spcAft>
                <a:spcPts val="0"/>
              </a:spcAft>
            </a:pPr>
            <a:r>
              <a:rPr sz="1450" b="0">
                <a:solidFill>
                  <a:srgbClr val="4A5058"/>
                </a:solidFill>
                <a:latin typeface="Source Sans 3"/>
              </a:rPr>
              <a:t>The journal records it pending (P), the name's change (C) and an end that never took the name (E); the candidate resumes from its own checkpoints.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AT THE CUTOVER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each party sees when the name changes version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graphicFrame>
        <p:nvGraphicFramePr>
          <p:cNvPr id="10" name="Table 9"/>
          <p:cNvGraphicFramePr>
            <a:graphicFrameLocks noGrp="1"/>
          </p:cNvGraphicFramePr>
          <p:nvPr/>
        </p:nvGraphicFramePr>
        <p:xfrm>
          <a:off x="777240" y="1410919"/>
          <a:ext cx="10637215" cy="3913527"/>
        </p:xfrm>
        <a:graphic>
          <a:graphicData uri="http://schemas.openxmlformats.org/drawingml/2006/table">
            <a:tbl>
              <a:tblPr firstRow="1">
                <a:tableStyleId>{5C22544A-7EE6-4342-B048-85BDC9FD1C3A}</a:tableStyleId>
              </a:tblPr>
              <a:tblGrid>
                <a:gridCol w="2711447"/>
                <a:gridCol w="7925768"/>
              </a:tblGrid>
              <a:tr h="322376">
                <a:tc>
                  <a:txBody>
                    <a:bodyPr wrap="square"/>
                    <a:lstStyle/>
                    <a:p>
                      <a:r>
                        <a:rPr sz="1300" b="1">
                          <a:solidFill>
                            <a:srgbClr val="FFFFFF"/>
                          </a:solidFill>
                          <a:latin typeface="Source Sans 3"/>
                        </a:rPr>
                        <a:t>Party</a:t>
                      </a:r>
                    </a:p>
                  </a:txBody>
                  <a:tcPr marL="82296" marR="64008" marT="32004" marB="32004" anchor="ctr">
                    <a:solidFill>
                      <a:srgbClr val="8A1626"/>
                    </a:solidFill>
                  </a:tcPr>
                </a:tc>
                <a:tc>
                  <a:txBody>
                    <a:bodyPr wrap="square"/>
                    <a:lstStyle/>
                    <a:p>
                      <a:r>
                        <a:rPr sz="1300" b="1">
                          <a:solidFill>
                            <a:srgbClr val="FFFFFF"/>
                          </a:solidFill>
                          <a:latin typeface="Source Sans 3"/>
                        </a:rPr>
                        <a:t>Sees</a:t>
                      </a:r>
                    </a:p>
                  </a:txBody>
                  <a:tcPr marL="82296" marR="64008" marT="32004" marB="32004" anchor="ctr">
                    <a:solidFill>
                      <a:srgbClr val="8A1626"/>
                    </a:solidFill>
                  </a:tcPr>
                </a:tc>
              </a:tr>
              <a:tr h="616813">
                <a:tc>
                  <a:txBody>
                    <a:bodyPr wrap="square"/>
                    <a:lstStyle/>
                    <a:p>
                      <a:r>
                        <a:rPr sz="1550" b="1">
                          <a:solidFill>
                            <a:srgbClr val="8A1626"/>
                          </a:solidFill>
                          <a:latin typeface="Source Sans 3"/>
                        </a:rPr>
                        <a:t>A reader of the name</a:t>
                      </a:r>
                    </a:p>
                  </a:txBody>
                  <a:tcPr marL="82296" marR="64008" marT="32004" marB="32004" anchor="ctr">
                    <a:solidFill>
                      <a:srgbClr val="FFFFFF"/>
                    </a:solidFill>
                  </a:tcPr>
                </a:tc>
                <a:tc>
                  <a:txBody>
                    <a:bodyPr wrap="square"/>
                    <a:lstStyle/>
                    <a:p>
                      <a:r>
                        <a:rPr sz="1550" b="0">
                          <a:solidFill>
                            <a:srgbClr val="1A1A1A"/>
                          </a:solidFill>
                          <a:latin typeface="Source Sans 3"/>
                        </a:rPr>
                        <a:t>One version's view or the other's, resolved at the moment of the read — never a mixture, and neither is behind</a:t>
                      </a:r>
                    </a:p>
                  </a:txBody>
                  <a:tcPr marL="82296" marR="64008" marT="32004" marB="32004" anchor="ctr">
                    <a:solidFill>
                      <a:srgbClr val="FFFFFF"/>
                    </a:solidFill>
                  </a:tcPr>
                </a:tc>
              </a:tr>
              <a:tr h="870356">
                <a:tc>
                  <a:txBody>
                    <a:bodyPr wrap="square"/>
                    <a:lstStyle/>
                    <a:p>
                      <a:r>
                        <a:rPr sz="1550" b="1">
                          <a:solidFill>
                            <a:srgbClr val="8A1626"/>
                          </a:solidFill>
                          <a:latin typeface="Source Sans 3"/>
                        </a:rPr>
                        <a:t>A subscriber</a:t>
                      </a:r>
                    </a:p>
                  </a:txBody>
                  <a:tcPr marL="82296" marR="64008" marT="32004" marB="32004" anchor="ctr">
                    <a:solidFill>
                      <a:srgbClr val="F7F5F2"/>
                    </a:solidFill>
                  </a:tcPr>
                </a:tc>
                <a:tc>
                  <a:txBody>
                    <a:bodyPr wrap="square"/>
                    <a:lstStyle/>
                    <a:p>
                      <a:r>
                        <a:rPr sz="1550" b="0">
                          <a:solidFill>
                            <a:srgbClr val="1A1A1A"/>
                          </a:solidFill>
                          <a:latin typeface="Source Sans 3"/>
                        </a:rPr>
                        <a:t>Every commit the replaced version made, then the end of its subscription with PRV-4019: told, rather than handed another query's changes on top</a:t>
                      </a:r>
                    </a:p>
                  </a:txBody>
                  <a:tcPr marL="82296" marR="64008" marT="32004" marB="32004" anchor="ctr">
                    <a:solidFill>
                      <a:srgbClr val="F7F5F2"/>
                    </a:solidFill>
                  </a:tcPr>
                </a:tc>
              </a:tr>
              <a:tr h="616813">
                <a:tc>
                  <a:txBody>
                    <a:bodyPr wrap="square"/>
                    <a:lstStyle/>
                    <a:p>
                      <a:r>
                        <a:rPr sz="1550" b="1">
                          <a:solidFill>
                            <a:srgbClr val="8A1626"/>
                          </a:solidFill>
                          <a:latin typeface="Source Sans 3"/>
                        </a:rPr>
                        <a:t>The sink</a:t>
                      </a:r>
                    </a:p>
                  </a:txBody>
                  <a:tcPr marL="82296" marR="64008" marT="32004" marB="32004" anchor="ctr">
                    <a:solidFill>
                      <a:srgbClr val="FFFFFF"/>
                    </a:solidFill>
                  </a:tcPr>
                </a:tc>
                <a:tc>
                  <a:txBody>
                    <a:bodyPr wrap="square"/>
                    <a:lstStyle/>
                    <a:p>
                      <a:r>
                        <a:rPr sz="1550" b="0">
                          <a:solidFill>
                            <a:srgbClr val="1A1A1A"/>
                          </a:solidFill>
                          <a:latin typeface="Source Sans 3"/>
                        </a:rPr>
                        <a:t>Follows the name at a checkpoint boundary and is sent only the difference between what it holds and the new view, as one batch</a:t>
                      </a:r>
                    </a:p>
                  </a:txBody>
                  <a:tcPr marL="82296" marR="64008" marT="32004" marB="32004" anchor="ctr">
                    <a:solidFill>
                      <a:srgbClr val="FFFFFF"/>
                    </a:solidFill>
                  </a:tcPr>
                </a:tc>
              </a:tr>
              <a:tr h="616813">
                <a:tc>
                  <a:txBody>
                    <a:bodyPr wrap="square"/>
                    <a:lstStyle/>
                    <a:p>
                      <a:r>
                        <a:rPr sz="1550" b="1">
                          <a:solidFill>
                            <a:srgbClr val="8A1626"/>
                          </a:solidFill>
                          <a:latin typeface="Source Sans 3"/>
                        </a:rPr>
                        <a:t>Whoever wants it back</a:t>
                      </a:r>
                    </a:p>
                  </a:txBody>
                  <a:tcPr marL="82296" marR="64008" marT="32004" marB="32004" anchor="ctr">
                    <a:solidFill>
                      <a:srgbClr val="F7F5F2"/>
                    </a:solidFill>
                  </a:tcPr>
                </a:tc>
                <a:tc>
                  <a:txBody>
                    <a:bodyPr wrap="square"/>
                    <a:lstStyle/>
                    <a:p>
                      <a:r>
                        <a:rPr sz="1550" b="0">
                          <a:solidFill>
                            <a:srgbClr val="1A1A1A"/>
                          </a:solidFill>
                          <a:latin typeface="Source Sans 3"/>
                        </a:rPr>
                        <a:t>The replaced version keeps running for rollback.retention (an hour by default), so a rollback is one swap, not a second backfill</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The console</a:t>
                      </a:r>
                    </a:p>
                  </a:txBody>
                  <a:tcPr marL="82296" marR="64008" marT="32004" marB="32004" anchor="ctr">
                    <a:solidFill>
                      <a:srgbClr val="FFFFFF"/>
                    </a:solidFill>
                  </a:tcPr>
                </a:tc>
                <a:tc>
                  <a:txBody>
                    <a:bodyPr wrap="square"/>
                    <a:lstStyle/>
                    <a:p>
                      <a:r>
                        <a:rPr sz="1550" b="0">
                          <a:solidFill>
                            <a:srgbClr val="1A1A1A"/>
                          </a:solidFill>
                          <a:latin typeface="Source Sans 3"/>
                        </a:rPr>
                        <a:t>Backfill progress with no ETA and no percentage — a source does not say how much history it holds — and cutover and rollback confirmed by the typed name</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STATEMENT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Options that are ceilings, and refusals that are named</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backfill.rate.limit is a ceiling: an operator may lower it while it runs (pravaha throttle) and may not raise it. Eight gauges watch every query, replaced or not.</a:t>
            </a:r>
          </a:p>
        </p:txBody>
      </p:sp>
      <p:sp>
        <p:nvSpPr>
          <p:cNvPr id="12" name="Rectangle 11"/>
          <p:cNvSpPr/>
          <p:nvPr/>
        </p:nvSpPr>
        <p:spPr>
          <a:xfrm>
            <a:off x="777240" y="1378204"/>
            <a:ext cx="5135727" cy="252882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45720" cy="252882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79372"/>
            <a:ext cx="4733391" cy="2126488"/>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OR REPLACE CONTINUOUS QUERY spend</a:t>
            </a:r>
          </a:p>
          <a:p>
            <a:pPr>
              <a:lnSpc>
                <a:spcPct val="100000"/>
              </a:lnSpc>
              <a:spcBef>
                <a:spcPts val="0"/>
              </a:spcBef>
              <a:spcAft>
                <a:spcPts val="0"/>
              </a:spcAft>
            </a:pPr>
            <a:r>
              <a:rPr sz="1300" b="0" i="0">
                <a:solidFill>
                  <a:srgbClr val="F1EEE9"/>
                </a:solidFill>
                <a:latin typeface="Consolas"/>
              </a:rPr>
              <a:t>    KEYED BY (user_id)</a:t>
            </a:r>
          </a:p>
          <a:p>
            <a:pPr>
              <a:lnSpc>
                <a:spcPct val="100000"/>
              </a:lnSpc>
              <a:spcBef>
                <a:spcPts val="0"/>
              </a:spcBef>
              <a:spcAft>
                <a:spcPts val="0"/>
              </a:spcAft>
            </a:pPr>
            <a:r>
              <a:rPr sz="1300" b="0" i="0">
                <a:solidFill>
                  <a:srgbClr val="F1EEE9"/>
                </a:solidFill>
                <a:latin typeface="Consolas"/>
              </a:rPr>
              <a:t>    WITH (backfill = 'history',</a:t>
            </a:r>
          </a:p>
          <a:p>
            <a:pPr>
              <a:lnSpc>
                <a:spcPct val="100000"/>
              </a:lnSpc>
              <a:spcBef>
                <a:spcPts val="0"/>
              </a:spcBef>
              <a:spcAft>
                <a:spcPts val="0"/>
              </a:spcAft>
            </a:pPr>
            <a:r>
              <a:rPr sz="1300" b="0" i="0">
                <a:solidFill>
                  <a:srgbClr val="F1EEE9"/>
                </a:solidFill>
                <a:latin typeface="Consolas"/>
              </a:rPr>
              <a:t>          backfill.rate.limit = 5000,</a:t>
            </a:r>
          </a:p>
          <a:p>
            <a:pPr>
              <a:lnSpc>
                <a:spcPct val="100000"/>
              </a:lnSpc>
              <a:spcBef>
                <a:spcPts val="0"/>
              </a:spcBef>
              <a:spcAft>
                <a:spcPts val="0"/>
              </a:spcAft>
            </a:pPr>
            <a:r>
              <a:rPr sz="1300" b="0" i="0">
                <a:solidFill>
                  <a:srgbClr val="F1EEE9"/>
                </a:solidFill>
                <a:latin typeface="Consolas"/>
              </a:rPr>
              <a:t>          cutover = 'manual')</a:t>
            </a:r>
          </a:p>
          <a:p>
            <a:pPr>
              <a:lnSpc>
                <a:spcPct val="100000"/>
              </a:lnSpc>
              <a:spcBef>
                <a:spcPts val="0"/>
              </a:spcBef>
              <a:spcAft>
                <a:spcPts val="0"/>
              </a:spcAft>
            </a:pPr>
            <a:r>
              <a:rPr sz="1300" b="0" i="0">
                <a:solidFill>
                  <a:srgbClr val="F1EEE9"/>
                </a:solidFill>
                <a:latin typeface="Consolas"/>
              </a:rPr>
              <a:t>AS SELECT user_id, SUM(amount) AS total,</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FROM txn</a:t>
            </a:r>
          </a:p>
          <a:p>
            <a:pPr>
              <a:lnSpc>
                <a:spcPct val="100000"/>
              </a:lnSpc>
              <a:spcBef>
                <a:spcPts val="0"/>
              </a:spcBef>
              <a:spcAft>
                <a:spcPts val="0"/>
              </a:spcAft>
            </a:pPr>
            <a:r>
              <a:rPr sz="1300" b="0" i="0">
                <a:solidFill>
                  <a:srgbClr val="F1EEE9"/>
                </a:solidFill>
                <a:latin typeface="Consolas"/>
              </a:rPr>
              <a:t>   GROUP BY user_id,</a:t>
            </a:r>
          </a:p>
          <a:p>
            <a:pPr>
              <a:lnSpc>
                <a:spcPct val="100000"/>
              </a:lnSpc>
              <a:spcBef>
                <a:spcPts val="0"/>
              </a:spcBef>
              <a:spcAft>
                <a:spcPts val="0"/>
              </a:spcAft>
            </a:pPr>
            <a:r>
              <a:rPr sz="1300" b="0" i="0">
                <a:solidFill>
                  <a:srgbClr val="F1EEE9"/>
                </a:solidFill>
                <a:latin typeface="Consolas"/>
              </a:rPr>
              <a:t>            TUMBLE(ts, INTERVAL '1' HOUR);</a:t>
            </a:r>
          </a:p>
        </p:txBody>
      </p:sp>
      <p:graphicFrame>
        <p:nvGraphicFramePr>
          <p:cNvPr id="15" name="Table 14"/>
          <p:cNvGraphicFramePr>
            <a:graphicFrameLocks noGrp="1"/>
          </p:cNvGraphicFramePr>
          <p:nvPr/>
        </p:nvGraphicFramePr>
        <p:xfrm>
          <a:off x="6278727" y="1378204"/>
          <a:ext cx="5135726" cy="3717237"/>
        </p:xfrm>
        <a:graphic>
          <a:graphicData uri="http://schemas.openxmlformats.org/drawingml/2006/table">
            <a:tbl>
              <a:tblPr firstRow="1">
                <a:tableStyleId>{5C22544A-7EE6-4342-B048-85BDC9FD1C3A}</a:tableStyleId>
              </a:tblPr>
              <a:tblGrid>
                <a:gridCol w="1185167"/>
                <a:gridCol w="3950559"/>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Refused</a:t>
                      </a:r>
                    </a:p>
                  </a:txBody>
                  <a:tcPr marL="82296" marR="64008" marT="32004" marB="32004" anchor="ctr">
                    <a:solidFill>
                      <a:srgbClr val="8A1626"/>
                    </a:solidFill>
                  </a:tcPr>
                </a:tc>
              </a:tr>
              <a:tr h="1295654">
                <a:tc>
                  <a:txBody>
                    <a:bodyPr wrap="square"/>
                    <a:lstStyle/>
                    <a:p>
                      <a:r>
                        <a:rPr sz="1450" b="1">
                          <a:solidFill>
                            <a:srgbClr val="8A1626"/>
                          </a:solidFill>
                          <a:latin typeface="Source Sans 3"/>
                        </a:rPr>
                        <a:t>PRV-4018</a:t>
                      </a:r>
                    </a:p>
                  </a:txBody>
                  <a:tcPr marL="82296" marR="64008" marT="32004" marB="32004" anchor="ctr">
                    <a:solidFill>
                      <a:srgbClr val="FFFFFF"/>
                    </a:solidFill>
                  </a:tcPr>
                </a:tc>
                <a:tc>
                  <a:txBody>
                    <a:bodyPr wrap="square"/>
                    <a:lstStyle/>
                    <a:p>
                      <a:r>
                        <a:rPr sz="1450" b="0">
                          <a:solidFill>
                            <a:srgbClr val="1A1A1A"/>
                          </a:solidFill>
                          <a:latin typeface="Source Sans 3"/>
                        </a:rPr>
                        <a:t>A source that cannot be replayed; an option not built (backfill.adaptive); a rate above the ceiling; a changed sink or retention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PRV-4017</a:t>
                      </a:r>
                    </a:p>
                  </a:txBody>
                  <a:tcPr marL="82296" marR="64008" marT="32004" marB="32004" anchor="ctr">
                    <a:solidFill>
                      <a:srgbClr val="F7F5F2"/>
                    </a:solidFill>
                  </a:tcPr>
                </a:tc>
                <a:tc>
                  <a:txBody>
                    <a:bodyPr wrap="square"/>
                    <a:lstStyle/>
                    <a:p>
                      <a:r>
                        <a:rPr sz="1450" b="0">
                          <a:solidFill>
                            <a:srgbClr val="1A1A1A"/>
                          </a:solidFill>
                          <a:latin typeface="Source Sans 3"/>
                        </a:rPr>
                        <a:t>A second replacement of one name; a drop while a candidate runs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PRV-8003</a:t>
                      </a:r>
                    </a:p>
                  </a:txBody>
                  <a:tcPr marL="82296" marR="64008" marT="32004" marB="32004" anchor="ctr">
                    <a:solidFill>
                      <a:srgbClr val="FFFFFF"/>
                    </a:solidFill>
                  </a:tcPr>
                </a:tc>
                <a:tc>
                  <a:txBody>
                    <a:bodyPr wrap="square"/>
                    <a:lstStyle/>
                    <a:p>
                      <a:r>
                        <a:rPr sz="1450" b="0">
                          <a:solidFill>
                            <a:srgbClr val="1A1A1A"/>
                          </a:solidFill>
                          <a:latin typeface="Source Sans 3"/>
                        </a:rPr>
                        <a:t>A computation shared with another name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PRV-8022</a:t>
                      </a:r>
                    </a:p>
                  </a:txBody>
                  <a:tcPr marL="82296" marR="64008" marT="32004" marB="32004" anchor="ctr">
                    <a:solidFill>
                      <a:srgbClr val="F7F5F2"/>
                    </a:solidFill>
                  </a:tcPr>
                </a:tc>
                <a:tc>
                  <a:txBody>
                    <a:bodyPr wrap="square"/>
                    <a:lstStyle/>
                    <a:p>
                      <a:r>
                        <a:rPr sz="1450" b="0">
                          <a:solidFill>
                            <a:srgbClr val="1A1A1A"/>
                          </a:solidFill>
                          <a:latin typeface="Source Sans 3"/>
                        </a:rPr>
                        <a:t>A principal from another tenant</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PRV-7002</a:t>
                      </a:r>
                    </a:p>
                  </a:txBody>
                  <a:tcPr marL="82296" marR="64008" marT="32004" marB="32004" anchor="ctr">
                    <a:solidFill>
                      <a:srgbClr val="FFFFFF"/>
                    </a:solidFill>
                  </a:tcPr>
                </a:tc>
                <a:tc>
                  <a:txBody>
                    <a:bodyPr wrap="square"/>
                    <a:lstStyle/>
                    <a:p>
                      <a:r>
                        <a:rPr sz="1450" b="0">
                          <a:solidFill>
                            <a:srgbClr val="1A1A1A"/>
                          </a:solidFill>
                          <a:latin typeface="Source Sans 3"/>
                        </a:rPr>
                        <a:t>Anyone without administer on the name</a:t>
                      </a:r>
                    </a:p>
                  </a:txBody>
                  <a:tcPr marL="82296" marR="64008" marT="32004" marB="3200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7</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Answers built on answers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 can read another query's view and follow its answer, exactly, across restarts. An alert follows a view's answer and says when a row enters it and when it leaves.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Queries on queries (ADR-056)</a:t>
            </a:r>
          </a:p>
          <a:p>
            <a:pPr>
              <a:lnSpc>
                <a:spcPct val="115000"/>
              </a:lnSpc>
              <a:spcBef>
                <a:spcPts val="0"/>
              </a:spcBef>
              <a:spcAft>
                <a:spcPts val="600"/>
              </a:spcAft>
            </a:pPr>
            <a:r>
              <a:rPr sz="1250" b="0" i="0">
                <a:solidFill>
                  <a:srgbClr val="F6E6E9"/>
                </a:solidFill>
                <a:latin typeface="Source Sans 3"/>
              </a:rPr>
              <a:t>A seam with no position: the consumed answer</a:t>
            </a:r>
          </a:p>
          <a:p>
            <a:pPr>
              <a:lnSpc>
                <a:spcPct val="115000"/>
              </a:lnSpc>
              <a:spcBef>
                <a:spcPts val="0"/>
              </a:spcBef>
              <a:spcAft>
                <a:spcPts val="600"/>
              </a:spcAft>
            </a:pPr>
            <a:r>
              <a:rPr sz="1250" b="0" i="0">
                <a:solidFill>
                  <a:srgbClr val="F6E6E9"/>
                </a:solidFill>
                <a:latin typeface="Source Sans 3"/>
              </a:rPr>
              <a:t>Alerts that fire and clear (ADR-057)</a:t>
            </a:r>
          </a:p>
          <a:p>
            <a:pPr>
              <a:lnSpc>
                <a:spcPct val="115000"/>
              </a:lnSpc>
              <a:spcBef>
                <a:spcPts val="0"/>
              </a:spcBef>
              <a:spcAft>
                <a:spcPts val="600"/>
              </a:spcAft>
            </a:pPr>
            <a:r>
              <a:rPr sz="1250" b="0" i="0">
                <a:solidFill>
                  <a:srgbClr val="F6E6E9"/>
                </a:solidFill>
                <a:latin typeface="Source Sans 3"/>
              </a:rPr>
              <a:t>Exactly-once state, at-least-once delivery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QUERIES ON QUERIES · ADR-056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query over a view follows its answer, not its changelog</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1361846"/>
            <a:ext cx="5348471" cy="33467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5720" cy="33467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63014"/>
            <a:ext cx="4946135" cy="2944368"/>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CREATE CONTINUOUS QUERY cleaned</a:t>
            </a:r>
          </a:p>
          <a:p>
            <a:pPr>
              <a:lnSpc>
                <a:spcPct val="100000"/>
              </a:lnSpc>
              <a:spcBef>
                <a:spcPts val="0"/>
              </a:spcBef>
              <a:spcAft>
                <a:spcPts val="0"/>
              </a:spcAft>
            </a:pPr>
            <a:r>
              <a:rPr sz="1200" b="0" i="0">
                <a:solidFill>
                  <a:srgbClr val="F1EEE9"/>
                </a:solidFill>
                <a:latin typeface="Consolas"/>
              </a:rPr>
              <a:t>  KEYED BY (user_id)</a:t>
            </a:r>
          </a:p>
          <a:p>
            <a:pPr>
              <a:lnSpc>
                <a:spcPct val="100000"/>
              </a:lnSpc>
              <a:spcBef>
                <a:spcPts val="0"/>
              </a:spcBef>
              <a:spcAft>
                <a:spcPts val="0"/>
              </a:spcAft>
            </a:pPr>
            <a:r>
              <a:rPr sz="1200" b="0" i="0">
                <a:solidFill>
                  <a:srgbClr val="F1EEE9"/>
                </a:solidFill>
                <a:latin typeface="Consolas"/>
              </a:rPr>
              <a:t>AS SELECT user_id, region, amount</a:t>
            </a:r>
          </a:p>
          <a:p>
            <a:pPr>
              <a:lnSpc>
                <a:spcPct val="100000"/>
              </a:lnSpc>
              <a:spcBef>
                <a:spcPts val="0"/>
              </a:spcBef>
              <a:spcAft>
                <a:spcPts val="0"/>
              </a:spcAft>
            </a:pPr>
            <a:r>
              <a:rPr sz="1200" b="0" i="0">
                <a:solidFill>
                  <a:srgbClr val="F1EEE9"/>
                </a:solidFill>
                <a:latin typeface="Consolas"/>
              </a:rPr>
              <a:t>   FROM txn WHERE amount &gt; 0;</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by_region</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SUM(amount) AS total,</a:t>
            </a:r>
          </a:p>
          <a:p>
            <a:pPr>
              <a:lnSpc>
                <a:spcPct val="100000"/>
              </a:lnSpc>
              <a:spcBef>
                <a:spcPts val="0"/>
              </a:spcBef>
              <a:spcAft>
                <a:spcPts val="0"/>
              </a:spcAft>
            </a:pPr>
            <a:r>
              <a:rPr sz="1200" b="0" i="0">
                <a:solidFill>
                  <a:srgbClr val="F1EEE9"/>
                </a:solidFill>
                <a:latin typeface="Consolas"/>
              </a:rPr>
              <a:t>   COUNT(*) AS n</a:t>
            </a:r>
          </a:p>
          <a:p>
            <a:pPr>
              <a:lnSpc>
                <a:spcPct val="100000"/>
              </a:lnSpc>
              <a:spcBef>
                <a:spcPts val="0"/>
              </a:spcBef>
              <a:spcAft>
                <a:spcPts val="0"/>
              </a:spcAft>
            </a:pPr>
            <a:r>
              <a:rPr sz="1200" b="0" i="0">
                <a:solidFill>
                  <a:srgbClr val="F1EEE9"/>
                </a:solidFill>
                <a:latin typeface="Consolas"/>
              </a:rPr>
              <a:t>   FROM cleaned GROUP BY region;</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big_regions</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total</a:t>
            </a:r>
          </a:p>
          <a:p>
            <a:pPr>
              <a:lnSpc>
                <a:spcPct val="100000"/>
              </a:lnSpc>
              <a:spcBef>
                <a:spcPts val="0"/>
              </a:spcBef>
              <a:spcAft>
                <a:spcPts val="0"/>
              </a:spcAft>
            </a:pPr>
            <a:r>
              <a:rPr sz="1200" b="0" i="0">
                <a:solidFill>
                  <a:srgbClr val="F1EEE9"/>
                </a:solidFill>
                <a:latin typeface="Consolas"/>
              </a:rPr>
              <a:t>   FROM by_region WHERE total &gt; 100;</a:t>
            </a:r>
          </a:p>
        </p:txBody>
      </p:sp>
      <p:sp>
        <p:nvSpPr>
          <p:cNvPr id="13" name="TextBox 12"/>
          <p:cNvSpPr txBox="1"/>
          <p:nvPr/>
        </p:nvSpPr>
        <p:spPr>
          <a:xfrm>
            <a:off x="6491471" y="1361846"/>
            <a:ext cx="4922983" cy="488350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Fed the answer's changes</a:t>
            </a:r>
          </a:p>
          <a:p>
            <a:pPr lvl="1">
              <a:lnSpc>
                <a:spcPct val="120000"/>
              </a:lnSpc>
              <a:spcBef>
                <a:spcPts val="0"/>
              </a:spcBef>
              <a:spcAft>
                <a:spcPts val="0"/>
              </a:spcAft>
            </a:pPr>
            <a:r>
              <a:rPr sz="1350" b="0">
                <a:solidFill>
                  <a:srgbClr val="4A5058"/>
                </a:solidFill>
                <a:latin typeface="Source Sans 3"/>
              </a:rPr>
              <a:t>Its snapshot, then per commit the row that left the answer at −1 and the one that entered at +1 — so an upsert upstream is an update downstream, not a second row.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can be maintained exactly</a:t>
            </a:r>
          </a:p>
          <a:p>
            <a:pPr lvl="1">
              <a:lnSpc>
                <a:spcPct val="120000"/>
              </a:lnSpc>
              <a:spcBef>
                <a:spcPts val="0"/>
              </a:spcBef>
              <a:spcAft>
                <a:spcPts val="0"/>
              </a:spcAft>
            </a:pPr>
            <a:r>
              <a:rPr sz="1350" b="0">
                <a:solidFill>
                  <a:srgbClr val="4A5058"/>
                </a:solidFill>
                <a:latin typeface="Source Sans 3"/>
              </a:rPr>
              <a:t>Filters, projections and unwindowed COUNT, SUM and AVG, with GROUP BY; windows, joins, top-N, MIN/MAX and COUNT(DISTINCT) are refused (PRV-2075).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Named refusals</a:t>
            </a:r>
          </a:p>
          <a:p>
            <a:pPr lvl="1">
              <a:lnSpc>
                <a:spcPct val="120000"/>
              </a:lnSpc>
              <a:spcBef>
                <a:spcPts val="0"/>
              </a:spcBef>
              <a:spcAft>
                <a:spcPts val="0"/>
              </a:spcAft>
            </a:pPr>
            <a:r>
              <a:rPr sz="1350" b="0">
                <a:solidFill>
                  <a:srgbClr val="4A5058"/>
                </a:solidFill>
                <a:latin typeface="Source Sans 3"/>
              </a:rPr>
              <a:t>Dropping a view others read (PRV-8024, no cascade), a cycle (PRV-8025), replacing a chain member (PRV-8026), deeper than eight (PRV-8027).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 ONCE ACROSS A CHAIN</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No position to meet at, so the seam is the answer consumed</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has no position</a:t>
            </a:r>
          </a:p>
        </p:txBody>
      </p:sp>
      <p:sp>
        <p:nvSpPr>
          <p:cNvPr id="13" name="TextBox 12"/>
          <p:cNvSpPr txBox="1"/>
          <p:nvPr/>
        </p:nvSpPr>
        <p:spPr>
          <a:xfrm>
            <a:off x="960120"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Commits follow a timer; after a restart the upstream's commit n is a different set of changes. A sequence number cannot be resumed from.</a:t>
            </a:r>
          </a:p>
        </p:txBody>
      </p:sp>
      <p:sp>
        <p:nvSpPr>
          <p:cNvPr id="14" name="Rectangle 13"/>
          <p:cNvSpPr/>
          <p:nvPr/>
        </p:nvSpPr>
        <p:spPr>
          <a:xfrm>
            <a:off x="4414418"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4418"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Record the answer seen</a:t>
            </a:r>
          </a:p>
        </p:txBody>
      </p:sp>
      <p:sp>
        <p:nvSpPr>
          <p:cNvPr id="17" name="TextBox 16"/>
          <p:cNvSpPr txBox="1"/>
          <p:nvPr/>
        </p:nvSpPr>
        <p:spPr>
          <a:xfrm>
            <a:off x="4597298"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downstream keeps an image of the upstream rows it was handed, and its checkpoint stores it, cut under the same freeze as its state.</a:t>
            </a:r>
          </a:p>
        </p:txBody>
      </p:sp>
      <p:cxnSp>
        <p:nvCxnSpPr>
          <p:cNvPr id="18" name="Connector 17"/>
          <p:cNvCxnSpPr/>
          <p:nvPr/>
        </p:nvCxnSpPr>
        <p:spPr>
          <a:xfrm>
            <a:off x="4176674"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8051596"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1596"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4476"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Restore by difference</a:t>
            </a:r>
          </a:p>
        </p:txBody>
      </p:sp>
      <p:sp>
        <p:nvSpPr>
          <p:cNvPr id="22" name="TextBox 21"/>
          <p:cNvSpPr txBox="1"/>
          <p:nvPr/>
        </p:nvSpPr>
        <p:spPr>
          <a:xfrm>
            <a:off x="8234476"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Follow the upstream again, and feed its snapshot minus the image first — retractions and insertions — then every change.</a:t>
            </a:r>
          </a:p>
        </p:txBody>
      </p:sp>
      <p:cxnSp>
        <p:nvCxnSpPr>
          <p:cNvPr id="23" name="Connector 22"/>
          <p:cNvCxnSpPr/>
          <p:nvPr/>
        </p:nvCxnSpPr>
        <p:spPr>
          <a:xfrm>
            <a:off x="7813852"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430320"/>
            <a:ext cx="10637215" cy="281503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Exact whichever side checkpointed later</a:t>
            </a:r>
          </a:p>
          <a:p>
            <a:pPr lvl="1">
              <a:lnSpc>
                <a:spcPct val="120000"/>
              </a:lnSpc>
              <a:spcBef>
                <a:spcPts val="0"/>
              </a:spcBef>
              <a:spcAft>
                <a:spcPts val="0"/>
              </a:spcAft>
            </a:pPr>
            <a:r>
              <a:rPr sz="1350" b="0">
                <a:solidFill>
                  <a:srgbClr val="4A5058"/>
                </a:solidFill>
                <a:latin typeface="Source Sans 3"/>
              </a:rPr>
              <a:t>The difference is between two answers, not two positions. It works because every operator allowed over a view depends only on what its input adds up to.</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reader that falls 65,536 changes behind</a:t>
            </a:r>
          </a:p>
          <a:p>
            <a:pPr lvl="1">
              <a:lnSpc>
                <a:spcPct val="120000"/>
              </a:lnSpc>
              <a:spcBef>
                <a:spcPts val="0"/>
              </a:spcBef>
              <a:spcAft>
                <a:spcPts val="0"/>
              </a:spcAft>
            </a:pPr>
            <a:r>
              <a:rPr sz="1350" b="0">
                <a:solidFill>
                  <a:srgbClr val="4A5058"/>
                </a:solidFill>
                <a:latin typeface="Source Sans 3"/>
              </a:rPr>
              <a:t>Drops its queue, re-snapshots and is fed the difference: conflation without loss.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ALERTS · ADR-057</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Told when a row enters the answer, and when it leaves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sp>
        <p:nvSpPr>
          <p:cNvPr id="10" name="Rectangle 9"/>
          <p:cNvSpPr/>
          <p:nvPr/>
        </p:nvSpPr>
        <p:spPr>
          <a:xfrm>
            <a:off x="777240" y="1378204"/>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ALERT low_stock_alert</a:t>
            </a:r>
          </a:p>
          <a:p>
            <a:pPr>
              <a:lnSpc>
                <a:spcPct val="100000"/>
              </a:lnSpc>
              <a:spcBef>
                <a:spcPts val="0"/>
              </a:spcBef>
              <a:spcAft>
                <a:spcPts val="0"/>
              </a:spcAft>
            </a:pPr>
            <a:r>
              <a:rPr sz="1300" b="0" i="0">
                <a:solidFill>
                  <a:srgbClr val="F1EEE9"/>
                </a:solidFill>
                <a:latin typeface="Consolas"/>
              </a:rPr>
              <a:t>  ON low_stock</a:t>
            </a:r>
          </a:p>
          <a:p>
            <a:pPr>
              <a:lnSpc>
                <a:spcPct val="100000"/>
              </a:lnSpc>
              <a:spcBef>
                <a:spcPts val="0"/>
              </a:spcBef>
              <a:spcAft>
                <a:spcPts val="0"/>
              </a:spcAft>
            </a:pPr>
            <a:r>
              <a:rPr sz="1300" b="0" i="0">
                <a:solidFill>
                  <a:srgbClr val="F1EEE9"/>
                </a:solidFill>
                <a:latin typeface="Consolas"/>
              </a:rPr>
              <a:t>  WHERE warehouse = 'LDN'</a:t>
            </a:r>
          </a:p>
          <a:p>
            <a:pPr>
              <a:lnSpc>
                <a:spcPct val="100000"/>
              </a:lnSpc>
              <a:spcBef>
                <a:spcPts val="0"/>
              </a:spcBef>
              <a:spcAft>
                <a:spcPts val="0"/>
              </a:spcAft>
            </a:pPr>
            <a:r>
              <a:rPr sz="1300" b="0" i="0">
                <a:solidFill>
                  <a:srgbClr val="F1EEE9"/>
                </a:solidFill>
                <a:latin typeface="Consolas"/>
              </a:rPr>
              <a:t>  NOTIFY buyers</a:t>
            </a:r>
          </a:p>
          <a:p>
            <a:pPr>
              <a:lnSpc>
                <a:spcPct val="100000"/>
              </a:lnSpc>
              <a:spcBef>
                <a:spcPts val="0"/>
              </a:spcBef>
              <a:spcAft>
                <a:spcPts val="0"/>
              </a:spcAft>
            </a:pPr>
            <a:r>
              <a:rPr sz="1300" b="0" i="0">
                <a:solidFill>
                  <a:srgbClr val="F1EEE9"/>
                </a:solidFill>
                <a:latin typeface="Consolas"/>
              </a:rPr>
              <a:t>  WITH (severity = 'warning',</a:t>
            </a:r>
          </a:p>
          <a:p>
            <a:pPr>
              <a:lnSpc>
                <a:spcPct val="100000"/>
              </a:lnSpc>
              <a:spcBef>
                <a:spcPts val="0"/>
              </a:spcBef>
              <a:spcAft>
                <a:spcPts val="0"/>
              </a:spcAft>
            </a:pPr>
            <a:r>
              <a:rPr sz="1300" b="0" i="0">
                <a:solidFill>
                  <a:srgbClr val="F1EEE9"/>
                </a:solidFill>
                <a:latin typeface="Consolas"/>
              </a:rPr>
              <a:t>        fire_after = '1m',</a:t>
            </a:r>
          </a:p>
          <a:p>
            <a:pPr>
              <a:lnSpc>
                <a:spcPct val="100000"/>
              </a:lnSpc>
              <a:spcBef>
                <a:spcPts val="0"/>
              </a:spcBef>
              <a:spcAft>
                <a:spcPts val="0"/>
              </a:spcAft>
            </a:pPr>
            <a:r>
              <a:rPr sz="1300" b="0" i="0">
                <a:solidFill>
                  <a:srgbClr val="F1EEE9"/>
                </a:solidFill>
                <a:latin typeface="Consolas"/>
              </a:rPr>
              <a:t>        clear_after = '5m',</a:t>
            </a:r>
          </a:p>
          <a:p>
            <a:pPr>
              <a:lnSpc>
                <a:spcPct val="100000"/>
              </a:lnSpc>
              <a:spcBef>
                <a:spcPts val="0"/>
              </a:spcBef>
              <a:spcAft>
                <a:spcPts val="0"/>
              </a:spcAft>
            </a:pPr>
            <a:r>
              <a:rPr sz="1300" b="0" i="0">
                <a:solidFill>
                  <a:srgbClr val="F1EEE9"/>
                </a:solidFill>
                <a:latin typeface="Consolas"/>
              </a:rPr>
              <a:t>        dedupe = '10m',</a:t>
            </a:r>
          </a:p>
          <a:p>
            <a:pPr>
              <a:lnSpc>
                <a:spcPct val="100000"/>
              </a:lnSpc>
              <a:spcBef>
                <a:spcPts val="0"/>
              </a:spcBef>
              <a:spcAft>
                <a:spcPts val="0"/>
              </a:spcAft>
            </a:pPr>
            <a:r>
              <a:rPr sz="1300" b="0" i="0">
                <a:solidFill>
                  <a:srgbClr val="F1EEE9"/>
                </a:solidFill>
                <a:latin typeface="Consolas"/>
              </a:rPr>
              <a:t>        resend_every = '1h')</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SNOOZE ALERT low_stock_alert FOR '2h'</a:t>
            </a:r>
          </a:p>
          <a:p>
            <a:pPr>
              <a:lnSpc>
                <a:spcPct val="100000"/>
              </a:lnSpc>
              <a:spcBef>
                <a:spcPts val="0"/>
              </a:spcBef>
              <a:spcAft>
                <a:spcPts val="0"/>
              </a:spcAft>
            </a:pPr>
            <a:r>
              <a:rPr sz="1300" b="0" i="0">
                <a:solidFill>
                  <a:srgbClr val="F1EEE9"/>
                </a:solidFill>
                <a:latin typeface="Consolas"/>
              </a:rPr>
              <a:t>ACK    ALERT low_stock_alert</a:t>
            </a:r>
          </a:p>
        </p:txBody>
      </p:sp>
      <p:sp>
        <p:nvSpPr>
          <p:cNvPr id="13" name="TextBox 12"/>
          <p:cNvSpPr txBox="1"/>
          <p:nvPr/>
        </p:nvSpPr>
        <p:spPr>
          <a:xfrm>
            <a:off x="6278727" y="1378204"/>
            <a:ext cx="5135727" cy="486714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clear is a retraction, not a guess</a:t>
            </a:r>
          </a:p>
          <a:p>
            <a:pPr lvl="1">
              <a:lnSpc>
                <a:spcPct val="120000"/>
              </a:lnSpc>
              <a:spcBef>
                <a:spcPts val="0"/>
              </a:spcBef>
              <a:spcAft>
                <a:spcPts val="0"/>
              </a:spcAft>
            </a:pPr>
            <a:r>
              <a:rPr sz="1350" b="0">
                <a:solidFill>
                  <a:srgbClr val="4A5058"/>
                </a:solidFill>
                <a:latin typeface="Source Sans 3"/>
              </a:rPr>
              <a:t>A delivery arrives from mysql-cdc as −1 old, +1 new; the filter passes neither half, the row leaves low_stock, and the alert is told.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is true, and what is said</a:t>
            </a:r>
          </a:p>
          <a:p>
            <a:pPr lvl="1">
              <a:lnSpc>
                <a:spcPct val="120000"/>
              </a:lnSpc>
              <a:spcBef>
                <a:spcPts val="0"/>
              </a:spcBef>
              <a:spcAft>
                <a:spcPts val="0"/>
              </a:spcAft>
            </a:pPr>
            <a:r>
              <a:rPr sz="1350" b="0">
                <a:solidFill>
                  <a:srgbClr val="4A5058"/>
                </a:solidFill>
                <a:latin typeface="Source Sans 3"/>
              </a:rPr>
              <a:t>fire_after and clear_after decide the first; dedupe, pause, snooze and reminders only hold the second back — a flap folds into its end state.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Channels are plugins</a:t>
            </a:r>
          </a:p>
          <a:p>
            <a:pPr lvl="1">
              <a:lnSpc>
                <a:spcPct val="120000"/>
              </a:lnSpc>
              <a:spcBef>
                <a:spcPts val="0"/>
              </a:spcBef>
              <a:spcAft>
                <a:spcPts val="0"/>
              </a:spcAft>
            </a:pPr>
            <a:r>
              <a:rPr sz="1350" b="0">
                <a:solidFill>
                  <a:srgbClr val="4A5058"/>
                </a:solidFill>
                <a:latin typeface="Source Sans 3"/>
              </a:rPr>
              <a:t>A webhook signed with HMAC-SHA256 (a Slack format too) and a log channel; email, Teams and PagerDuty are designed, not built.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GUARANTEES,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Exactly-once alert state, at-least-once delivery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end to end: the retail study's low-stock alert on a real node with a signed webhook and a restart (RetailLowStockAlertEndToEndTest).</a:t>
            </a:r>
          </a:p>
        </p:txBody>
      </p:sp>
      <p:graphicFrame>
        <p:nvGraphicFramePr>
          <p:cNvPr id="12" name="Table 11"/>
          <p:cNvGraphicFramePr>
            <a:graphicFrameLocks noGrp="1"/>
          </p:cNvGraphicFramePr>
          <p:nvPr/>
        </p:nvGraphicFramePr>
        <p:xfrm>
          <a:off x="777240" y="1410919"/>
          <a:ext cx="10637214" cy="3352594"/>
        </p:xfrm>
        <a:graphic>
          <a:graphicData uri="http://schemas.openxmlformats.org/drawingml/2006/table">
            <a:tbl>
              <a:tblPr firstRow="1">
                <a:tableStyleId>{5C22544A-7EE6-4342-B048-85BDC9FD1C3A}</a:tableStyleId>
              </a:tblPr>
              <a:tblGrid>
                <a:gridCol w="3900312"/>
                <a:gridCol w="6736902"/>
              </a:tblGrid>
              <a:tr h="322376">
                <a:tc>
                  <a:txBody>
                    <a:bodyPr wrap="square"/>
                    <a:lstStyle/>
                    <a:p>
                      <a:r>
                        <a:rPr sz="1300" b="1">
                          <a:solidFill>
                            <a:srgbClr val="FFFFFF"/>
                          </a:solidFill>
                          <a:latin typeface="Source Sans 3"/>
                        </a:rPr>
                        <a:t>Situation</a:t>
                      </a:r>
                    </a:p>
                  </a:txBody>
                  <a:tcPr marL="82296" marR="64008" marT="32004" marB="32004" anchor="ctr">
                    <a:solidFill>
                      <a:srgbClr val="8A1626"/>
                    </a:solidFill>
                  </a:tcPr>
                </a:tc>
                <a:tc>
                  <a:txBody>
                    <a:bodyPr wrap="square"/>
                    <a:lstStyle/>
                    <a:p>
                      <a:r>
                        <a:rPr sz="1300" b="1">
                          <a:solidFill>
                            <a:srgbClr val="FFFFFF"/>
                          </a:solidFill>
                          <a:latin typeface="Source Sans 3"/>
                        </a:rPr>
                        <a:t>What happens</a:t>
                      </a:r>
                    </a:p>
                  </a:txBody>
                  <a:tcPr marL="82296" marR="64008" marT="32004" marB="32004" anchor="ctr">
                    <a:solidFill>
                      <a:srgbClr val="8A1626"/>
                    </a:solidFill>
                  </a:tcPr>
                </a:tc>
              </a:tr>
              <a:tr h="584098">
                <a:tc>
                  <a:txBody>
                    <a:bodyPr wrap="square"/>
                    <a:lstStyle/>
                    <a:p>
                      <a:r>
                        <a:rPr sz="1450" b="1">
                          <a:solidFill>
                            <a:srgbClr val="8A1626"/>
                          </a:solidFill>
                          <a:latin typeface="Source Sans 3"/>
                        </a:rPr>
                        <a:t>Any decision</a:t>
                      </a:r>
                    </a:p>
                  </a:txBody>
                  <a:tcPr marL="82296" marR="64008" marT="32004" marB="32004" anchor="ctr">
                    <a:solidFill>
                      <a:srgbClr val="FFFFFF"/>
                    </a:solidFill>
                  </a:tcPr>
                </a:tc>
                <a:tc>
                  <a:txBody>
                    <a:bodyPr wrap="square"/>
                    <a:lstStyle/>
                    <a:p>
                      <a:r>
                        <a:rPr sz="1450" b="0">
                          <a:solidFill>
                            <a:srgbClr val="1A1A1A"/>
                          </a:solidFill>
                          <a:latin typeface="Source Sans 3"/>
                        </a:rPr>
                        <a:t>Fired, cleared, told, acknowledged — journalled and forced to disk before anything is sent</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Restart, key still in the answer</a:t>
                      </a:r>
                    </a:p>
                  </a:txBody>
                  <a:tcPr marL="82296" marR="64008" marT="32004" marB="32004" anchor="ctr">
                    <a:solidFill>
                      <a:srgbClr val="F7F5F2"/>
                    </a:solidFill>
                  </a:tcPr>
                </a:tc>
                <a:tc>
                  <a:txBody>
                    <a:bodyPr wrap="square"/>
                    <a:lstStyle/>
                    <a:p>
                      <a:r>
                        <a:rPr sz="1450" b="0">
                          <a:solidFill>
                            <a:srgbClr val="1A1A1A"/>
                          </a:solidFill>
                          <a:latin typeface="Source Sans 3"/>
                        </a:rPr>
                        <a:t>Not fired again</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Restart, a clear decided but not delivered</a:t>
                      </a:r>
                    </a:p>
                  </a:txBody>
                  <a:tcPr marL="82296" marR="64008" marT="32004" marB="32004" anchor="ctr">
                    <a:solidFill>
                      <a:srgbClr val="FFFFFF"/>
                    </a:solidFill>
                  </a:tcPr>
                </a:tc>
                <a:tc>
                  <a:txBody>
                    <a:bodyPr wrap="square"/>
                    <a:lstStyle/>
                    <a:p>
                      <a:r>
                        <a:rPr sz="1450" b="0">
                          <a:solidFill>
                            <a:srgbClr val="1A1A1A"/>
                          </a:solidFill>
                          <a:latin typeface="Source Sans 3"/>
                        </a:rPr>
                        <a:t>Delivered: it is owed, and the journal says so</a:t>
                      </a:r>
                    </a:p>
                  </a:txBody>
                  <a:tcPr marL="82296" marR="64008" marT="32004" marB="32004" anchor="ctr">
                    <a:solidFill>
                      <a:srgbClr val="FFFFFF"/>
                    </a:solidFill>
                  </a:tcPr>
                </a:tc>
              </a:tr>
              <a:tr h="584098">
                <a:tc>
                  <a:txBody>
                    <a:bodyPr wrap="square"/>
                    <a:lstStyle/>
                    <a:p>
                      <a:r>
                        <a:rPr sz="1450" b="1">
                          <a:solidFill>
                            <a:srgbClr val="8A1626"/>
                          </a:solidFill>
                          <a:latin typeface="Source Sans 3"/>
                        </a:rPr>
                        <a:t>A channel refuses or times out</a:t>
                      </a:r>
                    </a:p>
                  </a:txBody>
                  <a:tcPr marL="82296" marR="64008" marT="32004" marB="32004" anchor="ctr">
                    <a:solidFill>
                      <a:srgbClr val="F7F5F2"/>
                    </a:solidFill>
                  </a:tcPr>
                </a:tc>
                <a:tc>
                  <a:txBody>
                    <a:bodyPr wrap="square"/>
                    <a:lstStyle/>
                    <a:p>
                      <a:r>
                        <a:rPr sz="1450" b="0">
                          <a:solidFill>
                            <a:srgbClr val="1A1A1A"/>
                          </a:solidFill>
                          <a:latin typeface="Source Sans 3"/>
                        </a:rPr>
                        <a:t>Retried with backoff, then re-sent every minute until accepted; the failure is on the alert (PRV-8045)</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receiver sees one twice</a:t>
                      </a:r>
                    </a:p>
                  </a:txBody>
                  <a:tcPr marL="82296" marR="64008" marT="32004" marB="32004" anchor="ctr">
                    <a:solidFill>
                      <a:srgbClr val="FFFFFF"/>
                    </a:solidFill>
                  </a:tcPr>
                </a:tc>
                <a:tc>
                  <a:txBody>
                    <a:bodyPr wrap="square"/>
                    <a:lstStyle/>
                    <a:p>
                      <a:r>
                        <a:rPr sz="1450" b="0">
                          <a:solidFill>
                            <a:srgbClr val="1A1A1A"/>
                          </a:solidFill>
                          <a:latin typeface="Source Sans 3"/>
                        </a:rPr>
                        <a:t>Every attempt carries the same Idempotency-Key, across retries and restarts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The view it follows is dropped</a:t>
                      </a:r>
                    </a:p>
                  </a:txBody>
                  <a:tcPr marL="82296" marR="64008" marT="32004" marB="32004" anchor="ctr">
                    <a:solidFill>
                      <a:srgbClr val="F7F5F2"/>
                    </a:solidFill>
                  </a:tcPr>
                </a:tc>
                <a:tc>
                  <a:txBody>
                    <a:bodyPr wrap="square"/>
                    <a:lstStyle/>
                    <a:p>
                      <a:r>
                        <a:rPr sz="1450" b="0">
                          <a:solidFill>
                            <a:srgbClr val="1A1A1A"/>
                          </a:solidFill>
                          <a:latin typeface="Source Sans 3"/>
                        </a:rPr>
                        <a:t>Refused while the alert exists (PRV-8024)</a:t>
                      </a:r>
                    </a:p>
                  </a:txBody>
                  <a:tcPr marL="82296" marR="64008" marT="32004" marB="32004" anchor="ctr">
                    <a:solidFill>
                      <a:srgbClr val="F7F5F2"/>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8</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Connectors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Ten connector plugins, each a jar with a service declaration. Every source says what it can promise — ordered or not, exactly once or at least once — and the registry holds a query to that promise.</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Sources, and what each promises</a:t>
            </a:r>
          </a:p>
          <a:p>
            <a:pPr>
              <a:lnSpc>
                <a:spcPct val="115000"/>
              </a:lnSpc>
              <a:spcBef>
                <a:spcPts val="0"/>
              </a:spcBef>
              <a:spcAft>
                <a:spcPts val="600"/>
              </a:spcAft>
            </a:pPr>
            <a:r>
              <a:rPr sz="1250" b="0" i="0">
                <a:solidFill>
                  <a:srgbClr val="F6E6E9"/>
                </a:solidFill>
                <a:latin typeface="Source Sans 3"/>
              </a:rPr>
              <a:t>Sinks, and what each delivers</a:t>
            </a:r>
          </a:p>
          <a:p>
            <a:pPr>
              <a:lnSpc>
                <a:spcPct val="115000"/>
              </a:lnSpc>
              <a:spcBef>
                <a:spcPts val="0"/>
              </a:spcBef>
              <a:spcAft>
                <a:spcPts val="600"/>
              </a:spcAft>
            </a:pPr>
            <a:r>
              <a:rPr sz="1250" b="0" i="0">
                <a:solidFill>
                  <a:srgbClr val="F6E6E9"/>
                </a:solidFill>
                <a:latin typeface="Source Sans 3"/>
              </a:rPr>
              <a:t>Change data capture without Debezium</a:t>
            </a:r>
          </a:p>
          <a:p>
            <a:pPr>
              <a:lnSpc>
                <a:spcPct val="115000"/>
              </a:lnSpc>
              <a:spcBef>
                <a:spcPts val="0"/>
              </a:spcBef>
              <a:spcAft>
                <a:spcPts val="600"/>
              </a:spcAft>
            </a:pPr>
            <a:r>
              <a:rPr sz="1250" b="0" i="0">
                <a:solidFill>
                  <a:srgbClr val="F6E6E9"/>
                </a:solidFill>
                <a:latin typeface="Source Sans 3"/>
              </a:rPr>
              <a:t>What a connector must earn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SOURCES · PLUGINS/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Nine sources, two lookups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graphicFrame>
        <p:nvGraphicFramePr>
          <p:cNvPr id="10" name="Table 9"/>
          <p:cNvGraphicFramePr>
            <a:graphicFrameLocks noGrp="1"/>
          </p:cNvGraphicFramePr>
          <p:nvPr/>
        </p:nvGraphicFramePr>
        <p:xfrm>
          <a:off x="777240" y="1410919"/>
          <a:ext cx="10637215" cy="4740246"/>
        </p:xfrm>
        <a:graphic>
          <a:graphicData uri="http://schemas.openxmlformats.org/drawingml/2006/table">
            <a:tbl>
              <a:tblPr firstRow="1">
                <a:tableStyleId>{5C22544A-7EE6-4342-B048-85BDC9FD1C3A}</a:tableStyleId>
              </a:tblPr>
              <a:tblGrid>
                <a:gridCol w="2200803"/>
                <a:gridCol w="4218206"/>
                <a:gridCol w="4218206"/>
              </a:tblGrid>
              <a:tr h="306019">
                <a:tc>
                  <a:txBody>
                    <a:bodyPr wrap="square"/>
                    <a:lstStyle/>
                    <a:p>
                      <a:r>
                        <a:rPr sz="1200" b="1">
                          <a:solidFill>
                            <a:srgbClr val="FFFFFF"/>
                          </a:solidFill>
                          <a:latin typeface="Source Sans 3"/>
                        </a:rPr>
                        <a:t>Plugin</a:t>
                      </a:r>
                    </a:p>
                  </a:txBody>
                  <a:tcPr marL="82296" marR="64008" marT="32004" marB="32004" anchor="ctr">
                    <a:solidFill>
                      <a:srgbClr val="8A1626"/>
                    </a:solidFill>
                  </a:tcPr>
                </a:tc>
                <a:tc>
                  <a:txBody>
                    <a:bodyPr wrap="square"/>
                    <a:lstStyle/>
                    <a:p>
                      <a:r>
                        <a:rPr sz="1200" b="1">
                          <a:solidFill>
                            <a:srgbClr val="FFFFFF"/>
                          </a:solidFill>
                          <a:latin typeface="Source Sans 3"/>
                        </a:rPr>
                        <a:t>Reads</a:t>
                      </a:r>
                    </a:p>
                  </a:txBody>
                  <a:tcPr marL="82296" marR="64008" marT="32004" marB="32004" anchor="ctr">
                    <a:solidFill>
                      <a:srgbClr val="8A1626"/>
                    </a:solidFill>
                  </a:tcPr>
                </a:tc>
                <a:tc>
                  <a:txBody>
                    <a:bodyPr wrap="square"/>
                    <a:lstStyle/>
                    <a:p>
                      <a:r>
                        <a:rPr sz="1200" b="1">
                          <a:solidFill>
                            <a:srgbClr val="FFFFFF"/>
                          </a:solidFill>
                          <a:latin typeface="Source Sans 3"/>
                        </a:rPr>
                        <a:t>Promise and pushdown</a:t>
                      </a:r>
                    </a:p>
                  </a:txBody>
                  <a:tcPr marL="82296" marR="64008" marT="32004" marB="32004" anchor="ctr">
                    <a:solidFill>
                      <a:srgbClr val="8A1626"/>
                    </a:solidFill>
                  </a:tcPr>
                </a:tc>
              </a:tr>
              <a:tr h="306019">
                <a:tc>
                  <a:txBody>
                    <a:bodyPr wrap="square"/>
                    <a:lstStyle/>
                    <a:p>
                      <a:r>
                        <a:rPr sz="1200" b="1">
                          <a:solidFill>
                            <a:srgbClr val="8A1626"/>
                          </a:solidFill>
                          <a:latin typeface="Source Sans 3"/>
                        </a:rPr>
                        <a:t>filesystem</a:t>
                      </a:r>
                    </a:p>
                  </a:txBody>
                  <a:tcPr marL="82296" marR="64008" marT="32004" marB="32004" anchor="ctr">
                    <a:solidFill>
                      <a:srgbClr val="FFFFFF"/>
                    </a:solidFill>
                  </a:tcPr>
                </a:tc>
                <a:tc>
                  <a:txBody>
                    <a:bodyPr wrap="square"/>
                    <a:lstStyle/>
                    <a:p>
                      <a:r>
                        <a:rPr sz="1200" b="0">
                          <a:solidFill>
                            <a:srgbClr val="1A1A1A"/>
                          </a:solidFill>
                          <a:latin typeface="Source Sans 3"/>
                        </a:rPr>
                        <a:t>One file, bounded or followed like tail -f</a:t>
                      </a:r>
                    </a:p>
                  </a:txBody>
                  <a:tcPr marL="82296" marR="64008" marT="32004" marB="32004" anchor="ctr">
                    <a:solidFill>
                      <a:srgbClr val="FFFFFF"/>
                    </a:solidFill>
                  </a:tcPr>
                </a:tc>
                <a:tc>
                  <a:txBody>
                    <a:bodyPr wrap="square"/>
                    <a:lstStyle/>
                    <a:p>
                      <a:r>
                        <a:rPr sz="1200" b="0">
                          <a:solidFill>
                            <a:srgbClr val="1A1A1A"/>
                          </a:solidFill>
                          <a:latin typeface="Source Sans 3"/>
                        </a:rPr>
                        <a:t>Ordered; shared exactly (ADR-054)</a:t>
                      </a:r>
                    </a:p>
                  </a:txBody>
                  <a:tcPr marL="82296" marR="64008" marT="32004" marB="32004" anchor="ctr">
                    <a:solidFill>
                      <a:srgbClr val="FFFFFF"/>
                    </a:solidFill>
                  </a:tcPr>
                </a:tc>
              </a:tr>
              <a:tr h="502310">
                <a:tc>
                  <a:txBody>
                    <a:bodyPr wrap="square"/>
                    <a:lstStyle/>
                    <a:p>
                      <a:r>
                        <a:rPr sz="1200" b="1">
                          <a:solidFill>
                            <a:srgbClr val="8A1626"/>
                          </a:solidFill>
                          <a:latin typeface="Source Sans 3"/>
                        </a:rPr>
                        <a:t>feedfile</a:t>
                      </a:r>
                    </a:p>
                  </a:txBody>
                  <a:tcPr marL="82296" marR="64008" marT="32004" marB="32004" anchor="ctr">
                    <a:solidFill>
                      <a:srgbClr val="F7F5F2"/>
                    </a:solidFill>
                  </a:tcPr>
                </a:tc>
                <a:tc>
                  <a:txBody>
                    <a:bodyPr wrap="square"/>
                    <a:lstStyle/>
                    <a:p>
                      <a:r>
                        <a:rPr sz="1200" b="0">
                          <a:solidFill>
                            <a:srgbClr val="1A1A1A"/>
                          </a:solidFill>
                          <a:latin typeface="Source Sans 3"/>
                        </a:rPr>
                        <a:t>A directory of CSV or Parquet files arriving over time</a:t>
                      </a:r>
                    </a:p>
                  </a:txBody>
                  <a:tcPr marL="82296" marR="64008" marT="32004" marB="32004" anchor="ctr">
                    <a:solidFill>
                      <a:srgbClr val="F7F5F2"/>
                    </a:solidFill>
                  </a:tcPr>
                </a:tc>
                <a:tc>
                  <a:txBody>
                    <a:bodyPr wrap="square"/>
                    <a:lstStyle/>
                    <a:p>
                      <a:r>
                        <a:rPr sz="1200" b="0">
                          <a:solidFill>
                            <a:srgbClr val="1A1A1A"/>
                          </a:solidFill>
                          <a:latin typeface="Source Sans 3"/>
                        </a:rPr>
                        <a:t>—</a:t>
                      </a:r>
                    </a:p>
                  </a:txBody>
                  <a:tcPr marL="82296" marR="64008" marT="32004" marB="32004" anchor="ctr">
                    <a:solidFill>
                      <a:srgbClr val="F7F5F2"/>
                    </a:solidFill>
                  </a:tcPr>
                </a:tc>
              </a:tr>
              <a:tr h="306019">
                <a:tc>
                  <a:txBody>
                    <a:bodyPr wrap="square"/>
                    <a:lstStyle/>
                    <a:p>
                      <a:r>
                        <a:rPr sz="1200" b="1">
                          <a:solidFill>
                            <a:srgbClr val="8A1626"/>
                          </a:solidFill>
                          <a:latin typeface="Source Sans 3"/>
                        </a:rPr>
                        <a:t>delta</a:t>
                      </a:r>
                    </a:p>
                  </a:txBody>
                  <a:tcPr marL="82296" marR="64008" marT="32004" marB="32004" anchor="ctr">
                    <a:solidFill>
                      <a:srgbClr val="FFFFFF"/>
                    </a:solidFill>
                  </a:tcPr>
                </a:tc>
                <a:tc>
                  <a:txBody>
                    <a:bodyPr wrap="square"/>
                    <a:lstStyle/>
                    <a:p>
                      <a:r>
                        <a:rPr sz="1200" b="0">
                          <a:solidFill>
                            <a:srgbClr val="1A1A1A"/>
                          </a:solidFill>
                          <a:latin typeface="Source Sans 3"/>
                        </a:rPr>
                        <a:t>A Delta Lake table, deletion vectors included</a:t>
                      </a:r>
                    </a:p>
                  </a:txBody>
                  <a:tcPr marL="82296" marR="64008" marT="32004" marB="32004" anchor="ctr">
                    <a:solidFill>
                      <a:srgbClr val="FFFFFF"/>
                    </a:solidFill>
                  </a:tcPr>
                </a:tc>
                <a:tc>
                  <a:txBody>
                    <a:bodyPr wrap="square"/>
                    <a:lstStyle/>
                    <a:p>
                      <a:r>
                        <a:rPr sz="1200" b="0">
                          <a:solidFill>
                            <a:srgbClr val="1A1A1A"/>
                          </a:solidFill>
                          <a:latin typeface="Source Sans 3"/>
                        </a:rPr>
                        <a:t>Reader per query for now</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a:t>
                      </a:r>
                    </a:p>
                  </a:txBody>
                  <a:tcPr marL="82296" marR="64008" marT="32004" marB="32004" anchor="ctr">
                    <a:solidFill>
                      <a:srgbClr val="F7F5F2"/>
                    </a:solidFill>
                  </a:tcPr>
                </a:tc>
                <a:tc>
                  <a:txBody>
                    <a:bodyPr wrap="square"/>
                    <a:lstStyle/>
                    <a:p>
                      <a:r>
                        <a:rPr sz="1200" b="0">
                          <a:solidFill>
                            <a:srgbClr val="1A1A1A"/>
                          </a:solidFill>
                          <a:latin typeface="Source Sans 3"/>
                        </a:rPr>
                        <a:t>A table or any SELECT, polled by a watermark column</a:t>
                      </a:r>
                    </a:p>
                  </a:txBody>
                  <a:tcPr marL="82296" marR="64008" marT="32004" marB="32004" anchor="ctr">
                    <a:solidFill>
                      <a:srgbClr val="F7F5F2"/>
                    </a:solidFill>
                  </a:tcPr>
                </a:tc>
                <a:tc>
                  <a:txBody>
                    <a:bodyPr wrap="square"/>
                    <a:lstStyle/>
                    <a:p>
                      <a:r>
                        <a:rPr sz="1200" b="0">
                          <a:solidFill>
                            <a:srgbClr val="1A1A1A"/>
                          </a:solidFill>
                          <a:latin typeface="Source Sans 3"/>
                        </a:rPr>
                        <a:t>Filters, projections, and COUNT/SUM as one partial per page pushed in</a:t>
                      </a:r>
                    </a:p>
                  </a:txBody>
                  <a:tcPr marL="82296" marR="64008" marT="32004" marB="32004" anchor="ctr">
                    <a:solidFill>
                      <a:srgbClr val="F7F5F2"/>
                    </a:solidFill>
                  </a:tcPr>
                </a:tc>
              </a:tr>
              <a:tr h="502310">
                <a:tc>
                  <a:txBody>
                    <a:bodyPr wrap="square"/>
                    <a:lstStyle/>
                    <a:p>
                      <a:r>
                        <a:rPr sz="1200" b="1">
                          <a:solidFill>
                            <a:srgbClr val="8A1626"/>
                          </a:solidFill>
                          <a:latin typeface="Source Sans 3"/>
                        </a:rPr>
                        <a:t>aerospike</a:t>
                      </a:r>
                    </a:p>
                  </a:txBody>
                  <a:tcPr marL="82296" marR="64008" marT="32004" marB="32004" anchor="ctr">
                    <a:solidFill>
                      <a:srgbClr val="FFFFFF"/>
                    </a:solidFill>
                  </a:tcPr>
                </a:tc>
                <a:tc>
                  <a:txBody>
                    <a:bodyPr wrap="square"/>
                    <a:lstStyle/>
                    <a:p>
                      <a:r>
                        <a:rPr sz="1200" b="0">
                          <a:solidFill>
                            <a:srgbClr val="1A1A1A"/>
                          </a:solidFill>
                          <a:latin typeface="Source Sans 3"/>
                        </a:rPr>
                        <a:t>A set, scanned by last-update time</a:t>
                      </a:r>
                    </a:p>
                  </a:txBody>
                  <a:tcPr marL="82296" marR="64008" marT="32004" marB="32004" anchor="ctr">
                    <a:solidFill>
                      <a:srgbClr val="FFFFFF"/>
                    </a:solidFill>
                  </a:tcPr>
                </a:tc>
                <a:tc>
                  <a:txBody>
                    <a:bodyPr wrap="square"/>
                    <a:lstStyle/>
                    <a:p>
                      <a:r>
                        <a:rPr sz="1200" b="0">
                          <a:solidFill>
                            <a:srgbClr val="1A1A1A"/>
                          </a:solidFill>
                          <a:latin typeface="Source Sans 3"/>
                        </a:rPr>
                        <a:t>Filters and projections pushed in; deletes: detect</a:t>
                      </a:r>
                    </a:p>
                  </a:txBody>
                  <a:tcPr marL="82296" marR="64008" marT="32004" marB="32004" anchor="ctr">
                    <a:solidFill>
                      <a:srgbClr val="FFFFFF"/>
                    </a:solidFill>
                  </a:tcPr>
                </a:tc>
              </a:tr>
              <a:tr h="306019">
                <a:tc>
                  <a:txBody>
                    <a:bodyPr wrap="square"/>
                    <a:lstStyle/>
                    <a:p>
                      <a:r>
                        <a:rPr sz="1200" b="1">
                          <a:solidFill>
                            <a:srgbClr val="8A1626"/>
                          </a:solidFill>
                          <a:latin typeface="Source Sans 3"/>
                        </a:rPr>
                        <a:t>cassandra</a:t>
                      </a:r>
                    </a:p>
                  </a:txBody>
                  <a:tcPr marL="82296" marR="64008" marT="32004" marB="32004" anchor="ctr">
                    <a:solidFill>
                      <a:srgbClr val="F7F5F2"/>
                    </a:solidFill>
                  </a:tcPr>
                </a:tc>
                <a:tc>
                  <a:txBody>
                    <a:bodyPr wrap="square"/>
                    <a:lstStyle/>
                    <a:p>
                      <a:r>
                        <a:rPr sz="120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200" b="0">
                          <a:solidFill>
                            <a:srgbClr val="1A1A1A"/>
                          </a:solidFill>
                          <a:latin typeface="Source Sans 3"/>
                        </a:rPr>
                        <a:t>Key restrictions pushed in; deletes: detect</a:t>
                      </a:r>
                    </a:p>
                  </a:txBody>
                  <a:tcPr marL="82296" marR="64008" marT="32004" marB="32004" anchor="ctr">
                    <a:solidFill>
                      <a:srgbClr val="F7F5F2"/>
                    </a:solidFill>
                  </a:tcPr>
                </a:tc>
              </a:tr>
              <a:tr h="502310">
                <a:tc>
                  <a:txBody>
                    <a:bodyPr wrap="square"/>
                    <a:lstStyle/>
                    <a:p>
                      <a:r>
                        <a:rPr sz="1200" b="1">
                          <a:solidFill>
                            <a:srgbClr val="8A1626"/>
                          </a:solidFill>
                          <a:latin typeface="Source Sans 3"/>
                        </a:rPr>
                        <a:t>postgres-cdc</a:t>
                      </a:r>
                    </a:p>
                  </a:txBody>
                  <a:tcPr marL="82296" marR="64008" marT="32004" marB="32004" anchor="ctr">
                    <a:solidFill>
                      <a:srgbClr val="FFFFFF"/>
                    </a:solidFill>
                  </a:tcPr>
                </a:tc>
                <a:tc>
                  <a:txBody>
                    <a:bodyPr wrap="square"/>
                    <a:lstStyle/>
                    <a:p>
                      <a:r>
                        <a:rPr sz="1200" b="0">
                          <a:solidFill>
                            <a:srgbClr val="1A1A1A"/>
                          </a:solidFill>
                          <a:latin typeface="Source Sans 3"/>
                        </a:rPr>
                        <a:t>Logical replication; initial snapshot available</a:t>
                      </a:r>
                    </a:p>
                  </a:txBody>
                  <a:tcPr marL="82296" marR="64008" marT="32004" marB="32004" anchor="ctr">
                    <a:solidFill>
                      <a:srgbClr val="FFFFFF"/>
                    </a:solidFill>
                  </a:tcPr>
                </a:tc>
                <a:tc>
                  <a:txBody>
                    <a:bodyPr wrap="square"/>
                    <a:lstStyle/>
                    <a:p>
                      <a:r>
                        <a:rPr sz="1200" b="0">
                          <a:solidFill>
                            <a:srgbClr val="1A1A1A"/>
                          </a:solidFill>
                          <a:latin typeface="Source Sans 3"/>
                        </a:rPr>
                        <a:t>Exactly once; slot confirmed only at checkpoints</a:t>
                      </a:r>
                    </a:p>
                  </a:txBody>
                  <a:tcPr marL="82296" marR="64008" marT="32004" marB="32004" anchor="ctr">
                    <a:solidFill>
                      <a:srgbClr val="FFFFFF"/>
                    </a:solidFill>
                  </a:tcPr>
                </a:tc>
              </a:tr>
              <a:tr h="502310">
                <a:tc>
                  <a:txBody>
                    <a:bodyPr wrap="square"/>
                    <a:lstStyle/>
                    <a:p>
                      <a:r>
                        <a:rPr sz="1200" b="1">
                          <a:solidFill>
                            <a:srgbClr val="8A1626"/>
                          </a:solidFill>
                          <a:latin typeface="Source Sans 3"/>
                        </a:rPr>
                        <a:t>mysql-cdc</a:t>
                      </a:r>
                    </a:p>
                  </a:txBody>
                  <a:tcPr marL="82296" marR="64008" marT="32004" marB="32004" anchor="ctr">
                    <a:solidFill>
                      <a:srgbClr val="F7F5F2"/>
                    </a:solidFill>
                  </a:tcPr>
                </a:tc>
                <a:tc>
                  <a:txBody>
                    <a:bodyPr wrap="square"/>
                    <a:lstStyle/>
                    <a:p>
                      <a:r>
                        <a:rPr sz="1200" b="0">
                          <a:solidFill>
                            <a:srgbClr val="1A1A1A"/>
                          </a:solidFill>
                          <a:latin typeface="Source Sans 3"/>
                        </a:rPr>
                        <a:t>The row-based binlog, read as a replica</a:t>
                      </a:r>
                    </a:p>
                  </a:txBody>
                  <a:tcPr marL="82296" marR="64008" marT="32004" marB="32004" anchor="ctr">
                    <a:solidFill>
                      <a:srgbClr val="F7F5F2"/>
                    </a:solidFill>
                  </a:tcPr>
                </a:tc>
                <a:tc>
                  <a:txBody>
                    <a:bodyPr wrap="square"/>
                    <a:lstStyle/>
                    <a:p>
                      <a:r>
                        <a:rPr sz="1200" b="0">
                          <a:solidFill>
                            <a:srgbClr val="1A1A1A"/>
                          </a:solidFill>
                          <a:latin typeface="Source Sans 3"/>
                        </a:rPr>
                        <a:t>Exactly once from file and offset; changes only</a:t>
                      </a:r>
                    </a:p>
                  </a:txBody>
                  <a:tcPr marL="82296" marR="64008" marT="32004" marB="32004" anchor="ctr">
                    <a:solidFill>
                      <a:srgbClr val="F7F5F2"/>
                    </a:solidFill>
                  </a:tcPr>
                </a:tc>
              </a:tr>
              <a:tr h="502310">
                <a:tc>
                  <a:txBody>
                    <a:bodyPr wrap="square"/>
                    <a:lstStyle/>
                    <a:p>
                      <a:r>
                        <a:rPr sz="1200" b="1">
                          <a:solidFill>
                            <a:srgbClr val="8A1626"/>
                          </a:solidFill>
                          <a:latin typeface="Source Sans 3"/>
                        </a:rPr>
                        <a:t>kafka</a:t>
                      </a:r>
                    </a:p>
                  </a:txBody>
                  <a:tcPr marL="82296" marR="64008" marT="32004" marB="32004" anchor="ctr">
                    <a:solidFill>
                      <a:srgbClr val="FFFFFF"/>
                    </a:solidFill>
                  </a:tcPr>
                </a:tc>
                <a:tc>
                  <a:txBody>
                    <a:bodyPr wrap="square"/>
                    <a:lstStyle/>
                    <a:p>
                      <a:r>
                        <a:rPr sz="1200" b="0">
                          <a:solidFill>
                            <a:srgbClr val="1A1A1A"/>
                          </a:solidFill>
                          <a:latin typeface="Source Sans 3"/>
                        </a:rPr>
                        <a:t>A topic, one reader per partition, read_committed</a:t>
                      </a:r>
                    </a:p>
                  </a:txBody>
                  <a:tcPr marL="82296" marR="64008" marT="32004" marB="32004" anchor="ctr">
                    <a:solidFill>
                      <a:srgbClr val="FFFFFF"/>
                    </a:solidFill>
                  </a:tcPr>
                </a:tc>
                <a:tc>
                  <a:txBody>
                    <a:bodyPr wrap="square"/>
                    <a:lstStyle/>
                    <a:p>
                      <a:r>
                        <a:rPr sz="1200" b="0">
                          <a:solidFill>
                            <a:srgbClr val="1A1A1A"/>
                          </a:solidFill>
                          <a:latin typeface="Source Sans 3"/>
                        </a:rPr>
                        <a:t>Exactly once from checkpoint offsets; shared exactly</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jdbc-lookup · aerospike-lookup</a:t>
                      </a:r>
                    </a:p>
                  </a:txBody>
                  <a:tcPr marL="82296" marR="64008" marT="32004" marB="32004" anchor="ctr">
                    <a:solidFill>
                      <a:srgbClr val="F7F5F2"/>
                    </a:solidFill>
                  </a:tcPr>
                </a:tc>
                <a:tc>
                  <a:txBody>
                    <a:bodyPr wrap="square"/>
                    <a:lstStyle/>
                    <a:p>
                      <a:r>
                        <a:rPr sz="1200" b="0">
                          <a:solidFill>
                            <a:srgbClr val="1A1A1A"/>
                          </a:solidFill>
                          <a:latin typeface="Source Sans 3"/>
                        </a:rPr>
                        <a:t>A dimension table for a temporal join</a:t>
                      </a:r>
                    </a:p>
                  </a:txBody>
                  <a:tcPr marL="82296" marR="64008" marT="32004" marB="32004" anchor="ctr">
                    <a:solidFill>
                      <a:srgbClr val="F7F5F2"/>
                    </a:solidFill>
                  </a:tcPr>
                </a:tc>
                <a:tc>
                  <a:txBody>
                    <a:bodyPr wrap="square"/>
                    <a:lstStyle/>
                    <a:p>
                      <a:r>
                        <a:rPr sz="1200" b="0">
                          <a:solidFill>
                            <a:srgbClr val="1A1A1A"/>
                          </a:solidFill>
                          <a:latin typeface="Source Sans 3"/>
                        </a:rPr>
                        <a:t>Asked, not consumed</a:t>
                      </a:r>
                    </a:p>
                  </a:txBody>
                  <a:tcPr marL="82296" marR="64008" marT="32004" marB="32004" anchor="ctr">
                    <a:solidFill>
                      <a:srgbClr val="F7F5F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SINKS · PLUGINS/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Six sinks, each with its delivery said at registration</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sink with a configured schema or key reports it, and a registration that does not match is refused before the sink opens (PRV-8010).</a:t>
            </a:r>
          </a:p>
        </p:txBody>
      </p:sp>
      <p:graphicFrame>
        <p:nvGraphicFramePr>
          <p:cNvPr id="12" name="Table 11"/>
          <p:cNvGraphicFramePr>
            <a:graphicFrameLocks noGrp="1"/>
          </p:cNvGraphicFramePr>
          <p:nvPr/>
        </p:nvGraphicFramePr>
        <p:xfrm>
          <a:off x="777240" y="1378204"/>
          <a:ext cx="10637214" cy="3826964"/>
        </p:xfrm>
        <a:graphic>
          <a:graphicData uri="http://schemas.openxmlformats.org/drawingml/2006/table">
            <a:tbl>
              <a:tblPr firstRow="1">
                <a:tableStyleId>{5C22544A-7EE6-4342-B048-85BDC9FD1C3A}</a:tableStyleId>
              </a:tblPr>
              <a:tblGrid>
                <a:gridCol w="1983209"/>
                <a:gridCol w="5589045"/>
                <a:gridCol w="3064960"/>
              </a:tblGrid>
              <a:tr h="322376">
                <a:tc>
                  <a:txBody>
                    <a:bodyPr wrap="square"/>
                    <a:lstStyle/>
                    <a:p>
                      <a:r>
                        <a:rPr sz="1300" b="1">
                          <a:solidFill>
                            <a:srgbClr val="FFFFFF"/>
                          </a:solidFill>
                          <a:latin typeface="Source Sans 3"/>
                        </a:rPr>
                        <a:t>Sink</a:t>
                      </a:r>
                    </a:p>
                  </a:txBody>
                  <a:tcPr marL="82296" marR="64008" marT="32004" marB="32004" anchor="ctr">
                    <a:solidFill>
                      <a:srgbClr val="8A1626"/>
                    </a:solidFill>
                  </a:tcPr>
                </a:tc>
                <a:tc>
                  <a:txBody>
                    <a:bodyPr wrap="square"/>
                    <a:lstStyle/>
                    <a:p>
                      <a:r>
                        <a:rPr sz="1300" b="1">
                          <a:solidFill>
                            <a:srgbClr val="FFFFFF"/>
                          </a:solidFill>
                          <a:latin typeface="Source Sans 3"/>
                        </a:rPr>
                        <a:t>Writes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r>
              <a:tr h="346913">
                <a:tc>
                  <a:txBody>
                    <a:bodyPr wrap="square"/>
                    <a:lstStyle/>
                    <a:p>
                      <a:r>
                        <a:rPr sz="1450" b="1">
                          <a:solidFill>
                            <a:srgbClr val="8A1626"/>
                          </a:solidFill>
                          <a:latin typeface="Source Sans 3"/>
                        </a:rPr>
                        <a:t>filesystem</a:t>
                      </a:r>
                    </a:p>
                  </a:txBody>
                  <a:tcPr marL="82296" marR="64008" marT="32004" marB="32004" anchor="ctr">
                    <a:solidFill>
                      <a:srgbClr val="FFFFFF"/>
                    </a:solidFill>
                  </a:tcPr>
                </a:tc>
                <a:tc>
                  <a:txBody>
                    <a:bodyPr wrap="square"/>
                    <a:lstStyle/>
                    <a:p>
                      <a:r>
                        <a:rPr sz="1450" b="0">
                          <a:solidFill>
                            <a:srgbClr val="1A1A1A"/>
                          </a:solidFill>
                          <a:latin typeface="Source Sans 3"/>
                        </a:rPr>
                        <a:t>Append-only files</a:t>
                      </a:r>
                    </a:p>
                  </a:txBody>
                  <a:tcPr marL="82296" marR="64008" marT="32004" marB="32004" anchor="ctr">
                    <a:solidFill>
                      <a:srgbClr val="FFFFFF"/>
                    </a:solidFill>
                  </a:tcPr>
                </a:tc>
                <a:tc>
                  <a:txBody>
                    <a:bodyPr wrap="square"/>
                    <a:lstStyle/>
                    <a:p>
                      <a:r>
                        <a:rPr sz="1450" b="0">
                          <a:solidFill>
                            <a:srgbClr val="1A1A1A"/>
                          </a:solidFill>
                          <a:latin typeface="Source Sans 3"/>
                        </a:rPr>
                        <a:t>At least once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aerospike-sink</a:t>
                      </a:r>
                    </a:p>
                  </a:txBody>
                  <a:tcPr marL="82296" marR="64008" marT="32004" marB="32004" anchor="ctr">
                    <a:solidFill>
                      <a:srgbClr val="F7F5F2"/>
                    </a:solidFill>
                  </a:tcPr>
                </a:tc>
                <a:tc>
                  <a:txBody>
                    <a:bodyPr wrap="square"/>
                    <a:lstStyle/>
                    <a:p>
                      <a:r>
                        <a:rPr sz="1450" b="0">
                          <a:solidFill>
                            <a:srgbClr val="1A1A1A"/>
                          </a:solidFill>
                          <a:latin typeface="Source Sans 3"/>
                        </a:rPr>
                        <a:t>Upsert and delete by key, composite keys</a:t>
                      </a:r>
                    </a:p>
                  </a:txBody>
                  <a:tcPr marL="82296" marR="64008" marT="32004" marB="32004" anchor="ctr">
                    <a:solidFill>
                      <a:srgbClr val="F7F5F2"/>
                    </a:solidFill>
                  </a:tcPr>
                </a:tc>
                <a:tc>
                  <a:txBody>
                    <a:bodyPr wrap="square"/>
                    <a:lstStyle/>
                    <a:p>
                      <a:r>
                        <a:rPr sz="1450" b="0">
                          <a:solidFill>
                            <a:srgbClr val="1A1A1A"/>
                          </a:solidFill>
                          <a:latin typeface="Source Sans 3"/>
                        </a:rPr>
                        <a:t>Effectively once</a:t>
                      </a:r>
                    </a:p>
                  </a:txBody>
                  <a:tcPr marL="82296" marR="64008" marT="32004" marB="32004" anchor="ctr">
                    <a:solidFill>
                      <a:srgbClr val="F7F5F2"/>
                    </a:solidFill>
                  </a:tcPr>
                </a:tc>
              </a:tr>
              <a:tr h="821283">
                <a:tc>
                  <a:txBody>
                    <a:bodyPr wrap="square"/>
                    <a:lstStyle/>
                    <a:p>
                      <a:r>
                        <a:rPr sz="1450" b="1">
                          <a:solidFill>
                            <a:srgbClr val="8A1626"/>
                          </a:solidFill>
                          <a:latin typeface="Source Sans 3"/>
                        </a:rPr>
                        <a:t>jdbc-sink</a:t>
                      </a:r>
                    </a:p>
                  </a:txBody>
                  <a:tcPr marL="82296" marR="64008" marT="32004" marB="32004" anchor="ctr">
                    <a:solidFill>
                      <a:srgbClr val="FFFFFF"/>
                    </a:solidFill>
                  </a:tcPr>
                </a:tc>
                <a:tc>
                  <a:txBody>
                    <a:bodyPr wrap="square"/>
                    <a:lstStyle/>
                    <a:p>
                      <a:r>
                        <a:rPr sz="1450" b="0">
                          <a:solidFill>
                            <a:srgbClr val="1A1A1A"/>
                          </a:solidFill>
                          <a:latin typeface="Source Sans 3"/>
                        </a:rPr>
                        <a:t>A table you create: upsert and delete by key, or append; staging table or PostgreSQL's PREPARE TRANSACTION</a:t>
                      </a:r>
                    </a:p>
                  </a:txBody>
                  <a:tcPr marL="82296" marR="64008" marT="32004" marB="32004" anchor="ctr">
                    <a:solidFill>
                      <a:srgbClr val="FFFFFF"/>
                    </a:solidFill>
                  </a:tcPr>
                </a:tc>
                <a:tc>
                  <a:txBody>
                    <a:bodyPr wrap="square"/>
                    <a:lstStyle/>
                    <a:p>
                      <a:r>
                        <a:rPr sz="1450" b="0">
                          <a:solidFill>
                            <a:srgbClr val="1A1A1A"/>
                          </a:solidFill>
                          <a:latin typeface="Source Sans 3"/>
                        </a:rPr>
                        <a:t>Exactly once on a checkpointed node</a:t>
                      </a:r>
                    </a:p>
                  </a:txBody>
                  <a:tcPr marL="82296" marR="64008" marT="32004" marB="32004" anchor="ctr">
                    <a:solidFill>
                      <a:srgbClr val="FFFFFF"/>
                    </a:solidFill>
                  </a:tcPr>
                </a:tc>
              </a:tr>
              <a:tr h="584098">
                <a:tc>
                  <a:txBody>
                    <a:bodyPr wrap="square"/>
                    <a:lstStyle/>
                    <a:p>
                      <a:r>
                        <a:rPr sz="1450" b="1">
                          <a:solidFill>
                            <a:srgbClr val="8A1626"/>
                          </a:solidFill>
                          <a:latin typeface="Source Sans 3"/>
                        </a:rPr>
                        <a:t>kafka-sink</a:t>
                      </a:r>
                    </a:p>
                  </a:txBody>
                  <a:tcPr marL="82296" marR="64008" marT="32004" marB="32004" anchor="ctr">
                    <a:solidFill>
                      <a:srgbClr val="F7F5F2"/>
                    </a:solidFill>
                  </a:tcPr>
                </a:tc>
                <a:tc>
                  <a:txBody>
                    <a:bodyPr wrap="square"/>
                    <a:lstStyle/>
                    <a:p>
                      <a:r>
                        <a:rPr sz="1450" b="0">
                          <a:solidFill>
                            <a:srgbClr val="1A1A1A"/>
                          </a:solidFill>
                          <a:latin typeface="Source Sans 3"/>
                        </a:rPr>
                        <a:t>Keyed upserts with a tombstone per retraction (JSON, Avro or Protobuf), or a JSON changelog</a:t>
                      </a:r>
                    </a:p>
                  </a:txBody>
                  <a:tcPr marL="82296" marR="64008" marT="32004" marB="32004" anchor="ctr">
                    <a:solidFill>
                      <a:srgbClr val="F7F5F2"/>
                    </a:solidFill>
                  </a:tcPr>
                </a:tc>
                <a:tc>
                  <a:txBody>
                    <a:bodyPr wrap="square"/>
                    <a:lstStyle/>
                    <a:p>
                      <a:r>
                        <a:rPr sz="1450" b="0">
                          <a:solidFill>
                            <a:srgbClr val="1A1A1A"/>
                          </a:solidFill>
                          <a:latin typeface="Source Sans 3"/>
                        </a:rPr>
                        <a:t>Exactly once to a read_committed consumer</a:t>
                      </a:r>
                    </a:p>
                  </a:txBody>
                  <a:tcPr marL="82296" marR="64008" marT="32004" marB="32004" anchor="ctr">
                    <a:solidFill>
                      <a:srgbClr val="F7F5F2"/>
                    </a:solidFill>
                  </a:tcPr>
                </a:tc>
              </a:tr>
              <a:tr h="584098">
                <a:tc>
                  <a:txBody>
                    <a:bodyPr wrap="square"/>
                    <a:lstStyle/>
                    <a:p>
                      <a:r>
                        <a:rPr sz="1450" b="1">
                          <a:solidFill>
                            <a:srgbClr val="8A1626"/>
                          </a:solidFill>
                          <a:latin typeface="Source Sans 3"/>
                        </a:rPr>
                        <a:t>delta-sink</a:t>
                      </a:r>
                    </a:p>
                  </a:txBody>
                  <a:tcPr marL="82296" marR="64008" marT="32004" marB="32004" anchor="ctr">
                    <a:solidFill>
                      <a:srgbClr val="FFFFFF"/>
                    </a:solidFill>
                  </a:tcPr>
                </a:tc>
                <a:tc>
                  <a:txBody>
                    <a:bodyPr wrap="square"/>
                    <a:lstStyle/>
                    <a:p>
                      <a:r>
                        <a:rPr sz="1450" b="0">
                          <a:solidFill>
                            <a:srgbClr val="1A1A1A"/>
                          </a:solidFill>
                          <a:latin typeface="Source Sans 3"/>
                        </a:rPr>
                        <a:t>A Delta table kept equal to the view, or a changelog; on Delta Kernel, not Spark</a:t>
                      </a:r>
                    </a:p>
                  </a:txBody>
                  <a:tcPr marL="82296" marR="64008" marT="32004" marB="32004" anchor="ctr">
                    <a:solidFill>
                      <a:srgbClr val="FFFFFF"/>
                    </a:solidFill>
                  </a:tcPr>
                </a:tc>
                <a:tc>
                  <a:txBody>
                    <a:bodyPr wrap="square"/>
                    <a:lstStyle/>
                    <a:p>
                      <a:r>
                        <a:rPr sz="1450" b="0">
                          <a:solidFill>
                            <a:srgbClr val="1A1A1A"/>
                          </a:solidFill>
                          <a:latin typeface="Source Sans 3"/>
                        </a:rPr>
                        <a:t>Exactly once: one Delta commit per checkpoint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iceberg-sink</a:t>
                      </a:r>
                    </a:p>
                  </a:txBody>
                  <a:tcPr marL="82296" marR="64008" marT="32004" marB="32004" anchor="ctr">
                    <a:solidFill>
                      <a:srgbClr val="F7F5F2"/>
                    </a:solidFill>
                  </a:tcPr>
                </a:tc>
                <a:tc>
                  <a:txBody>
                    <a:bodyPr wrap="square"/>
                    <a:lstStyle/>
                    <a:p>
                      <a:r>
                        <a:rPr sz="1450" b="0">
                          <a:solidFill>
                            <a:srgbClr val="1A1A1A"/>
                          </a:solidFill>
                          <a:latin typeface="Source Sans 3"/>
                        </a:rPr>
                        <a:t>A local-filesystem Iceberg table, upsert by equality deletes or changelog; on iceberg-core, not Spark</a:t>
                      </a:r>
                    </a:p>
                  </a:txBody>
                  <a:tcPr marL="82296" marR="64008" marT="32004" marB="32004" anchor="ctr">
                    <a:solidFill>
                      <a:srgbClr val="F7F5F2"/>
                    </a:solidFill>
                  </a:tcPr>
                </a:tc>
                <a:tc>
                  <a:txBody>
                    <a:bodyPr wrap="square"/>
                    <a:lstStyle/>
                    <a:p>
                      <a:r>
                        <a:rPr sz="1450" b="0">
                          <a:solidFill>
                            <a:srgbClr val="1A1A1A"/>
                          </a:solidFill>
                          <a:latin typeface="Source Sans 3"/>
                        </a:rPr>
                        <a:t>Exactly once: one snapshot per checkpoint</a:t>
                      </a:r>
                    </a:p>
                  </a:txBody>
                  <a:tcPr marL="82296" marR="64008" marT="32004" marB="32004" anchor="ctr">
                    <a:solidFill>
                      <a:srgbClr val="F7F5F2"/>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CHANGE DATA CAPTURE · ADR-041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on the database's own protocol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53</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not Debezium, at least first</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second framework in the process</a:t>
            </a:r>
          </a:p>
          <a:p>
            <a:pPr lvl="1">
              <a:lnSpc>
                <a:spcPct val="120000"/>
              </a:lnSpc>
              <a:spcBef>
                <a:spcPts val="0"/>
              </a:spcBef>
              <a:spcAft>
                <a:spcPts val="0"/>
              </a:spcAft>
            </a:pPr>
            <a:r>
              <a:rPr sz="1450" b="0">
                <a:solidFill>
                  <a:srgbClr val="4A5058"/>
                </a:solidFill>
                <a:latin typeface="Source Sans 3"/>
              </a:rPr>
              <a:t>Embedded Debezium brings the Kafka Connect API and client: its own lifecycle, threading, offset storage and configuration, and tens of megabytes.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The driver already does it</a:t>
            </a:r>
          </a:p>
          <a:p>
            <a:pPr lvl="1">
              <a:lnSpc>
                <a:spcPct val="120000"/>
              </a:lnSpc>
              <a:spcBef>
                <a:spcPts val="0"/>
              </a:spcBef>
              <a:spcAft>
                <a:spcPts val="0"/>
              </a:spcAft>
            </a:pPr>
            <a:r>
              <a:rPr sz="1450" b="0">
                <a:solidFill>
                  <a:srgbClr val="4A5058"/>
                </a:solidFill>
                <a:latin typeface="Source Sans 3"/>
              </a:rPr>
              <a:t>postgres-cdc is a logical-replication reader on the PostgreSQL JDBC driver; mysql-cdc reads the binlog as a registered replica.</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arrives, in weights</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Insert +1, delete −1, update both</a:t>
            </a:r>
          </a:p>
          <a:p>
            <a:pPr lvl="1">
              <a:lnSpc>
                <a:spcPct val="120000"/>
              </a:lnSpc>
              <a:spcBef>
                <a:spcPts val="0"/>
              </a:spcBef>
              <a:spcAft>
                <a:spcPts val="0"/>
              </a:spcAft>
            </a:pPr>
            <a:r>
              <a:rPr sz="1450" b="0">
                <a:solidFill>
                  <a:srgbClr val="4A5058"/>
                </a:solidFill>
                <a:latin typeface="Source Sans 3"/>
              </a:rPr>
              <a:t>The delete carries the whole old row. Whole transactions, exactly once.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Confirmed only at checkpoints</a:t>
            </a:r>
          </a:p>
          <a:p>
            <a:pPr lvl="1">
              <a:lnSpc>
                <a:spcPct val="120000"/>
              </a:lnSpc>
              <a:spcBef>
                <a:spcPts val="0"/>
              </a:spcBef>
              <a:spcAft>
                <a:spcPts val="0"/>
              </a:spcAft>
            </a:pPr>
            <a:r>
              <a:rPr sz="1450" b="0">
                <a:solidFill>
                  <a:srgbClr val="4A5058"/>
                </a:solidFill>
                <a:latin typeface="Source Sans 3"/>
              </a:rPr>
              <a:t>The PostgreSQL slot advances when a checkpoint is durable.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Misconfiguration refused by name</a:t>
            </a:r>
          </a:p>
          <a:p>
            <a:pPr lvl="1">
              <a:lnSpc>
                <a:spcPct val="120000"/>
              </a:lnSpc>
              <a:spcBef>
                <a:spcPts val="0"/>
              </a:spcBef>
              <a:spcAft>
                <a:spcPts val="0"/>
              </a:spcAft>
            </a:pPr>
            <a:r>
              <a:rPr sz="1450" b="0">
                <a:solidFill>
                  <a:srgbClr val="4A5058"/>
                </a:solidFill>
                <a:latin typeface="Source Sans 3"/>
              </a:rPr>
              <a:t>binlog_format other than ROW, or a user without replication grants: PRV-5152.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A CONNECTOR MUST EARN · ADR-028</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connector declares what it can promise, and is held to it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TextBox 9"/>
          <p:cNvSpPr txBox="1"/>
          <p:nvPr/>
        </p:nvSpPr>
        <p:spPr>
          <a:xfrm>
            <a:off x="777240" y="1345488"/>
            <a:ext cx="10637215" cy="489986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jar with a service declaration</a:t>
            </a:r>
          </a:p>
          <a:p>
            <a:pPr lvl="1">
              <a:lnSpc>
                <a:spcPct val="120000"/>
              </a:lnSpc>
              <a:spcBef>
                <a:spcPts val="0"/>
              </a:spcBef>
              <a:spcAft>
                <a:spcPts val="0"/>
              </a:spcAft>
            </a:pPr>
            <a:r>
              <a:rPr sz="1550" b="0">
                <a:solidFill>
                  <a:srgbClr val="4A5058"/>
                </a:solidFill>
                <a:latin typeface="Source Sans 3"/>
              </a:rPr>
              <a:t>Nothing in the engine is edited or rebuilt. The server jar carries filesystem alone; every other plugin goes on the node's classpath, and naming one that is not there is refused at startup (PRV-5090).</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 earns its place by a capability, not by breadth</a:t>
            </a:r>
          </a:p>
          <a:p>
            <a:pPr lvl="1">
              <a:lnSpc>
                <a:spcPct val="120000"/>
              </a:lnSpc>
              <a:spcBef>
                <a:spcPts val="0"/>
              </a:spcBef>
              <a:spcAft>
                <a:spcPts val="0"/>
              </a:spcAft>
            </a:pPr>
            <a:r>
              <a:rPr sz="1550" b="0">
                <a:solidFill>
                  <a:srgbClr val="4A5058"/>
                </a:solidFill>
                <a:latin typeface="Source Sans 3"/>
              </a:rPr>
              <a:t>A shallow connector declaring capabilities it lacks causes silent data loss during recovery, months later.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source that repeats rows must say so</a:t>
            </a:r>
          </a:p>
          <a:p>
            <a:pPr lvl="1">
              <a:lnSpc>
                <a:spcPct val="120000"/>
              </a:lnSpc>
              <a:spcBef>
                <a:spcPts val="0"/>
              </a:spcBef>
              <a:spcAft>
                <a:spcPts val="0"/>
              </a:spcAft>
            </a:pPr>
            <a:r>
              <a:rPr sz="1550" b="0">
                <a:solidFill>
                  <a:srgbClr val="4A5058"/>
                </a:solidFill>
                <a:latin typeface="Source Sans 3"/>
              </a:rPr>
              <a:t>An aggregate or join over it is refused (PRV-2042) until deletes: detect lets a scan retract what changed.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Connections can be encrypted</a:t>
            </a:r>
          </a:p>
          <a:p>
            <a:pPr lvl="1">
              <a:lnSpc>
                <a:spcPct val="120000"/>
              </a:lnSpc>
              <a:spcBef>
                <a:spcPts val="0"/>
              </a:spcBef>
              <a:spcAft>
                <a:spcPts val="0"/>
              </a:spcAft>
            </a:pPr>
            <a:r>
              <a:rPr sz="1550" b="0">
                <a:solidFill>
                  <a:srgbClr val="4A5058"/>
                </a:solidFill>
                <a:latin typeface="Source Sans 3"/>
              </a:rPr>
              <a:t>JDBC, PostgreSQL CDC, Aerospike, Cassandra and Kafka (CONNECTOR_TLS.md). Kafka's lz4 is refused: it needs native code the build refuses (ADR-053).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9</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Security, identity and governance</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Authorization is enforced by Pravaha on every read, at the layer that produces the row. Grants, row filters and masks live in the engine as a governed catalogue of live answers; the engine keeps its own users, keys and sessions; a tenant shares only with itself.</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delegate to the store (ADR-031)</a:t>
            </a:r>
          </a:p>
          <a:p>
            <a:pPr>
              <a:lnSpc>
                <a:spcPct val="115000"/>
              </a:lnSpc>
              <a:spcBef>
                <a:spcPts val="0"/>
              </a:spcBef>
              <a:spcAft>
                <a:spcPts val="600"/>
              </a:spcAft>
            </a:pPr>
            <a:r>
              <a:rPr sz="1250" b="0" i="0">
                <a:solidFill>
                  <a:srgbClr val="F6E6E9"/>
                </a:solidFill>
                <a:latin typeface="Source Sans 3"/>
              </a:rPr>
              <a:t>Three seams and one rule</a:t>
            </a:r>
          </a:p>
          <a:p>
            <a:pPr>
              <a:lnSpc>
                <a:spcPct val="115000"/>
              </a:lnSpc>
              <a:spcBef>
                <a:spcPts val="0"/>
              </a:spcBef>
              <a:spcAft>
                <a:spcPts val="600"/>
              </a:spcAft>
            </a:pPr>
            <a:r>
              <a:rPr sz="1250" b="0" i="0">
                <a:solidFill>
                  <a:srgbClr val="F6E6E9"/>
                </a:solidFill>
                <a:latin typeface="Source Sans 3"/>
              </a:rPr>
              <a:t>The governed catalogue (ADR-059)</a:t>
            </a:r>
          </a:p>
          <a:p>
            <a:pPr>
              <a:lnSpc>
                <a:spcPct val="115000"/>
              </a:lnSpc>
              <a:spcBef>
                <a:spcPts val="0"/>
              </a:spcBef>
              <a:spcAft>
                <a:spcPts val="600"/>
              </a:spcAft>
            </a:pPr>
            <a:r>
              <a:rPr sz="1250" b="0" i="0">
                <a:solidFill>
                  <a:srgbClr val="F6E6E9"/>
                </a:solidFill>
                <a:latin typeface="Source Sans 3"/>
              </a:rPr>
              <a:t>Row filters and masks as policies</a:t>
            </a:r>
          </a:p>
          <a:p>
            <a:pPr>
              <a:lnSpc>
                <a:spcPct val="115000"/>
              </a:lnSpc>
              <a:spcBef>
                <a:spcPts val="0"/>
              </a:spcBef>
              <a:spcAft>
                <a:spcPts val="600"/>
              </a:spcAft>
            </a:pPr>
            <a:r>
              <a:rPr sz="1250" b="0" i="0">
                <a:solidFill>
                  <a:srgbClr val="F6E6E9"/>
                </a:solidFill>
                <a:latin typeface="Source Sans 3"/>
              </a:rPr>
              <a:t>The engine is the identity authority (ADR-052)</a:t>
            </a:r>
          </a:p>
          <a:p>
            <a:pPr>
              <a:lnSpc>
                <a:spcPct val="115000"/>
              </a:lnSpc>
              <a:spcBef>
                <a:spcPts val="0"/>
              </a:spcBef>
              <a:spcAft>
                <a:spcPts val="600"/>
              </a:spcAft>
            </a:pPr>
            <a:r>
              <a:rPr sz="1250" b="0" i="0">
                <a:solidFill>
                  <a:srgbClr val="F6E6E9"/>
                </a:solidFill>
                <a:latin typeface="Source Sans 3"/>
              </a:rPr>
              <a:t>Tenancy and ownership (ADR-050, ADR-060)</a:t>
            </a:r>
          </a:p>
          <a:p>
            <a:pPr>
              <a:lnSpc>
                <a:spcPct val="115000"/>
              </a:lnSpc>
              <a:spcBef>
                <a:spcPts val="0"/>
              </a:spcBef>
              <a:spcAft>
                <a:spcPts val="600"/>
              </a:spcAft>
            </a:pPr>
            <a:r>
              <a:rPr sz="1250" b="0" i="0">
                <a:solidFill>
                  <a:srgbClr val="F6E6E9"/>
                </a:solidFill>
                <a:latin typeface="Source Sans 3"/>
              </a:rPr>
              <a:t>What is not built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ADR-031</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store is structurally unable to authorize a view</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56</a:t>
            </a:r>
          </a:p>
        </p:txBody>
      </p:sp>
      <p:sp>
        <p:nvSpPr>
          <p:cNvPr id="10" name="Rectangle 9"/>
          <p:cNvSpPr/>
          <p:nvPr/>
        </p:nvSpPr>
        <p:spPr>
          <a:xfrm>
            <a:off x="777240"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a:t>
            </a:r>
          </a:p>
        </p:txBody>
      </p:sp>
      <p:sp>
        <p:nvSpPr>
          <p:cNvPr id="13" name="TextBox 12"/>
          <p:cNvSpPr txBox="1"/>
          <p:nvPr/>
        </p:nvSpPr>
        <p:spPr>
          <a:xfrm>
            <a:off x="960120"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is derived data the store has never seen</a:t>
            </a:r>
          </a:p>
        </p:txBody>
      </p:sp>
      <p:sp>
        <p:nvSpPr>
          <p:cNvPr id="14" name="TextBox 13"/>
          <p:cNvSpPr txBox="1"/>
          <p:nvPr/>
        </p:nvSpPr>
        <p:spPr>
          <a:xfrm>
            <a:off x="960120" y="2446426"/>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record in the store has permissions matching “u4's gold-tier total for the window ending at 12:05”.</a:t>
            </a:r>
          </a:p>
        </p:txBody>
      </p:sp>
      <p:sp>
        <p:nvSpPr>
          <p:cNvPr id="15" name="Rectangle 14"/>
          <p:cNvSpPr/>
          <p:nvPr/>
        </p:nvSpPr>
        <p:spPr>
          <a:xfrm>
            <a:off x="6178143"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a:t>
            </a:r>
          </a:p>
        </p:txBody>
      </p:sp>
      <p:sp>
        <p:nvSpPr>
          <p:cNvPr id="18" name="TextBox 17"/>
          <p:cNvSpPr txBox="1"/>
          <p:nvPr/>
        </p:nvSpPr>
        <p:spPr>
          <a:xfrm>
            <a:off x="6361023"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change feed is read once and shared</a:t>
            </a:r>
          </a:p>
        </p:txBody>
      </p:sp>
      <p:sp>
        <p:nvSpPr>
          <p:cNvPr id="19" name="TextBox 18"/>
          <p:cNvSpPr txBox="1"/>
          <p:nvPr/>
        </p:nvSpPr>
        <p:spPr>
          <a:xfrm>
            <a:off x="6361023" y="2176526"/>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Authorizing at the source means a read per principal — the amplification the design removes — or a superuser read, which enforces nothing.</a:t>
            </a:r>
          </a:p>
        </p:txBody>
      </p:sp>
      <p:sp>
        <p:nvSpPr>
          <p:cNvPr id="20" name="Rectangle 19"/>
          <p:cNvSpPr/>
          <p:nvPr/>
        </p:nvSpPr>
        <p:spPr>
          <a:xfrm>
            <a:off x="777240"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a:t>
            </a:r>
          </a:p>
        </p:txBody>
      </p:sp>
      <p:sp>
        <p:nvSpPr>
          <p:cNvPr id="23" name="TextBox 22"/>
          <p:cNvSpPr txBox="1"/>
          <p:nvPr/>
        </p:nvSpPr>
        <p:spPr>
          <a:xfrm>
            <a:off x="960120"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store may have nothing to enforce with</a:t>
            </a:r>
          </a:p>
        </p:txBody>
      </p:sp>
      <p:sp>
        <p:nvSpPr>
          <p:cNvPr id="24" name="TextBox 23"/>
          <p:cNvSpPr txBox="1"/>
          <p:nvPr/>
        </p:nvSpPr>
        <p:spPr>
          <a:xfrm>
            <a:off x="960120" y="4954117"/>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Aerospike Community Edition has no row-level security at all.</a:t>
            </a:r>
          </a:p>
        </p:txBody>
      </p:sp>
      <p:sp>
        <p:nvSpPr>
          <p:cNvPr id="25" name="Rectangle 24"/>
          <p:cNvSpPr/>
          <p:nvPr/>
        </p:nvSpPr>
        <p:spPr>
          <a:xfrm>
            <a:off x="6178143"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4</a:t>
            </a:r>
          </a:p>
        </p:txBody>
      </p:sp>
      <p:sp>
        <p:nvSpPr>
          <p:cNvPr id="28" name="TextBox 27"/>
          <p:cNvSpPr txBox="1"/>
          <p:nvPr/>
        </p:nvSpPr>
        <p:spPr>
          <a:xfrm>
            <a:off x="6361023"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continuous query has no caller</a:t>
            </a:r>
          </a:p>
        </p:txBody>
      </p:sp>
      <p:sp>
        <p:nvSpPr>
          <p:cNvPr id="29" name="TextBox 28"/>
          <p:cNvSpPr txBox="1"/>
          <p:nvPr/>
        </p:nvSpPr>
        <p:spPr>
          <a:xfrm>
            <a:off x="6361023" y="4684217"/>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It runs for months while nobody is connected; there is no session to carry down.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Who is this, what may they read, and what were they told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57</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3" name="Table 12"/>
          <p:cNvGraphicFramePr>
            <a:graphicFrameLocks noGrp="1"/>
          </p:cNvGraphicFramePr>
          <p:nvPr/>
        </p:nvGraphicFramePr>
        <p:xfrm>
          <a:off x="777240" y="1873910"/>
          <a:ext cx="5135726" cy="2549040"/>
        </p:xfrm>
        <a:graphic>
          <a:graphicData uri="http://schemas.openxmlformats.org/drawingml/2006/table">
            <a:tbl>
              <a:tblPr firstRow="1">
                <a:tableStyleId>{5C22544A-7EE6-4342-B048-85BDC9FD1C3A}</a:tableStyleId>
              </a:tblPr>
              <a:tblGrid>
                <a:gridCol w="1621808"/>
                <a:gridCol w="35139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TokenVerifier</a:t>
                      </a:r>
                    </a:p>
                  </a:txBody>
                  <a:tcPr marL="82296" marR="64008" marT="32004" marB="32004" anchor="ctr">
                    <a:solidFill>
                      <a:srgbClr val="FFFFFF"/>
                    </a:solidFill>
                  </a:tcPr>
                </a:tc>
                <a:tc>
                  <a:txBody>
                    <a:bodyPr wrap="square"/>
                    <a:lstStyle/>
                    <a:p>
                      <a:r>
                        <a:rPr sz="1450" b="0">
                          <a:solidFill>
                            <a:srgbClr val="1A1A1A"/>
                          </a:solidFill>
                          <a:latin typeface="Source Sans 3"/>
                        </a:rPr>
                        <a:t>Credential in, Principal (id, tenant, roles) out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SecurityPolicy</a:t>
                      </a:r>
                    </a:p>
                  </a:txBody>
                  <a:tcPr marL="82296" marR="64008" marT="32004" marB="32004" anchor="ctr">
                    <a:solidFill>
                      <a:srgbClr val="F7F5F2"/>
                    </a:solidFill>
                  </a:tcPr>
                </a:tc>
                <a:tc>
                  <a:txBody>
                    <a:bodyPr wrap="square"/>
                    <a:lstStyle/>
                    <a:p>
                      <a:r>
                        <a:rPr sz="1450" b="0">
                          <a:solidFill>
                            <a:srgbClr val="1A1A1A"/>
                          </a:solidFill>
                          <a:latin typeface="Source Sans 3"/>
                        </a:rPr>
                        <a:t>May this principal read this view — allow, allow with a row filter, deny</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AuditSink</a:t>
                      </a:r>
                    </a:p>
                  </a:txBody>
                  <a:tcPr marL="82296" marR="64008" marT="32004" marB="32004" anchor="ctr">
                    <a:solidFill>
                      <a:srgbClr val="FFFFFF"/>
                    </a:solidFill>
                  </a:tcPr>
                </a:tc>
                <a:tc>
                  <a:txBody>
                    <a:bodyPr wrap="square"/>
                    <a:lstStyle/>
                    <a:p>
                      <a:r>
                        <a:rPr sz="1450" b="0">
                          <a:solidFill>
                            <a:srgbClr val="1A1A1A"/>
                          </a:solidFill>
                          <a:latin typeface="Source Sans 3"/>
                        </a:rPr>
                        <a:t>Every decision, allow and deny alike</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follows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The soundness rule</a:t>
            </a:r>
          </a:p>
          <a:p>
            <a:pPr lvl="1">
              <a:lnSpc>
                <a:spcPct val="120000"/>
              </a:lnSpc>
              <a:spcBef>
                <a:spcPts val="0"/>
              </a:spcBef>
              <a:spcAft>
                <a:spcPts val="0"/>
              </a:spcAft>
            </a:pPr>
            <a:r>
              <a:rPr sz="1350" b="0">
                <a:solidFill>
                  <a:srgbClr val="4A5058"/>
                </a:solidFill>
                <a:latin typeface="Source Sans 3"/>
              </a:rPr>
              <a:t>A row filter applies at read time iff the view carries every column it names; otherwise the read is refused (PRV-7003).</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Filters are part of the fingerprint</a:t>
            </a:r>
          </a:p>
          <a:p>
            <a:pPr lvl="1">
              <a:lnSpc>
                <a:spcPct val="120000"/>
              </a:lnSpc>
              <a:spcBef>
                <a:spcPts val="0"/>
              </a:spcBef>
              <a:spcAft>
                <a:spcPts val="0"/>
              </a:spcAft>
            </a:pPr>
            <a:r>
              <a:rPr sz="1350" b="0">
                <a:solidFill>
                  <a:srgbClr val="4A5058"/>
                </a:solidFill>
                <a:latin typeface="Source Sans 3"/>
              </a:rPr>
              <a:t>Different entitlements never share a computation.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registration is a standing read</a:t>
            </a:r>
          </a:p>
          <a:p>
            <a:pPr lvl="1">
              <a:lnSpc>
                <a:spcPct val="120000"/>
              </a:lnSpc>
              <a:spcBef>
                <a:spcPts val="0"/>
              </a:spcBef>
              <a:spcAft>
                <a:spcPts val="0"/>
              </a:spcAft>
            </a:pPr>
            <a:r>
              <a:rPr sz="1350" b="0">
                <a:solidFill>
                  <a:srgbClr val="4A5058"/>
                </a:solidFill>
                <a:latin typeface="Source Sans 3"/>
              </a:rPr>
              <a:t>mayRead is asked for every stream in the plan; a sink is a standing write (mayWriteTo), audited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Catalogue filters reach subscriptions</a:t>
            </a:r>
          </a:p>
          <a:p>
            <a:pPr lvl="1">
              <a:lnSpc>
                <a:spcPct val="120000"/>
              </a:lnSpc>
              <a:spcBef>
                <a:spcPts val="0"/>
              </a:spcBef>
              <a:spcAft>
                <a:spcPts val="0"/>
              </a:spcAft>
            </a:pPr>
            <a:r>
              <a:rPr sz="1350" b="0">
                <a:solidFill>
                  <a:srgbClr val="4A5058"/>
                </a:solidFill>
                <a:latin typeface="Source Sans 3"/>
              </a:rPr>
              <a:t>A catalogue row filter is enforced per change; a programmatic policy's filter still refuses subscribe (STRM-13) — read the view instead.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PRAVAHA CATALOG · ADR-059</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Grants live in the engine, and govern answers still being computed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58</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tenant.namespace.object names, each with an owner, description, tags and version. Grants are allow-only, to roles and users, inherited down namespaces; tenants are walls.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GRANT, REVOKE, SHOW EFFECTIVE ACCESS run wherever CREATE CONTINUOUS QUERY does; pravaha grant | revoke | access why; the console's Catalog and Admin → Grants.</a:t>
            </a:r>
          </a:p>
        </p:txBody>
      </p:sp>
      <p:graphicFrame>
        <p:nvGraphicFramePr>
          <p:cNvPr id="13" name="Table 12"/>
          <p:cNvGraphicFramePr>
            <a:graphicFrameLocks noGrp="1"/>
          </p:cNvGraphicFramePr>
          <p:nvPr/>
        </p:nvGraphicFramePr>
        <p:xfrm>
          <a:off x="777240" y="1958848"/>
          <a:ext cx="10637214" cy="2531311"/>
        </p:xfrm>
        <a:graphic>
          <a:graphicData uri="http://schemas.openxmlformats.org/drawingml/2006/table">
            <a:tbl>
              <a:tblPr firstRow="1">
                <a:tableStyleId>{5C22544A-7EE6-4342-B048-85BDC9FD1C3A}</a:tableStyleId>
              </a:tblPr>
              <a:tblGrid>
                <a:gridCol w="2836590"/>
                <a:gridCol w="7800624"/>
              </a:tblGrid>
              <a:tr h="322376">
                <a:tc>
                  <a:txBody>
                    <a:bodyPr wrap="square"/>
                    <a:lstStyle/>
                    <a:p>
                      <a:r>
                        <a:rPr sz="1300" b="1">
                          <a:solidFill>
                            <a:srgbClr val="FFFFFF"/>
                          </a:solidFill>
                          <a:latin typeface="Source Sans 3"/>
                        </a:rPr>
                        <a:t>Privilege</a:t>
                      </a:r>
                    </a:p>
                  </a:txBody>
                  <a:tcPr marL="82296" marR="64008" marT="32004" marB="32004" anchor="ctr">
                    <a:solidFill>
                      <a:srgbClr val="8A1626"/>
                    </a:solidFill>
                  </a:tcPr>
                </a:tc>
                <a:tc>
                  <a:txBody>
                    <a:bodyPr wrap="square"/>
                    <a:lstStyle/>
                    <a:p>
                      <a:r>
                        <a:rPr sz="1300" b="1">
                          <a:solidFill>
                            <a:srgbClr val="FFFFFF"/>
                          </a:solidFill>
                          <a:latin typeface="Source Sans 3"/>
                        </a:rPr>
                        <a:t>What it allows — and why a live answer needs it</a:t>
                      </a:r>
                    </a:p>
                  </a:txBody>
                  <a:tcPr marL="82296" marR="64008" marT="32004" marB="32004" anchor="ctr">
                    <a:solidFill>
                      <a:srgbClr val="8A1626"/>
                    </a:solidFill>
                  </a:tcPr>
                </a:tc>
              </a:tr>
              <a:tr h="346913">
                <a:tc>
                  <a:txBody>
                    <a:bodyPr wrap="square"/>
                    <a:lstStyle/>
                    <a:p>
                      <a:r>
                        <a:rPr sz="1450" b="1">
                          <a:solidFill>
                            <a:srgbClr val="8A1626"/>
                          </a:solidFill>
                          <a:latin typeface="Source Sans 3"/>
                        </a:rPr>
                        <a:t>USE · SELECT</a:t>
                      </a:r>
                    </a:p>
                  </a:txBody>
                  <a:tcPr marL="82296" marR="64008" marT="32004" marB="32004" anchor="ctr">
                    <a:solidFill>
                      <a:srgbClr val="FFFFFF"/>
                    </a:solidFill>
                  </a:tcPr>
                </a:tc>
                <a:tc>
                  <a:txBody>
                    <a:bodyPr wrap="square"/>
                    <a:lstStyle/>
                    <a:p>
                      <a:r>
                        <a:rPr sz="1450" b="0">
                          <a:solidFill>
                            <a:srgbClr val="1A1A1A"/>
                          </a:solidFill>
                          <a:latin typeface="Source Sans 3"/>
                        </a:rPr>
                        <a:t>Enter a namespace; read an object's rows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SUBSCRIBE</a:t>
                      </a:r>
                    </a:p>
                  </a:txBody>
                  <a:tcPr marL="82296" marR="64008" marT="32004" marB="32004" anchor="ctr">
                    <a:solidFill>
                      <a:srgbClr val="F7F5F2"/>
                    </a:solidFill>
                  </a:tcPr>
                </a:tc>
                <a:tc>
                  <a:txBody>
                    <a:bodyPr wrap="square"/>
                    <a:lstStyle/>
                    <a:p>
                      <a:r>
                        <a:rPr sz="1450" b="0">
                          <a:solidFill>
                            <a:srgbClr val="1A1A1A"/>
                          </a:solidFill>
                          <a:latin typeface="Source Sans 3"/>
                        </a:rPr>
                        <a:t>Follow a view's changes; re-asked every two seconds, so a REVOKE ends an open stream</a:t>
                      </a:r>
                    </a:p>
                  </a:txBody>
                  <a:tcPr marL="82296" marR="64008" marT="32004" marB="32004" anchor="ctr">
                    <a:solidFill>
                      <a:srgbClr val="F7F5F2"/>
                    </a:solidFill>
                  </a:tcPr>
                </a:tc>
              </a:tr>
              <a:tr h="584098">
                <a:tc>
                  <a:txBody>
                    <a:bodyPr wrap="square"/>
                    <a:lstStyle/>
                    <a:p>
                      <a:r>
                        <a:rPr sz="1450" b="1">
                          <a:solidFill>
                            <a:srgbClr val="8A1626"/>
                          </a:solidFill>
                          <a:latin typeface="Source Sans 3"/>
                        </a:rPr>
                        <a:t>BUILD_ON</a:t>
                      </a:r>
                    </a:p>
                  </a:txBody>
                  <a:tcPr marL="82296" marR="64008" marT="32004" marB="32004" anchor="ctr">
                    <a:solidFill>
                      <a:srgbClr val="FFFFFF"/>
                    </a:solidFill>
                  </a:tcPr>
                </a:tc>
                <a:tc>
                  <a:txBody>
                    <a:bodyPr wrap="square"/>
                    <a:lstStyle/>
                    <a:p>
                      <a:r>
                        <a:rPr sz="1450" b="0">
                          <a:solidFill>
                            <a:srgbClr val="1A1A1A"/>
                          </a:solidFill>
                          <a:latin typeface="Source Sans 3"/>
                        </a:rPr>
                        <a:t>Name an object as a registration's input: a registration is a standing read</a:t>
                      </a:r>
                    </a:p>
                  </a:txBody>
                  <a:tcPr marL="82296" marR="64008" marT="32004" marB="32004" anchor="ctr">
                    <a:solidFill>
                      <a:srgbClr val="FFFFFF"/>
                    </a:solidFill>
                  </a:tcPr>
                </a:tc>
              </a:tr>
              <a:tr h="346913">
                <a:tc>
                  <a:txBody>
                    <a:bodyPr wrap="square"/>
                    <a:lstStyle/>
                    <a:p>
                      <a:r>
                        <a:rPr sz="1450" b="1">
                          <a:solidFill>
                            <a:srgbClr val="8A1626"/>
                          </a:solidFill>
                          <a:latin typeface="Source Sans 3"/>
                        </a:rPr>
                        <a:t>CREATE · WRITE</a:t>
                      </a:r>
                    </a:p>
                  </a:txBody>
                  <a:tcPr marL="82296" marR="64008" marT="32004" marB="32004" anchor="ctr">
                    <a:solidFill>
                      <a:srgbClr val="F7F5F2"/>
                    </a:solidFill>
                  </a:tcPr>
                </a:tc>
                <a:tc>
                  <a:txBody>
                    <a:bodyPr wrap="square"/>
                    <a:lstStyle/>
                    <a:p>
                      <a:r>
                        <a:rPr sz="1450" b="0">
                          <a:solidFill>
                            <a:srgbClr val="1A1A1A"/>
                          </a:solidFill>
                          <a:latin typeface="Source Sans 3"/>
                        </a:rPr>
                        <a:t>Create in a namespace; write to a sink or notify a channel</a:t>
                      </a:r>
                    </a:p>
                  </a:txBody>
                  <a:tcPr marL="82296" marR="64008" marT="32004" marB="32004" anchor="ctr">
                    <a:solidFill>
                      <a:srgbClr val="F7F5F2"/>
                    </a:solidFill>
                  </a:tcPr>
                </a:tc>
              </a:tr>
              <a:tr h="346913">
                <a:tc>
                  <a:txBody>
                    <a:bodyPr wrap="square"/>
                    <a:lstStyle/>
                    <a:p>
                      <a:r>
                        <a:rPr sz="1450" b="1">
                          <a:solidFill>
                            <a:srgbClr val="8A1626"/>
                          </a:solidFill>
                          <a:latin typeface="Source Sans 3"/>
                        </a:rPr>
                        <a:t>MODIFY · MANAGE · OWN</a:t>
                      </a:r>
                    </a:p>
                  </a:txBody>
                  <a:tcPr marL="82296" marR="64008" marT="32004" marB="32004" anchor="ctr">
                    <a:solidFill>
                      <a:srgbClr val="FFFFFF"/>
                    </a:solidFill>
                  </a:tcPr>
                </a:tc>
                <a:tc>
                  <a:txBody>
                    <a:bodyPr wrap="square"/>
                    <a:lstStyle/>
                    <a:p>
                      <a:r>
                        <a:rPr sz="1450" b="0">
                          <a:solidFill>
                            <a:srgbClr val="1A1A1A"/>
                          </a:solidFill>
                          <a:latin typeface="Source Sans 3"/>
                        </a:rPr>
                        <a:t>Administer: drop, pause, replace; change grants; own it</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POLICIES · ADR-059 PHASE 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Row filters and masks are policies, applied where rows leave an object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59</a:t>
            </a:r>
          </a:p>
        </p:txBody>
      </p:sp>
      <p:sp>
        <p:nvSpPr>
          <p:cNvPr id="10" name="Rectangle 9"/>
          <p:cNvSpPr/>
          <p:nvPr/>
        </p:nvSpPr>
        <p:spPr>
          <a:xfrm>
            <a:off x="777240" y="1623568"/>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824736"/>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623568"/>
            <a:ext cx="5135727" cy="462178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One place covers every path</a:t>
            </a:r>
          </a:p>
          <a:p>
            <a:pPr lvl="1">
              <a:lnSpc>
                <a:spcPct val="120000"/>
              </a:lnSpc>
              <a:spcBef>
                <a:spcPts val="0"/>
              </a:spcBef>
              <a:spcAft>
                <a:spcPts val="0"/>
              </a:spcAft>
            </a:pPr>
            <a:r>
              <a:rPr sz="1350" b="0">
                <a:solidFill>
                  <a:srgbClr val="4A5058"/>
                </a:solidFill>
                <a:latin typeface="Source Sans 3"/>
              </a:rPr>
              <a:t>Flight and point reads, pgwire text and binary, subscriptions, registrations built on the view, and alerts evaluated as their owner.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masked column is never an operand</a:t>
            </a:r>
          </a:p>
          <a:p>
            <a:pPr lvl="1">
              <a:lnSpc>
                <a:spcPct val="120000"/>
              </a:lnSpc>
              <a:spcBef>
                <a:spcPts val="0"/>
              </a:spcBef>
              <a:spcAft>
                <a:spcPts val="0"/>
              </a:spcAft>
            </a:pPr>
            <a:r>
              <a:rPr sz="1350" b="0">
                <a:solidFill>
                  <a:srgbClr val="4A5058"/>
                </a:solidFill>
                <a:latin typeface="Source Sans 3"/>
              </a:rPr>
              <a:t>As a filter, group, join or sort key, aggregate argument or view key it would leak the true value — refused, PRV-7006.</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 the fingerprint</a:t>
            </a:r>
          </a:p>
          <a:p>
            <a:pPr lvl="1">
              <a:lnSpc>
                <a:spcPct val="120000"/>
              </a:lnSpc>
              <a:spcBef>
                <a:spcPts val="0"/>
              </a:spcBef>
              <a:spcAft>
                <a:spcPts val="0"/>
              </a:spcAft>
            </a:pPr>
            <a:r>
              <a:rPr sz="1350" b="0">
                <a:solidFill>
                  <a:srgbClr val="4A5058"/>
                </a:solidFill>
                <a:latin typeface="Source Sans 3"/>
              </a:rPr>
              <a:t>Registrants narrowed differently get different computations; a query over a masked view carries the mask into its own answer.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VACUITY · TAUTOFILTER-1, VACUITYGAP-1</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filter that restricts nothing is refused, not enforced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60</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Refused</a:t>
            </a:r>
          </a:p>
        </p:txBody>
      </p:sp>
      <p:graphicFrame>
        <p:nvGraphicFramePr>
          <p:cNvPr id="13" name="Table 12"/>
          <p:cNvGraphicFramePr>
            <a:graphicFrameLocks noGrp="1"/>
          </p:cNvGraphicFramePr>
          <p:nvPr/>
        </p:nvGraphicFramePr>
        <p:xfrm>
          <a:off x="777240" y="1873910"/>
          <a:ext cx="5135727" cy="2416807"/>
        </p:xfrm>
        <a:graphic>
          <a:graphicData uri="http://schemas.openxmlformats.org/drawingml/2006/table">
            <a:tbl>
              <a:tblPr firstRow="1">
                <a:tableStyleId>{5C22544A-7EE6-4342-B048-85BDC9FD1C3A}</a:tableStyleId>
              </a:tblPr>
              <a:tblGrid>
                <a:gridCol w="2838165"/>
                <a:gridCol w="2297562"/>
              </a:tblGrid>
              <a:tr h="322376">
                <a:tc>
                  <a:txBody>
                    <a:bodyPr wrap="square"/>
                    <a:lstStyle/>
                    <a:p>
                      <a:r>
                        <a:rPr sz="1300" b="1">
                          <a:solidFill>
                            <a:srgbClr val="FFFFFF"/>
                          </a:solidFill>
                          <a:latin typeface="Source Sans 3"/>
                        </a:rPr>
                        <a:t>Filter</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330555">
                <a:tc>
                  <a:txBody>
                    <a:bodyPr wrap="square"/>
                    <a:lstStyle/>
                    <a:p>
                      <a:r>
                        <a:rPr sz="1350" b="1">
                          <a:solidFill>
                            <a:srgbClr val="8A1626"/>
                          </a:solidFill>
                          <a:latin typeface="Source Sans 3"/>
                        </a:rPr>
                        <a:t>region = region</a:t>
                      </a:r>
                    </a:p>
                  </a:txBody>
                  <a:tcPr marL="82296" marR="64008" marT="32004" marB="32004" anchor="ctr">
                    <a:solidFill>
                      <a:srgbClr val="FFFFFF"/>
                    </a:solidFill>
                  </a:tcPr>
                </a:tc>
                <a:tc>
                  <a:txBody>
                    <a:bodyPr wrap="square"/>
                    <a:lstStyle/>
                    <a:p>
                      <a:r>
                        <a:rPr sz="1350" b="0">
                          <a:solidFill>
                            <a:srgbClr val="1A1A1A"/>
                          </a:solidFill>
                          <a:latin typeface="Source Sans 3"/>
                        </a:rPr>
                        <a:t>true for every row</a:t>
                      </a:r>
                    </a:p>
                  </a:txBody>
                  <a:tcPr marL="82296" marR="64008" marT="32004" marB="32004" anchor="ctr">
                    <a:solidFill>
                      <a:srgbClr val="FFFFFF"/>
                    </a:solidFill>
                  </a:tcPr>
                </a:tc>
              </a:tr>
              <a:tr h="330555">
                <a:tc>
                  <a:txBody>
                    <a:bodyPr wrap="square"/>
                    <a:lstStyle/>
                    <a:p>
                      <a:r>
                        <a:rPr sz="1350" b="1">
                          <a:solidFill>
                            <a:srgbClr val="8A1626"/>
                          </a:solidFill>
                          <a:latin typeface="Source Sans 3"/>
                        </a:rPr>
                        <a:t>1 = 1 OR region = 'x'</a:t>
                      </a:r>
                    </a:p>
                  </a:txBody>
                  <a:tcPr marL="82296" marR="64008" marT="32004" marB="32004" anchor="ctr">
                    <a:solidFill>
                      <a:srgbClr val="F7F5F2"/>
                    </a:solidFill>
                  </a:tcPr>
                </a:tc>
                <a:tc>
                  <a:txBody>
                    <a:bodyPr wrap="square"/>
                    <a:lstStyle/>
                    <a:p>
                      <a:r>
                        <a:rPr sz="1350" b="0">
                          <a:solidFill>
                            <a:srgbClr val="1A1A1A"/>
                          </a:solidFill>
                          <a:latin typeface="Source Sans 3"/>
                        </a:rPr>
                        <a:t>folds to TRUE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&lt; 5 OR a &gt; 2</a:t>
                      </a:r>
                    </a:p>
                  </a:txBody>
                  <a:tcPr marL="82296" marR="64008" marT="32004" marB="32004" anchor="ctr">
                    <a:solidFill>
                      <a:srgbClr val="FFFFFF"/>
                    </a:solidFill>
                  </a:tcPr>
                </a:tc>
                <a:tc>
                  <a:txBody>
                    <a:bodyPr wrap="square"/>
                    <a:lstStyle/>
                    <a:p>
                      <a:r>
                        <a:rPr sz="1350" b="0">
                          <a:solidFill>
                            <a:srgbClr val="1A1A1A"/>
                          </a:solidFill>
                          <a:latin typeface="Source Sans 3"/>
                        </a:rPr>
                        <a:t>covers every integer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x IS NULL OR x IS NOT NULL</a:t>
                      </a:r>
                    </a:p>
                  </a:txBody>
                  <a:tcPr marL="82296" marR="64008" marT="32004" marB="32004" anchor="ctr">
                    <a:solidFill>
                      <a:srgbClr val="F7F5F2"/>
                    </a:solidFill>
                  </a:tcPr>
                </a:tc>
                <a:tc>
                  <a:txBody>
                    <a:bodyPr wrap="square"/>
                    <a:lstStyle/>
                    <a:p>
                      <a:r>
                        <a:rPr sz="1350" b="0">
                          <a:solidFill>
                            <a:srgbClr val="1A1A1A"/>
                          </a:solidFill>
                          <a:latin typeface="Source Sans 3"/>
                        </a:rPr>
                        <a:t>true for every row</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 &gt;= a</a:t>
                      </a:r>
                    </a:p>
                  </a:txBody>
                  <a:tcPr marL="82296" marR="64008" marT="32004" marB="32004" anchor="ctr">
                    <a:solidFill>
                      <a:srgbClr val="FFFFFF"/>
                    </a:solidFill>
                  </a:tcPr>
                </a:tc>
                <a:tc>
                  <a:txBody>
                    <a:bodyPr wrap="square"/>
                    <a:lstStyle/>
                    <a:p>
                      <a:r>
                        <a:rPr sz="1350" b="0">
                          <a:solidFill>
                            <a:srgbClr val="1A1A1A"/>
                          </a:solidFill>
                          <a:latin typeface="Source Sans 3"/>
                        </a:rPr>
                        <a:t>drops only NULLs, unsaid</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Sound, not complete</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Never refuses a real restriction</a:t>
            </a:r>
          </a:p>
          <a:p>
            <a:pPr lvl="1">
              <a:lnSpc>
                <a:spcPct val="120000"/>
              </a:lnSpc>
              <a:spcBef>
                <a:spcPts val="0"/>
              </a:spcBef>
              <a:spcAft>
                <a:spcPts val="0"/>
              </a:spcAft>
            </a:pPr>
            <a:r>
              <a:rPr sz="1300" b="0">
                <a:solidFill>
                  <a:srgbClr val="4A5058"/>
                </a:solidFill>
                <a:latin typeface="Source Sans 3"/>
              </a:rPr>
              <a:t>Constants cut a column's values into regions; each comparison is decided region by region. A property test checks every verdict against every region.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Decided where it can be</a:t>
            </a:r>
          </a:p>
          <a:p>
            <a:pPr lvl="1">
              <a:lnSpc>
                <a:spcPct val="120000"/>
              </a:lnSpc>
              <a:spcBef>
                <a:spcPts val="0"/>
              </a:spcBef>
              <a:spcAft>
                <a:spcPts val="0"/>
              </a:spcAft>
            </a:pPr>
            <a:r>
              <a:rPr sz="1300" b="0">
                <a:solidFill>
                  <a:srgbClr val="4A5058"/>
                </a:solidFill>
                <a:latin typeface="Source Sans 3"/>
              </a:rPr>
              <a:t>A session-free policy at binding (PRV-7038); one reading the session per reader, at each read and registration (PRV-7003).</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Too large to decide</a:t>
            </a:r>
          </a:p>
          <a:p>
            <a:pPr lvl="1">
              <a:lnSpc>
                <a:spcPct val="120000"/>
              </a:lnSpc>
              <a:spcBef>
                <a:spcPts val="0"/>
              </a:spcBef>
              <a:spcAft>
                <a:spcPts val="0"/>
              </a:spcAft>
            </a:pPr>
            <a:r>
              <a:rPr sz="1300" b="0">
                <a:solidFill>
                  <a:srgbClr val="4A5058"/>
                </a:solidFill>
                <a:latin typeface="Source Sans 3"/>
              </a:rPr>
              <a:t>Assumed to restrict.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The engine keeps users, keys and sessions, and nothing reversible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An append-only, fsync'd journal holds it — no database to run. The console signs each person in against the engine and acts as them. MFA and SSO were dropped by the owner.</a:t>
            </a:r>
          </a:p>
        </p:txBody>
      </p:sp>
      <p:graphicFrame>
        <p:nvGraphicFramePr>
          <p:cNvPr id="12" name="Table 11"/>
          <p:cNvGraphicFramePr>
            <a:graphicFrameLocks noGrp="1"/>
          </p:cNvGraphicFramePr>
          <p:nvPr/>
        </p:nvGraphicFramePr>
        <p:xfrm>
          <a:off x="777240" y="1312773"/>
          <a:ext cx="10637214" cy="3370323"/>
        </p:xfrm>
        <a:graphic>
          <a:graphicData uri="http://schemas.openxmlformats.org/drawingml/2006/table">
            <a:tbl>
              <a:tblPr firstRow="1">
                <a:tableStyleId>{5C22544A-7EE6-4342-B048-85BDC9FD1C3A}</a:tableStyleId>
              </a:tblPr>
              <a:tblGrid>
                <a:gridCol w="1772869"/>
                <a:gridCol w="3723025"/>
                <a:gridCol w="5141320"/>
              </a:tblGrid>
              <a:tr h="322376">
                <a:tc>
                  <a:txBody>
                    <a:bodyPr wrap="square"/>
                    <a:lstStyle/>
                    <a:p>
                      <a:r>
                        <a:rPr sz="1300" b="1">
                          <a:solidFill>
                            <a:srgbClr val="FFFFFF"/>
                          </a:solidFill>
                          <a:latin typeface="Source Sans 3"/>
                        </a:rPr>
                        <a:t>Secret</a:t>
                      </a:r>
                    </a:p>
                  </a:txBody>
                  <a:tcPr marL="82296" marR="64008" marT="32004" marB="32004" anchor="ctr">
                    <a:solidFill>
                      <a:srgbClr val="8A1626"/>
                    </a:solidFill>
                  </a:tcPr>
                </a:tc>
                <a:tc>
                  <a:txBody>
                    <a:bodyPr wrap="square"/>
                    <a:lstStyle/>
                    <a:p>
                      <a:r>
                        <a:rPr sz="1300" b="1">
                          <a:solidFill>
                            <a:srgbClr val="FFFFFF"/>
                          </a:solidFill>
                          <a:latin typeface="Source Sans 3"/>
                        </a:rPr>
                        <a:t>Stored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Password</a:t>
                      </a:r>
                    </a:p>
                  </a:txBody>
                  <a:tcPr marL="82296" marR="64008" marT="32004" marB="32004" anchor="ctr">
                    <a:solidFill>
                      <a:srgbClr val="FFFFFF"/>
                    </a:solidFill>
                  </a:tcPr>
                </a:tc>
                <a:tc>
                  <a:txBody>
                    <a:bodyPr wrap="square"/>
                    <a:lstStyle/>
                    <a:p>
                      <a:r>
                        <a:rPr sz="1450" b="0">
                          <a:solidFill>
                            <a:srgbClr val="1A1A1A"/>
                          </a:solidFill>
                          <a:latin typeface="Source Sans 3"/>
                        </a:rPr>
                        <a:t>Argon2id (64 MiB, t=3, p=4); PBKDF2 where Argon2 is unavailable</a:t>
                      </a:r>
                    </a:p>
                  </a:txBody>
                  <a:tcPr marL="82296" marR="64008" marT="32004" marB="32004" anchor="ctr">
                    <a:solidFill>
                      <a:srgbClr val="FFFFFF"/>
                    </a:solidFill>
                  </a:tcPr>
                </a:tc>
                <a:tc>
                  <a:txBody>
                    <a:bodyPr wrap="square"/>
                    <a:lstStyle/>
                    <a:p>
                      <a:r>
                        <a:rPr sz="1450" b="0">
                          <a:solidFill>
                            <a:srgbClr val="1A1A1A"/>
                          </a:solidFill>
                          <a:latin typeface="Source Sans 3"/>
                        </a:rPr>
                        <a:t>12+ characters from 3 of 4 classes; not one of the last 5; 90-day maximum age</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API key</a:t>
                      </a:r>
                    </a:p>
                  </a:txBody>
                  <a:tcPr marL="82296" marR="64008" marT="32004" marB="32004" anchor="ctr">
                    <a:solidFill>
                      <a:srgbClr val="F7F5F2"/>
                    </a:solidFill>
                  </a:tcPr>
                </a:tc>
                <a:tc>
                  <a:txBody>
                    <a:bodyPr wrap="square"/>
                    <a:lstStyle/>
                    <a:p>
                      <a:r>
                        <a:rPr sz="1450" b="0">
                          <a:solidFill>
                            <a:srgbClr val="1A1A1A"/>
                          </a:solidFill>
                          <a:latin typeface="Source Sans 3"/>
                        </a:rPr>
                        <a:t>The same KDF; secret shown once</a:t>
                      </a:r>
                    </a:p>
                  </a:txBody>
                  <a:tcPr marL="82296" marR="64008" marT="32004" marB="32004" anchor="ctr">
                    <a:solidFill>
                      <a:srgbClr val="F7F5F2"/>
                    </a:solidFill>
                  </a:tcPr>
                </a:tc>
                <a:tc>
                  <a:txBody>
                    <a:bodyPr wrap="square"/>
                    <a:lstStyle/>
                    <a:p>
                      <a:r>
                        <a:rPr sz="1450" b="0">
                          <a:solidFill>
                            <a:srgbClr val="1A1A1A"/>
                          </a:solidFill>
                          <a:latin typeface="Source Sans 3"/>
                        </a:rPr>
                        <a:t>prv_&lt;env&gt;_&lt;keyid&gt;_&lt;secret&gt;; roles a subset of the holder's; expiry mandatory, 90 days default, 365 at most; 7-day rotation overlap</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Session token</a:t>
                      </a:r>
                    </a:p>
                  </a:txBody>
                  <a:tcPr marL="82296" marR="64008" marT="32004" marB="32004" anchor="ctr">
                    <a:solidFill>
                      <a:srgbClr val="FFFFFF"/>
                    </a:solidFill>
                  </a:tcPr>
                </a:tc>
                <a:tc>
                  <a:txBody>
                    <a:bodyPr wrap="square"/>
                    <a:lstStyle/>
                    <a:p>
                      <a:r>
                        <a:rPr sz="1450" b="0">
                          <a:solidFill>
                            <a:srgbClr val="1A1A1A"/>
                          </a:solidFill>
                          <a:latin typeface="Source Sans 3"/>
                        </a:rPr>
                        <a:t>SHA-256 of 256 random bits</a:t>
                      </a:r>
                    </a:p>
                  </a:txBody>
                  <a:tcPr marL="82296" marR="64008" marT="32004" marB="32004" anchor="ctr">
                    <a:solidFill>
                      <a:srgbClr val="FFFFFF"/>
                    </a:solidFill>
                  </a:tcPr>
                </a:tc>
                <a:tc>
                  <a:txBody>
                    <a:bodyPr wrap="square"/>
                    <a:lstStyle/>
                    <a:p>
                      <a:r>
                        <a:rPr sz="1450" b="0">
                          <a:solidFill>
                            <a:srgbClr val="1A1A1A"/>
                          </a:solidFill>
                          <a:latin typeface="Source Sans 3"/>
                        </a:rPr>
                        <a:t>30 minutes idle, 12 hours absolute, at most 3 per person</a:t>
                      </a:r>
                    </a:p>
                  </a:txBody>
                  <a:tcPr marL="82296" marR="64008" marT="32004" marB="32004" anchor="ctr">
                    <a:solidFill>
                      <a:srgbClr val="FFFFFF"/>
                    </a:solidFill>
                  </a:tcPr>
                </a:tc>
              </a:tr>
              <a:tr h="821283">
                <a:tc>
                  <a:txBody>
                    <a:bodyPr wrap="square"/>
                    <a:lstStyle/>
                    <a:p>
                      <a:r>
                        <a:rPr sz="1450" b="1">
                          <a:solidFill>
                            <a:srgbClr val="8A1626"/>
                          </a:solidFill>
                          <a:latin typeface="Source Sans 3"/>
                        </a:rPr>
                        <a:t>Login failures</a:t>
                      </a:r>
                    </a:p>
                  </a:txBody>
                  <a:tcPr marL="82296" marR="64008" marT="32004" marB="32004" anchor="ctr">
                    <a:solidFill>
                      <a:srgbClr val="F7F5F2"/>
                    </a:solidFill>
                  </a:tcPr>
                </a:tc>
                <a:tc>
                  <a:txBody>
                    <a:bodyPr wrap="square"/>
                    <a:lstStyle/>
                    <a:p>
                      <a:r>
                        <a:rPr sz="1450" b="0">
                          <a:solidFill>
                            <a:srgbClr val="1A1A1A"/>
                          </a:solidFill>
                          <a:latin typeface="Source Sans 3"/>
                        </a:rPr>
                        <a:t>Recorded before the refusal is answered; every refusal reads alike</a:t>
                      </a:r>
                    </a:p>
                  </a:txBody>
                  <a:tcPr marL="82296" marR="64008" marT="32004" marB="32004" anchor="ctr">
                    <a:solidFill>
                      <a:srgbClr val="F7F5F2"/>
                    </a:solidFill>
                  </a:tcPr>
                </a:tc>
                <a:tc>
                  <a:txBody>
                    <a:bodyPr wrap="square"/>
                    <a:lstStyle/>
                    <a:p>
                      <a:r>
                        <a:rPr sz="1450" b="0">
                          <a:solidFill>
                            <a:srgbClr val="1A1A1A"/>
                          </a:solidFill>
                          <a:latin typeface="Source Sans 3"/>
                        </a:rPr>
                        <a:t>5 from one address in 15 minutes bar that address for 30; 50 from any lock the account</a:t>
                      </a:r>
                    </a:p>
                  </a:txBody>
                  <a:tcPr marL="82296" marR="64008" marT="32004" marB="32004" anchor="ctr">
                    <a:solidFill>
                      <a:srgbClr val="F7F5F2"/>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FOUND BY THE ADVERSARIAL ROUND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credential ends when it is revoked; a stranger's bytes are bounded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TLS was not exercised by the round. The console now sends a CSP, X-Frame-Options and nosniff on every response (CONSOLEHDR-1).</a:t>
            </a:r>
          </a:p>
        </p:txBody>
      </p:sp>
      <p:graphicFrame>
        <p:nvGraphicFramePr>
          <p:cNvPr id="12" name="Table 11"/>
          <p:cNvGraphicFramePr>
            <a:graphicFrameLocks noGrp="1"/>
          </p:cNvGraphicFramePr>
          <p:nvPr/>
        </p:nvGraphicFramePr>
        <p:xfrm>
          <a:off x="777240" y="1296416"/>
          <a:ext cx="10637214" cy="3190389"/>
        </p:xfrm>
        <a:graphic>
          <a:graphicData uri="http://schemas.openxmlformats.org/drawingml/2006/table">
            <a:tbl>
              <a:tblPr firstRow="1">
                <a:tableStyleId>{5C22544A-7EE6-4342-B048-85BDC9FD1C3A}</a:tableStyleId>
              </a:tblPr>
              <a:tblGrid>
                <a:gridCol w="4975471"/>
                <a:gridCol w="5661743"/>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772210">
                <a:tc>
                  <a:txBody>
                    <a:bodyPr wrap="square"/>
                    <a:lstStyle/>
                    <a:p>
                      <a:r>
                        <a:rPr sz="1350" b="1">
                          <a:solidFill>
                            <a:srgbClr val="8A1626"/>
                          </a:solidFill>
                          <a:latin typeface="Source Sans 3"/>
                        </a:rPr>
                        <a:t>A revoked key, a signed-out session or a disabled user kept reading on an open PostgreSQL connection (PGREVOKE-1)</a:t>
                      </a:r>
                    </a:p>
                  </a:txBody>
                  <a:tcPr marL="82296" marR="64008" marT="32004" marB="32004" anchor="ctr">
                    <a:solidFill>
                      <a:srgbClr val="FFFFFF"/>
                    </a:solidFill>
                  </a:tcPr>
                </a:tc>
                <a:tc>
                  <a:txBody>
                    <a:bodyPr wrap="square"/>
                    <a:lstStyle/>
                    <a:p>
                      <a:r>
                        <a:rPr sz="1350" b="0">
                          <a:solidFill>
                            <a:srgbClr val="1A1A1A"/>
                          </a:solidFill>
                          <a:latin typeface="Source Sans 3"/>
                        </a:rPr>
                        <a:t>The credential is verified again before every statement; FATAL 28000, PRV-6218. Flight re-checks every 2 s, and now the principal too</a:t>
                      </a:r>
                    </a:p>
                  </a:txBody>
                  <a:tcPr marL="82296" marR="64008" marT="32004" marB="32004" anchor="ctr">
                    <a:solidFill>
                      <a:srgbClr val="FFFFFF"/>
                    </a:solidFill>
                  </a:tcPr>
                </a:tc>
              </a:tr>
              <a:tr h="772210">
                <a:tc>
                  <a:txBody>
                    <a:bodyPr wrap="square"/>
                    <a:lstStyle/>
                    <a:p>
                      <a:r>
                        <a:rPr sz="1350" b="1">
                          <a:solidFill>
                            <a:srgbClr val="8A1626"/>
                          </a:solidFill>
                          <a:latin typeface="Source Sans 3"/>
                        </a:rPr>
                        <a:t>Before sign-in, the gateway allocated a declared 16 MiB message; no connection cap (PGPREAUTH-1)</a:t>
                      </a:r>
                    </a:p>
                  </a:txBody>
                  <a:tcPr marL="82296" marR="64008" marT="32004" marB="32004" anchor="ctr">
                    <a:solidFill>
                      <a:srgbClr val="F7F5F2"/>
                    </a:solidFill>
                  </a:tcPr>
                </a:tc>
                <a:tc>
                  <a:txBody>
                    <a:bodyPr wrap="square"/>
                    <a:lstStyle/>
                    <a:p>
                      <a:r>
                        <a:rPr sz="1350" b="0">
                          <a:solidFill>
                            <a:srgbClr val="1A1A1A"/>
                          </a:solidFill>
                          <a:latin typeface="Source Sans 3"/>
                        </a:rPr>
                        <a:t>16 KiB before sign-in, refused on its declared length; one 10 s handshake deadline; 100 connections, 32 unauthenticated (53300, PRV-6216)</a:t>
                      </a:r>
                    </a:p>
                  </a:txBody>
                  <a:tcPr marL="82296" marR="64008" marT="32004" marB="32004" anchor="ctr">
                    <a:solidFill>
                      <a:srgbClr val="F7F5F2"/>
                    </a:solidFill>
                  </a:tcPr>
                </a:tc>
              </a:tr>
              <a:tr h="772210">
                <a:tc>
                  <a:txBody>
                    <a:bodyPr wrap="square"/>
                    <a:lstStyle/>
                    <a:p>
                      <a:r>
                        <a:rPr sz="1350" b="1">
                          <a:solidFill>
                            <a:srgbClr val="8A1626"/>
                          </a:solidFill>
                          <a:latin typeface="Source Sans 3"/>
                        </a:rPr>
                        <a:t>An HTTP body was read whole before authentication, up to 20 M characters (HTTPBODY-1)</a:t>
                      </a:r>
                    </a:p>
                  </a:txBody>
                  <a:tcPr marL="82296" marR="64008" marT="32004" marB="32004" anchor="ctr">
                    <a:solidFill>
                      <a:srgbClr val="FFFFFF"/>
                    </a:solidFill>
                  </a:tcPr>
                </a:tc>
                <a:tc>
                  <a:txBody>
                    <a:bodyPr wrap="square"/>
                    <a:lstStyle/>
                    <a:p>
                      <a:r>
                        <a:rPr sz="1350" b="0">
                          <a:solidFill>
                            <a:srgbClr val="1A1A1A"/>
                          </a:solidFill>
                          <a:latin typeface="Source Sans 3"/>
                        </a:rPr>
                        <a:t>Refused on its declared length: 16 KB open paths, 4 MB otherwise (413, PRV-1054); 8 sign-ins at once (429, PRV-1055)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The console cookie carried a usable engine token (COOKIETOKEN-1)</a:t>
                      </a:r>
                    </a:p>
                  </a:txBody>
                  <a:tcPr marL="82296" marR="64008" marT="32004" marB="32004" anchor="ctr">
                    <a:solidFill>
                      <a:srgbClr val="F7F5F2"/>
                    </a:solidFill>
                  </a:tcPr>
                </a:tc>
                <a:tc>
                  <a:txBody>
                    <a:bodyPr wrap="square"/>
                    <a:lstStyle/>
                    <a:p>
                      <a:r>
                        <a:rPr sz="1350" b="0">
                          <a:solidFill>
                            <a:srgbClr val="1A1A1A"/>
                          </a:solidFill>
                          <a:latin typeface="Source Sans 3"/>
                        </a:rPr>
                        <a:t>An opaque id; the secrets stay in the console process</a:t>
                      </a:r>
                    </a:p>
                  </a:txBody>
                  <a:tcPr marL="82296" marR="64008" marT="32004" marB="32004" anchor="ctr">
                    <a:solidFill>
                      <a:srgbClr val="F7F5F2"/>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TENANCY · ADR-050, ADR-060</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tenant owns names and state, and shares only with itself</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63</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 tenant owns</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Its names, and the computations behind them</a:t>
            </a:r>
          </a:p>
          <a:p>
            <a:pPr lvl="1">
              <a:lnSpc>
                <a:spcPct val="120000"/>
              </a:lnSpc>
              <a:spcBef>
                <a:spcPts val="0"/>
              </a:spcBef>
              <a:spcAft>
                <a:spcPts val="0"/>
              </a:spcAft>
            </a:pPr>
            <a:r>
              <a:rPr sz="1400" b="0">
                <a:solidFill>
                  <a:srgbClr val="4A5058"/>
                </a:solidFill>
                <a:latin typeface="Source Sans 3"/>
              </a:rPr>
              <a:t>A view or alert name is unique within its tenant; another tenant's is, to the caller, a name nothing holds. The same SQL from two tenants is two computations.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The keys those views hold</a:t>
            </a:r>
          </a:p>
          <a:p>
            <a:pPr lvl="1">
              <a:lnSpc>
                <a:spcPct val="120000"/>
              </a:lnSpc>
              <a:spcBef>
                <a:spcPts val="0"/>
              </a:spcBef>
              <a:spcAft>
                <a:spcPts val="0"/>
              </a:spcAft>
            </a:pPr>
            <a:r>
              <a:rPr sz="1400" b="0">
                <a:solidFill>
                  <a:srgbClr val="4A5058"/>
                </a:solidFill>
                <a:latin typeface="Source Sans 3"/>
              </a:rPr>
              <a:t>What max-state-keys counts; max-queries counts names.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by name at registration</a:t>
            </a:r>
          </a:p>
          <a:p>
            <a:pPr lvl="1">
              <a:lnSpc>
                <a:spcPct val="120000"/>
              </a:lnSpc>
              <a:spcBef>
                <a:spcPts val="0"/>
              </a:spcBef>
              <a:spcAft>
                <a:spcPts val="0"/>
              </a:spcAft>
            </a:pPr>
            <a:r>
              <a:rPr sz="1400" b="0">
                <a:solidFill>
                  <a:srgbClr val="4A5058"/>
                </a:solidFill>
                <a:latin typeface="Source Sans 3"/>
              </a:rPr>
              <a:t>PRV-8020 or PRV-8021, before a sink opens; audited as DENY; a running query is never stopped by a quota. Only its own tenant may replace a name (PRV-8022).</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Who may administer a view</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Its owner, a grantee, or an admin</a:t>
            </a:r>
          </a:p>
          <a:p>
            <a:pPr lvl="1">
              <a:lnSpc>
                <a:spcPct val="120000"/>
              </a:lnSpc>
              <a:spcBef>
                <a:spcPts val="0"/>
              </a:spcBef>
              <a:spcAft>
                <a:spcPts val="0"/>
              </a:spcAft>
            </a:pPr>
            <a:r>
              <a:rPr sz="1350" b="0">
                <a:solidFill>
                  <a:srgbClr val="4A5058"/>
                </a:solidFill>
                <a:latin typeface="Source Sans 3"/>
              </a:rPr>
              <a:t>Drop, pause, replace, debug: the registrant, MODIFY or MANAGE, or the admin role. Reading a view no longer lets you destroy it (PRV-7002).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tenant does not scope lanes or CPU</a:t>
            </a:r>
          </a:p>
          <a:p>
            <a:pPr lvl="1">
              <a:lnSpc>
                <a:spcPct val="120000"/>
              </a:lnSpc>
              <a:spcBef>
                <a:spcPts val="0"/>
              </a:spcBef>
              <a:spcAft>
                <a:spcPts val="0"/>
              </a:spcAft>
            </a:pPr>
            <a:r>
              <a:rPr sz="1350" b="0">
                <a:solidFill>
                  <a:srgbClr val="4A5058"/>
                </a:solidFill>
                <a:latin typeface="Source Sans 3"/>
              </a:rPr>
              <a:t>Shared by decision; per-tenant CPU scheduling is not built.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Upgrading from 0.2 is one-way</a:t>
            </a:r>
          </a:p>
          <a:p>
            <a:pPr lvl="1">
              <a:lnSpc>
                <a:spcPct val="120000"/>
              </a:lnSpc>
              <a:spcBef>
                <a:spcPts val="0"/>
              </a:spcBef>
              <a:spcAft>
                <a:spcPts val="0"/>
              </a:spcAft>
            </a:pPr>
            <a:r>
              <a:rPr sz="1350" b="0">
                <a:solidFill>
                  <a:srgbClr val="4A5058"/>
                </a:solidFill>
                <a:latin typeface="Source Sans 3"/>
              </a:rPr>
              <a:t>Once a view outside the default tenant is recovered under per-tenant 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STATED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the security model does not do yet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The HTTP API's TLS is Spring Boot's</a:t>
            </a:r>
          </a:p>
          <a:p>
            <a:pPr lvl="1">
              <a:lnSpc>
                <a:spcPct val="120000"/>
              </a:lnSpc>
              <a:spcBef>
                <a:spcPts val="0"/>
              </a:spcBef>
              <a:spcAft>
                <a:spcPts val="0"/>
              </a:spcAft>
            </a:pPr>
            <a:r>
              <a:rPr sz="1550" b="0">
                <a:solidFill>
                  <a:srgbClr val="4A5058"/>
                </a:solidFill>
                <a:latin typeface="Source Sans 3"/>
              </a:rPr>
              <a:t>Flight carries TLS by default; /api/v1 is reached over HTTPS only through server.ssl.*.</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mTLS between nodes, no OIDC or JWT verifier out of the box</a:t>
            </a:r>
          </a:p>
          <a:p>
            <a:pPr lvl="1">
              <a:lnSpc>
                <a:spcPct val="120000"/>
              </a:lnSpc>
              <a:spcBef>
                <a:spcPts val="0"/>
              </a:spcBef>
              <a:spcAft>
                <a:spcPts val="0"/>
              </a:spcAft>
            </a:pPr>
            <a:r>
              <a:rPr sz="1550" b="0">
                <a:solidFill>
                  <a:srgbClr val="4A5058"/>
                </a:solidFill>
                <a:latin typeface="Source Sans 3"/>
              </a:rPr>
              <a:t>There are no nodes yet; TokenVerifier is the seam for a verifier.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catalogue's phases 3 and 4</a:t>
            </a:r>
          </a:p>
          <a:p>
            <a:pPr lvl="1">
              <a:lnSpc>
                <a:spcPct val="120000"/>
              </a:lnSpc>
              <a:spcBef>
                <a:spcPts val="0"/>
              </a:spcBef>
              <a:spcAft>
                <a:spcPts val="0"/>
              </a:spcAft>
            </a:pPr>
            <a:r>
              <a:rPr sz="1550" b="0">
                <a:solidFill>
                  <a:srgbClr val="4A5058"/>
                </a:solidFill>
                <a:latin typeface="Source Sans 3"/>
              </a:rPr>
              <a:t>Column tags, lineage and labels that follow it, contracts, sharing and access history are not built.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MFA and single sign-on</a:t>
            </a:r>
          </a:p>
          <a:p>
            <a:pPr lvl="1">
              <a:lnSpc>
                <a:spcPct val="120000"/>
              </a:lnSpc>
              <a:spcBef>
                <a:spcPts val="0"/>
              </a:spcBef>
              <a:spcAft>
                <a:spcPts val="0"/>
              </a:spcAft>
            </a:pPr>
            <a:r>
              <a:rPr sz="1550" b="0">
                <a:solidFill>
                  <a:srgbClr val="4A5058"/>
                </a:solidFill>
                <a:latin typeface="Source Sans 3"/>
              </a:rPr>
              <a:t>Dropped by the owner: users, passwords, API keys and sessions are what Pravaha keeps.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10</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Operating it</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Three ways to run one engine, one directory it lives in with or without Docker, a console that is a product and not a dashboard, two command lines, SDKs that ship on their own and survive a restart, BI tools over the PostgreSQL protocol, and metrics that say what is not measured rather than reporting zero.</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Three ways to run it; one /opt/pravaha</a:t>
            </a:r>
          </a:p>
          <a:p>
            <a:pPr>
              <a:lnSpc>
                <a:spcPct val="115000"/>
              </a:lnSpc>
              <a:spcBef>
                <a:spcPts val="0"/>
              </a:spcBef>
              <a:spcAft>
                <a:spcPts val="600"/>
              </a:spcAft>
            </a:pPr>
            <a:r>
              <a:rPr sz="1250" b="0" i="0">
                <a:solidFill>
                  <a:srgbClr val="F6E6E9"/>
                </a:solidFill>
                <a:latin typeface="Source Sans 3"/>
              </a:rPr>
              <a:t>The console</a:t>
            </a:r>
          </a:p>
          <a:p>
            <a:pPr>
              <a:lnSpc>
                <a:spcPct val="115000"/>
              </a:lnSpc>
              <a:spcBef>
                <a:spcPts val="0"/>
              </a:spcBef>
              <a:spcAft>
                <a:spcPts val="600"/>
              </a:spcAft>
            </a:pPr>
            <a:r>
              <a:rPr sz="1250" b="0" i="0">
                <a:solidFill>
                  <a:srgbClr val="F6E6E9"/>
                </a:solidFill>
                <a:latin typeface="Source Sans 3"/>
              </a:rPr>
              <a:t>pravaha and pravaha-engine</a:t>
            </a:r>
          </a:p>
          <a:p>
            <a:pPr>
              <a:lnSpc>
                <a:spcPct val="115000"/>
              </a:lnSpc>
              <a:spcBef>
                <a:spcPts val="0"/>
              </a:spcBef>
              <a:spcAft>
                <a:spcPts val="600"/>
              </a:spcAft>
            </a:pPr>
            <a:r>
              <a:rPr sz="1250" b="0" i="0">
                <a:solidFill>
                  <a:srgbClr val="F6E6E9"/>
                </a:solidFill>
                <a:latin typeface="Source Sans 3"/>
              </a:rPr>
              <a:t>SDKs, on their own, and reconnecting</a:t>
            </a:r>
          </a:p>
          <a:p>
            <a:pPr>
              <a:lnSpc>
                <a:spcPct val="115000"/>
              </a:lnSpc>
              <a:spcBef>
                <a:spcPts val="0"/>
              </a:spcBef>
              <a:spcAft>
                <a:spcPts val="600"/>
              </a:spcAft>
            </a:pPr>
            <a:r>
              <a:rPr sz="1250" b="0" i="0">
                <a:solidFill>
                  <a:srgbClr val="F6E6E9"/>
                </a:solidFill>
                <a:latin typeface="Source Sans 3"/>
              </a:rPr>
              <a:t>BI tools over the PostgreSQL protocol</a:t>
            </a:r>
          </a:p>
          <a:p>
            <a:pPr>
              <a:lnSpc>
                <a:spcPct val="115000"/>
              </a:lnSpc>
              <a:spcBef>
                <a:spcPts val="0"/>
              </a:spcBef>
              <a:spcAft>
                <a:spcPts val="600"/>
              </a:spcAft>
            </a:pPr>
            <a:r>
              <a:rPr sz="1250" b="0" i="0">
                <a:solidFill>
                  <a:srgbClr val="F6E6E9"/>
                </a:solidFill>
                <a:latin typeface="Source Sans 3"/>
              </a:rPr>
              <a:t>What to watch</a:t>
            </a:r>
          </a:p>
          <a:p>
            <a:pPr>
              <a:lnSpc>
                <a:spcPct val="115000"/>
              </a:lnSpc>
              <a:spcBef>
                <a:spcPts val="0"/>
              </a:spcBef>
              <a:spcAft>
                <a:spcPts val="600"/>
              </a:spcAft>
            </a:pPr>
            <a:r>
              <a:rPr sz="1250" b="0" i="0">
                <a:solidFill>
                  <a:srgbClr val="F6E6E9"/>
                </a:solidFill>
                <a:latin typeface="Source Sans 3"/>
              </a:rPr>
              <a:t>The assistant (experimental)</a:t>
            </a:r>
          </a:p>
          <a:p>
            <a:pPr>
              <a:lnSpc>
                <a:spcPct val="115000"/>
              </a:lnSpc>
              <a:spcBef>
                <a:spcPts val="0"/>
              </a:spcBef>
              <a:spcAft>
                <a:spcPts val="600"/>
              </a:spcAft>
            </a:pPr>
            <a:r>
              <a:rPr sz="1250" b="0" i="0">
                <a:solidFill>
                  <a:srgbClr val="F6E6E9"/>
                </a:solidFill>
                <a:latin typeface="Source Sans 3"/>
              </a:rPr>
              <a:t>The time-travel debugger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engine core contains no Spring, enforced by the build (ADR-019). The console is a separate process on the published SDK, so it cannot reach past the public API (ADR-024).</a:t>
            </a:r>
          </a:p>
        </p:txBody>
      </p:sp>
      <p:sp>
        <p:nvSpPr>
          <p:cNvPr id="12" name="Rectangle 11"/>
          <p:cNvSpPr/>
          <p:nvPr/>
        </p:nvSpPr>
        <p:spPr>
          <a:xfrm>
            <a:off x="777240"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5" name="TextBox 14"/>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6" name="TextBox 15"/>
          <p:cNvSpPr txBox="1"/>
          <p:nvPr/>
        </p:nvSpPr>
        <p:spPr>
          <a:xfrm>
            <a:off x="960120"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7" name="Rectangle 16"/>
          <p:cNvSpPr/>
          <p:nvPr/>
        </p:nvSpPr>
        <p:spPr>
          <a:xfrm>
            <a:off x="4377842"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0" name="TextBox 19"/>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1" name="TextBox 20"/>
          <p:cNvSpPr txBox="1"/>
          <p:nvPr/>
        </p:nvSpPr>
        <p:spPr>
          <a:xfrm>
            <a:off x="4560722" y="2160168"/>
            <a:ext cx="3070250" cy="338292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2" name="Rectangle 21"/>
          <p:cNvSpPr/>
          <p:nvPr/>
        </p:nvSpPr>
        <p:spPr>
          <a:xfrm>
            <a:off x="7978444"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5" name="TextBox 24"/>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6" name="TextBox 25"/>
          <p:cNvSpPr txBox="1"/>
          <p:nvPr/>
        </p:nvSpPr>
        <p:spPr>
          <a:xfrm>
            <a:off x="8161324"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engine, Flight SQL, the PostgreSQL gateway and /status. A non-root image on a Java 25 glibc base, and a Helm chart that installs one node as a StatefulSet.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DOCKER AND OUT OF IT · RUNNING_IN_DOCKER.MD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One directory, /opt/pravaha, owned by whoever runs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67</a:t>
            </a:r>
          </a:p>
        </p:txBody>
      </p:sp>
      <p:sp>
        <p:nvSpPr>
          <p:cNvPr id="10" name="Rectangle 9"/>
          <p:cNvSpPr/>
          <p:nvPr/>
        </p:nvSpPr>
        <p:spPr>
          <a:xfrm>
            <a:off x="777240" y="1378204"/>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deploy/docker/build.sh \</a:t>
            </a:r>
          </a:p>
          <a:p>
            <a:pPr>
              <a:lnSpc>
                <a:spcPct val="100000"/>
              </a:lnSpc>
              <a:spcBef>
                <a:spcPts val="0"/>
              </a:spcBef>
              <a:spcAft>
                <a:spcPts val="0"/>
              </a:spcAft>
            </a:pPr>
            <a:r>
              <a:rPr sz="1200" b="0" i="0">
                <a:solidFill>
                  <a:srgbClr val="E8B8C0"/>
                </a:solidFill>
                <a:latin typeface="Consolas"/>
              </a:rPr>
              <a:t>  --tag pravaha/pravaha-server:local</a:t>
            </a:r>
          </a:p>
          <a:p>
            <a:pPr>
              <a:lnSpc>
                <a:spcPct val="100000"/>
              </a:lnSpc>
              <a:spcBef>
                <a:spcPts val="0"/>
              </a:spcBef>
              <a:spcAft>
                <a:spcPts val="0"/>
              </a:spcAft>
            </a:pPr>
            <a:r>
              <a:rPr sz="1200" b="0" i="0">
                <a:solidFill>
                  <a:srgbClr val="F1EEE9"/>
                </a:solidFill>
                <a:latin typeface="Consolas"/>
              </a:rPr>
              <a:t>deploy/docker/console/build.sh \</a:t>
            </a:r>
          </a:p>
          <a:p>
            <a:pPr>
              <a:lnSpc>
                <a:spcPct val="100000"/>
              </a:lnSpc>
              <a:spcBef>
                <a:spcPts val="0"/>
              </a:spcBef>
              <a:spcAft>
                <a:spcPts val="0"/>
              </a:spcAft>
            </a:pPr>
            <a:r>
              <a:rPr sz="1200" b="0" i="0">
                <a:solidFill>
                  <a:srgbClr val="E8B8C0"/>
                </a:solidFill>
                <a:latin typeface="Consolas"/>
              </a:rPr>
              <a:t>  --tag pravaha/pravaha-console:local</a:t>
            </a:r>
          </a:p>
          <a:p>
            <a:pPr>
              <a:lnSpc>
                <a:spcPct val="100000"/>
              </a:lnSpc>
              <a:spcBef>
                <a:spcPts val="0"/>
              </a:spcBef>
              <a:spcAft>
                <a:spcPts val="0"/>
              </a:spcAft>
            </a:pPr>
            <a:r>
              <a:rPr sz="1200" b="0" i="0">
                <a:solidFill>
                  <a:srgbClr val="F1EEE9"/>
                </a:solidFill>
                <a:latin typeface="Consolas"/>
              </a:rPr>
              <a:t>tools/docker-env.sh   # .env + pravaha-home/</a:t>
            </a:r>
          </a:p>
          <a:p>
            <a:pPr>
              <a:lnSpc>
                <a:spcPct val="100000"/>
              </a:lnSpc>
              <a:spcBef>
                <a:spcPts val="0"/>
              </a:spcBef>
              <a:spcAft>
                <a:spcPts val="0"/>
              </a:spcAft>
            </a:pPr>
            <a:r>
              <a:rPr sz="1200" b="0" i="0">
                <a:solidFill>
                  <a:srgbClr val="F1EEE9"/>
                </a:solidFill>
                <a:latin typeface="Consolas"/>
              </a:rPr>
              <a:t>docker compose \</a:t>
            </a:r>
          </a:p>
          <a:p>
            <a:pPr>
              <a:lnSpc>
                <a:spcPct val="100000"/>
              </a:lnSpc>
              <a:spcBef>
                <a:spcPts val="0"/>
              </a:spcBef>
              <a:spcAft>
                <a:spcPts val="0"/>
              </a:spcAft>
            </a:pPr>
            <a:r>
              <a:rPr sz="1200" b="0" i="0">
                <a:solidFill>
                  <a:srgbClr val="F1EEE9"/>
                </a:solidFill>
                <a:latin typeface="Consolas"/>
              </a:rPr>
              <a:t>  -f deploy/docker/compose/docker-compose.yml \</a:t>
            </a:r>
          </a:p>
          <a:p>
            <a:pPr>
              <a:lnSpc>
                <a:spcPct val="100000"/>
              </a:lnSpc>
              <a:spcBef>
                <a:spcPts val="0"/>
              </a:spcBef>
              <a:spcAft>
                <a:spcPts val="0"/>
              </a:spcAft>
            </a:pPr>
            <a:r>
              <a:rPr sz="1200" b="0" i="0">
                <a:solidFill>
                  <a:srgbClr val="E8B8C0"/>
                </a:solidFill>
                <a:latin typeface="Consolas"/>
              </a:rPr>
              <a:t>  --profile seed up -d</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E8B8C0"/>
                </a:solidFill>
                <a:latin typeface="Consolas"/>
              </a:rPr>
              <a:t># console  http://localhost:17070</a:t>
            </a:r>
          </a:p>
          <a:p>
            <a:pPr>
              <a:lnSpc>
                <a:spcPct val="100000"/>
              </a:lnSpc>
              <a:spcBef>
                <a:spcPts val="0"/>
              </a:spcBef>
              <a:spcAft>
                <a:spcPts val="0"/>
              </a:spcAft>
            </a:pPr>
            <a:r>
              <a:rPr sz="1200" b="0" i="0">
                <a:solidFill>
                  <a:srgbClr val="E8B8C0"/>
                </a:solidFill>
                <a:latin typeface="Consolas"/>
              </a:rPr>
              <a:t># Flight   grpc://localhost:19090</a:t>
            </a:r>
          </a:p>
          <a:p>
            <a:pPr>
              <a:lnSpc>
                <a:spcPct val="100000"/>
              </a:lnSpc>
              <a:spcBef>
                <a:spcPts val="0"/>
              </a:spcBef>
              <a:spcAft>
                <a:spcPts val="0"/>
              </a:spcAft>
            </a:pPr>
            <a:r>
              <a:rPr sz="1200" b="0" i="0">
                <a:solidFill>
                  <a:srgbClr val="E8B8C0"/>
                </a:solidFill>
                <a:latin typeface="Consolas"/>
              </a:rPr>
              <a:t># REST     http://localhost:18080</a:t>
            </a:r>
          </a:p>
          <a:p>
            <a:pPr>
              <a:lnSpc>
                <a:spcPct val="100000"/>
              </a:lnSpc>
              <a:spcBef>
                <a:spcPts val="0"/>
              </a:spcBef>
              <a:spcAft>
                <a:spcPts val="0"/>
              </a:spcAft>
            </a:pPr>
            <a:r>
              <a:rPr sz="1200" b="0" i="0">
                <a:solidFill>
                  <a:srgbClr val="E8B8C0"/>
                </a:solidFill>
                <a:latin typeface="Consolas"/>
              </a:rPr>
              <a:t># psql     localhost:15432</a:t>
            </a:r>
          </a:p>
        </p:txBody>
      </p:sp>
      <p:sp>
        <p:nvSpPr>
          <p:cNvPr id="13" name="TextBox 12"/>
          <p:cNvSpPr txBox="1"/>
          <p:nvPr/>
        </p:nvSpPr>
        <p:spPr>
          <a:xfrm>
            <a:off x="6810588" y="1378204"/>
            <a:ext cx="4603866"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PRAVAHA_HOME</a:t>
            </a:r>
          </a:p>
          <a:p>
            <a:pPr lvl="1">
              <a:lnSpc>
                <a:spcPct val="120000"/>
              </a:lnSpc>
              <a:spcBef>
                <a:spcPts val="0"/>
              </a:spcBef>
              <a:spcAft>
                <a:spcPts val="0"/>
              </a:spcAft>
            </a:pPr>
            <a:r>
              <a:rPr sz="1250" b="0">
                <a:solidFill>
                  <a:srgbClr val="4A5058"/>
                </a:solidFill>
                <a:latin typeface="Source Sans 3"/>
              </a:rPr>
              <a:t>conf/, secrets/, plugins/, data/, logs/, tmp/ — the same layout in a container and in an unpacked distribution; relative paths mean the same in both.</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As you, read-only root</a:t>
            </a:r>
          </a:p>
          <a:p>
            <a:pPr lvl="1">
              <a:lnSpc>
                <a:spcPct val="120000"/>
              </a:lnSpc>
              <a:spcBef>
                <a:spcPts val="0"/>
              </a:spcBef>
              <a:spcAft>
                <a:spcPts val="0"/>
              </a:spcAft>
            </a:pPr>
            <a:r>
              <a:rPr sz="1250" b="0">
                <a:solidFill>
                  <a:srgbClr val="4A5058"/>
                </a:solidFill>
                <a:latin typeface="Source Sans 3"/>
              </a:rPr>
              <a:t>Engine and console run as the invoking uid:gid; nothing is written outside the home.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Profiles</a:t>
            </a:r>
          </a:p>
          <a:p>
            <a:pPr lvl="1">
              <a:lnSpc>
                <a:spcPct val="120000"/>
              </a:lnSpc>
              <a:spcBef>
                <a:spcPts val="0"/>
              </a:spcBef>
              <a:spcAft>
                <a:spcPts val="0"/>
              </a:spcAft>
            </a:pPr>
            <a:r>
              <a:rPr sz="1250" b="0">
                <a:solidFill>
                  <a:srgbClr val="4A5058"/>
                </a:solidFill>
                <a:latin typeface="Source Sans 3"/>
              </a:rPr>
              <a:t>seed, cdc (PostgreSQL, MySQL), stores (Aerospike, Cassandra), observability (Prometheus, Grafana), tools.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Each persona lands on its own screen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FastAPI, server-rendered, every asset vendored so it runs air-gapped; four themes, crimson by default. 1,937 console tests pass with the browser suites, zero axe violations in every theme; the manual WCAG 2.2 AA audit is not done.</a:t>
            </a:r>
          </a:p>
        </p:txBody>
      </p:sp>
      <p:sp>
        <p:nvSpPr>
          <p:cNvPr id="12" name="TextBox 11"/>
          <p:cNvSpPr txBox="1"/>
          <p:nvPr/>
        </p:nvSpPr>
        <p:spPr>
          <a:xfrm>
            <a:off x="777240" y="1410919"/>
            <a:ext cx="10637215" cy="42601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Analyst: the SQL Workbench</a:t>
            </a:r>
          </a:p>
          <a:p>
            <a:pPr lvl="1">
              <a:lnSpc>
                <a:spcPct val="120000"/>
              </a:lnSpc>
              <a:spcBef>
                <a:spcPts val="0"/>
              </a:spcBef>
              <a:spcAft>
                <a:spcPts val="0"/>
              </a:spcAft>
            </a:pPr>
            <a:r>
              <a:rPr sz="1550" b="0">
                <a:solidFill>
                  <a:srgbClr val="4A5058"/>
                </a:solidFill>
                <a:latin typeface="Source Sans 3"/>
              </a:rPr>
              <a:t>Monaco with catalog-aware completion, validation as you type with one-click fixes, the plan drawn as a graph, and registration with keys picked by name.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Developer: Views</a:t>
            </a:r>
          </a:p>
          <a:p>
            <a:pPr lvl="1">
              <a:lnSpc>
                <a:spcPct val="120000"/>
              </a:lnSpc>
              <a:spcBef>
                <a:spcPts val="0"/>
              </a:spcBef>
              <a:spcAft>
                <a:spcPts val="0"/>
              </a:spcAft>
            </a:pPr>
            <a:r>
              <a:rPr sz="1550" b="0">
                <a:solidFill>
                  <a:srgbClr val="4A5058"/>
                </a:solidFill>
                <a:latin typeface="Source Sans 3"/>
              </a:rPr>
              <a:t>Point queries and copy-paste client code for both SDKs, psql and the CLI.</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Operator: Operations</a:t>
            </a:r>
          </a:p>
          <a:p>
            <a:pPr lvl="1">
              <a:lnSpc>
                <a:spcPct val="120000"/>
              </a:lnSpc>
              <a:spcBef>
                <a:spcPts val="0"/>
              </a:spcBef>
              <a:spcAft>
                <a:spcPts val="0"/>
              </a:spcAft>
            </a:pPr>
            <a:r>
              <a:rPr sz="1550" b="0">
                <a:solidFill>
                  <a:srgbClr val="4A5058"/>
                </a:solidFill>
                <a:latin typeface="Source Sans 3"/>
              </a:rPr>
              <a:t>The engine's metrics read into a verdict — healthy, and if not, where — with backfill and cutover, and any view watched live with its +1/−1 weights.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Administrator: Admin</a:t>
            </a:r>
          </a:p>
          <a:p>
            <a:pPr lvl="1">
              <a:lnSpc>
                <a:spcPct val="120000"/>
              </a:lnSpc>
              <a:spcBef>
                <a:spcPts val="0"/>
              </a:spcBef>
              <a:spcAft>
                <a:spcPts val="0"/>
              </a:spcAft>
            </a:pPr>
            <a:r>
              <a:rPr sz="1550" b="0">
                <a:solidFill>
                  <a:srgbClr val="4A5058"/>
                </a:solidFill>
                <a:latin typeface="Source Sans 3"/>
              </a:rPr>
              <a:t>Users, keys and sessions; grants and policies; AI models; the audit trail; Lanes.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Everyone: Catalog and Alerts</a:t>
            </a:r>
          </a:p>
          <a:p>
            <a:pPr lvl="1">
              <a:lnSpc>
                <a:spcPct val="120000"/>
              </a:lnSpc>
              <a:spcBef>
                <a:spcPts val="0"/>
              </a:spcBef>
              <a:spcAft>
                <a:spcPts val="0"/>
              </a:spcAft>
            </a:pPr>
            <a:r>
              <a:rPr sz="1550" b="0">
                <a:solidFill>
                  <a:srgbClr val="4A5058"/>
                </a:solidFill>
                <a:latin typeface="Source Sans 3"/>
              </a:rPr>
              <a:t>Objects with owners, tags and grants; alerts firing, snoozed and acknowledged.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COMMAND LINES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pravaha talks to a node; pravaha-engine runs one in process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69</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 — Python, with the Python SDK</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Every command that talks to a running engine</a:t>
            </a:r>
          </a:p>
          <a:p>
            <a:pPr lvl="1">
              <a:lnSpc>
                <a:spcPct val="120000"/>
              </a:lnSpc>
              <a:spcBef>
                <a:spcPts val="0"/>
              </a:spcBef>
              <a:spcAft>
                <a:spcPts val="0"/>
              </a:spcAft>
            </a:pPr>
            <a:r>
              <a:rPr sz="1450" b="0">
                <a:solidFill>
                  <a:srgbClr val="4A5058"/>
                </a:solidFill>
                <a:latin typeface="Source Sans 3"/>
              </a:rPr>
              <a:t>query, register, queries, pause, resume, drop; replace, cutover, rollback, throttle and the rest of a replacement; subscribe, dlq, debug; login, user, key, session; lanes.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Installed with the SDK</a:t>
            </a:r>
          </a:p>
          <a:p>
            <a:pPr lvl="1">
              <a:lnSpc>
                <a:spcPct val="120000"/>
              </a:lnSpc>
              <a:spcBef>
                <a:spcPts val="0"/>
              </a:spcBef>
              <a:spcAft>
                <a:spcPts val="0"/>
              </a:spcAft>
            </a:pPr>
            <a:r>
              <a:rPr sz="1450" b="0">
                <a:solidFill>
                  <a:srgbClr val="4A5058"/>
                </a:solidFill>
                <a:latin typeface="Source Sans 3"/>
              </a:rPr>
              <a:t>pip install './sdk/python[flight]'.</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pravaha-engine — Java, no server</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validate, explain, run, version</a:t>
            </a:r>
          </a:p>
          <a:p>
            <a:pPr lvl="1">
              <a:lnSpc>
                <a:spcPct val="120000"/>
              </a:lnSpc>
              <a:spcBef>
                <a:spcPts val="0"/>
              </a:spcBef>
              <a:spcAft>
                <a:spcPts val="0"/>
              </a:spcAft>
            </a:pPr>
            <a:r>
              <a:rPr sz="1450" b="0">
                <a:solidFill>
                  <a:srgbClr val="4A5058"/>
                </a:solidFill>
                <a:latin typeface="Source Sans 3"/>
              </a:rPr>
              <a:t>What needs the engine in-process, and carries no token.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moved command says where it went</a:t>
            </a:r>
          </a:p>
          <a:p>
            <a:pPr lvl="1">
              <a:lnSpc>
                <a:spcPct val="120000"/>
              </a:lnSpc>
              <a:spcBef>
                <a:spcPts val="0"/>
              </a:spcBef>
              <a:spcAft>
                <a:spcPts val="0"/>
              </a:spcAft>
            </a:pPr>
            <a:r>
              <a:rPr sz="1450" b="0">
                <a:solidFill>
                  <a:srgbClr val="4A5058"/>
                </a:solidFill>
                <a:latin typeface="Source Sans 3"/>
              </a:rPr>
              <a:t>Typing one of the server commands prints where it lives now and exits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70</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Reopened with backoff</a:t>
            </a:r>
          </a:p>
          <a:p>
            <a:pPr lvl="1">
              <a:lnSpc>
                <a:spcPct val="120000"/>
              </a:lnSpc>
              <a:spcBef>
                <a:spcPts val="0"/>
              </a:spcBef>
              <a:spcAft>
                <a:spcPts val="0"/>
              </a:spcAft>
            </a:pPr>
            <a:r>
              <a:rPr sz="1450" b="0">
                <a:solidFill>
                  <a:srgbClr val="4A5058"/>
                </a:solidFill>
                <a:latin typeface="Source Sans 3"/>
              </a:rPr>
              <a:t>A stream ended by a restart, a broken connection or PRV-6105 is reopened from 250 ms to 10 s apart, for up to five minutes by default.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Pair it with a snapshot</a:t>
            </a:r>
          </a:p>
          <a:p>
            <a:pPr lvl="1">
              <a:lnSpc>
                <a:spcPct val="120000"/>
              </a:lnSpc>
              <a:spcBef>
                <a:spcPts val="0"/>
              </a:spcBef>
              <a:spcAft>
                <a:spcPts val="0"/>
              </a:spcAft>
            </a:pPr>
            <a:r>
              <a:rPr sz="145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permanent refusal is raised at once</a:t>
            </a:r>
          </a:p>
          <a:p>
            <a:pPr lvl="1">
              <a:lnSpc>
                <a:spcPct val="120000"/>
              </a:lnSpc>
              <a:spcBef>
                <a:spcPts val="0"/>
              </a:spcBef>
              <a:spcAft>
                <a:spcPts val="0"/>
              </a:spcAft>
            </a:pPr>
            <a:r>
              <a:rPr sz="1450" b="0">
                <a:solidFill>
                  <a:srgbClr val="4A5058"/>
                </a:solidFill>
                <a:latin typeface="Source Sans 3"/>
              </a:rPr>
              <a:t>Other calls fail with PRV-1040, retryable, and work as soon as the node is back.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SDKSTANDALONE-1</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The client SDKs build, ship and run without the server</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71</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or the server's jar carries SDK classes. The standalone check found SDKNETTYMIX-1: a Maven client resolved two Netty lines and failed on its first call — invisible to tests inside the build.</a:t>
            </a:r>
          </a:p>
        </p:txBody>
      </p:sp>
      <p:sp>
        <p:nvSpPr>
          <p:cNvPr id="12" name="Rectangle 11"/>
          <p:cNvSpPr/>
          <p:nvPr/>
        </p:nvSpPr>
        <p:spPr>
          <a:xfrm>
            <a:off x="777240"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pravaha-sdk-java-flight</a:t>
            </a:r>
          </a:p>
        </p:txBody>
      </p:sp>
      <p:sp>
        <p:nvSpPr>
          <p:cNvPr id="16" name="TextBox 15"/>
          <p:cNvSpPr txBox="1"/>
          <p:nvPr/>
        </p:nvSpPr>
        <p:spPr>
          <a:xfrm>
            <a:off x="960120"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thin jar through Maven or Gradle — the default — or a 19 MB -all jar with every runtime dependency, for a client with no build tool. Sources and javadoc jars attached.</a:t>
            </a:r>
          </a:p>
        </p:txBody>
      </p:sp>
      <p:sp>
        <p:nvSpPr>
          <p:cNvPr id="17" name="Rectangle 16"/>
          <p:cNvSpPr/>
          <p:nvPr/>
        </p:nvSpPr>
        <p:spPr>
          <a:xfrm>
            <a:off x="4377842"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4560722"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4560722"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pip install "pravaha[flight]" adds Flight. The pravaha CLI and the assistant ship in it.</a:t>
            </a:r>
          </a:p>
        </p:txBody>
      </p:sp>
      <p:sp>
        <p:nvSpPr>
          <p:cNvPr id="22" name="Rectangle 21"/>
          <p:cNvSpPr/>
          <p:nvPr/>
        </p:nvSpPr>
        <p:spPr>
          <a:xfrm>
            <a:off x="7978444"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PROVED OUTSIDE</a:t>
            </a:r>
          </a:p>
        </p:txBody>
      </p:sp>
      <p:sp>
        <p:nvSpPr>
          <p:cNvPr id="25" name="TextBox 24"/>
          <p:cNvSpPr txBox="1"/>
          <p:nvPr/>
        </p:nvSpPr>
        <p:spPr>
          <a:xfrm>
            <a:off x="8161324"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sdk-standalone-check.sh</a:t>
            </a:r>
          </a:p>
        </p:txBody>
      </p:sp>
      <p:sp>
        <p:nvSpPr>
          <p:cNvPr id="26" name="TextBox 25"/>
          <p:cNvSpPr txBox="1"/>
          <p:nvPr/>
        </p:nvSpPr>
        <p:spPr>
          <a:xfrm>
            <a:off x="8161324"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Four clients outside the repository against a throwaway node: Maven, the -all jar with plain java, the wheel with and without [flight].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BI TOOLS · THE POSTGRESQL GATEWAY</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Power BI, psql and psycopg read views as if from PostgreSQL</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72</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with the real Npgsql 4.0.17, pgjdbc, psycopg 3 and psql. Power BI Desktop itself was not run.</a:t>
            </a:r>
          </a:p>
        </p:txBody>
      </p:sp>
      <p:sp>
        <p:nvSpPr>
          <p:cNvPr id="12" name="Rectangle 11"/>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was needed</a:t>
            </a:r>
          </a:p>
        </p:txBody>
      </p:sp>
      <p:sp>
        <p:nvSpPr>
          <p:cNvPr id="15" name="TextBox 14"/>
          <p:cNvSpPr txBox="1"/>
          <p:nvPr/>
        </p:nvSpPr>
        <p:spPr>
          <a:xfrm>
            <a:off x="777240"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Npgsql 4.0.17, Power BI's own driver</a:t>
            </a:r>
          </a:p>
          <a:p>
            <a:pPr lvl="1">
              <a:lnSpc>
                <a:spcPct val="120000"/>
              </a:lnSpc>
              <a:spcBef>
                <a:spcPts val="0"/>
              </a:spcBef>
              <a:spcAft>
                <a:spcPts val="0"/>
              </a:spcAft>
            </a:pPr>
            <a:r>
              <a:rPr sz="1300" b="0">
                <a:solidFill>
                  <a:srgbClr val="4A5058"/>
                </a:solidFill>
                <a:latin typeface="Source Sans 3"/>
              </a:rPr>
              <a:t>Its type-loading queries, binary results for every type, the navigator's INFORMATION_SCHEMA queries, DirectQuery's LIMIT 1000001.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Transactions, as no-ops</a:t>
            </a:r>
          </a:p>
          <a:p>
            <a:pPr lvl="1">
              <a:lnSpc>
                <a:spcPct val="120000"/>
              </a:lnSpc>
              <a:spcBef>
                <a:spcPts val="0"/>
              </a:spcBef>
              <a:spcAft>
                <a:spcPts val="0"/>
              </a:spcAft>
            </a:pPr>
            <a:r>
              <a:rPr sz="1300" b="0">
                <a:solidFill>
                  <a:srgbClr val="4A5058"/>
                </a:solidFill>
                <a:latin typeface="Source Sans 3"/>
              </a:rPr>
              <a:t>BEGIN … COMMIT with PostgreSQL's tags and status: psycopg's default mode, pgjdbc without auto-commit, most ORMs (PGWIRE-TX-1).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psql 18</a:t>
            </a:r>
          </a:p>
          <a:p>
            <a:pPr lvl="1">
              <a:lnSpc>
                <a:spcPct val="120000"/>
              </a:lnSpc>
              <a:spcBef>
                <a:spcPts val="0"/>
              </a:spcBef>
              <a:spcAft>
                <a:spcPts val="0"/>
              </a:spcAft>
            </a:pPr>
            <a:r>
              <a:rPr sz="1300" b="0">
                <a:solidFill>
                  <a:srgbClr val="4A5058"/>
                </a:solidFill>
                <a:latin typeface="Source Sans 3"/>
              </a:rPr>
              <a:t>\d answered.</a:t>
            </a:r>
          </a:p>
        </p:txBody>
      </p:sp>
      <p:sp>
        <p:nvSpPr>
          <p:cNvPr id="16" name="Rectangle 15"/>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is stated, not implied</a:t>
            </a:r>
          </a:p>
        </p:txBody>
      </p:sp>
      <p:sp>
        <p:nvSpPr>
          <p:cNvPr id="19" name="TextBox 18"/>
          <p:cNvSpPr txBox="1"/>
          <p:nvPr/>
        </p:nvSpPr>
        <p:spPr>
          <a:xfrm>
            <a:off x="6278727"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READ COMMITTED, always</a:t>
            </a:r>
          </a:p>
          <a:p>
            <a:pPr lvl="1">
              <a:lnSpc>
                <a:spcPct val="120000"/>
              </a:lnSpc>
              <a:spcBef>
                <a:spcPts val="0"/>
              </a:spcBef>
              <a:spcAft>
                <a:spcPts val="0"/>
              </a:spcAft>
            </a:pPr>
            <a:r>
              <a:rPr sz="1300" b="0">
                <a:solidFill>
                  <a:srgbClr val="4A5058"/>
                </a:solidFill>
                <a:latin typeface="Source Sans 3"/>
              </a:rPr>
              <a:t>Each read sees the view as its last commit left it; REPEATABLE READ is accepted with a NOTICE saying so. Writes are refused.</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AVG of an integer is numeric here only</a:t>
            </a:r>
          </a:p>
          <a:p>
            <a:pPr lvl="1">
              <a:lnSpc>
                <a:spcPct val="120000"/>
              </a:lnSpc>
              <a:spcBef>
                <a:spcPts val="0"/>
              </a:spcBef>
              <a:spcAft>
                <a:spcPts val="0"/>
              </a:spcAft>
            </a:pPr>
            <a:r>
              <a:rPr sz="1300" b="0">
                <a:solidFill>
                  <a:srgbClr val="4A5058"/>
                </a:solidFill>
                <a:latin typeface="Source Sans 3"/>
              </a:rPr>
              <a:t>As PostgreSQL clients expect; every other surface keeps the engine's integer AVG.</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Same grants, filters and masks</a:t>
            </a:r>
          </a:p>
          <a:p>
            <a:pPr lvl="1">
              <a:lnSpc>
                <a:spcPct val="120000"/>
              </a:lnSpc>
              <a:spcBef>
                <a:spcPts val="0"/>
              </a:spcBef>
              <a:spcAft>
                <a:spcPts val="0"/>
              </a:spcAft>
            </a:pPr>
            <a:r>
              <a:rPr sz="1300" b="0">
                <a:solidFill>
                  <a:srgbClr val="4A5058"/>
                </a:solidFill>
                <a:latin typeface="Source Sans 3"/>
              </a:rPr>
              <a:t>Signed in with an API key or session token.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TO WATCH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Per-query metrics, and the ones to alert 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73</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Shipped beside them: four Grafana dashboards, Prometheus rules (and a Helm PrometheusRule), JSON logs with correlation and trace ids, OpenTelemetry tracing (off by default). Per-operator metrics cost about 10–13 % of throughput (JDK 25), so they are off by default.</a:t>
            </a:r>
          </a:p>
        </p:txBody>
      </p:sp>
      <p:graphicFrame>
        <p:nvGraphicFramePr>
          <p:cNvPr id="12" name="Table 11"/>
          <p:cNvGraphicFramePr>
            <a:graphicFrameLocks noGrp="1"/>
          </p:cNvGraphicFramePr>
          <p:nvPr/>
        </p:nvGraphicFramePr>
        <p:xfrm>
          <a:off x="777240" y="1410919"/>
          <a:ext cx="10637214" cy="3961229"/>
        </p:xfrm>
        <a:graphic>
          <a:graphicData uri="http://schemas.openxmlformats.org/drawingml/2006/table">
            <a:tbl>
              <a:tblPr firstRow="1">
                <a:tableStyleId>{5C22544A-7EE6-4342-B048-85BDC9FD1C3A}</a:tableStyleId>
              </a:tblPr>
              <a:tblGrid>
                <a:gridCol w="6052208"/>
                <a:gridCol w="4585006"/>
              </a:tblGrid>
              <a:tr h="322376">
                <a:tc>
                  <a:txBody>
                    <a:bodyPr wrap="square"/>
                    <a:lstStyle/>
                    <a:p>
                      <a:r>
                        <a:rPr sz="1300" b="1">
                          <a:solidFill>
                            <a:srgbClr val="FFFFFF"/>
                          </a:solidFill>
                          <a:latin typeface="Source Sans 3"/>
                        </a:rPr>
                        <a:t>Metric</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pravaha_query_feed_stopped</a:t>
                      </a:r>
                    </a:p>
                  </a:txBody>
                  <a:tcPr marL="82296" marR="64008" marT="32004" marB="32004" anchor="ctr">
                    <a:solidFill>
                      <a:srgbClr val="FFFFFF"/>
                    </a:solidFill>
                  </a:tcPr>
                </a:tc>
                <a:tc>
                  <a:txBody>
                    <a:bodyPr wrap="square"/>
                    <a:lstStyle/>
                    <a:p>
                      <a:r>
                        <a:rPr sz="1350" b="0">
                          <a:solidFill>
                            <a:srgbClr val="1A1A1A"/>
                          </a:solidFill>
                          <a:latin typeface="Source Sans 3"/>
                        </a:rPr>
                        <a:t>A source stopped mid-read while the query still says RUNNING</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pravaha_query_state_fraction</a:t>
                      </a:r>
                    </a:p>
                  </a:txBody>
                  <a:tcPr marL="82296" marR="64008" marT="32004" marB="32004" anchor="ctr">
                    <a:solidFill>
                      <a:srgbClr val="F7F5F2"/>
                    </a:solidFill>
                  </a:tcPr>
                </a:tc>
                <a:tc>
                  <a:txBody>
                    <a:bodyPr wrap="square"/>
                    <a:lstStyle/>
                    <a:p>
                      <a:r>
                        <a:rPr sz="1350" b="0">
                          <a:solidFill>
                            <a:srgbClr val="1A1A1A"/>
                          </a:solidFill>
                          <a:latin typeface="Source Sans 3"/>
                        </a:rPr>
                        <a:t>State held against its ceiling, 0 to 1 — before PRV-4001</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pravaha_query_watermark_lag_seconds</a:t>
                      </a:r>
                    </a:p>
                  </a:txBody>
                  <a:tcPr marL="82296" marR="64008" marT="32004" marB="32004" anchor="ctr">
                    <a:solidFill>
                      <a:srgbClr val="FFFFFF"/>
                    </a:solidFill>
                  </a:tcPr>
                </a:tc>
                <a:tc>
                  <a:txBody>
                    <a:bodyPr wrap="square"/>
                    <a:lstStyle/>
                    <a:p>
                      <a:r>
                        <a:rPr sz="1350" b="0">
                          <a:solidFill>
                            <a:srgbClr val="1A1A1A"/>
                          </a:solidFill>
                          <a:latin typeface="Source Sans 3"/>
                        </a:rPr>
                        <a:t>How far behind event time it is (NaN before a row)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pravaha_query_backpressure_blocked_fraction</a:t>
                      </a:r>
                    </a:p>
                  </a:txBody>
                  <a:tcPr marL="82296" marR="64008" marT="32004" marB="32004" anchor="ctr">
                    <a:solidFill>
                      <a:srgbClr val="F7F5F2"/>
                    </a:solidFill>
                  </a:tcPr>
                </a:tc>
                <a:tc>
                  <a:txBody>
                    <a:bodyPr wrap="square"/>
                    <a:lstStyle/>
                    <a:p>
                      <a:r>
                        <a:rPr sz="1350" b="0">
                          <a:solidFill>
                            <a:srgbClr val="1A1A1A"/>
                          </a:solidFill>
                          <a:latin typeface="Source Sans 3"/>
                        </a:rPr>
                        <a:t>Is this query the limit, or blocked by a neighbour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pravaha_query_checkpoint_last_success_timestamp_seconds</a:t>
                      </a:r>
                    </a:p>
                  </a:txBody>
                  <a:tcPr marL="82296" marR="64008" marT="32004" marB="32004" anchor="ctr">
                    <a:solidFill>
                      <a:srgbClr val="FFFFFF"/>
                    </a:solidFill>
                  </a:tcPr>
                </a:tc>
                <a:tc>
                  <a:txBody>
                    <a:bodyPr wrap="square"/>
                    <a:lstStyle/>
                    <a:p>
                      <a:r>
                        <a:rPr sz="1350" b="0">
                          <a:solidFill>
                            <a:srgbClr val="1A1A1A"/>
                          </a:solidFill>
                          <a:latin typeface="Source Sans 3"/>
                        </a:rPr>
                        <a:t>How much recovery would replay now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pravaha_query_commit_latency_seconds (count, sum)</a:t>
                      </a:r>
                    </a:p>
                  </a:txBody>
                  <a:tcPr marL="82296" marR="64008" marT="32004" marB="32004" anchor="ctr">
                    <a:solidFill>
                      <a:srgbClr val="F7F5F2"/>
                    </a:solidFill>
                  </a:tcPr>
                </a:tc>
                <a:tc>
                  <a:txBody>
                    <a:bodyPr wrap="square"/>
                    <a:lstStyle/>
                    <a:p>
                      <a:r>
                        <a:rPr sz="1350" b="0">
                          <a:solidFill>
                            <a:srgbClr val="1A1A1A"/>
                          </a:solidFill>
                          <a:latin typeface="Source Sans 3"/>
                        </a:rPr>
                        <a:t>An exact mean; no percentiles are published, because none is measured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pravaha_lane_own_queries</a:t>
                      </a:r>
                    </a:p>
                  </a:txBody>
                  <a:tcPr marL="82296" marR="64008" marT="32004" marB="32004" anchor="ctr">
                    <a:solidFill>
                      <a:srgbClr val="FFFFFF"/>
                    </a:solidFill>
                  </a:tcPr>
                </a:tc>
                <a:tc>
                  <a:txBody>
                    <a:bodyPr wrap="square"/>
                    <a:lstStyle/>
                    <a:p>
                      <a:r>
                        <a:rPr sz="1350" b="0">
                          <a:solidFill>
                            <a:srgbClr val="1A1A1A"/>
                          </a:solidFill>
                          <a:latin typeface="Source Sans 3"/>
                        </a:rPr>
                        <a:t>Rising with sharing on: the shared lanes are full</a:t>
                      </a:r>
                    </a:p>
                  </a:txBody>
                  <a:tcPr marL="82296" marR="64008" marT="32004" marB="32004"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ASSISTANT · ADR-058 · EXPERIMENTAL IN 1.0</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Plain English to continuous SQL, with the engine as the judge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74</a:t>
            </a:r>
          </a:p>
        </p:txBody>
      </p:sp>
      <p:sp>
        <p:nvSpPr>
          <p:cNvPr id="10" name="Rectangle 9"/>
          <p:cNvSpPr/>
          <p:nvPr/>
        </p:nvSpPr>
        <p:spPr>
          <a:xfrm>
            <a:off x="777240"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Context, as you</a:t>
            </a:r>
          </a:p>
        </p:txBody>
      </p:sp>
      <p:sp>
        <p:nvSpPr>
          <p:cNvPr id="13" name="TextBox 12"/>
          <p:cNvSpPr txBox="1"/>
          <p:nvPr/>
        </p:nvSpPr>
        <p:spPr>
          <a:xfrm>
            <a:off x="960120"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Streams and views you may read, sinks you may write to, the dialect's rules, a few worked examples. No row is ever sent.</a:t>
            </a:r>
          </a:p>
        </p:txBody>
      </p:sp>
      <p:sp>
        <p:nvSpPr>
          <p:cNvPr id="14" name="Rectangle 13"/>
          <p:cNvSpPr/>
          <p:nvPr/>
        </p:nvSpPr>
        <p:spPr>
          <a:xfrm>
            <a:off x="3505123"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model drafts</a:t>
            </a:r>
          </a:p>
        </p:txBody>
      </p:sp>
      <p:sp>
        <p:nvSpPr>
          <p:cNvPr id="17" name="TextBox 16"/>
          <p:cNvSpPr txBox="1"/>
          <p:nvPr/>
        </p:nvSpPr>
        <p:spPr>
          <a:xfrm>
            <a:off x="3688003"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4A5058"/>
                </a:solidFill>
                <a:latin typeface="Source Sans 3"/>
              </a:rPr>
              <a:t>Hosted or local — built-in providers, any OpenAI-compatible server, Ollama, or a plugin — with fallback chains and budgets; switched at runtime.</a:t>
            </a:r>
          </a:p>
        </p:txBody>
      </p:sp>
      <p:cxnSp>
        <p:nvCxnSpPr>
          <p:cNvPr id="18" name="Connector 17"/>
          <p:cNvCxnSpPr/>
          <p:nvPr/>
        </p:nvCxnSpPr>
        <p:spPr>
          <a:xfrm>
            <a:off x="3267379"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engine judges</a:t>
            </a:r>
          </a:p>
        </p:txBody>
      </p:sp>
      <p:sp>
        <p:nvSpPr>
          <p:cNvPr id="22" name="TextBox 21"/>
          <p:cNvSpPr txBox="1"/>
          <p:nvPr/>
        </p:nvSpPr>
        <p:spPr>
          <a:xfrm>
            <a:off x="6415887"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Validates and explains the draft; up to three repair turns, none allowed to change what the query reads.</a:t>
            </a:r>
          </a:p>
        </p:txBody>
      </p:sp>
      <p:cxnSp>
        <p:nvCxnSpPr>
          <p:cNvPr id="23" name="Connector 22"/>
          <p:cNvCxnSpPr/>
          <p:nvPr/>
        </p:nvCxnSpPr>
        <p:spPr>
          <a:xfrm>
            <a:off x="5995263"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person registers</a:t>
            </a:r>
          </a:p>
        </p:txBody>
      </p:sp>
      <p:sp>
        <p:nvSpPr>
          <p:cNvPr id="27" name="TextBox 26"/>
          <p:cNvSpPr txBox="1"/>
          <p:nvPr/>
        </p:nvSpPr>
        <p:spPr>
          <a:xfrm>
            <a:off x="9143771"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Only an accepted draft, only after confirmation; a running query with the same plan is offered for reuse.</a:t>
            </a:r>
          </a:p>
        </p:txBody>
      </p:sp>
      <p:cxnSp>
        <p:nvCxnSpPr>
          <p:cNvPr id="28" name="Connector 27"/>
          <p:cNvCxnSpPr/>
          <p:nvPr/>
        </p:nvCxnSpPr>
        <p:spPr>
          <a:xfrm>
            <a:off x="8723147"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505403"/>
            <a:ext cx="10637215" cy="2739948"/>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Where</a:t>
            </a:r>
          </a:p>
          <a:p>
            <a:pPr lvl="1">
              <a:lnSpc>
                <a:spcPct val="120000"/>
              </a:lnSpc>
              <a:spcBef>
                <a:spcPts val="0"/>
              </a:spcBef>
              <a:spcAft>
                <a:spcPts val="0"/>
              </a:spcAft>
            </a:pPr>
            <a:r>
              <a:rPr sz="1300" b="0">
                <a:solidFill>
                  <a:srgbClr val="4A5058"/>
                </a:solidFill>
                <a:latin typeface="Source Sans 3"/>
              </a:rPr>
              <a:t>pravaha ask, explain-sql and why; the console's Describe it and Explain; Admin · AI models.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Measured how</a:t>
            </a:r>
          </a:p>
          <a:p>
            <a:pPr lvl="1">
              <a:lnSpc>
                <a:spcPct val="120000"/>
              </a:lnSpc>
              <a:spcBef>
                <a:spcPts val="0"/>
              </a:spcBef>
              <a:spcAft>
                <a:spcPts val="0"/>
              </a:spcAft>
            </a:pPr>
            <a:r>
              <a:rPr sz="1300" b="0">
                <a:solidFill>
                  <a:srgbClr val="4A5058"/>
                </a:solidFill>
                <a:latin typeface="Source Sans 3"/>
              </a:rPr>
              <a:t>pravaha assist eval scores a model on a golden set generated from the case studies: 27 cases that must be accepted, 3 that must be refused or asked about. No score is claimed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TIME-TRAVEL DEBUGGER · ADR-048</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An incident, stepped by hand and exported as a test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75</a:t>
            </a:r>
          </a:p>
        </p:txBody>
      </p:sp>
      <p:sp>
        <p:nvSpPr>
          <p:cNvPr id="10" name="TextBox 9"/>
          <p:cNvSpPr txBox="1"/>
          <p:nvPr/>
        </p:nvSpPr>
        <p:spPr>
          <a:xfrm>
            <a:off x="777240" y="1394561"/>
            <a:ext cx="10637215" cy="485079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second computation nothing can read</a:t>
            </a:r>
          </a:p>
          <a:p>
            <a:pPr lvl="1">
              <a:lnSpc>
                <a:spcPct val="120000"/>
              </a:lnSpc>
              <a:spcBef>
                <a:spcPts val="0"/>
              </a:spcBef>
              <a:spcAft>
                <a:spcPts val="0"/>
              </a:spcAft>
            </a:pPr>
            <a:r>
              <a:rPr sz="1550" b="0">
                <a:solidFill>
                  <a:srgbClr val="4A5058"/>
                </a:solidFill>
                <a:latin typeface="Source Sans 3"/>
              </a:rPr>
              <a:t>A query is forked from one of its retained checkpoints, reading the same sources from that checkpoint's offsets — every sink disabled, its view in no catalogue, its lanes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Stepped one row, N rows, to a commit, a watermark or a value</a:t>
            </a:r>
          </a:p>
          <a:p>
            <a:pPr lvl="1">
              <a:lnSpc>
                <a:spcPct val="120000"/>
              </a:lnSpc>
              <a:spcBef>
                <a:spcPts val="0"/>
              </a:spcBef>
              <a:spcAft>
                <a:spcPts val="0"/>
              </a:spcAft>
            </a:pPr>
            <a:r>
              <a:rPr sz="1550" b="0">
                <a:solidFill>
                  <a:srgbClr val="4A5058"/>
                </a:solidFill>
                <a:latin typeface="Source Sans 3"/>
              </a:rPr>
              <a:t>Each step reports the rows that entered with their weights, every operator's rows in and out, and the view's changes: a filter that rejected the row is told apart from an aggregate that produced a zero delta.</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Deterministic, then a regression test</a:t>
            </a:r>
          </a:p>
          <a:p>
            <a:pPr lvl="1">
              <a:lnSpc>
                <a:spcPct val="120000"/>
              </a:lnSpc>
              <a:spcBef>
                <a:spcPts val="0"/>
              </a:spcBef>
              <a:spcAft>
                <a:spcPts val="0"/>
              </a:spcAft>
            </a:pPr>
            <a:r>
              <a:rPr sz="1550" b="0">
                <a:solidFill>
                  <a:srgbClr val="4A5058"/>
                </a:solidFill>
                <a:latin typeface="Source Sans 3"/>
              </a:rPr>
              <a:t>Two sessions over one checkpoint given the same steps report identically; the session exports as a self-contained JUnit test that compiles and passes.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Thirteen worked systems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Each study is a business problem, a data model, the data, the continuous queries and the client code in Java and Python — and every one is run by the build against answers worked out by hand.</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thirteen, and what each shows</a:t>
            </a:r>
          </a:p>
          <a:p>
            <a:pPr>
              <a:lnSpc>
                <a:spcPct val="115000"/>
              </a:lnSpc>
              <a:spcBef>
                <a:spcPts val="0"/>
              </a:spcBef>
              <a:spcAft>
                <a:spcPts val="600"/>
              </a:spcAft>
            </a:pPr>
            <a:r>
              <a:rPr sz="1250" b="0" i="0">
                <a:solidFill>
                  <a:srgbClr val="F6E6E9"/>
                </a:solidFill>
                <a:latin typeface="Source Sans 3"/>
              </a:rPr>
              <a:t>How the build checks them</a:t>
            </a:r>
          </a:p>
          <a:p>
            <a:pPr>
              <a:lnSpc>
                <a:spcPct val="115000"/>
              </a:lnSpc>
              <a:spcBef>
                <a:spcPts val="0"/>
              </a:spcBef>
              <a:spcAft>
                <a:spcPts val="600"/>
              </a:spcAft>
            </a:pPr>
            <a:r>
              <a:rPr sz="1250" b="0" i="0">
                <a:solidFill>
                  <a:srgbClr val="F6E6E9"/>
                </a:solidFill>
                <a:latin typeface="Source Sans 3"/>
              </a:rPr>
              <a:t>Late data, corrected in place</a:t>
            </a:r>
          </a:p>
          <a:p>
            <a:pPr>
              <a:lnSpc>
                <a:spcPct val="115000"/>
              </a:lnSpc>
              <a:spcBef>
                <a:spcPts val="0"/>
              </a:spcBef>
              <a:spcAft>
                <a:spcPts val="600"/>
              </a:spcAft>
            </a:pPr>
            <a:r>
              <a:rPr sz="1250" b="0" i="0">
                <a:solidFill>
                  <a:srgbClr val="F6E6E9"/>
                </a:solidFill>
                <a:latin typeface="Source Sans 3"/>
              </a:rPr>
              <a:t>Change data capture from MySQL</a:t>
            </a:r>
          </a:p>
          <a:p>
            <a:pPr>
              <a:lnSpc>
                <a:spcPct val="115000"/>
              </a:lnSpc>
              <a:spcBef>
                <a:spcPts val="0"/>
              </a:spcBef>
              <a:spcAft>
                <a:spcPts val="600"/>
              </a:spcAft>
            </a:pPr>
            <a:r>
              <a:rPr sz="1250" b="0" i="0">
                <a:solidFill>
                  <a:srgbClr val="F6E6E9"/>
                </a:solidFill>
                <a:latin typeface="Source Sans 3"/>
              </a:rPr>
              <a:t>A continuous aggregate in Iceberg</a:t>
            </a:r>
          </a:p>
          <a:p>
            <a:pPr>
              <a:lnSpc>
                <a:spcPct val="115000"/>
              </a:lnSpc>
              <a:spcBef>
                <a:spcPts val="0"/>
              </a:spcBef>
              <a:spcAft>
                <a:spcPts val="600"/>
              </a:spcAft>
            </a:pPr>
            <a:r>
              <a:rPr sz="1250" b="0" i="0">
                <a:solidFill>
                  <a:srgbClr val="F6E6E9"/>
                </a:solidFill>
                <a:latin typeface="Source Sans 3"/>
              </a:rPr>
              <a:t>Many desks, one Kafka topic</a:t>
            </a:r>
          </a:p>
          <a:p>
            <a:pPr>
              <a:lnSpc>
                <a:spcPct val="115000"/>
              </a:lnSpc>
              <a:spcBef>
                <a:spcPts val="0"/>
              </a:spcBef>
              <a:spcAft>
                <a:spcPts val="600"/>
              </a:spcAft>
            </a:pPr>
            <a:r>
              <a:rPr sz="1250" b="0" i="0">
                <a:solidFill>
                  <a:srgbClr val="F6E6E9"/>
                </a:solidFill>
                <a:latin typeface="Source Sans 3"/>
              </a:rPr>
              <a:t>Two joins: attribution and absence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CASE STUDIES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Thirteen systems, from a pass-through feed to a lakehouse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77</a:t>
            </a:r>
          </a:p>
        </p:txBody>
      </p:sp>
      <p:graphicFrame>
        <p:nvGraphicFramePr>
          <p:cNvPr id="10" name="Table 9"/>
          <p:cNvGraphicFramePr>
            <a:graphicFrameLocks noGrp="1"/>
          </p:cNvGraphicFramePr>
          <p:nvPr/>
        </p:nvGraphicFramePr>
        <p:xfrm>
          <a:off x="777240" y="1361846"/>
          <a:ext cx="10637214" cy="4807710"/>
        </p:xfrm>
        <a:graphic>
          <a:graphicData uri="http://schemas.openxmlformats.org/drawingml/2006/table">
            <a:tbl>
              <a:tblPr firstRow="1">
                <a:tableStyleId>{5C22544A-7EE6-4342-B048-85BDC9FD1C3A}</a:tableStyleId>
              </a:tblPr>
              <a:tblGrid>
                <a:gridCol w="2909323"/>
                <a:gridCol w="1727411"/>
                <a:gridCol w="6000480"/>
              </a:tblGrid>
              <a:tr h="314198">
                <a:tc>
                  <a:txBody>
                    <a:bodyPr wrap="square"/>
                    <a:lstStyle/>
                    <a:p>
                      <a:r>
                        <a:rPr sz="1250" b="1">
                          <a:solidFill>
                            <a:srgbClr val="FFFFFF"/>
                          </a:solidFill>
                          <a:latin typeface="Source Sans 3"/>
                        </a:rPr>
                        <a:t>Study</a:t>
                      </a:r>
                    </a:p>
                  </a:txBody>
                  <a:tcPr marL="82296" marR="64008" marT="32004" marB="32004" anchor="ctr">
                    <a:solidFill>
                      <a:srgbClr val="8A1626"/>
                    </a:solidFill>
                  </a:tcPr>
                </a:tc>
                <a:tc>
                  <a:txBody>
                    <a:bodyPr wrap="square"/>
                    <a:lstStyle/>
                    <a:p>
                      <a:r>
                        <a:rPr sz="1250" b="1">
                          <a:solidFill>
                            <a:srgbClr val="FFFFFF"/>
                          </a:solidFill>
                          <a:latin typeface="Source Sans 3"/>
                        </a:rPr>
                        <a:t>Store</a:t>
                      </a:r>
                    </a:p>
                  </a:txBody>
                  <a:tcPr marL="82296" marR="64008" marT="32004" marB="32004" anchor="ctr">
                    <a:solidFill>
                      <a:srgbClr val="8A1626"/>
                    </a:solidFill>
                  </a:tcPr>
                </a:tc>
                <a:tc>
                  <a:txBody>
                    <a:bodyPr wrap="square"/>
                    <a:lstStyle/>
                    <a:p>
                      <a:r>
                        <a:rPr sz="1250" b="1">
                          <a:solidFill>
                            <a:srgbClr val="FFFFFF"/>
                          </a:solidFill>
                          <a:latin typeface="Source Sans 3"/>
                        </a:rPr>
                        <a:t>Shows</a:t>
                      </a:r>
                    </a:p>
                  </a:txBody>
                  <a:tcPr marL="82296" marR="64008" marT="32004" marB="32004" anchor="ctr">
                    <a:solidFill>
                      <a:srgbClr val="8A1626"/>
                    </a:solidFill>
                  </a:tcPr>
                </a:tc>
              </a:tr>
              <a:tr h="518667">
                <a:tc>
                  <a:txBody>
                    <a:bodyPr wrap="square"/>
                    <a:lstStyle/>
                    <a:p>
                      <a:r>
                        <a:rPr sz="1250" b="1">
                          <a:solidFill>
                            <a:srgbClr val="8A1626"/>
                          </a:solidFill>
                          <a:latin typeface="Source Sans 3"/>
                        </a:rPr>
                        <a:t>Trade processing</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Start here: a pass-through feed, many filtered subscribers on one computation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Card authorisation velocity</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Tumbling windows, temporal lookup join, filter pushdown</a:t>
                      </a:r>
                    </a:p>
                  </a:txBody>
                  <a:tcPr marL="82296" marR="64008" marT="32004" marB="32004" anchor="ctr">
                    <a:solidFill>
                      <a:srgbClr val="F7F5F2"/>
                    </a:solidFill>
                  </a:tcPr>
                </a:tc>
              </a:tr>
              <a:tr h="518667">
                <a:tc>
                  <a:txBody>
                    <a:bodyPr wrap="square"/>
                    <a:lstStyle/>
                    <a:p>
                      <a:r>
                        <a:rPr sz="1250" b="1">
                          <a:solidFill>
                            <a:srgbClr val="8A1626"/>
                          </a:solidFill>
                          <a:latin typeface="Source Sans 3"/>
                        </a:rPr>
                        <a:t>Intraday counterparty exposure</a:t>
                      </a:r>
                    </a:p>
                  </a:txBody>
                  <a:tcPr marL="82296" marR="64008" marT="32004" marB="32004" anchor="ctr">
                    <a:solidFill>
                      <a:srgbClr val="FFFFFF"/>
                    </a:solidFill>
                  </a:tcPr>
                </a:tc>
                <a:tc>
                  <a:txBody>
                    <a:bodyPr wrap="square"/>
                    <a:lstStyle/>
                    <a:p>
                      <a:r>
                        <a:rPr sz="1250" b="0">
                          <a:solidFill>
                            <a:srgbClr val="1A1A1A"/>
                          </a:solidFill>
                          <a:latin typeface="Source Sans 3"/>
                        </a:rPr>
                        <a:t>PostgreSQL</a:t>
                      </a:r>
                    </a:p>
                  </a:txBody>
                  <a:tcPr marL="82296" marR="64008" marT="32004" marB="32004" anchor="ctr">
                    <a:solidFill>
                      <a:srgbClr val="FFFFFF"/>
                    </a:solidFill>
                  </a:tcPr>
                </a:tc>
                <a:tc>
                  <a:txBody>
                    <a:bodyPr wrap="square"/>
                    <a:lstStyle/>
                    <a:p>
                      <a:r>
                        <a:rPr sz="1250" b="0">
                          <a:solidFill>
                            <a:srgbClr val="1A1A1A"/>
                          </a:solidFill>
                          <a:latin typeface="Source Sans 3"/>
                        </a:rPr>
                        <a:t>Incremental polling, money as minor units, value time vs insert time</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flow surveillance</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Hopping windows, and what to do without CASE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Sequencing run QC</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A non-financial domain; integer AVG; breadth as well as depth</a:t>
                      </a:r>
                    </a:p>
                  </a:txBody>
                  <a:tcPr marL="82296" marR="64008" marT="32004" marB="32004" anchor="ctr">
                    <a:solidFill>
                      <a:srgbClr val="FFFFFF"/>
                    </a:solidFill>
                  </a:tcPr>
                </a:tc>
              </a:tr>
              <a:tr h="314198">
                <a:tc>
                  <a:txBody>
                    <a:bodyPr wrap="square"/>
                    <a:lstStyle/>
                    <a:p>
                      <a:r>
                        <a:rPr sz="1250" b="1">
                          <a:solidFill>
                            <a:srgbClr val="8A1626"/>
                          </a:solidFill>
                          <a:latin typeface="Source Sans 3"/>
                        </a:rPr>
                        <a:t>Machine sensor anomalies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filter writing to a sink; late data and its correction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Checkout funnel</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Windows over several keys, COUNT(DISTINCT), HAVING as an alert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Click attribution</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time-bounded join between two streams; a window over a join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Call-detail-record fraud</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Sliding windows, an IN filter, a maintained top-N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Delivery SLA breaches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An interval join to a sink; a LEFT JOIN that reports an absence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Stock levels from MySQL</a:t>
                      </a:r>
                    </a:p>
                  </a:txBody>
                  <a:tcPr marL="82296" marR="64008" marT="32004" marB="32004" anchor="ctr">
                    <a:solidFill>
                      <a:srgbClr val="FFFFFF"/>
                    </a:solidFill>
                  </a:tcPr>
                </a:tc>
                <a:tc>
                  <a:txBody>
                    <a:bodyPr wrap="square"/>
                    <a:lstStyle/>
                    <a:p>
                      <a:r>
                        <a:rPr sz="1250" b="0">
                          <a:solidFill>
                            <a:srgbClr val="1A1A1A"/>
                          </a:solidFill>
                          <a:latin typeface="Source Sans 3"/>
                        </a:rPr>
                        <a:t>MySQL binlog</a:t>
                      </a:r>
                    </a:p>
                  </a:txBody>
                  <a:tcPr marL="82296" marR="64008" marT="32004" marB="32004" anchor="ctr">
                    <a:solidFill>
                      <a:srgbClr val="FFFFFF"/>
                    </a:solidFill>
                  </a:tcPr>
                </a:tc>
                <a:tc>
                  <a:txBody>
                    <a:bodyPr wrap="square"/>
                    <a:lstStyle/>
                    <a:p>
                      <a:r>
                        <a:rPr sz="1250" b="0">
                          <a:solidFill>
                            <a:srgbClr val="1A1A1A"/>
                          </a:solidFill>
                          <a:latin typeface="Source Sans 3"/>
                        </a:rPr>
                        <a:t>mysql-cdc: an update is −1 old, +1 new; alerts clear themselves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revenue into Iceberg</a:t>
                      </a:r>
                    </a:p>
                  </a:txBody>
                  <a:tcPr marL="82296" marR="64008" marT="32004" marB="32004" anchor="ctr">
                    <a:solidFill>
                      <a:srgbClr val="F7F5F2"/>
                    </a:solidFill>
                  </a:tcPr>
                </a:tc>
                <a:tc>
                  <a:txBody>
                    <a:bodyPr wrap="square"/>
                    <a:lstStyle/>
                    <a:p>
                      <a:r>
                        <a:rPr sz="1250" b="0">
                          <a:solidFill>
                            <a:srgbClr val="1A1A1A"/>
                          </a:solidFill>
                          <a:latin typeface="Source Sans 3"/>
                        </a:rPr>
                        <a:t>CSV → Iceberg</a:t>
                      </a:r>
                    </a:p>
                  </a:txBody>
                  <a:tcPr marL="82296" marR="64008" marT="32004" marB="32004" anchor="ctr">
                    <a:solidFill>
                      <a:srgbClr val="F7F5F2"/>
                    </a:solidFill>
                  </a:tcPr>
                </a:tc>
                <a:tc>
                  <a:txBody>
                    <a:bodyPr wrap="square"/>
                    <a:lstStyle/>
                    <a:p>
                      <a:r>
                        <a:rPr sz="1250" b="0">
                          <a:solidFill>
                            <a:srgbClr val="1A1A1A"/>
                          </a:solidFill>
                          <a:latin typeface="Source Sans 3"/>
                        </a:rPr>
                        <a:t>iceberg-sink upsert; a late row corrects the table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Many desks, one topic</a:t>
                      </a:r>
                    </a:p>
                  </a:txBody>
                  <a:tcPr marL="82296" marR="64008" marT="32004" marB="32004" anchor="ctr">
                    <a:solidFill>
                      <a:srgbClr val="FFFFFF"/>
                    </a:solidFill>
                  </a:tcPr>
                </a:tc>
                <a:tc>
                  <a:txBody>
                    <a:bodyPr wrap="square"/>
                    <a:lstStyle/>
                    <a:p>
                      <a:r>
                        <a:rPr sz="1250" b="0">
                          <a:solidFill>
                            <a:srgbClr val="1A1A1A"/>
                          </a:solidFill>
                          <a:latin typeface="Source Sans 3"/>
                        </a:rPr>
                        <a:t>Kafka</a:t>
                      </a:r>
                    </a:p>
                  </a:txBody>
                  <a:tcPr marL="82296" marR="64008" marT="32004" marB="32004" anchor="ctr">
                    <a:solidFill>
                      <a:srgbClr val="FFFFFF"/>
                    </a:solidFill>
                  </a:tcPr>
                </a:tc>
                <a:tc>
                  <a:txBody>
                    <a:bodyPr wrap="square"/>
                    <a:lstStyle/>
                    <a:p>
                      <a:r>
                        <a:rPr sz="1250" b="0">
                          <a:solidFill>
                            <a:srgbClr val="1A1A1A"/>
                          </a:solidFill>
                          <a:latin typeface="Source Sans 3"/>
                        </a:rPr>
                        <a:t>Three queries on one reader, exactly once; INDEX (merchant)</a:t>
                      </a:r>
                    </a:p>
                  </a:txBody>
                  <a:tcPr marL="82296" marR="64008" marT="32004" marB="32004" anchor="ctr">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CHECKED BY THE BUILD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Every study is run, and every read compared with a hand-worked answer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CaseStudySqlTest plans every .sql file against the real engine</a:t>
            </a:r>
          </a:p>
          <a:p>
            <a:pPr lvl="1">
              <a:lnSpc>
                <a:spcPct val="120000"/>
              </a:lnSpc>
              <a:spcBef>
                <a:spcPts val="0"/>
              </a:spcBef>
              <a:spcAft>
                <a:spcPts val="0"/>
              </a:spcAft>
            </a:pPr>
            <a:r>
              <a:rPr sz="1550" b="0">
                <a:solidFill>
                  <a:srgbClr val="4A5058"/>
                </a:solidFill>
                <a:latin typeface="Source Sans 3"/>
              </a:rPr>
              <a:t>And asserts that each README quotes the file rather than a retyping of it; it fails if a study directory is not listed.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CaseStudyRunTest runs every study in an embedded engine</a:t>
            </a:r>
          </a:p>
          <a:p>
            <a:pPr lvl="1">
              <a:lnSpc>
                <a:spcPct val="120000"/>
              </a:lnSpc>
              <a:spcBef>
                <a:spcPts val="0"/>
              </a:spcBef>
              <a:spcAft>
                <a:spcPts val="0"/>
              </a:spcAft>
            </a:pPr>
            <a:r>
              <a:rPr sz="1550" b="0">
                <a:solidFill>
                  <a:srgbClr val="4A5058"/>
                </a:solidFill>
                <a:latin typeface="Source Sans 3"/>
              </a:rPr>
              <a:t>No server, no store, no Docker: it registers each study's queries, pushes the rows of data/sample/ merged by event time, and compares every read with answers.txt.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Running them found real defects, now fixed</a:t>
            </a:r>
          </a:p>
          <a:p>
            <a:pPr lvl="1">
              <a:lnSpc>
                <a:spcPct val="120000"/>
              </a:lnSpc>
              <a:spcBef>
                <a:spcPts val="0"/>
              </a:spcBef>
              <a:spcAft>
                <a:spcPts val="0"/>
              </a:spcAft>
            </a:pPr>
            <a:r>
              <a:rPr sz="1550" b="0">
                <a:solidFill>
                  <a:srgbClr val="4A5058"/>
                </a:solidFill>
                <a:latin typeface="Source Sans 3"/>
              </a:rPr>
              <a:t>Wrong view keys in four studies — biology, finance, trading, trade processing — and a windowing defect a filtered windowed query would have met on its first row.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Driven only through the published SDK or the CLI</a:t>
            </a:r>
          </a:p>
          <a:p>
            <a:pPr lvl="1">
              <a:lnSpc>
                <a:spcPct val="120000"/>
              </a:lnSpc>
              <a:spcBef>
                <a:spcPts val="0"/>
              </a:spcBef>
              <a:spcAft>
                <a:spcPts val="0"/>
              </a:spcAft>
            </a:pPr>
            <a:r>
              <a:rPr sz="1550" b="0">
                <a:solidFill>
                  <a:srgbClr val="4A5058"/>
                </a:solidFill>
                <a:latin typeface="Source Sans 3"/>
              </a:rPr>
              <a:t>None reaches into the engine, so copying one into an application drags no engine with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MACHINE SENSOR ANOMALIES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late reading corrects a closed minute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79</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press runs hot before its seals fail. machine_health keeps each machine's minute; the stream allows 30 seconds of lateness. The gateway delivers a buffered reading late:</a:t>
            </a:r>
          </a:p>
        </p:txBody>
      </p:sp>
      <p:sp>
        <p:nvSpPr>
          <p:cNvPr id="11" name="Rectangle 10"/>
          <p:cNvSpPr/>
          <p:nvPr/>
        </p:nvSpPr>
        <p:spPr>
          <a:xfrm>
            <a:off x="777240" y="2073351"/>
            <a:ext cx="5348471" cy="19072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5720" cy="19072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74519"/>
            <a:ext cx="4946135" cy="1504899"/>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E8B8C0"/>
                </a:solidFill>
                <a:latin typeface="Consolas"/>
              </a:rPr>
              <a:t>-- snapshot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E8B8C0"/>
                </a:solidFill>
                <a:latin typeface="Consolas"/>
              </a:rPr>
              <a:t>-- commit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F1EEE9"/>
                </a:solidFill>
                <a:latin typeface="Consolas"/>
              </a:rPr>
              <a:t>+1 {window_end 08:03, press-02, readings 7,</a:t>
            </a:r>
          </a:p>
          <a:p>
            <a:pPr>
              <a:lnSpc>
                <a:spcPct val="100000"/>
              </a:lnSpc>
              <a:spcBef>
                <a:spcPts val="0"/>
              </a:spcBef>
              <a:spcAft>
                <a:spcPts val="0"/>
              </a:spcAft>
            </a:pPr>
            <a:r>
              <a:rPr sz="1150" b="0" i="0">
                <a:solidFill>
                  <a:srgbClr val="F1EEE9"/>
                </a:solidFill>
                <a:latin typeface="Consolas"/>
              </a:rPr>
              <a:t>    min_temperature_dc 940, max_temperature_dc 991}</a:t>
            </a:r>
          </a:p>
        </p:txBody>
      </p:sp>
      <p:sp>
        <p:nvSpPr>
          <p:cNvPr id="14" name="TextBox 13"/>
          <p:cNvSpPr txBox="1"/>
          <p:nvPr/>
        </p:nvSpPr>
        <p:spPr>
          <a:xfrm>
            <a:off x="6491471" y="2073351"/>
            <a:ext cx="4922983" cy="417200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Inside the lateness: corrected</a:t>
            </a:r>
          </a:p>
          <a:p>
            <a:pPr lvl="1">
              <a:lnSpc>
                <a:spcPct val="120000"/>
              </a:lnSpc>
              <a:spcBef>
                <a:spcPts val="0"/>
              </a:spcBef>
              <a:spcAft>
                <a:spcPts val="0"/>
              </a:spcAft>
            </a:pPr>
            <a:r>
              <a:rPr sz="1400" b="0">
                <a:solidFill>
                  <a:srgbClr val="4A5058"/>
                </a:solidFill>
                <a:latin typeface="Source Sans 3"/>
              </a:rPr>
              <a:t>The minute ending 08:03:00 was published at watermark 08:03:15 and stays correctable to 08:03:30, so press-02-late was applied — old row withdrawn, new inserted, one commit.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Outside it: dropped</a:t>
            </a:r>
          </a:p>
          <a:p>
            <a:pPr lvl="1">
              <a:lnSpc>
                <a:spcPct val="120000"/>
              </a:lnSpc>
              <a:spcBef>
                <a:spcPts val="0"/>
              </a:spcBef>
              <a:spcAft>
                <a:spcPts val="0"/>
              </a:spcAft>
            </a:pPr>
            <a:r>
              <a:rPr sz="1400" b="0">
                <a:solidFill>
                  <a:srgbClr val="4A5058"/>
                </a:solidFill>
                <a:latin typeface="Source Sans 3"/>
              </a:rPr>
              <a:t>press-01-stale, for 08:00:45, arrived long after its lateness ran out at 08:01:30.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Published when event time moves</a:t>
            </a:r>
          </a:p>
          <a:p>
            <a:pPr lvl="1">
              <a:lnSpc>
                <a:spcPct val="120000"/>
              </a:lnSpc>
              <a:spcBef>
                <a:spcPts val="0"/>
              </a:spcBef>
              <a:spcAft>
                <a:spcPts val="0"/>
              </a:spcAft>
            </a:pPr>
            <a:r>
              <a:rPr sz="1400" b="0">
                <a:solidFill>
                  <a:srgbClr val="4A5058"/>
                </a:solidFill>
                <a:latin typeface="Source Sans 3"/>
              </a:rPr>
              <a:t>The second heartbeat carried the correction out.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STOCK LEVELS FROM MYSQL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an alert that clears itself</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80</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stock_levels mirrors the inventory table from its binlog; low_stock is WHERE on_hand &lt;= reorder_point. One morning of changes, as the generator writes it:</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morning</a:t>
            </a:r>
          </a:p>
        </p:txBody>
      </p:sp>
      <p:graphicFrame>
        <p:nvGraphicFramePr>
          <p:cNvPr id="14" name="Table 13"/>
          <p:cNvGraphicFramePr>
            <a:graphicFrameLocks noGrp="1"/>
          </p:cNvGraphicFramePr>
          <p:nvPr/>
        </p:nvGraphicFramePr>
        <p:xfrm>
          <a:off x="777240" y="2585415"/>
          <a:ext cx="5135726" cy="3509364"/>
        </p:xfrm>
        <a:graphic>
          <a:graphicData uri="http://schemas.openxmlformats.org/drawingml/2006/table">
            <a:tbl>
              <a:tblPr firstRow="1">
                <a:tableStyleId>{5C22544A-7EE6-4342-B048-85BDC9FD1C3A}</a:tableStyleId>
              </a:tblPr>
              <a:tblGrid>
                <a:gridCol w="700326"/>
                <a:gridCol w="2334421"/>
                <a:gridCol w="2100979"/>
              </a:tblGrid>
              <a:tr h="322376">
                <a:tc>
                  <a:txBody>
                    <a:bodyPr wrap="square"/>
                    <a:lstStyle/>
                    <a:p>
                      <a:r>
                        <a:rPr sz="1300" b="1">
                          <a:solidFill>
                            <a:srgbClr val="FFFFFF"/>
                          </a:solidFill>
                          <a:latin typeface="Source Sans 3"/>
                        </a:rPr>
                        <a:t>Time</a:t>
                      </a:r>
                    </a:p>
                  </a:txBody>
                  <a:tcPr marL="82296" marR="64008" marT="32004" marB="32004" anchor="ctr">
                    <a:solidFill>
                      <a:srgbClr val="8A1626"/>
                    </a:solidFill>
                  </a:tcPr>
                </a:tc>
                <a:tc>
                  <a:txBody>
                    <a:bodyPr wrap="square"/>
                    <a:lstStyle/>
                    <a:p>
                      <a:r>
                        <a:rPr sz="1300" b="1">
                          <a:solidFill>
                            <a:srgbClr val="FFFFFF"/>
                          </a:solidFill>
                          <a:latin typeface="Source Sans 3"/>
                        </a:rPr>
                        <a:t>Change</a:t>
                      </a:r>
                    </a:p>
                  </a:txBody>
                  <a:tcPr marL="82296" marR="64008" marT="32004" marB="32004" anchor="ctr">
                    <a:solidFill>
                      <a:srgbClr val="8A1626"/>
                    </a:solidFill>
                  </a:tcPr>
                </a:tc>
                <a:tc>
                  <a:txBody>
                    <a:bodyPr wrap="square"/>
                    <a:lstStyle/>
                    <a:p>
                      <a:r>
                        <a:rPr sz="1300" b="1">
                          <a:solidFill>
                            <a:srgbClr val="FFFFFF"/>
                          </a:solidFill>
                          <a:latin typeface="Source Sans 3"/>
                        </a:rPr>
                        <a:t>Effect</a:t>
                      </a:r>
                    </a:p>
                  </a:txBody>
                  <a:tcPr marL="82296" marR="64008" marT="32004" marB="32004" anchor="ctr">
                    <a:solidFill>
                      <a:srgbClr val="8A1626"/>
                    </a:solidFill>
                  </a:tcPr>
                </a:tc>
              </a:tr>
              <a:tr h="796747">
                <a:tc>
                  <a:txBody>
                    <a:bodyPr wrap="square"/>
                    <a:lstStyle/>
                    <a:p>
                      <a:r>
                        <a:rPr sz="1400" b="1">
                          <a:solidFill>
                            <a:srgbClr val="8A1626"/>
                          </a:solidFill>
                          <a:latin typeface="Source Sans 3"/>
                        </a:rPr>
                        <a:t>09:05</a:t>
                      </a:r>
                    </a:p>
                  </a:txBody>
                  <a:tcPr marL="82296" marR="64008" marT="32004" marB="32004" anchor="ctr">
                    <a:solidFill>
                      <a:srgbClr val="FFFFFF"/>
                    </a:solidFill>
                  </a:tcPr>
                </a:tc>
                <a:tc>
                  <a:txBody>
                    <a:bodyPr wrap="square"/>
                    <a:lstStyle/>
                    <a:p>
                      <a:r>
                        <a:rPr sz="1400" b="0">
                          <a:solidFill>
                            <a:srgbClr val="1A1A1A"/>
                          </a:solidFill>
                          <a:latin typeface="Source Sans 3"/>
                        </a:rPr>
                        <a:t>UPDATE sku-200 LDN 12 → 7</a:t>
                      </a:r>
                    </a:p>
                  </a:txBody>
                  <a:tcPr marL="82296" marR="64008" marT="32004" marB="32004" anchor="ctr">
                    <a:solidFill>
                      <a:srgbClr val="FFFFFF"/>
                    </a:solidFill>
                  </a:tcPr>
                </a:tc>
                <a:tc>
                  <a:txBody>
                    <a:bodyPr wrap="square"/>
                    <a:lstStyle/>
                    <a:p>
                      <a:r>
                        <a:rPr sz="1400" b="0">
                          <a:solidFill>
                            <a:srgbClr val="1A1A1A"/>
                          </a:solidFill>
                          <a:latin typeface="Source Sans 3"/>
                        </a:rPr>
                        <a:t>Under reorder point 8: alert</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09:20</a:t>
                      </a:r>
                    </a:p>
                  </a:txBody>
                  <a:tcPr marL="82296" marR="64008" marT="32004" marB="32004" anchor="ctr">
                    <a:solidFill>
                      <a:srgbClr val="F7F5F2"/>
                    </a:solidFill>
                  </a:tcPr>
                </a:tc>
                <a:tc>
                  <a:txBody>
                    <a:bodyPr wrap="square"/>
                    <a:lstStyle/>
                    <a:p>
                      <a:r>
                        <a:rPr sz="1400" b="0">
                          <a:solidFill>
                            <a:srgbClr val="1A1A1A"/>
                          </a:solidFill>
                          <a:latin typeface="Source Sans 3"/>
                        </a:rPr>
                        <a:t>UPDATE sku-200 LDN 7 → 27</a:t>
                      </a:r>
                    </a:p>
                  </a:txBody>
                  <a:tcPr marL="82296" marR="64008" marT="32004" marB="32004" anchor="ctr">
                    <a:solidFill>
                      <a:srgbClr val="F7F5F2"/>
                    </a:solidFill>
                  </a:tcPr>
                </a:tc>
                <a:tc>
                  <a:txBody>
                    <a:bodyPr wrap="square"/>
                    <a:lstStyle/>
                    <a:p>
                      <a:r>
                        <a:rPr sz="1400" b="0">
                          <a:solidFill>
                            <a:srgbClr val="1A1A1A"/>
                          </a:solidFill>
                          <a:latin typeface="Source Sans 3"/>
                        </a:rPr>
                        <a:t>A delivery: the alert is −1</a:t>
                      </a:r>
                    </a:p>
                  </a:txBody>
                  <a:tcPr marL="82296" marR="64008" marT="32004" marB="32004" anchor="ctr">
                    <a:solidFill>
                      <a:srgbClr val="F7F5F2"/>
                    </a:solidFill>
                  </a:tcPr>
                </a:tc>
              </a:tr>
              <a:tr h="796747">
                <a:tc>
                  <a:txBody>
                    <a:bodyPr wrap="square"/>
                    <a:lstStyle/>
                    <a:p>
                      <a:r>
                        <a:rPr sz="1400" b="1">
                          <a:solidFill>
                            <a:srgbClr val="8A1626"/>
                          </a:solidFill>
                          <a:latin typeface="Source Sans 3"/>
                        </a:rPr>
                        <a:t>09:25</a:t>
                      </a:r>
                    </a:p>
                  </a:txBody>
                  <a:tcPr marL="82296" marR="64008" marT="32004" marB="32004" anchor="ctr">
                    <a:solidFill>
                      <a:srgbClr val="FFFFFF"/>
                    </a:solidFill>
                  </a:tcPr>
                </a:tc>
                <a:tc>
                  <a:txBody>
                    <a:bodyPr wrap="square"/>
                    <a:lstStyle/>
                    <a:p>
                      <a:r>
                        <a:rPr sz="1400" b="0">
                          <a:solidFill>
                            <a:srgbClr val="1A1A1A"/>
                          </a:solidFill>
                          <a:latin typeface="Source Sans 3"/>
                        </a:rPr>
                        <a:t>DELETE sku-400 MAN</a:t>
                      </a:r>
                    </a:p>
                  </a:txBody>
                  <a:tcPr marL="82296" marR="64008" marT="32004" marB="32004" anchor="ctr">
                    <a:solidFill>
                      <a:srgbClr val="FFFFFF"/>
                    </a:solidFill>
                  </a:tcPr>
                </a:tc>
                <a:tc>
                  <a:txBody>
                    <a:bodyPr wrap="square"/>
                    <a:lstStyle/>
                    <a:p>
                      <a:r>
                        <a:rPr sz="1400" b="0">
                          <a:solidFill>
                            <a:srgbClr val="1A1A1A"/>
                          </a:solidFill>
                          <a:latin typeface="Source Sans 3"/>
                        </a:rPr>
                        <a:t>Discontinued: the row is −1</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09:30</a:t>
                      </a:r>
                    </a:p>
                  </a:txBody>
                  <a:tcPr marL="82296" marR="64008" marT="32004" marB="32004" anchor="ctr">
                    <a:solidFill>
                      <a:srgbClr val="F7F5F2"/>
                    </a:solidFill>
                  </a:tcPr>
                </a:tc>
                <a:tc>
                  <a:txBody>
                    <a:bodyPr wrap="square"/>
                    <a:lstStyle/>
                    <a:p>
                      <a:r>
                        <a:rPr sz="1400" b="0">
                          <a:solidFill>
                            <a:srgbClr val="1A1A1A"/>
                          </a:solidFill>
                          <a:latin typeface="Source Sans 3"/>
                        </a:rPr>
                        <a:t>UPDATE sku-100 LDN 40 → 10</a:t>
                      </a:r>
                    </a:p>
                  </a:txBody>
                  <a:tcPr marL="82296" marR="64008" marT="32004" marB="32004" anchor="ctr">
                    <a:solidFill>
                      <a:srgbClr val="F7F5F2"/>
                    </a:solidFill>
                  </a:tcPr>
                </a:tc>
                <a:tc>
                  <a:txBody>
                    <a:bodyPr wrap="square"/>
                    <a:lstStyle/>
                    <a:p>
                      <a:r>
                        <a:rPr sz="1400" b="0">
                          <a:solidFill>
                            <a:srgbClr val="1A1A1A"/>
                          </a:solidFill>
                          <a:latin typeface="Source Sans 3"/>
                        </a:rPr>
                        <a:t>At reorder point 10: alert</a:t>
                      </a:r>
                    </a:p>
                  </a:txBody>
                  <a:tcPr marL="82296" marR="64008" marT="32004" marB="32004" anchor="ctr">
                    <a:solidFill>
                      <a:srgbClr val="F7F5F2"/>
                    </a:solidFill>
                  </a:tcPr>
                </a:tc>
              </a:tr>
            </a:tbl>
          </a:graphicData>
        </a:graphic>
      </p:graphicFrame>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the view says</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LDN holds 3 lines and 39 units</a:t>
            </a:r>
          </a:p>
          <a:p>
            <a:pPr lvl="1">
              <a:lnSpc>
                <a:spcPct val="120000"/>
              </a:lnSpc>
              <a:spcBef>
                <a:spcPts val="0"/>
              </a:spcBef>
              <a:spcAft>
                <a:spcPts val="0"/>
              </a:spcAft>
            </a:pPr>
            <a:r>
              <a:rPr sz="1350" b="0">
                <a:solidFill>
                  <a:srgbClr val="4A5058"/>
                </a:solidFill>
                <a:latin typeface="Source Sans 3"/>
              </a:rPr>
              <a:t>39 is 10 + 27 + 2, today's numbers — not 40 + 12 + 6 plus the changes, because each update withdrew the row it replaced.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cleared alert is a −1</a:t>
            </a:r>
          </a:p>
          <a:p>
            <a:pPr lvl="1">
              <a:lnSpc>
                <a:spcPct val="120000"/>
              </a:lnSpc>
              <a:spcBef>
                <a:spcPts val="0"/>
              </a:spcBef>
              <a:spcAft>
                <a:spcPts val="0"/>
              </a:spcAft>
            </a:pPr>
            <a:r>
              <a:rPr sz="1350" b="0">
                <a:solidFill>
                  <a:srgbClr val="4A5058"/>
                </a:solidFill>
                <a:latin typeface="Source Sans 3"/>
              </a:rPr>
              <a:t>CREATE ALERT low_stock_alert ON low_stock NOTIFY buyers: FIRED sku-200 at 09:05, CLEARED at 09:20 — the retraction the binlog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Exactly once from the binlog</a:t>
            </a:r>
          </a:p>
          <a:p>
            <a:pPr lvl="1">
              <a:lnSpc>
                <a:spcPct val="120000"/>
              </a:lnSpc>
              <a:spcBef>
                <a:spcPts val="0"/>
              </a:spcBef>
              <a:spcAft>
                <a:spcPts val="0"/>
              </a:spcAft>
            </a:pPr>
            <a:r>
              <a:rPr sz="1350" b="0">
                <a:solidFill>
                  <a:srgbClr val="4A5058"/>
                </a:solidFill>
                <a:latin typeface="Source Sans 3"/>
              </a:rPr>
              <a:t>Resumes from the file and position its last checkpoint recorded.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ORDER REVENUE INTO ICEBERG</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late line corrects a row in an Iceberg table, in place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81</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hourly_revenue is written by iceberg-sink in upsert mode, one snapshot per checkpoint, with fifteen minutes of allowed lateness. A UK line for 11:50 arrives late:</a:t>
            </a:r>
          </a:p>
        </p:txBody>
      </p:sp>
      <p:sp>
        <p:nvSpPr>
          <p:cNvPr id="11" name="Rectangle 10"/>
          <p:cNvSpPr/>
          <p:nvPr/>
        </p:nvSpPr>
        <p:spPr>
          <a:xfrm>
            <a:off x="777240" y="2024278"/>
            <a:ext cx="5135727" cy="146557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24278"/>
            <a:ext cx="45720" cy="146557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25446"/>
            <a:ext cx="4733391" cy="1063244"/>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commit</a:t>
            </a:r>
          </a:p>
          <a:p>
            <a:pPr>
              <a:lnSpc>
                <a:spcPct val="100000"/>
              </a:lnSpc>
              <a:spcBef>
                <a:spcPts val="0"/>
              </a:spcBef>
              <a:spcAft>
                <a:spcPts val="0"/>
              </a:spcAft>
            </a:pPr>
            <a:r>
              <a:rPr sz="1300" b="0" i="0">
                <a:solidFill>
                  <a:srgbClr val="F1EEE9"/>
                </a:solidFill>
                <a:latin typeface="Consolas"/>
              </a:rPr>
              <a:t>-1 {window_end 12:00, region UK, orders 4,</a:t>
            </a:r>
          </a:p>
          <a:p>
            <a:pPr>
              <a:lnSpc>
                <a:spcPct val="100000"/>
              </a:lnSpc>
              <a:spcBef>
                <a:spcPts val="0"/>
              </a:spcBef>
              <a:spcAft>
                <a:spcPts val="0"/>
              </a:spcAft>
            </a:pPr>
            <a:r>
              <a:rPr sz="1300" b="0" i="0">
                <a:solidFill>
                  <a:srgbClr val="F1EEE9"/>
                </a:solidFill>
                <a:latin typeface="Consolas"/>
              </a:rPr>
              <a:t>    revenue_minor 29970, customers 4}</a:t>
            </a:r>
          </a:p>
          <a:p>
            <a:pPr>
              <a:lnSpc>
                <a:spcPct val="100000"/>
              </a:lnSpc>
              <a:spcBef>
                <a:spcPts val="0"/>
              </a:spcBef>
              <a:spcAft>
                <a:spcPts val="0"/>
              </a:spcAft>
            </a:pPr>
            <a:r>
              <a:rPr sz="1300" b="0" i="0">
                <a:solidFill>
                  <a:srgbClr val="F1EEE9"/>
                </a:solidFill>
                <a:latin typeface="Consolas"/>
              </a:rPr>
              <a:t>+1 {window_end 12:00, region UK, orders 5,</a:t>
            </a:r>
          </a:p>
          <a:p>
            <a:pPr>
              <a:lnSpc>
                <a:spcPct val="100000"/>
              </a:lnSpc>
              <a:spcBef>
                <a:spcPts val="0"/>
              </a:spcBef>
              <a:spcAft>
                <a:spcPts val="0"/>
              </a:spcAft>
            </a:pPr>
            <a:r>
              <a:rPr sz="1300" b="0" i="0">
                <a:solidFill>
                  <a:srgbClr val="F1EEE9"/>
                </a:solidFill>
                <a:latin typeface="Consolas"/>
              </a:rPr>
              <a:t>    revenue_minor 34170, customers 4}</a:t>
            </a:r>
          </a:p>
        </p:txBody>
      </p:sp>
      <p:sp>
        <p:nvSpPr>
          <p:cNvPr id="14" name="TextBox 13"/>
          <p:cNvSpPr txBox="1"/>
          <p:nvPr/>
        </p:nvSpPr>
        <p:spPr>
          <a:xfrm>
            <a:off x="6278727" y="2024278"/>
            <a:ext cx="5135727" cy="422107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row for the hour, not two</a:t>
            </a:r>
          </a:p>
          <a:p>
            <a:pPr lvl="1">
              <a:lnSpc>
                <a:spcPct val="120000"/>
              </a:lnSpc>
              <a:spcBef>
                <a:spcPts val="0"/>
              </a:spcBef>
              <a:spcAft>
                <a:spcPts val="0"/>
              </a:spcAft>
            </a:pPr>
            <a:r>
              <a:rPr sz="1400" b="0">
                <a:solidFill>
                  <a:srgbClr val="4A5058"/>
                </a:solidFill>
                <a:latin typeface="Source Sans 3"/>
              </a:rPr>
              <a:t>The −1/+1 pair for one key collapses to its last change: the next snapshot holds an equality delete for (12:00, UK) and a data file with the new row. A reader sees 5 orders and 34170.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customers stays 4</a:t>
            </a:r>
          </a:p>
          <a:p>
            <a:pPr lvl="1">
              <a:lnSpc>
                <a:spcPct val="120000"/>
              </a:lnSpc>
              <a:spcBef>
                <a:spcPts val="0"/>
              </a:spcBef>
              <a:spcAft>
                <a:spcPts val="0"/>
              </a:spcAft>
            </a:pPr>
            <a:r>
              <a:rPr sz="1400" b="0">
                <a:solidFill>
                  <a:srgbClr val="4A5058"/>
                </a:solidFill>
                <a:latin typeface="Source Sans 3"/>
              </a:rPr>
              <a:t>The late line's customer had already ordered in that hour.</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An append-only sink could not have done this</a:t>
            </a:r>
          </a:p>
          <a:p>
            <a:pPr lvl="1">
              <a:lnSpc>
                <a:spcPct val="120000"/>
              </a:lnSpc>
              <a:spcBef>
                <a:spcPts val="0"/>
              </a:spcBef>
              <a:spcAft>
                <a:spcPts val="0"/>
              </a:spcAft>
            </a:pPr>
            <a:r>
              <a:rPr sz="1400" b="0">
                <a:solidFill>
                  <a:srgbClr val="4A5058"/>
                </a:solidFill>
                <a:latin typeface="Source Sans 3"/>
              </a:rPr>
              <a:t>Nor mode: changelog, which keeps the history with _op and _weight instead.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MANY DESKS, ONE TOPIC</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Three queries on one Kafka reader, and an index by merchant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82</a:t>
            </a:r>
          </a:p>
        </p:txBody>
      </p:sp>
      <p:sp>
        <p:nvSpPr>
          <p:cNvPr id="10" name="Rectangle 9"/>
          <p:cNvSpPr/>
          <p:nvPr/>
        </p:nvSpPr>
        <p:spPr>
          <a:xfrm>
            <a:off x="777240" y="1345488"/>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46656"/>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CONTINUOUS QUERY merchant_minute</a:t>
            </a:r>
          </a:p>
          <a:p>
            <a:pPr>
              <a:lnSpc>
                <a:spcPct val="100000"/>
              </a:lnSpc>
              <a:spcBef>
                <a:spcPts val="0"/>
              </a:spcBef>
              <a:spcAft>
                <a:spcPts val="0"/>
              </a:spcAft>
            </a:pPr>
            <a:r>
              <a:rPr sz="1300" b="0" i="0">
                <a:solidFill>
                  <a:srgbClr val="F1EEE9"/>
                </a:solidFill>
                <a:latin typeface="Consolas"/>
              </a:rPr>
              <a:t>  KEYED BY (window_end, merchant)</a:t>
            </a:r>
          </a:p>
          <a:p>
            <a:pPr>
              <a:lnSpc>
                <a:spcPct val="100000"/>
              </a:lnSpc>
              <a:spcBef>
                <a:spcPts val="0"/>
              </a:spcBef>
              <a:spcAft>
                <a:spcPts val="0"/>
              </a:spcAft>
            </a:pPr>
            <a:r>
              <a:rPr sz="1300" b="0" i="0">
                <a:solidFill>
                  <a:srgbClr val="F1EEE9"/>
                </a:solidFill>
                <a:latin typeface="Consolas"/>
              </a:rPr>
              <a:t>  INDEX (merchant)</a:t>
            </a:r>
          </a:p>
          <a:p>
            <a:pPr>
              <a:lnSpc>
                <a:spcPct val="100000"/>
              </a:lnSpc>
              <a:spcBef>
                <a:spcPts val="0"/>
              </a:spcBef>
              <a:spcAft>
                <a:spcPts val="0"/>
              </a:spcAft>
            </a:pPr>
            <a:r>
              <a:rPr sz="1300" b="0" i="0">
                <a:solidFill>
                  <a:srgbClr val="F1EEE9"/>
                </a:solidFill>
                <a:latin typeface="Consolas"/>
              </a:rPr>
              <a:t>AS</a:t>
            </a:r>
          </a:p>
          <a:p>
            <a:pPr>
              <a:lnSpc>
                <a:spcPct val="100000"/>
              </a:lnSpc>
              <a:spcBef>
                <a:spcPts val="0"/>
              </a:spcBef>
              <a:spcAft>
                <a:spcPts val="0"/>
              </a:spcAft>
            </a:pPr>
            <a:r>
              <a:rPr sz="1300" b="0" i="0">
                <a:solidFill>
                  <a:srgbClr val="F1EEE9"/>
                </a:solidFill>
                <a:latin typeface="Consolas"/>
              </a:rPr>
              <a:t>SELECT STREAM</a:t>
            </a:r>
          </a:p>
          <a:p>
            <a:pPr>
              <a:lnSpc>
                <a:spcPct val="100000"/>
              </a:lnSpc>
              <a:spcBef>
                <a:spcPts val="0"/>
              </a:spcBef>
              <a:spcAft>
                <a:spcPts val="0"/>
              </a:spcAft>
            </a:pPr>
            <a:r>
              <a:rPr sz="1300" b="0" i="0">
                <a:solidFill>
                  <a:srgbClr val="F1EEE9"/>
                </a:solidFill>
                <a:latin typeface="Consolas"/>
              </a:rPr>
              <a:t>  TUMBLE_END(paid_at, INTERVAL '1' MINUTE)</a:t>
            </a:r>
          </a:p>
          <a:p>
            <a:pPr>
              <a:lnSpc>
                <a:spcPct val="100000"/>
              </a:lnSpc>
              <a:spcBef>
                <a:spcPts val="0"/>
              </a:spcBef>
              <a:spcAft>
                <a:spcPts val="0"/>
              </a:spcAft>
            </a:pPr>
            <a:r>
              <a:rPr sz="1300" b="0" i="0">
                <a:solidFill>
                  <a:srgbClr val="F1EEE9"/>
                </a:solidFill>
                <a:latin typeface="Consolas"/>
              </a:rPr>
              <a:t>                    AS window_end,</a:t>
            </a:r>
          </a:p>
          <a:p>
            <a:pPr>
              <a:lnSpc>
                <a:spcPct val="100000"/>
              </a:lnSpc>
              <a:spcBef>
                <a:spcPts val="0"/>
              </a:spcBef>
              <a:spcAft>
                <a:spcPts val="0"/>
              </a:spcAft>
            </a:pPr>
            <a:r>
              <a:rPr sz="1300" b="0" i="0">
                <a:solidFill>
                  <a:srgbClr val="F1EEE9"/>
                </a:solidFill>
                <a:latin typeface="Consolas"/>
              </a:rPr>
              <a:t>  merchant,</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SUM(amount_minor) AS amount_minor</a:t>
            </a:r>
          </a:p>
          <a:p>
            <a:pPr>
              <a:lnSpc>
                <a:spcPct val="100000"/>
              </a:lnSpc>
              <a:spcBef>
                <a:spcPts val="0"/>
              </a:spcBef>
              <a:spcAft>
                <a:spcPts val="0"/>
              </a:spcAft>
            </a:pPr>
            <a:r>
              <a:rPr sz="1300" b="0" i="0">
                <a:solidFill>
                  <a:srgbClr val="F1EEE9"/>
                </a:solidFill>
                <a:latin typeface="Consolas"/>
              </a:rPr>
              <a:t>FROM payment</a:t>
            </a:r>
          </a:p>
          <a:p>
            <a:pPr>
              <a:lnSpc>
                <a:spcPct val="100000"/>
              </a:lnSpc>
              <a:spcBef>
                <a:spcPts val="0"/>
              </a:spcBef>
              <a:spcAft>
                <a:spcPts val="0"/>
              </a:spcAft>
            </a:pPr>
            <a:r>
              <a:rPr sz="1300" b="0" i="0">
                <a:solidFill>
                  <a:srgbClr val="F1EEE9"/>
                </a:solidFill>
                <a:latin typeface="Consolas"/>
              </a:rPr>
              <a:t>WHERE status = 'APPROVED'</a:t>
            </a:r>
          </a:p>
          <a:p>
            <a:pPr>
              <a:lnSpc>
                <a:spcPct val="100000"/>
              </a:lnSpc>
              <a:spcBef>
                <a:spcPts val="0"/>
              </a:spcBef>
              <a:spcAft>
                <a:spcPts val="0"/>
              </a:spcAft>
            </a:pPr>
            <a:r>
              <a:rPr sz="1300" b="0" i="0">
                <a:solidFill>
                  <a:srgbClr val="F1EEE9"/>
                </a:solidFill>
                <a:latin typeface="Consolas"/>
              </a:rPr>
              <a:t>GROUP BY TUMBLE(paid_at, INTERVAL '1' MINUTE),</a:t>
            </a:r>
          </a:p>
          <a:p>
            <a:pPr>
              <a:lnSpc>
                <a:spcPct val="100000"/>
              </a:lnSpc>
              <a:spcBef>
                <a:spcPts val="0"/>
              </a:spcBef>
              <a:spcAft>
                <a:spcPts val="0"/>
              </a:spcAft>
            </a:pPr>
            <a:r>
              <a:rPr sz="1300" b="0" i="0">
                <a:solidFill>
                  <a:srgbClr val="F1EEE9"/>
                </a:solidFill>
                <a:latin typeface="Consolas"/>
              </a:rPr>
              <a:t>         merchant</a:t>
            </a:r>
          </a:p>
        </p:txBody>
      </p:sp>
      <p:sp>
        <p:nvSpPr>
          <p:cNvPr id="13" name="TextBox 12"/>
          <p:cNvSpPr txBox="1"/>
          <p:nvPr/>
        </p:nvSpPr>
        <p:spPr>
          <a:xfrm>
            <a:off x="6491471" y="1345488"/>
            <a:ext cx="4922983" cy="489986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reader for all three queries</a:t>
            </a:r>
          </a:p>
          <a:p>
            <a:pPr lvl="1">
              <a:lnSpc>
                <a:spcPct val="120000"/>
              </a:lnSpc>
              <a:spcBef>
                <a:spcPts val="0"/>
              </a:spcBef>
              <a:spcAft>
                <a:spcPts val="0"/>
              </a:spcAft>
            </a:pPr>
            <a:r>
              <a:rPr sz="1400" b="0">
                <a:solidFill>
                  <a:srgbClr val="4A5058"/>
                </a:solidFill>
                <a:latin typeface="Source Sans 3"/>
              </a:rPr>
              <a:t>“Register the three queries in any order, at any time, and pause, resume or restart any of them. The topic is read once, and each record reaches each query exactly once.”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lookup by merchant is a probe</a:t>
            </a:r>
          </a:p>
          <a:p>
            <a:pPr lvl="1">
              <a:lnSpc>
                <a:spcPct val="120000"/>
              </a:lnSpc>
              <a:spcBef>
                <a:spcPts val="0"/>
              </a:spcBef>
              <a:spcAft>
                <a:spcPts val="0"/>
              </a:spcAft>
            </a:pPr>
            <a:r>
              <a:rPr sz="1400" b="0">
                <a:solidFill>
                  <a:srgbClr val="4A5058"/>
                </a:solidFill>
                <a:latin typeface="Source Sans 3"/>
              </a:rPr>
              <a:t>m-coffee reads 5 payments, 17578; m-books 5 payments, 81250. The build fails the study if no read went through the index.</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JOINS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join that attributes, and a join that sees an absence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83</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Click attribution</a:t>
            </a:r>
          </a:p>
        </p:txBody>
      </p:sp>
      <p:sp>
        <p:nvSpPr>
          <p:cNvPr id="13" name="TextBox 12"/>
          <p:cNvSpPr txBox="1"/>
          <p:nvPr/>
        </p:nvSpPr>
        <p:spPr>
          <a:xfrm>
            <a:off x="777240"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A click is paid for only after an impression</a:t>
            </a:r>
          </a:p>
          <a:p>
            <a:pPr lvl="1">
              <a:lnSpc>
                <a:spcPct val="120000"/>
              </a:lnSpc>
              <a:spcBef>
                <a:spcPts val="0"/>
              </a:spcBef>
              <a:spcAft>
                <a:spcPts val="0"/>
              </a:spcAft>
            </a:pPr>
            <a:r>
              <a:rPr sz="1400" b="0">
                <a:solidFill>
                  <a:srgbClr val="4A5058"/>
                </a:solidFill>
                <a:latin typeface="Source Sans 3"/>
              </a:rPr>
              <a:t>attributed_clicks joins two streams where the click falls within ten minutes of the impression; the time bound bounds the state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61 impressions, 17 clicks, 14 attributed</a:t>
            </a:r>
          </a:p>
          <a:p>
            <a:pPr lvl="1">
              <a:lnSpc>
                <a:spcPct val="120000"/>
              </a:lnSpc>
              <a:spcBef>
                <a:spcPts val="0"/>
              </a:spcBef>
              <a:spcAft>
                <a:spcPts val="0"/>
              </a:spcAft>
            </a:pPr>
            <a:r>
              <a:rPr sz="1400" b="0">
                <a:solidFill>
                  <a:srgbClr val="4A5058"/>
                </a:solidFill>
                <a:latin typeface="Source Sans 3"/>
              </a:rPr>
              <a:t>Click-through rate is two views joined by the reader: joining two views in one read is refused (PRV-4025).</a:t>
            </a:r>
          </a:p>
        </p:txBody>
      </p:sp>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Delivery SLA breaches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“This is the query that sees an absence”</a:t>
            </a:r>
          </a:p>
          <a:p>
            <a:pPr lvl="1">
              <a:lnSpc>
                <a:spcPct val="120000"/>
              </a:lnSpc>
              <a:spcBef>
                <a:spcPts val="0"/>
              </a:spcBef>
              <a:spcAft>
                <a:spcPts val="0"/>
              </a:spcAft>
            </a:pPr>
            <a:r>
              <a:rPr sz="1400" b="0">
                <a:solidFill>
                  <a:srgbClr val="4A5058"/>
                </a:solidFill>
                <a:latin typeface="Source Sans 3"/>
              </a:rPr>
              <a:t>undelivered is a LEFT JOIN of dispatches to deliveries within four hours, WHERE the delivery is NULL: padded with nulls once, when event time passes the bound.</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25 dispatches, 23 deliveries</a:t>
            </a:r>
          </a:p>
          <a:p>
            <a:pPr lvl="1">
              <a:lnSpc>
                <a:spcPct val="120000"/>
              </a:lnSpc>
              <a:spcBef>
                <a:spcPts val="0"/>
              </a:spcBef>
              <a:spcAft>
                <a:spcPts val="0"/>
              </a:spcAft>
            </a:pPr>
            <a:r>
              <a:rPr sz="1400" b="0">
                <a:solidFill>
                  <a:srgbClr val="4A5058"/>
                </a:solidFill>
                <a:latin typeface="Source Sans 3"/>
              </a:rPr>
              <a:t>P1023, P1020 and P1002 are reported, all from depot BRS3. P1002 was delivered — four hours and ten minutes after dispatch, outside the bound; a null-padded row is emitted once and never withdrawn.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Evidence, 2.x, and where to start</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Every number here was taken on a developer laptop running other work, with the load average beside it. A target that was not reached is reported as not reached, and none of these figures is quoted as the engine's capability.</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requirement, and the gates kept beside it</a:t>
            </a:r>
          </a:p>
          <a:p>
            <a:pPr>
              <a:lnSpc>
                <a:spcPct val="115000"/>
              </a:lnSpc>
              <a:spcBef>
                <a:spcPts val="0"/>
              </a:spcBef>
              <a:spcAft>
                <a:spcPts val="600"/>
              </a:spcAft>
            </a:pPr>
            <a:r>
              <a:rPr sz="1250" b="0" i="0">
                <a:solidFill>
                  <a:srgbClr val="F6E6E9"/>
                </a:solidFill>
                <a:latin typeface="Source Sans 3"/>
              </a:rPr>
              <a:t>What the gates measured; Nexmark; micro-benchmarks</a:t>
            </a:r>
          </a:p>
          <a:p>
            <a:pPr>
              <a:lnSpc>
                <a:spcPct val="115000"/>
              </a:lnSpc>
              <a:spcBef>
                <a:spcPts val="0"/>
              </a:spcBef>
              <a:spcAft>
                <a:spcPts val="600"/>
              </a:spcAft>
            </a:pPr>
            <a:r>
              <a:rPr sz="1250" b="0" i="0">
                <a:solidFill>
                  <a:srgbClr val="F6E6E9"/>
                </a:solidFill>
                <a:latin typeface="Source Sans 3"/>
              </a:rPr>
              <a:t>How it is tested, and what testing found</a:t>
            </a:r>
          </a:p>
          <a:p>
            <a:pPr>
              <a:lnSpc>
                <a:spcPct val="115000"/>
              </a:lnSpc>
              <a:spcBef>
                <a:spcPts val="0"/>
              </a:spcBef>
              <a:spcAft>
                <a:spcPts val="600"/>
              </a:spcAft>
            </a:pPr>
            <a:r>
              <a:rPr sz="1250" b="0" i="0">
                <a:solidFill>
                  <a:srgbClr val="F6E6E9"/>
                </a:solidFill>
                <a:latin typeface="Source Sans 3"/>
              </a:rPr>
              <a:t>The adversarial round against 2.0.0, and three waves of fixes</a:t>
            </a:r>
          </a:p>
          <a:p>
            <a:pPr>
              <a:lnSpc>
                <a:spcPct val="115000"/>
              </a:lnSpc>
              <a:spcBef>
                <a:spcPts val="0"/>
              </a:spcBef>
              <a:spcAft>
                <a:spcPts val="600"/>
              </a:spcAft>
            </a:pPr>
            <a:r>
              <a:rPr sz="1250" b="0" i="0">
                <a:solidFill>
                  <a:srgbClr val="F6E6E9"/>
                </a:solidFill>
                <a:latin typeface="Source Sans 3"/>
              </a:rPr>
              <a:t>What 2.x promises, and what is experimental</a:t>
            </a:r>
          </a:p>
          <a:p>
            <a:pPr>
              <a:lnSpc>
                <a:spcPct val="115000"/>
              </a:lnSpc>
              <a:spcBef>
                <a:spcPts val="0"/>
              </a:spcBef>
              <a:spcAft>
                <a:spcPts val="600"/>
              </a:spcAft>
            </a:pPr>
            <a:r>
              <a:rPr sz="1250" b="0" i="0">
                <a:solidFill>
                  <a:srgbClr val="F6E6E9"/>
                </a:solidFill>
                <a:latin typeface="Source Sans 3"/>
              </a:rPr>
              <a:t>What is not built; boundaries</a:t>
            </a:r>
          </a:p>
          <a:p>
            <a:pPr>
              <a:lnSpc>
                <a:spcPct val="115000"/>
              </a:lnSpc>
              <a:spcBef>
                <a:spcPts val="0"/>
              </a:spcBef>
              <a:spcAft>
                <a:spcPts val="600"/>
              </a:spcAft>
            </a:pPr>
            <a:r>
              <a:rPr sz="1250" b="0" i="0">
                <a:solidFill>
                  <a:srgbClr val="F6E6E9"/>
                </a:solidFill>
                <a:latin typeface="Source Sans 3"/>
              </a:rPr>
              <a:t>Where to start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requirement is about 1,000 rows a second, and the old bar is kept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85</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Why so low</a:t>
            </a:r>
          </a:p>
          <a:p>
            <a:pPr lvl="1">
              <a:lnSpc>
                <a:spcPct val="120000"/>
              </a:lnSpc>
              <a:spcBef>
                <a:spcPts val="0"/>
              </a:spcBef>
              <a:spcAft>
                <a:spcPts val="0"/>
              </a:spcAft>
            </a:pPr>
            <a:r>
              <a:rPr sz="1550" b="0">
                <a:solidFill>
                  <a:srgbClr val="4A5058"/>
                </a:solidFill>
                <a:latin typeface="Source Sans 3"/>
              </a:rPr>
              <a:t>Pravaha maintains answers to registered questions rather than moving bulk data; about a thousand rows a second is what the owner's workload needs.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Restated, not redefined</a:t>
            </a:r>
          </a:p>
          <a:p>
            <a:pPr lvl="1">
              <a:lnSpc>
                <a:spcPct val="120000"/>
              </a:lnSpc>
              <a:spcBef>
                <a:spcPts val="0"/>
              </a:spcBef>
              <a:spcAft>
                <a:spcPts val="0"/>
              </a:spcAft>
            </a:pPr>
            <a:r>
              <a:rPr sz="1550" b="0">
                <a:solidFill>
                  <a:srgbClr val="4A5058"/>
                </a:solidFill>
                <a:latin typeface="Source Sans 3"/>
              </a:rPr>
              <a:t>The design's figures — 1.2 M rows/s per lane for Profile A, 350 k for Profile B, ≥ 90 % scaling from one lane to eight — stay on the page as the gate criteria, so a reader can see the bar moved and judge the reason.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it does not license</a:t>
            </a:r>
          </a:p>
          <a:p>
            <a:pPr lvl="1">
              <a:lnSpc>
                <a:spcPct val="120000"/>
              </a:lnSpc>
              <a:spcBef>
                <a:spcPts val="0"/>
              </a:spcBef>
              <a:spcAft>
                <a:spcPts val="0"/>
              </a:spcAft>
            </a:pPr>
            <a:r>
              <a:rPr sz="1550" b="0">
                <a:solidFill>
                  <a:srgbClr val="4A5058"/>
                </a:solidFill>
                <a:latin typeface="Source Sans 3"/>
              </a:rPr>
              <a:t>A number from this laptop is “this machine sustained that, under this load” — a floor, never the engine's ceiling.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JDK 21 2026-09-20/26/29, RE-MEASURED ON JDK 25 2026-10-04</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Per-lane throughput reached; scaling not reached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machine: an AMD Ryzen AI 9 HX 370 laptop — 12 physical cores of two designs, SMT2. Load 5.8–77.8 on 2026-09-20; 1.2–4.9 for the JDK 25 runs.</a:t>
            </a:r>
          </a:p>
        </p:txBody>
      </p:sp>
      <p:graphicFrame>
        <p:nvGraphicFramePr>
          <p:cNvPr id="12" name="Table 11"/>
          <p:cNvGraphicFramePr>
            <a:graphicFrameLocks noGrp="1"/>
          </p:cNvGraphicFramePr>
          <p:nvPr/>
        </p:nvGraphicFramePr>
        <p:xfrm>
          <a:off x="777240" y="1410919"/>
          <a:ext cx="10637212" cy="3370323"/>
        </p:xfrm>
        <a:graphic>
          <a:graphicData uri="http://schemas.openxmlformats.org/drawingml/2006/table">
            <a:tbl>
              <a:tblPr firstRow="1">
                <a:tableStyleId>{5C22544A-7EE6-4342-B048-85BDC9FD1C3A}</a:tableStyleId>
              </a:tblPr>
              <a:tblGrid>
                <a:gridCol w="2222701"/>
                <a:gridCol w="1905172"/>
                <a:gridCol w="5080460"/>
                <a:gridCol w="14288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P2 · Profile A throughput</a:t>
                      </a:r>
                    </a:p>
                  </a:txBody>
                  <a:tcPr marL="82296" marR="64008" marT="32004" marB="32004" anchor="ctr">
                    <a:solidFill>
                      <a:srgbClr val="FFFFFF"/>
                    </a:solidFill>
                  </a:tcPr>
                </a:tc>
                <a:tc>
                  <a:txBody>
                    <a:bodyPr wrap="square"/>
                    <a:lstStyle/>
                    <a:p>
                      <a:r>
                        <a:rPr sz="1450" b="0">
                          <a:solidFill>
                            <a:srgbClr val="1A1A1A"/>
                          </a:solidFill>
                          <a:latin typeface="Source Sans 3"/>
                        </a:rPr>
                        <a:t>≥ 1.2 M rows/s per lane</a:t>
                      </a:r>
                    </a:p>
                  </a:txBody>
                  <a:tcPr marL="82296" marR="64008" marT="32004" marB="32004" anchor="ctr">
                    <a:solidFill>
                      <a:srgbClr val="FFFFFF"/>
                    </a:solidFill>
                  </a:tcPr>
                </a:tc>
                <a:tc>
                  <a:txBody>
                    <a:bodyPr wrap="square"/>
                    <a:lstStyle/>
                    <a:p>
                      <a:r>
                        <a:rPr sz="1450" b="0">
                          <a:solidFill>
                            <a:srgbClr val="1A1A1A"/>
                          </a:solidFill>
                          <a:latin typeface="Source Sans 3"/>
                        </a:rPr>
                        <a:t>JDK 21: 29 of 30 cold passes above it, the miss 1,043,974 at load 77. JDK 25, quiet: all 30 above, best 55–60 M</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1058468">
                <a:tc>
                  <a:txBody>
                    <a:bodyPr wrap="square"/>
                    <a:lstStyle/>
                    <a:p>
                      <a:r>
                        <a:rPr sz="1450" b="1">
                          <a:solidFill>
                            <a:srgbClr val="8A1626"/>
                          </a:solidFill>
                          <a:latin typeface="Source Sans 3"/>
                        </a:rPr>
                        <a:t>P2 · scaling, 1 → 8 lanes</a:t>
                      </a:r>
                    </a:p>
                  </a:txBody>
                  <a:tcPr marL="82296" marR="64008" marT="32004" marB="32004" anchor="ctr">
                    <a:solidFill>
                      <a:srgbClr val="F7F5F2"/>
                    </a:solidFill>
                  </a:tcPr>
                </a:tc>
                <a:tc>
                  <a:txBody>
                    <a:bodyPr wrap="square"/>
                    <a:lstStyle/>
                    <a:p>
                      <a:r>
                        <a:rPr sz="1450" b="0">
                          <a:solidFill>
                            <a:srgbClr val="1A1A1A"/>
                          </a:solidFill>
                          <a:latin typeface="Source Sans 3"/>
                        </a:rPr>
                        <a:t>≥ 90 % of linear</a:t>
                      </a:r>
                    </a:p>
                  </a:txBody>
                  <a:tcPr marL="82296" marR="64008" marT="32004" marB="32004" anchor="ctr">
                    <a:solidFill>
                      <a:srgbClr val="F7F5F2"/>
                    </a:solidFill>
                  </a:tcPr>
                </a:tc>
                <a:tc>
                  <a:txBody>
                    <a:bodyPr wrap="square"/>
                    <a:lstStyle/>
                    <a:p>
                      <a:r>
                        <a:rPr sz="1450" b="0">
                          <a:solidFill>
                            <a:srgbClr val="1A1A1A"/>
                          </a:solidFill>
                          <a:latin typeface="Source Sans 3"/>
                        </a:rPr>
                        <a:t>JDK 21: 28–42 % (09-20, coverage agent); 33–46 % (09-26); 30–31 % (09-29). JDK 25: 32–37 %. The machine's own ceiling for work sharing nothing: 50–55 %</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P3 · Profile B throughput</a:t>
                      </a:r>
                    </a:p>
                  </a:txBody>
                  <a:tcPr marL="82296" marR="64008" marT="32004" marB="32004" anchor="ctr">
                    <a:solidFill>
                      <a:srgbClr val="FFFFFF"/>
                    </a:solidFill>
                  </a:tcPr>
                </a:tc>
                <a:tc>
                  <a:txBody>
                    <a:bodyPr wrap="square"/>
                    <a:lstStyle/>
                    <a:p>
                      <a:r>
                        <a:rPr sz="1450" b="0">
                          <a:solidFill>
                            <a:srgbClr val="1A1A1A"/>
                          </a:solidFill>
                          <a:latin typeface="Source Sans 3"/>
                        </a:rPr>
                        <a:t>≥ 350 k rows/s per lane</a:t>
                      </a:r>
                    </a:p>
                  </a:txBody>
                  <a:tcPr marL="82296" marR="64008" marT="32004" marB="32004" anchor="ctr">
                    <a:solidFill>
                      <a:srgbClr val="FFFFFF"/>
                    </a:solidFill>
                  </a:tcPr>
                </a:tc>
                <a:tc>
                  <a:txBody>
                    <a:bodyPr wrap="square"/>
                    <a:lstStyle/>
                    <a:p>
                      <a:r>
                        <a:rPr sz="1450" b="0">
                          <a:solidFill>
                            <a:srgbClr val="1A1A1A"/>
                          </a:solidFill>
                          <a:latin typeface="Source Sans 3"/>
                        </a:rPr>
                        <a:t>JDK 21: all 15 passes above, worst 1.10 M in a load spike. JDK 25: all 20, best 2.30–2.73 M</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584098">
                <a:tc>
                  <a:txBody>
                    <a:bodyPr wrap="square"/>
                    <a:lstStyle/>
                    <a:p>
                      <a:r>
                        <a:rPr sz="1450" b="1">
                          <a:solidFill>
                            <a:srgbClr val="8A1626"/>
                          </a:solidFill>
                          <a:latin typeface="Source Sans 3"/>
                        </a:rPr>
                        <a:t>W5 · Nexmark vs Flink</a:t>
                      </a:r>
                    </a:p>
                  </a:txBody>
                  <a:tcPr marL="82296" marR="64008" marT="32004" marB="32004" anchor="ctr">
                    <a:solidFill>
                      <a:srgbClr val="F7F5F2"/>
                    </a:solidFill>
                  </a:tcPr>
                </a:tc>
                <a:tc>
                  <a:txBody>
                    <a:bodyPr wrap="square"/>
                    <a:lstStyle/>
                    <a:p>
                      <a:r>
                        <a:rPr sz="145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5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87</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head-to-head against Flink has not been run. Running it on a subset and publishing that is the selective benchmarking the design says this audience punishes.</a:t>
            </a:r>
          </a:p>
        </p:txBody>
      </p:sp>
      <p:graphicFrame>
        <p:nvGraphicFramePr>
          <p:cNvPr id="12" name="Table 11"/>
          <p:cNvGraphicFramePr>
            <a:graphicFrameLocks noGrp="1"/>
          </p:cNvGraphicFramePr>
          <p:nvPr/>
        </p:nvGraphicFramePr>
        <p:xfrm>
          <a:off x="777240" y="1312773"/>
          <a:ext cx="10637214" cy="3005681"/>
        </p:xfrm>
        <a:graphic>
          <a:graphicData uri="http://schemas.openxmlformats.org/drawingml/2006/table">
            <a:tbl>
              <a:tblPr firstRow="1">
                <a:tableStyleId>{5C22544A-7EE6-4342-B048-85BDC9FD1C3A}</a:tableStyleId>
              </a:tblPr>
              <a:tblGrid>
                <a:gridCol w="1950156"/>
                <a:gridCol w="3545738"/>
                <a:gridCol w="5141320"/>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 (2026-09-26)</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on 2026-09-20,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 refused on purpose</a:t>
                      </a:r>
                    </a:p>
                  </a:txBody>
                  <a:tcPr marL="82296" marR="64008" marT="32004" marB="32004" anchor="ctr">
                    <a:solidFill>
                      <a:srgbClr val="F7F5F2"/>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q11</a:t>
                      </a:r>
                    </a:p>
                  </a:txBody>
                  <a:tcPr marL="82296" marR="64008" marT="32004" marB="32004" anchor="ctr">
                    <a:solidFill>
                      <a:srgbClr val="F7F5F2"/>
                    </a:solidFill>
                  </a:tcPr>
                </a:tc>
                <a:tc>
                  <a:txBody>
                    <a:bodyPr wrap="square"/>
                    <a:lstStyle/>
                    <a:p>
                      <a:r>
                        <a:rPr sz="1450" b="0">
                          <a:solidFill>
                            <a:srgbClr val="1A1A1A"/>
                          </a:solidFill>
                          <a:latin typeface="Source Sans 3"/>
                        </a:rPr>
                        <a:t>Session windows in SQL (PRV-2020)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Cannot be written here</a:t>
                      </a:r>
                    </a:p>
                  </a:txBody>
                  <a:tcPr marL="82296" marR="64008" marT="32004" marB="32004" anchor="ctr">
                    <a:solidFill>
                      <a:srgbClr val="FFFFFF"/>
                    </a:solidFill>
                  </a:tcPr>
                </a:tc>
                <a:tc>
                  <a:txBody>
                    <a:bodyPr wrap="square"/>
                    <a:lstStyle/>
                    <a:p>
                      <a:r>
                        <a:rPr sz="1450" b="0">
                          <a:solidFill>
                            <a:srgbClr val="1A1A1A"/>
                          </a:solidFill>
                          <a:latin typeface="Source Sans 3"/>
                        </a:rPr>
                        <a:t>q10, q12, q13, q14</a:t>
                      </a:r>
                    </a:p>
                  </a:txBody>
                  <a:tcPr marL="82296" marR="64008" marT="32004" marB="32004" anchor="ctr">
                    <a:solidFill>
                      <a:srgbClr val="FFFFFF"/>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MICRO-BENCHMARKS · BENCHMARKS/README.MD · MEASURED ON JDK 25, 2026-10-04</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Ratios that decide design choices, not capabilities</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 build compares a run with the committed baselines, and the page says so: a claim about a gate that does not exist is worth less than no claim.</a:t>
            </a:r>
          </a:p>
        </p:txBody>
      </p:sp>
      <p:graphicFrame>
        <p:nvGraphicFramePr>
          <p:cNvPr id="12" name="Table 11"/>
          <p:cNvGraphicFramePr>
            <a:graphicFrameLocks noGrp="1"/>
          </p:cNvGraphicFramePr>
          <p:nvPr/>
        </p:nvGraphicFramePr>
        <p:xfrm>
          <a:off x="777240" y="1394561"/>
          <a:ext cx="10637213" cy="3133138"/>
        </p:xfrm>
        <a:graphic>
          <a:graphicData uri="http://schemas.openxmlformats.org/drawingml/2006/table">
            <a:tbl>
              <a:tblPr firstRow="1">
                <a:tableStyleId>{5C22544A-7EE6-4342-B048-85BDC9FD1C3A}</a:tableStyleId>
              </a:tblPr>
              <a:tblGrid>
                <a:gridCol w="3431359"/>
                <a:gridCol w="3431359"/>
                <a:gridCol w="3774495"/>
              </a:tblGrid>
              <a:tr h="322376">
                <a:tc>
                  <a:txBody>
                    <a:bodyPr wrap="square"/>
                    <a:lstStyle/>
                    <a:p>
                      <a:r>
                        <a:rPr sz="1300" b="1">
                          <a:solidFill>
                            <a:srgbClr val="FFFFFF"/>
                          </a:solidFill>
                          <a:latin typeface="Source Sans 3"/>
                        </a:rPr>
                        <a:t>Measurement</a:t>
                      </a:r>
                    </a:p>
                  </a:txBody>
                  <a:tcPr marL="82296" marR="64008" marT="32004" marB="32004" anchor="ctr">
                    <a:solidFill>
                      <a:srgbClr val="8A1626"/>
                    </a:solidFill>
                  </a:tcPr>
                </a:tc>
                <a:tc>
                  <a:txBody>
                    <a:bodyPr wrap="square"/>
                    <a:lstStyle/>
                    <a:p>
                      <a:r>
                        <a:rPr sz="1300" b="1">
                          <a:solidFill>
                            <a:srgbClr val="FFFFFF"/>
                          </a:solidFill>
                          <a:latin typeface="Source Sans 3"/>
                        </a:rPr>
                        <a:t>Figure</a:t>
                      </a:r>
                    </a:p>
                  </a:txBody>
                  <a:tcPr marL="82296" marR="64008" marT="32004" marB="32004" anchor="ctr">
                    <a:solidFill>
                      <a:srgbClr val="8A1626"/>
                    </a:solidFill>
                  </a:tcPr>
                </a:tc>
                <a:tc>
                  <a:txBody>
                    <a:bodyPr wrap="square"/>
                    <a:lstStyle/>
                    <a:p>
                      <a:r>
                        <a:rPr sz="1300" b="1">
                          <a:solidFill>
                            <a:srgbClr val="FFFFFF"/>
                          </a:solidFill>
                          <a:latin typeface="Source Sans 3"/>
                        </a:rPr>
                        <a:t>What it is not</a:t>
                      </a:r>
                    </a:p>
                  </a:txBody>
                  <a:tcPr marL="82296" marR="64008" marT="32004" marB="32004" anchor="ctr">
                    <a:solidFill>
                      <a:srgbClr val="8A1626"/>
                    </a:solidFill>
                  </a:tcPr>
                </a:tc>
              </a:tr>
              <a:tr h="1058468">
                <a:tc>
                  <a:txBody>
                    <a:bodyPr wrap="square"/>
                    <a:lstStyle/>
                    <a:p>
                      <a:r>
                        <a:rPr sz="1450" b="1">
                          <a:solidFill>
                            <a:srgbClr val="8A1626"/>
                          </a:solidFill>
                          <a:latin typeface="Source Sans 3"/>
                        </a:rPr>
                        <a:t>Generated vs interpreted, the fused operator alone</a:t>
                      </a:r>
                    </a:p>
                  </a:txBody>
                  <a:tcPr marL="82296" marR="64008" marT="32004" marB="32004" anchor="ctr">
                    <a:solidFill>
                      <a:srgbClr val="FFFFFF"/>
                    </a:solidFill>
                  </a:tcPr>
                </a:tc>
                <a:tc>
                  <a:txBody>
                    <a:bodyPr wrap="square"/>
                    <a:lstStyle/>
                    <a:p>
                      <a:r>
                        <a:rPr sz="1450" b="0">
                          <a:solidFill>
                            <a:srgbClr val="1A1A1A"/>
                          </a:solidFill>
                          <a:latin typeface="Source Sans 3"/>
                        </a:rPr>
                        <a:t>317 M vs 91 M rows/s — about 3.5× (10× on JDK 21, before the interpreter stopped decoding text per row)</a:t>
                      </a:r>
                    </a:p>
                  </a:txBody>
                  <a:tcPr marL="82296" marR="64008" marT="32004" marB="32004" anchor="ctr">
                    <a:solidFill>
                      <a:srgbClr val="FFFFFF"/>
                    </a:solidFill>
                  </a:tcPr>
                </a:tc>
                <a:tc>
                  <a:txBody>
                    <a:bodyPr wrap="square"/>
                    <a:lstStyle/>
                    <a:p>
                      <a:r>
                        <a:rPr sz="1450" b="0">
                          <a:solidFill>
                            <a:srgbClr val="1A1A1A"/>
                          </a:solidFill>
                          <a:latin typeface="Source Sans 3"/>
                        </a:rPr>
                        <a:t>The gate figure: no decode, arena, handoff or sink</a:t>
                      </a:r>
                    </a:p>
                  </a:txBody>
                  <a:tcPr marL="82296" marR="64008" marT="32004" marB="32004" anchor="ctr">
                    <a:solidFill>
                      <a:srgbClr val="FFFFFF"/>
                    </a:solidFill>
                  </a:tcPr>
                </a:tc>
              </a:tr>
              <a:tr h="821283">
                <a:tc>
                  <a:txBody>
                    <a:bodyPr wrap="square"/>
                    <a:lstStyle/>
                    <a:p>
                      <a:r>
                        <a:rPr sz="1450" b="1">
                          <a:solidFill>
                            <a:srgbClr val="8A1626"/>
                          </a:solidFill>
                          <a:latin typeface="Source Sans 3"/>
                        </a:rPr>
                        <a:t>The same plan as a whole pipeline, one thread</a:t>
                      </a:r>
                    </a:p>
                  </a:txBody>
                  <a:tcPr marL="82296" marR="64008" marT="32004" marB="32004" anchor="ctr">
                    <a:solidFill>
                      <a:srgbClr val="F7F5F2"/>
                    </a:solidFill>
                  </a:tcPr>
                </a:tc>
                <a:tc>
                  <a:txBody>
                    <a:bodyPr wrap="square"/>
                    <a:lstStyle/>
                    <a:p>
                      <a:r>
                        <a:rPr sz="1450" b="0">
                          <a:solidFill>
                            <a:srgbClr val="1A1A1A"/>
                          </a:solidFill>
                          <a:latin typeface="Source Sans 3"/>
                        </a:rPr>
                        <a:t>106–118 M vs 60–66 M rows/s — 1.7× (JDK 21)</a:t>
                      </a:r>
                    </a:p>
                  </a:txBody>
                  <a:tcPr marL="82296" marR="64008" marT="32004" marB="32004" anchor="ctr">
                    <a:solidFill>
                      <a:srgbClr val="F7F5F2"/>
                    </a:solidFill>
                  </a:tcPr>
                </a:tc>
                <a:tc>
                  <a:txBody>
                    <a:bodyPr wrap="square"/>
                    <a:lstStyle/>
                    <a:p>
                      <a:r>
                        <a:rPr sz="1450" b="0">
                          <a:solidFill>
                            <a:srgbClr val="1A1A1A"/>
                          </a:solidFill>
                          <a:latin typeface="Source Sans 3"/>
                        </a:rPr>
                        <a:t>End to end, where the two are near level (1.27–1.30× on JDK 25): the producer is the bound</a:t>
                      </a:r>
                    </a:p>
                  </a:txBody>
                  <a:tcPr marL="82296" marR="64008" marT="32004" marB="32004" anchor="ctr">
                    <a:solidFill>
                      <a:srgbClr val="F7F5F2"/>
                    </a:solidFill>
                  </a:tcPr>
                </a:tc>
              </a:tr>
              <a:tr h="346913">
                <a:tc>
                  <a:txBody>
                    <a:bodyPr wrap="square"/>
                    <a:lstStyle/>
                    <a:p>
                      <a:r>
                        <a:rPr sz="1450" b="1">
                          <a:solidFill>
                            <a:srgbClr val="8A1626"/>
                          </a:solidFill>
                          <a:latin typeface="Source Sans 3"/>
                        </a:rPr>
                        <a:t>Lane machinery, one lane</a:t>
                      </a:r>
                    </a:p>
                  </a:txBody>
                  <a:tcPr marL="82296" marR="64008" marT="32004" marB="32004" anchor="ctr">
                    <a:solidFill>
                      <a:srgbClr val="FFFFFF"/>
                    </a:solidFill>
                  </a:tcPr>
                </a:tc>
                <a:tc>
                  <a:txBody>
                    <a:bodyPr wrap="square"/>
                    <a:lstStyle/>
                    <a:p>
                      <a:r>
                        <a:rPr sz="1450" b="0">
                          <a:solidFill>
                            <a:srgbClr val="1A1A1A"/>
                          </a:solidFill>
                          <a:latin typeface="Source Sans 3"/>
                        </a:rPr>
                        <a:t>68 M rows/s (21 M on JDK 21)</a:t>
                      </a:r>
                    </a:p>
                  </a:txBody>
                  <a:tcPr marL="82296" marR="64008" marT="32004" marB="32004" anchor="ctr">
                    <a:solidFill>
                      <a:srgbClr val="FFFFFF"/>
                    </a:solidFill>
                  </a:tcPr>
                </a:tc>
                <a:tc>
                  <a:txBody>
                    <a:bodyPr wrap="square"/>
                    <a:lstStyle/>
                    <a:p>
                      <a:r>
                        <a:rPr sz="1450" b="0">
                          <a:solidFill>
                            <a:srgbClr val="1A1A1A"/>
                          </a:solidFill>
                          <a:latin typeface="Source Sans 3"/>
                        </a:rPr>
                        <a:t>Operators, decode or sinks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Padding between two cursors</a:t>
                      </a:r>
                    </a:p>
                  </a:txBody>
                  <a:tcPr marL="82296" marR="64008" marT="32004" marB="32004" anchor="ctr">
                    <a:solidFill>
                      <a:srgbClr val="F7F5F2"/>
                    </a:solidFill>
                  </a:tcPr>
                </a:tc>
                <a:tc>
                  <a:txBody>
                    <a:bodyPr wrap="square"/>
                    <a:lstStyle/>
                    <a:p>
                      <a:r>
                        <a:rPr sz="1450" b="0">
                          <a:solidFill>
                            <a:srgbClr val="1A1A1A"/>
                          </a:solidFill>
                          <a:latin typeface="Source Sans 3"/>
                        </a:rPr>
                        <a:t>499 M vs 133 M ops/s — roughly 4×</a:t>
                      </a:r>
                    </a:p>
                  </a:txBody>
                  <a:tcPr marL="82296" marR="64008" marT="32004" marB="32004" anchor="ctr">
                    <a:solidFill>
                      <a:srgbClr val="F7F5F2"/>
                    </a:solidFill>
                  </a:tcPr>
                </a:tc>
                <a:tc>
                  <a:txBody>
                    <a:bodyPr wrap="square"/>
                    <a:lstStyle/>
                    <a:p>
                      <a:r>
                        <a:rPr sz="1450" b="0">
                          <a:solidFill>
                            <a:srgbClr val="1A1A1A"/>
                          </a:solidFill>
                          <a:latin typeface="Source Sans 3"/>
                        </a:rPr>
                        <a:t>Precise: error bars are wide on this hardware; the gap is not</a:t>
                      </a:r>
                    </a:p>
                  </a:txBody>
                  <a:tcPr marL="82296" marR="64008" marT="32004" marB="32004" anchor="ctr">
                    <a:solidFill>
                      <a:srgbClr val="F7F5F2"/>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DOCS/DEVELOPMENT/TESTING.MD, 2026-09-29 TO 10-01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Tiers, what each needs, and what each ran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green build without Docker has not tested any connector against its store. Error Prone runs under -Pep and CI gates it: 0 warnings; NullAway's backlog is listed, and the API and SDKs are at 0.</a:t>
            </a:r>
          </a:p>
        </p:txBody>
      </p:sp>
      <p:graphicFrame>
        <p:nvGraphicFramePr>
          <p:cNvPr id="12" name="Table 11"/>
          <p:cNvGraphicFramePr>
            <a:graphicFrameLocks noGrp="1"/>
          </p:cNvGraphicFramePr>
          <p:nvPr/>
        </p:nvGraphicFramePr>
        <p:xfrm>
          <a:off x="777240" y="1410919"/>
          <a:ext cx="10637214" cy="3189018"/>
        </p:xfrm>
        <a:graphic>
          <a:graphicData uri="http://schemas.openxmlformats.org/drawingml/2006/table">
            <a:tbl>
              <a:tblPr firstRow="1">
                <a:tableStyleId>{5C22544A-7EE6-4342-B048-85BDC9FD1C3A}</a:tableStyleId>
              </a:tblPr>
              <a:tblGrid>
                <a:gridCol w="3157923"/>
                <a:gridCol w="1828271"/>
                <a:gridCol w="5651020"/>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whole reactor</a:t>
                      </a:r>
                    </a:p>
                  </a:txBody>
                  <a:tcPr marL="82296" marR="64008" marT="32004" marB="32004" anchor="ctr">
                    <a:solidFill>
                      <a:srgbClr val="FFFFFF"/>
                    </a:solidFill>
                  </a:tcPr>
                </a:tc>
                <a:tc>
                  <a:txBody>
                    <a:bodyPr wrap="square"/>
                    <a:lstStyle/>
                    <a:p>
                      <a:r>
                        <a:rPr sz="1350" b="0">
                          <a:solidFill>
                            <a:srgbClr val="1A1A1A"/>
                          </a:solidFill>
                          <a:latin typeface="Source Sans 3"/>
                        </a:rPr>
                        <a:t>JDK 25</a:t>
                      </a:r>
                    </a:p>
                  </a:txBody>
                  <a:tcPr marL="82296" marR="64008" marT="32004" marB="32004" anchor="ctr">
                    <a:solidFill>
                      <a:srgbClr val="FFFFFF"/>
                    </a:solidFill>
                  </a:tcPr>
                </a:tc>
                <a:tc>
                  <a:txBody>
                    <a:bodyPr wrap="square"/>
                    <a:lstStyle/>
                    <a:p>
                      <a:r>
                        <a:rPr sz="1350" b="0">
                          <a:solidFill>
                            <a:srgbClr val="1A1A1A"/>
                          </a:solidFill>
                          <a:latin typeface="Source Sans 3"/>
                        </a:rPr>
                        <a:t>4,832 tests, 0 failures, 12 skipped (2026-10-01); the Python SDK's 426 against a node on 25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25</a:t>
                      </a:r>
                    </a:p>
                  </a:txBody>
                  <a:tcPr marL="82296" marR="64008" marT="32004" marB="32004" anchor="ctr">
                    <a:solidFill>
                      <a:srgbClr val="F7F5F2"/>
                    </a:solidFill>
                  </a:tcPr>
                </a:tc>
                <a:tc>
                  <a:txBody>
                    <a:bodyPr wrap="square"/>
                    <a:lstStyle/>
                    <a:p>
                      <a:r>
                        <a:rPr sz="1350" b="0">
                          <a:solidFill>
                            <a:srgbClr val="1A1A1A"/>
                          </a:solidFill>
                          <a:latin typeface="Source Sans 3"/>
                        </a:rPr>
                        <a:t>960 tests (counted on 21):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Testcontainers: Kafka 50, Postgres-CDC 60, JDBC 13, MySQL-CDC 9, Aerospike 40, Cassandra 39 — all green</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7F5F2"/>
                    </a:solidFill>
                  </a:tcPr>
                </a:tc>
                <a:tc>
                  <a:txBody>
                    <a:bodyPr wrap="square"/>
                    <a:lstStyle/>
                    <a:p>
                      <a:r>
                        <a:rPr sz="1350" b="0">
                          <a:solidFill>
                            <a:srgbClr val="1A1A1A"/>
                          </a:solidFill>
                          <a:latin typeface="Source Sans 3"/>
                        </a:rPr>
                        <a:t>Python · Chrome</a:t>
                      </a:r>
                    </a:p>
                  </a:txBody>
                  <a:tcPr marL="82296" marR="64008" marT="32004" marB="32004" anchor="ctr">
                    <a:solidFill>
                      <a:srgbClr val="F7F5F2"/>
                    </a:solidFill>
                  </a:tcPr>
                </a:tc>
                <a:tc>
                  <a:txBody>
                    <a:bodyPr wrap="square"/>
                    <a:lstStyle/>
                    <a:p>
                      <a:r>
                        <a:rPr sz="1350" b="0">
                          <a:solidFill>
                            <a:srgbClr val="1A1A1A"/>
                          </a:solidFill>
                          <a:latin typeface="Source Sans 3"/>
                        </a:rPr>
                        <a:t>426 passed · 1,937 passed with the browser suites, zero axe violations in every theme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FFFFF"/>
                    </a:solidFill>
                  </a:tcPr>
                </a:tc>
                <a:tc>
                  <a:txBody>
                    <a:bodyPr wrap="square"/>
                    <a:lstStyle/>
                    <a:p>
                      <a:r>
                        <a:rPr sz="1350" b="0">
                          <a:solidFill>
                            <a:srgbClr val="1A1A1A"/>
                          </a:solidFill>
                          <a:latin typeface="Source Sans 3"/>
                        </a:rPr>
                        <a:t>Docker, Maven</a:t>
                      </a:r>
                    </a:p>
                  </a:txBody>
                  <a:tcPr marL="82296" marR="64008" marT="32004" marB="32004" anchor="ctr">
                    <a:solidFill>
                      <a:srgbClr val="FFFFFF"/>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Performance gates</a:t>
                      </a:r>
                    </a:p>
                  </a:txBody>
                  <a:tcPr marL="82296" marR="64008" marT="32004" marB="32004" anchor="ctr">
                    <a:solidFill>
                      <a:srgbClr val="F7F5F2"/>
                    </a:solidFill>
                  </a:tcPr>
                </a:tc>
                <a:tc>
                  <a:txBody>
                    <a:bodyPr wrap="square"/>
                    <a:lstStyle/>
                    <a:p>
                      <a:r>
                        <a:rPr sz="1350" b="0">
                          <a:solidFill>
                            <a:srgbClr val="1A1A1A"/>
                          </a:solidFill>
                          <a:latin typeface="Source Sans 3"/>
                        </a:rPr>
                        <a:t>A quiet machine</a:t>
                      </a:r>
                    </a:p>
                  </a:txBody>
                  <a:tcPr marL="82296" marR="64008" marT="32004" marB="32004" anchor="ctr">
                    <a:solidFill>
                      <a:srgbClr val="F7F5F2"/>
                    </a:solidFill>
                  </a:tcPr>
                </a:tc>
                <a:tc>
                  <a:txBody>
                    <a:bodyPr wrap="square"/>
                    <a:lstStyle/>
                    <a:p>
                      <a:r>
                        <a:rPr sz="1350" b="0">
                          <a:solidFill>
                            <a:srgbClr val="1A1A1A"/>
                          </a:solidFill>
                          <a:latin typeface="Source Sans 3"/>
                        </a:rPr>
                        <a:t>Refuse to report under a coverage agent (PERF-1)</a:t>
                      </a:r>
                    </a:p>
                  </a:txBody>
                  <a:tcPr marL="82296" marR="64008" marT="32004" marB="32004" anchor="ctr">
                    <a:solidFill>
                      <a:srgbClr val="F7F5F2"/>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DOCS/PROJECT/QA/FINDINGS.MD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553 findings, one open — and each found one step outside the last test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533 fixed, 10 closed by design, 9 superseded, 1 open (SDKDEADLINE-1); a finding is fixed only when the case that found it has been re-run. The commonest defect: built, correct, connected to nothing.</a:t>
            </a:r>
          </a:p>
        </p:txBody>
      </p:sp>
      <p:graphicFrame>
        <p:nvGraphicFramePr>
          <p:cNvPr id="12" name="Table 11"/>
          <p:cNvGraphicFramePr>
            <a:graphicFrameLocks noGrp="1"/>
          </p:cNvGraphicFramePr>
          <p:nvPr/>
        </p:nvGraphicFramePr>
        <p:xfrm>
          <a:off x="777240" y="1623568"/>
          <a:ext cx="10637214" cy="3079291"/>
        </p:xfrm>
        <a:graphic>
          <a:graphicData uri="http://schemas.openxmlformats.org/drawingml/2006/table">
            <a:tbl>
              <a:tblPr firstRow="1">
                <a:tableStyleId>{5C22544A-7EE6-4342-B048-85BDC9FD1C3A}</a:tableStyleId>
              </a:tblPr>
              <a:tblGrid>
                <a:gridCol w="2160684"/>
                <a:gridCol w="3656542"/>
                <a:gridCol w="4819988"/>
              </a:tblGrid>
              <a:tr h="322376">
                <a:tc>
                  <a:txBody>
                    <a:bodyPr wrap="square"/>
                    <a:lstStyle/>
                    <a:p>
                      <a:r>
                        <a:rPr sz="1300" b="1">
                          <a:solidFill>
                            <a:srgbClr val="FFFFFF"/>
                          </a:solidFill>
                          <a:latin typeface="Source Sans 3"/>
                        </a:rPr>
                        <a:t>Finding</a:t>
                      </a:r>
                    </a:p>
                  </a:txBody>
                  <a:tcPr marL="82296" marR="64008" marT="32004" marB="32004" anchor="ctr">
                    <a:solidFill>
                      <a:srgbClr val="8A1626"/>
                    </a:solidFill>
                  </a:tcPr>
                </a:tc>
                <a:tc>
                  <a:txBody>
                    <a:bodyPr wrap="square"/>
                    <a:lstStyle/>
                    <a:p>
                      <a:r>
                        <a:rPr sz="1300" b="1">
                          <a:solidFill>
                            <a:srgbClr val="FFFFFF"/>
                          </a:solidFill>
                          <a:latin typeface="Source Sans 3"/>
                        </a:rPr>
                        <a:t>Found by</a:t>
                      </a:r>
                    </a:p>
                  </a:txBody>
                  <a:tcPr marL="82296" marR="64008" marT="32004" marB="32004" anchor="ctr">
                    <a:solidFill>
                      <a:srgbClr val="8A1626"/>
                    </a:solidFill>
                  </a:tcPr>
                </a:tc>
                <a:tc>
                  <a:txBody>
                    <a:bodyPr wrap="square"/>
                    <a:lstStyle/>
                    <a:p>
                      <a:r>
                        <a:rPr sz="1300" b="1">
                          <a:solidFill>
                            <a:srgbClr val="FFFFFF"/>
                          </a:solidFill>
                          <a:latin typeface="Source Sans 3"/>
                        </a:rPr>
                        <a:t>What it was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SINKKEYROWS-2</a:t>
                      </a:r>
                    </a:p>
                  </a:txBody>
                  <a:tcPr marL="82296" marR="64008" marT="32004" marB="32004" anchor="ctr">
                    <a:solidFill>
                      <a:srgbClr val="FFFFFF"/>
                    </a:solidFill>
                  </a:tcPr>
                </a:tc>
                <a:tc>
                  <a:txBody>
                    <a:bodyPr wrap="square"/>
                    <a:lstStyle/>
                    <a:p>
                      <a:r>
                        <a:rPr sz="1350" b="0">
                          <a:solidFill>
                            <a:srgbClr val="1A1A1A"/>
                          </a:solidFill>
                          <a:latin typeface="Source Sans 3"/>
                        </a:rPr>
                        <a:t>A broker test that had not run since a fix</a:t>
                      </a:r>
                    </a:p>
                  </a:txBody>
                  <a:tcPr marL="82296" marR="64008" marT="32004" marB="32004" anchor="ctr">
                    <a:solidFill>
                      <a:srgbClr val="FFFFFF"/>
                    </a:solidFill>
                  </a:tcPr>
                </a:tc>
                <a:tc>
                  <a:txBody>
                    <a:bodyPr wrap="square"/>
                    <a:lstStyle/>
                    <a:p>
                      <a:r>
                        <a:rPr sz="1350" b="0">
                          <a:solidFill>
                            <a:srgbClr val="1A1A1A"/>
                          </a:solidFill>
                          <a:latin typeface="Source Sans 3"/>
                        </a:rPr>
                        <a:t>A keyed Kafka sink saw a replaced key as a tombstone, then the value</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PGWIRETX-1</a:t>
                      </a:r>
                    </a:p>
                  </a:txBody>
                  <a:tcPr marL="82296" marR="64008" marT="32004" marB="32004" anchor="ctr">
                    <a:solidFill>
                      <a:srgbClr val="F7F5F2"/>
                    </a:solidFill>
                  </a:tcPr>
                </a:tc>
                <a:tc>
                  <a:txBody>
                    <a:bodyPr wrap="square"/>
                    <a:lstStyle/>
                    <a:p>
                      <a:r>
                        <a:rPr sz="1350" b="0">
                          <a:solidFill>
                            <a:srgbClr val="1A1A1A"/>
                          </a:solidFill>
                          <a:latin typeface="Source Sans 3"/>
                        </a:rPr>
                        <a:t>psycopg against a running stack</a:t>
                      </a:r>
                    </a:p>
                  </a:txBody>
                  <a:tcPr marL="82296" marR="64008" marT="32004" marB="32004" anchor="ctr">
                    <a:solidFill>
                      <a:srgbClr val="F7F5F2"/>
                    </a:solidFill>
                  </a:tcPr>
                </a:tc>
                <a:tc>
                  <a:txBody>
                    <a:bodyPr wrap="square"/>
                    <a:lstStyle/>
                    <a:p>
                      <a:r>
                        <a:rPr sz="1350" b="0">
                          <a:solidFill>
                            <a:srgbClr val="1A1A1A"/>
                          </a:solidFill>
                          <a:latin typeface="Source Sans 3"/>
                        </a:rPr>
                        <a:t>BEGIN refused, so default-mode clients and ORMs failed on their first read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SDKNETTYMIX-1</a:t>
                      </a:r>
                    </a:p>
                  </a:txBody>
                  <a:tcPr marL="82296" marR="64008" marT="32004" marB="32004" anchor="ctr">
                    <a:solidFill>
                      <a:srgbClr val="FFFFFF"/>
                    </a:solidFill>
                  </a:tcPr>
                </a:tc>
                <a:tc>
                  <a:txBody>
                    <a:bodyPr wrap="square"/>
                    <a:lstStyle/>
                    <a:p>
                      <a:r>
                        <a:rPr sz="1350" b="0">
                          <a:solidFill>
                            <a:srgbClr val="1A1A1A"/>
                          </a:solidFill>
                          <a:latin typeface="Source Sans 3"/>
                        </a:rPr>
                        <a:t>A Maven client outside the build</a:t>
                      </a:r>
                    </a:p>
                  </a:txBody>
                  <a:tcPr marL="82296" marR="64008" marT="32004" marB="32004" anchor="ctr">
                    <a:solidFill>
                      <a:srgbClr val="FFFFFF"/>
                    </a:solidFill>
                  </a:tcPr>
                </a:tc>
                <a:tc>
                  <a:txBody>
                    <a:bodyPr wrap="square"/>
                    <a:lstStyle/>
                    <a:p>
                      <a:r>
                        <a:rPr sz="1350" b="0">
                          <a:solidFill>
                            <a:srgbClr val="1A1A1A"/>
                          </a:solidFill>
                          <a:latin typeface="Source Sans 3"/>
                        </a:rPr>
                        <a:t>Two Netty lines resolved; the SDK failed on its first call</a:t>
                      </a:r>
                    </a:p>
                  </a:txBody>
                  <a:tcPr marL="82296" marR="64008" marT="32004" marB="32004" anchor="ctr">
                    <a:solidFill>
                      <a:srgbClr val="FFFFFF"/>
                    </a:solidFill>
                  </a:tcPr>
                </a:tc>
              </a:tr>
              <a:tr h="551383">
                <a:tc>
                  <a:txBody>
                    <a:bodyPr wrap="square"/>
                    <a:lstStyle/>
                    <a:p>
                      <a:r>
                        <a:rPr sz="1350" b="1">
                          <a:solidFill>
                            <a:srgbClr val="8A1626"/>
                          </a:solidFill>
                          <a:latin typeface="Source Sans 3"/>
                        </a:rPr>
                        <a:t>VIEWW-1</a:t>
                      </a:r>
                    </a:p>
                  </a:txBody>
                  <a:tcPr marL="82296" marR="64008" marT="32004" marB="32004" anchor="ctr">
                    <a:solidFill>
                      <a:srgbClr val="F7F5F2"/>
                    </a:solidFill>
                  </a:tcPr>
                </a:tc>
                <a:tc>
                  <a:txBody>
                    <a:bodyPr wrap="square"/>
                    <a:lstStyle/>
                    <a:p>
                      <a:r>
                        <a:rPr sz="1350" b="0">
                          <a:solidFill>
                            <a:srgbClr val="1A1A1A"/>
                          </a:solidFill>
                          <a:latin typeface="Source Sans 3"/>
                        </a:rPr>
                        <a:t>The property test the research paper asked for</a:t>
                      </a:r>
                    </a:p>
                  </a:txBody>
                  <a:tcPr marL="82296" marR="64008" marT="32004" marB="32004" anchor="ctr">
                    <a:solidFill>
                      <a:srgbClr val="F7F5F2"/>
                    </a:solidFill>
                  </a:tcPr>
                </a:tc>
                <a:tc>
                  <a:txBody>
                    <a:bodyPr wrap="square"/>
                    <a:lstStyle/>
                    <a:p>
                      <a:r>
                        <a:rPr sz="1350" b="0">
                          <a:solidFill>
                            <a:srgbClr val="1A1A1A"/>
                          </a:solidFill>
                          <a:latin typeface="Source Sans 3"/>
                        </a:rPr>
                        <a:t>A key could show the row just retracted; fails 5 of 5 on the old code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TESTNAME-1</a:t>
                      </a:r>
                    </a:p>
                  </a:txBody>
                  <a:tcPr marL="82296" marR="64008" marT="32004" marB="32004" anchor="ctr">
                    <a:solidFill>
                      <a:srgbClr val="FFFFFF"/>
                    </a:solidFill>
                  </a:tcPr>
                </a:tc>
                <a:tc>
                  <a:txBody>
                    <a:bodyPr wrap="square"/>
                    <a:lstStyle/>
                    <a:p>
                      <a:r>
                        <a:rPr sz="1350" b="0">
                          <a:solidFill>
                            <a:srgbClr val="1A1A1A"/>
                          </a:solidFill>
                          <a:latin typeface="Source Sans 3"/>
                        </a:rPr>
                        <a:t>Closing the paper's own gaps</a:t>
                      </a:r>
                    </a:p>
                  </a:txBody>
                  <a:tcPr marL="82296" marR="64008" marT="32004" marB="32004" anchor="ctr">
                    <a:solidFill>
                      <a:srgbClr val="FFFFFF"/>
                    </a:solidFill>
                  </a:tcPr>
                </a:tc>
                <a:tc>
                  <a:txBody>
                    <a:bodyPr wrap="square"/>
                    <a:lstStyle/>
                    <a:p>
                      <a:r>
                        <a:rPr sz="1350" b="0">
                          <a:solidFill>
                            <a:srgbClr val="1A1A1A"/>
                          </a:solidFill>
                          <a:latin typeface="Source Sans 3"/>
                        </a:rPr>
                        <a:t>A property test whose name no test runner matched had never run</a:t>
                      </a:r>
                    </a:p>
                  </a:txBody>
                  <a:tcPr marL="82296" marR="64008" marT="32004" marB="32004" anchor="ctr">
                    <a:solidFill>
                      <a:srgbClr val="FFFF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2026-10-01 · DOCS/PROJECT/QA/SUMMARY.MD</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322 cases written to break a promise, each naming the promise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91</a:t>
            </a:r>
          </a:p>
        </p:txBody>
      </p:sp>
      <p:sp>
        <p:nvSpPr>
          <p:cNvPr id="10" name="Rectangle 9"/>
          <p:cNvSpPr/>
          <p:nvPr/>
        </p:nvSpPr>
        <p:spPr>
          <a:xfrm>
            <a:off x="777240"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322</a:t>
            </a:r>
          </a:p>
        </p:txBody>
      </p:sp>
      <p:sp>
        <p:nvSpPr>
          <p:cNvPr id="13" name="TextBox 12"/>
          <p:cNvSpPr txBox="1"/>
          <p:nvPr/>
        </p:nvSpPr>
        <p:spPr>
          <a:xfrm>
            <a:off x="978408"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Cases in two passes: engine, data and security; surfaces, operations, packaging</a:t>
            </a:r>
          </a:p>
        </p:txBody>
      </p:sp>
      <p:sp>
        <p:nvSpPr>
          <p:cNvPr id="14" name="Rectangle 13"/>
          <p:cNvSpPr/>
          <p:nvPr/>
        </p:nvSpPr>
        <p:spPr>
          <a:xfrm>
            <a:off x="3486835"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66</a:t>
            </a:r>
          </a:p>
        </p:txBody>
      </p:sp>
      <p:sp>
        <p:nvSpPr>
          <p:cNvPr id="17" name="TextBox 16"/>
          <p:cNvSpPr txBox="1"/>
          <p:nvPr/>
        </p:nvSpPr>
        <p:spPr>
          <a:xfrm>
            <a:off x="3688003"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Failed; 244 passed; 12 blocked or not run, each with its reason</a:t>
            </a:r>
          </a:p>
        </p:txBody>
      </p:sp>
      <p:sp>
        <p:nvSpPr>
          <p:cNvPr id="18" name="Rectangle 17"/>
          <p:cNvSpPr/>
          <p:nvPr/>
        </p:nvSpPr>
        <p:spPr>
          <a:xfrm>
            <a:off x="6196431"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46</a:t>
            </a:r>
          </a:p>
        </p:txBody>
      </p:sp>
      <p:sp>
        <p:nvSpPr>
          <p:cNvPr id="21" name="TextBox 20"/>
          <p:cNvSpPr txBox="1"/>
          <p:nvPr/>
        </p:nvSpPr>
        <p:spPr>
          <a:xfrm>
            <a:off x="6397599"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Defects — 10 high, 17 medium, 19 low — and 4 design notes</a:t>
            </a:r>
          </a:p>
        </p:txBody>
      </p:sp>
      <p:sp>
        <p:nvSpPr>
          <p:cNvPr id="22" name="Rectangle 21"/>
          <p:cNvSpPr/>
          <p:nvPr/>
        </p:nvSpPr>
        <p:spPr>
          <a:xfrm>
            <a:off x="8906027"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All 50 fixed in three waves by 2 October, reproductions switched on</a:t>
            </a:r>
          </a:p>
        </p:txBody>
      </p:sp>
      <p:sp>
        <p:nvSpPr>
          <p:cNvPr id="26" name="TextBox 25"/>
          <p:cNvSpPr txBox="1"/>
          <p:nvPr/>
        </p:nvSpPr>
        <p:spPr>
          <a:xfrm>
            <a:off x="777240" y="2682443"/>
            <a:ext cx="10637215" cy="35629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Method</a:t>
            </a:r>
          </a:p>
          <a:p>
            <a:pPr lvl="1">
              <a:lnSpc>
                <a:spcPct val="120000"/>
              </a:lnSpc>
              <a:spcBef>
                <a:spcPts val="0"/>
              </a:spcBef>
              <a:spcAft>
                <a:spcPts val="0"/>
              </a:spcAft>
            </a:pPr>
            <a:r>
              <a:rPr sz="1200" b="0">
                <a:solidFill>
                  <a:srgbClr val="4A5058"/>
                </a:solidFill>
                <a:latin typeface="Source Sans 3"/>
              </a:rPr>
              <a:t>Cases written before execution and logged with evidence (an exploratory probe shaped the expression and window cases, and the log says so). A case passes when the engine does what its documentation says; a failure needs a reproduction.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Against what</a:t>
            </a:r>
          </a:p>
          <a:p>
            <a:pPr lvl="1">
              <a:lnSpc>
                <a:spcPct val="120000"/>
              </a:lnSpc>
              <a:spcBef>
                <a:spcPts val="0"/>
              </a:spcBef>
              <a:spcAft>
                <a:spcPts val="0"/>
              </a:spcAft>
            </a:pPr>
            <a:r>
              <a:rPr sz="1200" b="0">
                <a:solidFill>
                  <a:srgbClr val="4A5058"/>
                </a:solidFill>
                <a:latin typeface="Source Sans 3"/>
              </a:rPr>
              <a:t>v2.0.0 on JDK 25, no product code changed: the embedded engine, a child JVM killed with SIGKILL, a node with four principals in two tenants, and the shipped images in a 1 GiB container, through psql, psycopg, pgjdbc, pyarrow, the CLI and the console.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WHAT HELD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seams and the governance held; the edges did not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92</a:t>
            </a:r>
          </a:p>
        </p:txBody>
      </p:sp>
      <p:sp>
        <p:nvSpPr>
          <p:cNvPr id="10" name="Rectangle 9"/>
          <p:cNvSpPr/>
          <p:nvPr/>
        </p:nvSpPr>
        <p:spPr>
          <a:xfrm>
            <a:off x="777240"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Held, against an independent oracle</a:t>
            </a:r>
          </a:p>
        </p:txBody>
      </p:sp>
      <p:sp>
        <p:nvSpPr>
          <p:cNvPr id="13" name="TextBox 12"/>
          <p:cNvSpPr txBox="1"/>
          <p:nvPr/>
        </p:nvSpPr>
        <p:spPr>
          <a:xfrm>
            <a:off x="777240"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420 seeded window runs</a:t>
            </a:r>
          </a:p>
          <a:p>
            <a:pPr lvl="1">
              <a:lnSpc>
                <a:spcPct val="120000"/>
              </a:lnSpc>
              <a:spcBef>
                <a:spcPts val="0"/>
              </a:spcBef>
              <a:spcAft>
                <a:spcPts val="0"/>
              </a:spcAft>
            </a:pPr>
            <a:r>
              <a:rPr sz="1150" b="0">
                <a:solidFill>
                  <a:srgbClr val="4A5058"/>
                </a:solidFill>
                <a:latin typeface="Source Sans 3"/>
              </a:rPr>
              <a:t>≈11,000 watermark advances compared; late data and corrections matched exactly</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40 seeds × 150 chained operations</a:t>
            </a:r>
          </a:p>
          <a:p>
            <a:pPr lvl="1">
              <a:lnSpc>
                <a:spcPct val="120000"/>
              </a:lnSpc>
              <a:spcBef>
                <a:spcPts val="0"/>
              </a:spcBef>
              <a:spcAft>
                <a:spcPts val="0"/>
              </a:spcAft>
            </a:pPr>
            <a:r>
              <a:rPr sz="1150" b="0">
                <a:solidFill>
                  <a:srgbClr val="4A5058"/>
                </a:solidFill>
                <a:latin typeface="Source Sans 3"/>
              </a:rPr>
              <a:t>Queries on queries, top-N and interval joins matched on every step</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19 SIGKILLs</a:t>
            </a:r>
          </a:p>
          <a:p>
            <a:pPr lvl="1">
              <a:lnSpc>
                <a:spcPct val="120000"/>
              </a:lnSpc>
              <a:spcBef>
                <a:spcPts val="0"/>
              </a:spcBef>
              <a:spcAft>
                <a:spcPts val="0"/>
              </a:spcAft>
            </a:pPr>
            <a:r>
              <a:rPr sz="1150" b="0">
                <a:solidFill>
                  <a:srgbClr val="4A5058"/>
                </a:solidFill>
                <a:latin typeface="Source Sans 3"/>
              </a:rPr>
              <a:t>At random points: nothing lost, nothing doubled</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9,800 random predicates</a:t>
            </a:r>
          </a:p>
          <a:p>
            <a:pPr lvl="1">
              <a:lnSpc>
                <a:spcPct val="120000"/>
              </a:lnSpc>
              <a:spcBef>
                <a:spcPts val="0"/>
              </a:spcBef>
              <a:spcAft>
                <a:spcPts val="0"/>
              </a:spcAft>
            </a:pPr>
            <a:r>
              <a:rPr sz="1150" b="0">
                <a:solidFill>
                  <a:srgbClr val="4A5058"/>
                </a:solidFill>
                <a:latin typeface="Source Sans 3"/>
              </a:rPr>
              <a:t>Interpreted and generated agreed, apart from NANNOT-1</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Masks, row filters, tenants, grants</a:t>
            </a:r>
          </a:p>
          <a:p>
            <a:pPr lvl="1">
              <a:lnSpc>
                <a:spcPct val="120000"/>
              </a:lnSpc>
              <a:spcBef>
                <a:spcPts val="0"/>
              </a:spcBef>
              <a:spcAft>
                <a:spcPts val="0"/>
              </a:spcAft>
            </a:pPr>
            <a:r>
              <a:rPr sz="1150" b="0">
                <a:solidFill>
                  <a:srgbClr val="4A5058"/>
                </a:solidFill>
                <a:latin typeface="Source Sans 3"/>
              </a:rPr>
              <a:t>Held on every read path tried; every escalation refused</a:t>
            </a:r>
          </a:p>
        </p:txBody>
      </p:sp>
      <p:sp>
        <p:nvSpPr>
          <p:cNvPr id="14" name="Rectangle 13"/>
          <p:cNvSpPr/>
          <p:nvPr/>
        </p:nvSpPr>
        <p:spPr>
          <a:xfrm>
            <a:off x="6278727"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Broke, in four classes</a:t>
            </a:r>
          </a:p>
        </p:txBody>
      </p:sp>
      <p:sp>
        <p:nvSpPr>
          <p:cNvPr id="17" name="TextBox 16"/>
          <p:cNvSpPr txBox="1"/>
          <p:nvPr/>
        </p:nvSpPr>
        <p:spPr>
          <a:xfrm>
            <a:off x="6278727"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The value domain's edges</a:t>
            </a:r>
          </a:p>
          <a:p>
            <a:pPr lvl="1">
              <a:lnSpc>
                <a:spcPct val="120000"/>
              </a:lnSpc>
              <a:spcBef>
                <a:spcPts val="0"/>
              </a:spcBef>
              <a:spcAft>
                <a:spcPts val="0"/>
              </a:spcAft>
            </a:pPr>
            <a:r>
              <a:rPr sz="1150" b="0">
                <a:solidFill>
                  <a:srgbClr val="4A5058"/>
                </a:solidFill>
                <a:latin typeface="Source Sans 3"/>
              </a:rPr>
              <a:t>Empty groups, narrow integers, −0.0 and NaN, hop alignment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Bookkeeping around recovery</a:t>
            </a:r>
          </a:p>
          <a:p>
            <a:pPr lvl="1">
              <a:lnSpc>
                <a:spcPct val="120000"/>
              </a:lnSpc>
              <a:spcBef>
                <a:spcPts val="0"/>
              </a:spcBef>
              <a:spcAft>
                <a:spcPts val="0"/>
              </a:spcAft>
            </a:pPr>
            <a:r>
              <a:rPr sz="1150" b="0">
                <a:solidFill>
                  <a:srgbClr val="4A5058"/>
                </a:solidFill>
                <a:latin typeface="Source Sans 3"/>
              </a:rPr>
              <a:t>Checksums, journal damage, a shared name's state, a lost CDC slot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What a stranger or a setting can exhaust</a:t>
            </a:r>
          </a:p>
          <a:p>
            <a:pPr lvl="1">
              <a:lnSpc>
                <a:spcPct val="120000"/>
              </a:lnSpc>
              <a:spcBef>
                <a:spcPts val="0"/>
              </a:spcBef>
              <a:spcAft>
                <a:spcPts val="0"/>
              </a:spcAft>
            </a:pPr>
            <a:r>
              <a:rPr sz="1150" b="0">
                <a:solidFill>
                  <a:srgbClr val="4A5058"/>
                </a:solidFill>
                <a:latin typeface="Source Sans 3"/>
              </a:rPr>
              <a:t>Pre-auth allocation, request bodies, a 1 ms hop over a day, a 512-byte cell</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Credentials</a:t>
            </a:r>
          </a:p>
          <a:p>
            <a:pPr lvl="1">
              <a:lnSpc>
                <a:spcPct val="120000"/>
              </a:lnSpc>
              <a:spcBef>
                <a:spcPts val="0"/>
              </a:spcBef>
              <a:spcAft>
                <a:spcPts val="0"/>
              </a:spcAft>
            </a:pPr>
            <a:r>
              <a:rPr sz="1150" b="0">
                <a:solidFill>
                  <a:srgbClr val="4A5058"/>
                </a:solidFill>
                <a:latin typeface="Source Sans 3"/>
              </a:rPr>
              <a:t>A revoked key still reading; lockout naming real users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THE TEN HIGH-SEVERITY DEFECTS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Ten severe defects in a release with one open finding</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93</a:t>
            </a:r>
          </a:p>
        </p:txBody>
      </p:sp>
      <p:graphicFrame>
        <p:nvGraphicFramePr>
          <p:cNvPr id="10" name="Table 9"/>
          <p:cNvGraphicFramePr>
            <a:graphicFrameLocks noGrp="1"/>
          </p:cNvGraphicFramePr>
          <p:nvPr/>
        </p:nvGraphicFramePr>
        <p:xfrm>
          <a:off x="777240" y="1378204"/>
          <a:ext cx="10637214" cy="3660647"/>
        </p:xfrm>
        <a:graphic>
          <a:graphicData uri="http://schemas.openxmlformats.org/drawingml/2006/table">
            <a:tbl>
              <a:tblPr firstRow="1">
                <a:tableStyleId>{5C22544A-7EE6-4342-B048-85BDC9FD1C3A}</a:tableStyleId>
              </a:tblPr>
              <a:tblGrid>
                <a:gridCol w="2291092"/>
                <a:gridCol w="5073133"/>
                <a:gridCol w="3272989"/>
              </a:tblGrid>
              <a:tr h="314198">
                <a:tc>
                  <a:txBody>
                    <a:bodyPr wrap="square"/>
                    <a:lstStyle/>
                    <a:p>
                      <a:r>
                        <a:rPr sz="1250" b="1">
                          <a:solidFill>
                            <a:srgbClr val="FFFFFF"/>
                          </a:solidFill>
                          <a:latin typeface="Source Sans 3"/>
                        </a:rPr>
                        <a:t>Finding</a:t>
                      </a:r>
                    </a:p>
                  </a:txBody>
                  <a:tcPr marL="82296" marR="64008" marT="32004" marB="32004" anchor="ctr">
                    <a:solidFill>
                      <a:srgbClr val="8A1626"/>
                    </a:solidFill>
                  </a:tcPr>
                </a:tc>
                <a:tc>
                  <a:txBody>
                    <a:bodyPr wrap="square"/>
                    <a:lstStyle/>
                    <a:p>
                      <a:r>
                        <a:rPr sz="1250" b="1">
                          <a:solidFill>
                            <a:srgbClr val="FFFFFF"/>
                          </a:solidFill>
                          <a:latin typeface="Source Sans 3"/>
                        </a:rPr>
                        <a:t>What it did</a:t>
                      </a:r>
                    </a:p>
                  </a:txBody>
                  <a:tcPr marL="82296" marR="64008" marT="32004" marB="32004" anchor="ctr">
                    <a:solidFill>
                      <a:srgbClr val="8A1626"/>
                    </a:solidFill>
                  </a:tcPr>
                </a:tc>
                <a:tc>
                  <a:txBody>
                    <a:bodyPr wrap="square"/>
                    <a:lstStyle/>
                    <a:p>
                      <a:r>
                        <a:rPr sz="1250" b="1">
                          <a:solidFill>
                            <a:srgbClr val="FFFFFF"/>
                          </a:solidFill>
                          <a:latin typeface="Source Sans 3"/>
                        </a:rPr>
                        <a:t>Fixed by</a:t>
                      </a:r>
                    </a:p>
                  </a:txBody>
                  <a:tcPr marL="82296" marR="64008" marT="32004" marB="32004" anchor="ctr">
                    <a:solidFill>
                      <a:srgbClr val="8A1626"/>
                    </a:solidFill>
                  </a:tcPr>
                </a:tc>
              </a:tr>
              <a:tr h="314198">
                <a:tc>
                  <a:txBody>
                    <a:bodyPr wrap="square"/>
                    <a:lstStyle/>
                    <a:p>
                      <a:r>
                        <a:rPr sz="1250" b="1">
                          <a:solidFill>
                            <a:srgbClr val="8A1626"/>
                          </a:solidFill>
                          <a:latin typeface="Source Sans 3"/>
                        </a:rPr>
                        <a:t>ALLNULLAGG-1</a:t>
                      </a:r>
                    </a:p>
                  </a:txBody>
                  <a:tcPr marL="82296" marR="64008" marT="32004" marB="32004" anchor="ctr">
                    <a:solidFill>
                      <a:srgbClr val="FFFFFF"/>
                    </a:solidFill>
                  </a:tcPr>
                </a:tc>
                <a:tc>
                  <a:txBody>
                    <a:bodyPr wrap="square"/>
                    <a:lstStyle/>
                    <a:p>
                      <a:r>
                        <a:rPr sz="1250" b="0">
                          <a:solidFill>
                            <a:srgbClr val="1A1A1A"/>
                          </a:solidFill>
                          <a:latin typeface="Source Sans 3"/>
                        </a:rPr>
                        <a:t>SUM/AVG/MIN/MAX of all-NULL groups published 0</a:t>
                      </a:r>
                    </a:p>
                  </a:txBody>
                  <a:tcPr marL="82296" marR="64008" marT="32004" marB="32004" anchor="ctr">
                    <a:solidFill>
                      <a:srgbClr val="FFFFFF"/>
                    </a:solidFill>
                  </a:tcPr>
                </a:tc>
                <a:tc>
                  <a:txBody>
                    <a:bodyPr wrap="square"/>
                    <a:lstStyle/>
                    <a:p>
                      <a:r>
                        <a:rPr sz="1250" b="0">
                          <a:solidFill>
                            <a:srgbClr val="1A1A1A"/>
                          </a:solidFill>
                          <a:latin typeface="Source Sans 3"/>
                        </a:rPr>
                        <a:t>NULL, as SQL says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NARROWINT-1</a:t>
                      </a:r>
                    </a:p>
                  </a:txBody>
                  <a:tcPr marL="82296" marR="64008" marT="32004" marB="32004" anchor="ctr">
                    <a:solidFill>
                      <a:srgbClr val="F7F5F2"/>
                    </a:solidFill>
                  </a:tcPr>
                </a:tc>
                <a:tc>
                  <a:txBody>
                    <a:bodyPr wrap="square"/>
                    <a:lstStyle/>
                    <a:p>
                      <a:r>
                        <a:rPr sz="1250" b="0">
                          <a:solidFill>
                            <a:srgbClr val="1A1A1A"/>
                          </a:solidFill>
                          <a:latin typeface="Source Sans 3"/>
                        </a:rPr>
                        <a:t>INT, SMALLINT, TINYINT results published wrapped</a:t>
                      </a:r>
                    </a:p>
                  </a:txBody>
                  <a:tcPr marL="82296" marR="64008" marT="32004" marB="32004" anchor="ctr">
                    <a:solidFill>
                      <a:srgbClr val="F7F5F2"/>
                    </a:solidFill>
                  </a:tcPr>
                </a:tc>
                <a:tc>
                  <a:txBody>
                    <a:bodyPr wrap="square"/>
                    <a:lstStyle/>
                    <a:p>
                      <a:r>
                        <a:rPr sz="1250" b="0">
                          <a:solidFill>
                            <a:srgbClr val="1A1A1A"/>
                          </a:solidFill>
                          <a:latin typeface="Source Sans 3"/>
                        </a:rPr>
                        <a:t>An overflow, named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FINEHOP-1</a:t>
                      </a:r>
                    </a:p>
                  </a:txBody>
                  <a:tcPr marL="82296" marR="64008" marT="32004" marB="32004" anchor="ctr">
                    <a:solidFill>
                      <a:srgbClr val="FFFFFF"/>
                    </a:solidFill>
                  </a:tcPr>
                </a:tc>
                <a:tc>
                  <a:txBody>
                    <a:bodyPr wrap="square"/>
                    <a:lstStyle/>
                    <a:p>
                      <a:r>
                        <a:rPr sz="1250" b="0">
                          <a:solidFill>
                            <a:srgbClr val="1A1A1A"/>
                          </a:solidFill>
                          <a:latin typeface="Source Sans 3"/>
                        </a:rPr>
                        <a:t>A 1 ms hop over a day wedged a lane and its stream</a:t>
                      </a:r>
                    </a:p>
                  </a:txBody>
                  <a:tcPr marL="82296" marR="64008" marT="32004" marB="32004" anchor="ctr">
                    <a:solidFill>
                      <a:srgbClr val="FFFFFF"/>
                    </a:solidFill>
                  </a:tcPr>
                </a:tc>
                <a:tc>
                  <a:txBody>
                    <a:bodyPr wrap="square"/>
                    <a:lstStyle/>
                    <a:p>
                      <a:r>
                        <a:rPr sz="1250" b="0">
                          <a:solidFill>
                            <a:srgbClr val="1A1A1A"/>
                          </a:solidFill>
                          <a:latin typeface="Source Sans 3"/>
                        </a:rPr>
                        <a:t>PRV-3026 at registration</a:t>
                      </a:r>
                    </a:p>
                  </a:txBody>
                  <a:tcPr marL="82296" marR="64008" marT="32004" marB="32004" anchor="ctr">
                    <a:solidFill>
                      <a:srgbClr val="FFFFFF"/>
                    </a:solidFill>
                  </a:tcPr>
                </a:tc>
              </a:tr>
              <a:tr h="518667">
                <a:tc>
                  <a:txBody>
                    <a:bodyPr wrap="square"/>
                    <a:lstStyle/>
                    <a:p>
                      <a:r>
                        <a:rPr sz="1250" b="1">
                          <a:solidFill>
                            <a:srgbClr val="8A1626"/>
                          </a:solidFill>
                          <a:latin typeface="Source Sans 3"/>
                        </a:rPr>
                        <a:t>JOURNALMID-1</a:t>
                      </a:r>
                    </a:p>
                  </a:txBody>
                  <a:tcPr marL="82296" marR="64008" marT="32004" marB="32004" anchor="ctr">
                    <a:solidFill>
                      <a:srgbClr val="F7F5F2"/>
                    </a:solidFill>
                  </a:tcPr>
                </a:tc>
                <a:tc>
                  <a:txBody>
                    <a:bodyPr wrap="square"/>
                    <a:lstStyle/>
                    <a:p>
                      <a:r>
                        <a:rPr sz="1250" b="0">
                          <a:solidFill>
                            <a:srgbClr val="1A1A1A"/>
                          </a:solidFill>
                          <a:latin typeface="Source Sans 3"/>
                        </a:rPr>
                        <a:t>Mid-journal damage silently dropped later registrations</a:t>
                      </a:r>
                    </a:p>
                  </a:txBody>
                  <a:tcPr marL="82296" marR="64008" marT="32004" marB="32004" anchor="ctr">
                    <a:solidFill>
                      <a:srgbClr val="F7F5F2"/>
                    </a:solidFill>
                  </a:tcPr>
                </a:tc>
                <a:tc>
                  <a:txBody>
                    <a:bodyPr wrap="square"/>
                    <a:lstStyle/>
                    <a:p>
                      <a:r>
                        <a:rPr sz="1250" b="0">
                          <a:solidFill>
                            <a:srgbClr val="1A1A1A"/>
                          </a:solidFill>
                          <a:latin typeface="Source Sans 3"/>
                        </a:rPr>
                        <a:t>PRV-8005: refuse the start</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SHAREDLOSS-1</a:t>
                      </a:r>
                    </a:p>
                  </a:txBody>
                  <a:tcPr marL="82296" marR="64008" marT="32004" marB="32004" anchor="ctr">
                    <a:solidFill>
                      <a:srgbClr val="FFFFFF"/>
                    </a:solidFill>
                  </a:tcPr>
                </a:tc>
                <a:tc>
                  <a:txBody>
                    <a:bodyPr wrap="square"/>
                    <a:lstStyle/>
                    <a:p>
                      <a:r>
                        <a:rPr sz="1250" b="0">
                          <a:solidFill>
                            <a:srgbClr val="1A1A1A"/>
                          </a:solidFill>
                          <a:latin typeface="Source Sans 3"/>
                        </a:rPr>
                        <a:t>A shared computation's surviving name restarted empty</a:t>
                      </a:r>
                    </a:p>
                  </a:txBody>
                  <a:tcPr marL="82296" marR="64008" marT="32004" marB="32004" anchor="ctr">
                    <a:solidFill>
                      <a:srgbClr val="FFFFFF"/>
                    </a:solidFill>
                  </a:tcPr>
                </a:tc>
                <a:tc>
                  <a:txBody>
                    <a:bodyPr wrap="square"/>
                    <a:lstStyle/>
                    <a:p>
                      <a:r>
                        <a:rPr sz="1250" b="0">
                          <a:solidFill>
                            <a:srgbClr val="1A1A1A"/>
                          </a:solidFill>
                          <a:latin typeface="Source Sans 3"/>
                        </a:rPr>
                        <a:t>Its home journalled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CELLBYTES-1</a:t>
                      </a:r>
                    </a:p>
                  </a:txBody>
                  <a:tcPr marL="82296" marR="64008" marT="32004" marB="32004" anchor="ctr">
                    <a:solidFill>
                      <a:srgbClr val="F7F5F2"/>
                    </a:solidFill>
                  </a:tcPr>
                </a:tc>
                <a:tc>
                  <a:txBody>
                    <a:bodyPr wrap="square"/>
                    <a:lstStyle/>
                    <a:p>
                      <a:r>
                        <a:rPr sz="1250" b="0">
                          <a:solidFill>
                            <a:srgbClr val="1A1A1A"/>
                          </a:solidFill>
                          <a:latin typeface="Source Sans 3"/>
                        </a:rPr>
                        <a:t>Embedded: a row over 512 bytes stopped every query</a:t>
                      </a:r>
                    </a:p>
                  </a:txBody>
                  <a:tcPr marL="82296" marR="64008" marT="32004" marB="32004" anchor="ctr">
                    <a:solidFill>
                      <a:srgbClr val="F7F5F2"/>
                    </a:solidFill>
                  </a:tcPr>
                </a:tc>
                <a:tc>
                  <a:txBody>
                    <a:bodyPr wrap="square"/>
                    <a:lstStyle/>
                    <a:p>
                      <a:r>
                        <a:rPr sz="1250" b="0">
                          <a:solidFill>
                            <a:srgbClr val="1A1A1A"/>
                          </a:solidFill>
                          <a:latin typeface="Source Sans 3"/>
                        </a:rPr>
                        <a:t>Settings read; row refused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PGPREAUTH-1</a:t>
                      </a:r>
                    </a:p>
                  </a:txBody>
                  <a:tcPr marL="82296" marR="64008" marT="32004" marB="32004" anchor="ctr">
                    <a:solidFill>
                      <a:srgbClr val="FFFFFF"/>
                    </a:solidFill>
                  </a:tcPr>
                </a:tc>
                <a:tc>
                  <a:txBody>
                    <a:bodyPr wrap="square"/>
                    <a:lstStyle/>
                    <a:p>
                      <a:r>
                        <a:rPr sz="1250" b="0">
                          <a:solidFill>
                            <a:srgbClr val="1A1A1A"/>
                          </a:solidFill>
                          <a:latin typeface="Source Sans 3"/>
                        </a:rPr>
                        <a:t>60 silent pgwire sockets ended a 1 GiB node</a:t>
                      </a:r>
                    </a:p>
                  </a:txBody>
                  <a:tcPr marL="82296" marR="64008" marT="32004" marB="32004" anchor="ctr">
                    <a:solidFill>
                      <a:srgbClr val="FFFFFF"/>
                    </a:solidFill>
                  </a:tcPr>
                </a:tc>
                <a:tc>
                  <a:txBody>
                    <a:bodyPr wrap="square"/>
                    <a:lstStyle/>
                    <a:p>
                      <a:r>
                        <a:rPr sz="1250" b="0">
                          <a:solidFill>
                            <a:srgbClr val="1A1A1A"/>
                          </a:solidFill>
                          <a:latin typeface="Source Sans 3"/>
                        </a:rPr>
                        <a:t>16 KiB pre-auth, capped sockets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HTTPBODY-1</a:t>
                      </a:r>
                    </a:p>
                  </a:txBody>
                  <a:tcPr marL="82296" marR="64008" marT="32004" marB="32004" anchor="ctr">
                    <a:solidFill>
                      <a:srgbClr val="F7F5F2"/>
                    </a:solidFill>
                  </a:tcPr>
                </a:tc>
                <a:tc>
                  <a:txBody>
                    <a:bodyPr wrap="square"/>
                    <a:lstStyle/>
                    <a:p>
                      <a:r>
                        <a:rPr sz="1250" b="0">
                          <a:solidFill>
                            <a:srgbClr val="1A1A1A"/>
                          </a:solidFill>
                          <a:latin typeface="Source Sans 3"/>
                        </a:rPr>
                        <a:t>30 anonymous 19 MB sign-ins did the same</a:t>
                      </a:r>
                    </a:p>
                  </a:txBody>
                  <a:tcPr marL="82296" marR="64008" marT="32004" marB="32004" anchor="ctr">
                    <a:solidFill>
                      <a:srgbClr val="F7F5F2"/>
                    </a:solidFill>
                  </a:tcPr>
                </a:tc>
                <a:tc>
                  <a:txBody>
                    <a:bodyPr wrap="square"/>
                    <a:lstStyle/>
                    <a:p>
                      <a:r>
                        <a:rPr sz="1250" b="0">
                          <a:solidFill>
                            <a:srgbClr val="1A1A1A"/>
                          </a:solidFill>
                          <a:latin typeface="Source Sans 3"/>
                        </a:rPr>
                        <a:t>413 before the body is read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PGREVOKE-1</a:t>
                      </a:r>
                    </a:p>
                  </a:txBody>
                  <a:tcPr marL="82296" marR="64008" marT="32004" marB="32004" anchor="ctr">
                    <a:solidFill>
                      <a:srgbClr val="FFFFFF"/>
                    </a:solidFill>
                  </a:tcPr>
                </a:tc>
                <a:tc>
                  <a:txBody>
                    <a:bodyPr wrap="square"/>
                    <a:lstStyle/>
                    <a:p>
                      <a:r>
                        <a:rPr sz="1250" b="0">
                          <a:solidFill>
                            <a:srgbClr val="1A1A1A"/>
                          </a:solidFill>
                          <a:latin typeface="Source Sans 3"/>
                        </a:rPr>
                        <a:t>A revoked credential kept reading on pgwire</a:t>
                      </a:r>
                    </a:p>
                  </a:txBody>
                  <a:tcPr marL="82296" marR="64008" marT="32004" marB="32004" anchor="ctr">
                    <a:solidFill>
                      <a:srgbClr val="FFFFFF"/>
                    </a:solidFill>
                  </a:tcPr>
                </a:tc>
                <a:tc>
                  <a:txBody>
                    <a:bodyPr wrap="square"/>
                    <a:lstStyle/>
                    <a:p>
                      <a:r>
                        <a:rPr sz="1250" b="0">
                          <a:solidFill>
                            <a:srgbClr val="1A1A1A"/>
                          </a:solidFill>
                          <a:latin typeface="Source Sans 3"/>
                        </a:rPr>
                        <a:t>Re-verified every statement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CDCSLOT-1</a:t>
                      </a:r>
                    </a:p>
                  </a:txBody>
                  <a:tcPr marL="82296" marR="64008" marT="32004" marB="32004" anchor="ctr">
                    <a:solidFill>
                      <a:srgbClr val="F7F5F2"/>
                    </a:solidFill>
                  </a:tcPr>
                </a:tc>
                <a:tc>
                  <a:txBody>
                    <a:bodyPr wrap="square"/>
                    <a:lstStyle/>
                    <a:p>
                      <a:r>
                        <a:rPr sz="1250" b="0">
                          <a:solidFill>
                            <a:srgbClr val="1A1A1A"/>
                          </a:solidFill>
                          <a:latin typeface="Source Sans 3"/>
                        </a:rPr>
                        <a:t>A dropped CDC slot: RUNNING, UP, changes lost</a:t>
                      </a:r>
                    </a:p>
                  </a:txBody>
                  <a:tcPr marL="82296" marR="64008" marT="32004" marB="32004" anchor="ctr">
                    <a:solidFill>
                      <a:srgbClr val="F7F5F2"/>
                    </a:solidFill>
                  </a:tcPr>
                </a:tc>
                <a:tc>
                  <a:txBody>
                    <a:bodyPr wrap="square"/>
                    <a:lstStyle/>
                    <a:p>
                      <a:r>
                        <a:rPr sz="1250" b="0">
                          <a:solidFill>
                            <a:srgbClr val="1A1A1A"/>
                          </a:solidFill>
                          <a:latin typeface="Source Sans 3"/>
                        </a:rPr>
                        <a:t>PRV-5117; health DEGRADED</a:t>
                      </a:r>
                    </a:p>
                  </a:txBody>
                  <a:tcPr marL="82296" marR="64008" marT="32004" marB="32004" anchor="ctr">
                    <a:solidFill>
                      <a:srgbClr val="F7F5F2"/>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 A 1 GIB CONTAINER, THE IMAGE'S DEFAULTS, JDK 25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an unauthenticated client could do to the heap, before and after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Single replays, recorded with the findings: they bound the attack on this configuration and say nothing about throughput. TLS was not exercised; Npgsql was not run (no .NET here).</a:t>
            </a:r>
          </a:p>
        </p:txBody>
      </p:sp>
      <p:graphicFrame>
        <p:nvGraphicFramePr>
          <p:cNvPr id="12" name="Table 11"/>
          <p:cNvGraphicFramePr>
            <a:graphicFrameLocks noGrp="1"/>
          </p:cNvGraphicFramePr>
          <p:nvPr/>
        </p:nvGraphicFramePr>
        <p:xfrm>
          <a:off x="777240" y="1623568"/>
          <a:ext cx="10637214" cy="2712616"/>
        </p:xfrm>
        <a:graphic>
          <a:graphicData uri="http://schemas.openxmlformats.org/drawingml/2006/table">
            <a:tbl>
              <a:tblPr firstRow="1">
                <a:tableStyleId>{5C22544A-7EE6-4342-B048-85BDC9FD1C3A}</a:tableStyleId>
              </a:tblPr>
              <a:tblGrid>
                <a:gridCol w="3822749"/>
                <a:gridCol w="3490336"/>
                <a:gridCol w="3324129"/>
              </a:tblGrid>
              <a:tr h="322376">
                <a:tc>
                  <a:txBody>
                    <a:bodyPr wrap="square"/>
                    <a:lstStyle/>
                    <a:p>
                      <a:r>
                        <a:rPr sz="1300" b="1">
                          <a:solidFill>
                            <a:srgbClr val="FFFFFF"/>
                          </a:solidFill>
                          <a:latin typeface="Source Sans 3"/>
                        </a:rPr>
                        <a:t>Attack</a:t>
                      </a:r>
                    </a:p>
                  </a:txBody>
                  <a:tcPr marL="82296" marR="64008" marT="32004" marB="32004" anchor="ctr">
                    <a:solidFill>
                      <a:srgbClr val="8A1626"/>
                    </a:solidFill>
                  </a:tcPr>
                </a:tc>
                <a:tc>
                  <a:txBody>
                    <a:bodyPr wrap="square"/>
                    <a:lstStyle/>
                    <a:p>
                      <a:r>
                        <a:rPr sz="1300" b="1">
                          <a:solidFill>
                            <a:srgbClr val="FFFFFF"/>
                          </a:solidFill>
                          <a:latin typeface="Source Sans 3"/>
                        </a:rPr>
                        <a:t>Release 2.0.0</a:t>
                      </a:r>
                    </a:p>
                  </a:txBody>
                  <a:tcPr marL="82296" marR="64008" marT="32004" marB="32004" anchor="ctr">
                    <a:solidFill>
                      <a:srgbClr val="8A1626"/>
                    </a:solidFill>
                  </a:tcPr>
                </a:tc>
                <a:tc>
                  <a:txBody>
                    <a:bodyPr wrap="square"/>
                    <a:lstStyle/>
                    <a:p>
                      <a:r>
                        <a:rPr sz="1300" b="1">
                          <a:solidFill>
                            <a:srgbClr val="FFFFFF"/>
                          </a:solidFill>
                          <a:latin typeface="Source Sans 3"/>
                        </a:rPr>
                        <a:t>After the fix</a:t>
                      </a:r>
                    </a:p>
                  </a:txBody>
                  <a:tcPr marL="82296" marR="64008" marT="32004" marB="32004" anchor="ctr">
                    <a:solidFill>
                      <a:srgbClr val="8A1626"/>
                    </a:solidFill>
                  </a:tcPr>
                </a:tc>
              </a:tr>
              <a:tr h="796747">
                <a:tc>
                  <a:txBody>
                    <a:bodyPr wrap="square"/>
                    <a:lstStyle/>
                    <a:p>
                      <a:r>
                        <a:rPr sz="1400" b="1">
                          <a:solidFill>
                            <a:srgbClr val="8A1626"/>
                          </a:solidFill>
                          <a:latin typeface="Source Sans 3"/>
                        </a:rPr>
                        <a:t>pgwire sockets, each declaring a 16 MiB password message (PGPREAUTH-1)</a:t>
                      </a:r>
                    </a:p>
                  </a:txBody>
                  <a:tcPr marL="82296" marR="64008" marT="32004" marB="32004" anchor="ctr">
                    <a:solidFill>
                      <a:srgbClr val="FFFFFF"/>
                    </a:solidFill>
                  </a:tcPr>
                </a:tc>
                <a:tc>
                  <a:txBody>
                    <a:bodyPr wrap="square"/>
                    <a:lstStyle/>
                    <a:p>
                      <a:r>
                        <a:rPr sz="1400" b="0">
                          <a:solidFill>
                            <a:srgbClr val="1A1A1A"/>
                          </a:solidFill>
                          <a:latin typeface="Source Sans 3"/>
                        </a:rPr>
                        <a:t>60 sockets: OutOfMemoryError, container exit 3</a:t>
                      </a:r>
                    </a:p>
                  </a:txBody>
                  <a:tcPr marL="82296" marR="64008" marT="32004" marB="32004" anchor="ctr">
                    <a:solidFill>
                      <a:srgbClr val="FFFFFF"/>
                    </a:solidFill>
                  </a:tcPr>
                </a:tc>
                <a:tc>
                  <a:txBody>
                    <a:bodyPr wrap="square"/>
                    <a:lstStyle/>
                    <a:p>
                      <a:r>
                        <a:rPr sz="1400" b="0">
                          <a:solidFill>
                            <a:srgbClr val="1A1A1A"/>
                          </a:solidFill>
                          <a:latin typeface="Source Sans 3"/>
                        </a:rPr>
                        <a:t>60 and 300 sockets: heap ≤ 272 MiB, node UP</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Concurrent anonymous sign-ins with a 19 MB body (HTTPBODY-1)</a:t>
                      </a:r>
                    </a:p>
                  </a:txBody>
                  <a:tcPr marL="82296" marR="64008" marT="32004" marB="32004" anchor="ctr">
                    <a:solidFill>
                      <a:srgbClr val="F7F5F2"/>
                    </a:solidFill>
                  </a:tcPr>
                </a:tc>
                <a:tc>
                  <a:txBody>
                    <a:bodyPr wrap="square"/>
                    <a:lstStyle/>
                    <a:p>
                      <a:r>
                        <a:rPr sz="1400" b="0">
                          <a:solidFill>
                            <a:srgbClr val="1A1A1A"/>
                          </a:solidFill>
                          <a:latin typeface="Source Sans 3"/>
                        </a:rPr>
                        <a:t>30 at once: OutOfMemoryError, container exit 3</a:t>
                      </a:r>
                    </a:p>
                  </a:txBody>
                  <a:tcPr marL="82296" marR="64008" marT="32004" marB="32004" anchor="ctr">
                    <a:solidFill>
                      <a:srgbClr val="F7F5F2"/>
                    </a:solidFill>
                  </a:tcPr>
                </a:tc>
                <a:tc>
                  <a:txBody>
                    <a:bodyPr wrap="square"/>
                    <a:lstStyle/>
                    <a:p>
                      <a:r>
                        <a:rPr sz="1400" b="0">
                          <a:solidFill>
                            <a:srgbClr val="1A1A1A"/>
                          </a:solidFill>
                          <a:latin typeface="Source Sans 3"/>
                        </a:rPr>
                        <a:t>3 bursts of 30: heap ≤ 276 MiB, node UP</a:t>
                      </a:r>
                    </a:p>
                  </a:txBody>
                  <a:tcPr marL="82296" marR="64008" marT="32004" marB="32004" anchor="ctr">
                    <a:solidFill>
                      <a:srgbClr val="F7F5F2"/>
                    </a:solidFill>
                  </a:tcPr>
                </a:tc>
              </a:tr>
              <a:tr h="1025753">
                <a:tc>
                  <a:txBody>
                    <a:bodyPr wrap="square"/>
                    <a:lstStyle/>
                    <a:p>
                      <a:r>
                        <a:rPr sz="1400" b="1">
                          <a:solidFill>
                            <a:srgbClr val="8A1626"/>
                          </a:solidFill>
                          <a:latin typeface="Source Sans 3"/>
                        </a:rPr>
                        <a:t>Both, on a node with -Xmx1g and no exit on error</a:t>
                      </a:r>
                    </a:p>
                  </a:txBody>
                  <a:tcPr marL="82296" marR="64008" marT="32004" marB="32004" anchor="ctr">
                    <a:solidFill>
                      <a:srgbClr val="FFFFFF"/>
                    </a:solidFill>
                  </a:tcPr>
                </a:tc>
                <a:tc>
                  <a:txBody>
                    <a:bodyPr wrap="square"/>
                    <a:lstStyle/>
                    <a:p>
                      <a:r>
                        <a:rPr sz="1400" b="0">
                          <a:solidFill>
                            <a:srgbClr val="1A1A1A"/>
                          </a:solidFill>
                          <a:latin typeface="Source Sans 3"/>
                        </a:rPr>
                        <a:t>100 sockets: heap 1,043,804 of 1,048,576 KiB, 42 OutOfMemoryErrors; 30 sign-ins: 38</a:t>
                      </a:r>
                    </a:p>
                  </a:txBody>
                  <a:tcPr marL="82296" marR="64008" marT="32004" marB="32004" anchor="ctr">
                    <a:solidFill>
                      <a:srgbClr val="FFFFFF"/>
                    </a:solidFill>
                  </a:tcPr>
                </a:tc>
                <a:tc>
                  <a:txBody>
                    <a:bodyPr wrap="square"/>
                    <a:lstStyle/>
                    <a:p>
                      <a:r>
                        <a:rPr sz="1400" b="0">
                          <a:solidFill>
                            <a:srgbClr val="1A1A1A"/>
                          </a:solidFill>
                          <a:latin typeface="Source Sans 3"/>
                        </a:rPr>
                        <a: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FROM FINDING TO FIX · 2026-10-01 TO 10-02</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Three waves, each fix with its reproduction switched on</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95</a:t>
            </a:r>
          </a:p>
        </p:txBody>
      </p:sp>
      <p:sp>
        <p:nvSpPr>
          <p:cNvPr id="10" name="Rectangle 9"/>
          <p:cNvSpPr/>
          <p:nvPr/>
        </p:nvSpPr>
        <p:spPr>
          <a:xfrm>
            <a:off x="777240"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Two passes</a:t>
            </a:r>
          </a:p>
        </p:txBody>
      </p:sp>
      <p:sp>
        <p:nvSpPr>
          <p:cNvPr id="13" name="TextBox 12"/>
          <p:cNvSpPr txBox="1"/>
          <p:nvPr/>
        </p:nvSpPr>
        <p:spPr>
          <a:xfrm>
            <a:off x="960120"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322 cases written first; every verdict logged with evidence</a:t>
            </a:r>
          </a:p>
        </p:txBody>
      </p:sp>
      <p:sp>
        <p:nvSpPr>
          <p:cNvPr id="14" name="Rectangle 13"/>
          <p:cNvSpPr/>
          <p:nvPr/>
        </p:nvSpPr>
        <p:spPr>
          <a:xfrm>
            <a:off x="2959547"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1</a:t>
            </a:r>
          </a:p>
        </p:txBody>
      </p:sp>
      <p:sp>
        <p:nvSpPr>
          <p:cNvPr id="17" name="TextBox 16"/>
          <p:cNvSpPr txBox="1"/>
          <p:nvPr/>
        </p:nvSpPr>
        <p:spPr>
          <a:xfrm>
            <a:off x="3142427"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5058"/>
                </a:solidFill>
                <a:latin typeface="Source Sans 3"/>
              </a:rPr>
              <a:t>The ten high: answers, recovery, heap, credentials</a:t>
            </a:r>
          </a:p>
        </p:txBody>
      </p:sp>
      <p:cxnSp>
        <p:nvCxnSpPr>
          <p:cNvPr id="18" name="Connector 17"/>
          <p:cNvCxnSpPr/>
          <p:nvPr/>
        </p:nvCxnSpPr>
        <p:spPr>
          <a:xfrm>
            <a:off x="272180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2</a:t>
            </a:r>
          </a:p>
        </p:txBody>
      </p:sp>
      <p:sp>
        <p:nvSpPr>
          <p:cNvPr id="22" name="TextBox 21"/>
          <p:cNvSpPr txBox="1"/>
          <p:nvPr/>
        </p:nvSpPr>
        <p:spPr>
          <a:xfrm>
            <a:off x="5324734"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seventeen medium: casts, checksums, grouping, hops, DLQ</a:t>
            </a:r>
          </a:p>
        </p:txBody>
      </p:sp>
      <p:cxnSp>
        <p:nvCxnSpPr>
          <p:cNvPr id="23" name="Connector 22"/>
          <p:cNvCxnSpPr/>
          <p:nvPr/>
        </p:nvCxnSpPr>
        <p:spPr>
          <a:xfrm>
            <a:off x="4904110"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3</a:t>
            </a:r>
          </a:p>
        </p:txBody>
      </p:sp>
      <p:sp>
        <p:nvSpPr>
          <p:cNvPr id="27" name="TextBox 26"/>
          <p:cNvSpPr txBox="1"/>
          <p:nvPr/>
        </p:nvSpPr>
        <p:spPr>
          <a:xfrm>
            <a:off x="7507041"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nineteen low and the four design notes</a:t>
            </a:r>
          </a:p>
        </p:txBody>
      </p:sp>
      <p:cxnSp>
        <p:nvCxnSpPr>
          <p:cNvPr id="28" name="Connector 27"/>
          <p:cNvCxnSpPr/>
          <p:nvPr/>
        </p:nvCxnSpPr>
        <p:spPr>
          <a:xfrm>
            <a:off x="708641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a:t>
            </a:r>
          </a:p>
        </p:txBody>
      </p:sp>
      <p:sp>
        <p:nvSpPr>
          <p:cNvPr id="32" name="TextBox 31"/>
          <p:cNvSpPr txBox="1"/>
          <p:nvPr/>
        </p:nvSpPr>
        <p:spPr>
          <a:xfrm>
            <a:off x="9689348"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553 findings, 1 open; 3 more found while fixing, fixed</a:t>
            </a:r>
          </a:p>
        </p:txBody>
      </p:sp>
      <p:cxnSp>
        <p:nvCxnSpPr>
          <p:cNvPr id="33" name="Connector 32"/>
          <p:cNvCxnSpPr/>
          <p:nvPr/>
        </p:nvCxnSpPr>
        <p:spPr>
          <a:xfrm>
            <a:off x="9268724"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Kept, not thrown away</a:t>
            </a:r>
          </a:p>
          <a:p>
            <a:pPr lvl="1">
              <a:lnSpc>
                <a:spcPct val="120000"/>
              </a:lnSpc>
              <a:spcBef>
                <a:spcPts val="0"/>
              </a:spcBef>
              <a:spcAft>
                <a:spcPts val="0"/>
              </a:spcAft>
            </a:pPr>
            <a:r>
              <a:rPr sz="1150" b="0">
                <a:solidFill>
                  <a:srgbClr val="4A5058"/>
                </a:solidFill>
                <a:latin typeface="Source Sans 3"/>
              </a:rPr>
              <a:t>The engine round's reproductions stay in pravaha-it (opt-in, -Dpravaha.qa.adversarial=true) and the surface round's in tests/qa/adv_surface, against a running node.</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Two narrower fixes, and why</a:t>
            </a:r>
          </a:p>
          <a:p>
            <a:pPr lvl="1">
              <a:lnSpc>
                <a:spcPct val="120000"/>
              </a:lnSpc>
              <a:spcBef>
                <a:spcPts val="0"/>
              </a:spcBef>
              <a:spcAft>
                <a:spcPts val="0"/>
              </a:spcAft>
            </a:pPr>
            <a:r>
              <a:rPr sz="1150" b="0">
                <a:solidFill>
                  <a:srgbClr val="4A5058"/>
                </a:solidFill>
                <a:latin typeface="Source Sans 3"/>
              </a:rPr>
              <a:t>No per-record journal checksum: a 2.0.0 node would read it as a torn tail. MIN/MAX over retractions refused rather than supported: that needs per-slice value multisets.</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The uncomfortable lesson</a:t>
            </a:r>
          </a:p>
          <a:p>
            <a:pPr lvl="1">
              <a:lnSpc>
                <a:spcPct val="120000"/>
              </a:lnSpc>
              <a:spcBef>
                <a:spcPts val="0"/>
              </a:spcBef>
              <a:spcAft>
                <a:spcPts val="0"/>
              </a:spcAft>
            </a:pPr>
            <a:r>
              <a:rPr sz="1150" b="0">
                <a:solidFill>
                  <a:srgbClr val="4A5058"/>
                </a:solidFill>
                <a:latin typeface="Source Sans 3"/>
              </a:rPr>
              <a:t>A green reactor of 4,832 tests still held 46 defects. “None open” describes what has been looked for.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 · DOCS/OPERATIONS/COMPATIBILITY.MD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2.x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96</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2.x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Java 25, and the language and APIs</a:t>
            </a:r>
          </a:p>
          <a:p>
            <a:pPr lvl="1">
              <a:lnSpc>
                <a:spcPct val="120000"/>
              </a:lnSpc>
              <a:spcBef>
                <a:spcPts val="0"/>
              </a:spcBef>
              <a:spcAft>
                <a:spcPts val="0"/>
              </a:spcAft>
            </a:pPr>
            <a:r>
              <a:rPr sz="1200" b="0">
                <a:solidFill>
                  <a:srgbClr val="4A5058"/>
                </a:solidFill>
                <a:latin typeface="Source Sans 3"/>
              </a:rPr>
              <a:t>JDK 25 the minimum through 2.x. The SQL dialect; the SDKs; every /api/v1 path and field (an OpenAPI lock checks it); Flight verbs and columns; what pgwire clients send.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Operations</a:t>
            </a:r>
          </a:p>
          <a:p>
            <a:pPr lvl="1">
              <a:lnSpc>
                <a:spcPct val="120000"/>
              </a:lnSpc>
              <a:spcBef>
                <a:spcPts val="0"/>
              </a:spcBef>
              <a:spcAft>
                <a:spcPts val="0"/>
              </a:spcAft>
            </a:pPr>
            <a:r>
              <a:rPr sz="1200" b="0">
                <a:solidFill>
                  <a:srgbClr val="4A5058"/>
                </a:solidFill>
                <a:latin typeface="Source Sans 3"/>
              </a:rPr>
              <a:t>PRV codes and SQLSTATEs, never reused; CLI commands and exit codes; pravaha.* keys; metric names; the /opt/pravaha layout.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State on disk</a:t>
            </a:r>
          </a:p>
          <a:p>
            <a:pPr lvl="1">
              <a:lnSpc>
                <a:spcPct val="120000"/>
              </a:lnSpc>
              <a:spcBef>
                <a:spcPts val="0"/>
              </a:spcBef>
              <a:spcAft>
                <a:spcPts val="0"/>
              </a:spcAft>
            </a:pPr>
            <a:r>
              <a:rPr sz="1200" b="0">
                <a:solidFill>
                  <a:srgbClr val="4A5058"/>
                </a:solidFill>
                <a:latin typeface="Source Sans 3"/>
              </a:rPr>
              <a:t>A 2.x node reads what any 1.x or 2.x wrote. Going back is not promised.</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in 2.0</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The assistant</a:t>
            </a:r>
          </a:p>
          <a:p>
            <a:pPr lvl="1">
              <a:lnSpc>
                <a:spcPct val="120000"/>
              </a:lnSpc>
              <a:spcBef>
                <a:spcPts val="0"/>
              </a:spcBef>
              <a:spcAft>
                <a:spcPts val="0"/>
              </a:spcAft>
            </a:pPr>
            <a:r>
              <a:rPr sz="1200" b="0">
                <a:solidFill>
                  <a:srgbClr val="4A5058"/>
                </a:solidFill>
                <a:latin typeface="Source Sans 3"/>
              </a:rPr>
              <a:t>Works and is tested; may change in a minor release.</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catalogue beyond phases 1–2</a:t>
            </a:r>
          </a:p>
          <a:p>
            <a:pPr lvl="1">
              <a:lnSpc>
                <a:spcPct val="120000"/>
              </a:lnSpc>
              <a:spcBef>
                <a:spcPts val="0"/>
              </a:spcBef>
              <a:spcAft>
                <a:spcPts val="0"/>
              </a:spcAft>
            </a:pPr>
            <a:r>
              <a:rPr sz="1200" b="0">
                <a:solidFill>
                  <a:srgbClr val="4A5058"/>
                </a:solidFill>
                <a:latin typeface="Source Sans 3"/>
              </a:rPr>
              <a:t>Grants, namespaces, filters and masks are stable; lineage and contracts are not built.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Cluster mode (wave 11)</a:t>
            </a:r>
          </a:p>
          <a:p>
            <a:pPr lvl="1">
              <a:lnSpc>
                <a:spcPct val="120000"/>
              </a:lnSpc>
              <a:spcBef>
                <a:spcPts val="0"/>
              </a:spcBef>
              <a:spcAft>
                <a:spcPts val="0"/>
              </a:spcAft>
            </a:pPr>
            <a:r>
              <a:rPr sz="1200" b="0">
                <a:solidFill>
                  <a:srgbClr val="4A5058"/>
                </a:solidFill>
                <a:latin typeface="Source Sans 3"/>
              </a:rPr>
              <a:t>On hold; when it comes, a 2.x addition a single node need not adopt.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 patch may change an answer</a:t>
            </a:r>
          </a:p>
          <a:p>
            <a:pPr lvl="1">
              <a:lnSpc>
                <a:spcPct val="120000"/>
              </a:lnSpc>
              <a:spcBef>
                <a:spcPts val="0"/>
              </a:spcBef>
              <a:spcAft>
                <a:spcPts val="0"/>
              </a:spcAft>
            </a:pPr>
            <a:r>
              <a:rPr sz="1200" b="0">
                <a:solidFill>
                  <a:srgbClr val="4A5058"/>
                </a:solidFill>
                <a:latin typeface="Source Sans 3"/>
              </a:rPr>
              <a:t>Only where the old one was the defect, and the release notes say so.</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NOT BUILT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One node, feature-complete; these are deferred, or not yet done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97</a:t>
            </a:r>
          </a:p>
        </p:txBody>
      </p:sp>
      <p:sp>
        <p:nvSpPr>
          <p:cNvPr id="10" name="Rectangle 9"/>
          <p:cNvSpPr/>
          <p:nvPr/>
        </p:nvSpPr>
        <p:spPr>
          <a:xfrm>
            <a:off x="777240"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Deferred or dropped by decision</a:t>
            </a:r>
          </a:p>
        </p:txBody>
      </p:sp>
      <p:sp>
        <p:nvSpPr>
          <p:cNvPr id="13" name="TextBox 12"/>
          <p:cNvSpPr txBox="1"/>
          <p:nvPr/>
        </p:nvSpPr>
        <p:spPr>
          <a:xfrm>
            <a:off x="777240" y="1824837"/>
            <a:ext cx="5135727" cy="442051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Multi-node execution — wave 11, on hold</a:t>
            </a:r>
          </a:p>
          <a:p>
            <a:pPr lvl="1">
              <a:lnSpc>
                <a:spcPct val="120000"/>
              </a:lnSpc>
              <a:spcBef>
                <a:spcPts val="0"/>
              </a:spcBef>
              <a:spcAft>
                <a:spcPts val="0"/>
              </a:spcAft>
            </a:pPr>
            <a:r>
              <a:rPr sz="1350" b="0">
                <a:solidFill>
                  <a:srgbClr val="4A5058"/>
                </a:solidFill>
                <a:latin typeface="Source Sans 3"/>
              </a:rPr>
              <a:t>Membership, fenced leases and rebalance are built as libraries and no node consumes them; a node refuses PARTITIONED mode (PRV-9002).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MFA and single sign-on</a:t>
            </a:r>
          </a:p>
          <a:p>
            <a:pPr lvl="1">
              <a:lnSpc>
                <a:spcPct val="120000"/>
              </a:lnSpc>
              <a:spcBef>
                <a:spcPts val="0"/>
              </a:spcBef>
              <a:spcAft>
                <a:spcPts val="0"/>
              </a:spcAft>
            </a:pPr>
            <a:r>
              <a:rPr sz="1350" b="0">
                <a:solidFill>
                  <a:srgbClr val="4A5058"/>
                </a:solidFill>
                <a:latin typeface="Source Sans 3"/>
              </a:rPr>
              <a:t>Dropped by the owner: users, passwords, API keys and sessions are what Pravaha keeps.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Not yet proven</a:t>
            </a:r>
          </a:p>
          <a:p>
            <a:pPr lvl="1">
              <a:lnSpc>
                <a:spcPct val="120000"/>
              </a:lnSpc>
              <a:spcBef>
                <a:spcPts val="0"/>
              </a:spcBef>
              <a:spcAft>
                <a:spcPts val="0"/>
              </a:spcAft>
            </a:pPr>
            <a:r>
              <a:rPr sz="1350" b="0">
                <a:solidFill>
                  <a:srgbClr val="4A5058"/>
                </a:solidFill>
                <a:latin typeface="Source Sans 3"/>
              </a:rPr>
              <a:t>The eight-lane scaling target; the manual WCAG 2.2 AA audit.</a:t>
            </a:r>
          </a:p>
        </p:txBody>
      </p:sp>
      <p:sp>
        <p:nvSpPr>
          <p:cNvPr id="14" name="Rectangle 13"/>
          <p:cNvSpPr/>
          <p:nvPr/>
        </p:nvSpPr>
        <p:spPr>
          <a:xfrm>
            <a:off x="6278727"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First versions: not yet</a:t>
            </a:r>
          </a:p>
        </p:txBody>
      </p:sp>
      <p:graphicFrame>
        <p:nvGraphicFramePr>
          <p:cNvPr id="17" name="Table 16"/>
          <p:cNvGraphicFramePr>
            <a:graphicFrameLocks noGrp="1"/>
          </p:cNvGraphicFramePr>
          <p:nvPr/>
        </p:nvGraphicFramePr>
        <p:xfrm>
          <a:off x="6278727" y="1824837"/>
          <a:ext cx="5135726" cy="3079290"/>
        </p:xfrm>
        <a:graphic>
          <a:graphicData uri="http://schemas.openxmlformats.org/drawingml/2006/table">
            <a:tbl>
              <a:tblPr firstRow="1">
                <a:tableStyleId>{5C22544A-7EE6-4342-B048-85BDC9FD1C3A}</a:tableStyleId>
              </a:tblPr>
              <a:tblGrid>
                <a:gridCol w="1797504"/>
                <a:gridCol w="3338222"/>
              </a:tblGrid>
              <a:tr h="322376">
                <a:tc>
                  <a:txBody>
                    <a:bodyPr wrap="square"/>
                    <a:lstStyle/>
                    <a:p>
                      <a:r>
                        <a:rPr sz="1300" b="1">
                          <a:solidFill>
                            <a:srgbClr val="FFFFFF"/>
                          </a:solidFill>
                          <a:latin typeface="Source Sans 3"/>
                        </a:rPr>
                        <a:t>Piece</a:t>
                      </a:r>
                    </a:p>
                  </a:txBody>
                  <a:tcPr marL="82296" marR="64008" marT="32004" marB="32004" anchor="ctr">
                    <a:solidFill>
                      <a:srgbClr val="8A1626"/>
                    </a:solidFill>
                  </a:tcPr>
                </a:tc>
                <a:tc>
                  <a:txBody>
                    <a:bodyPr wrap="square"/>
                    <a:lstStyle/>
                    <a:p>
                      <a:r>
                        <a:rPr sz="1300" b="1">
                          <a:solidFill>
                            <a:srgbClr val="FFFFFF"/>
                          </a:solidFill>
                          <a:latin typeface="Source Sans 3"/>
                        </a:rPr>
                        <a:t>Not yet</a:t>
                      </a:r>
                    </a:p>
                  </a:txBody>
                  <a:tcPr marL="82296" marR="64008" marT="32004" marB="32004" anchor="ctr">
                    <a:solidFill>
                      <a:srgbClr val="8A1626"/>
                    </a:solidFill>
                  </a:tcPr>
                </a:tc>
              </a:tr>
              <a:tr h="330555">
                <a:tc>
                  <a:txBody>
                    <a:bodyPr wrap="square"/>
                    <a:lstStyle/>
                    <a:p>
                      <a:r>
                        <a:rPr sz="1350" b="1">
                          <a:solidFill>
                            <a:srgbClr val="8A1626"/>
                          </a:solidFill>
                          <a:latin typeface="Source Sans 3"/>
                        </a:rPr>
                        <a:t>mysql-cdc</a:t>
                      </a:r>
                    </a:p>
                  </a:txBody>
                  <a:tcPr marL="82296" marR="64008" marT="32004" marB="32004" anchor="ctr">
                    <a:solidFill>
                      <a:srgbClr val="FFFFFF"/>
                    </a:solidFill>
                  </a:tcPr>
                </a:tc>
                <a:tc>
                  <a:txBody>
                    <a:bodyPr wrap="square"/>
                    <a:lstStyle/>
                    <a:p>
                      <a:r>
                        <a:rPr sz="1350" b="0">
                          <a:solidFill>
                            <a:srgbClr val="1A1A1A"/>
                          </a:solidFill>
                          <a:latin typeface="Source Sans 3"/>
                        </a:rPr>
                        <a:t>An initial snapshot, TLS</a:t>
                      </a:r>
                    </a:p>
                  </a:txBody>
                  <a:tcPr marL="82296" marR="64008" marT="32004" marB="32004" anchor="ctr">
                    <a:solidFill>
                      <a:srgbClr val="FFFFFF"/>
                    </a:solidFill>
                  </a:tcPr>
                </a:tc>
              </a:tr>
              <a:tr h="772210">
                <a:tc>
                  <a:txBody>
                    <a:bodyPr wrap="square"/>
                    <a:lstStyle/>
                    <a:p>
                      <a:r>
                        <a:rPr sz="1350" b="1">
                          <a:solidFill>
                            <a:srgbClr val="8A1626"/>
                          </a:solidFill>
                          <a:latin typeface="Source Sans 3"/>
                        </a:rPr>
                        <a:t>iceberg-sink</a:t>
                      </a:r>
                    </a:p>
                  </a:txBody>
                  <a:tcPr marL="82296" marR="64008" marT="32004" marB="32004" anchor="ctr">
                    <a:solidFill>
                      <a:srgbClr val="F7F5F2"/>
                    </a:solidFill>
                  </a:tcPr>
                </a:tc>
                <a:tc>
                  <a:txBody>
                    <a:bodyPr wrap="square"/>
                    <a:lstStyle/>
                    <a:p>
                      <a:r>
                        <a:rPr sz="1350" b="0">
                          <a:solidFill>
                            <a:srgbClr val="1A1A1A"/>
                          </a:solidFill>
                          <a:latin typeface="Source Sans 3"/>
                        </a:rPr>
                        <a:t>Object stores, catalogs, partitioned tables, schema evolution</a:t>
                      </a:r>
                    </a:p>
                  </a:txBody>
                  <a:tcPr marL="82296" marR="64008" marT="32004" marB="32004" anchor="ctr">
                    <a:solidFill>
                      <a:srgbClr val="F7F5F2"/>
                    </a:solidFill>
                  </a:tcPr>
                </a:tc>
              </a:tr>
              <a:tr h="551383">
                <a:tc>
                  <a:txBody>
                    <a:bodyPr wrap="square"/>
                    <a:lstStyle/>
                    <a:p>
                      <a:r>
                        <a:rPr sz="1350" b="1">
                          <a:solidFill>
                            <a:srgbClr val="8A1626"/>
                          </a:solidFill>
                          <a:latin typeface="Source Sans 3"/>
                        </a:rPr>
                        <a:t>One reader per ordered source</a:t>
                      </a:r>
                    </a:p>
                  </a:txBody>
                  <a:tcPr marL="82296" marR="64008" marT="32004" marB="32004" anchor="ctr">
                    <a:solidFill>
                      <a:srgbClr val="FFFFFF"/>
                    </a:solidFill>
                  </a:tcPr>
                </a:tc>
                <a:tc>
                  <a:txBody>
                    <a:bodyPr wrap="square"/>
                    <a:lstStyle/>
                    <a:p>
                      <a:r>
                        <a:rPr sz="1350" b="0">
                          <a:solidFill>
                            <a:srgbClr val="1A1A1A"/>
                          </a:solidFill>
                          <a:latin typeface="Source Sans 3"/>
                        </a:rPr>
                        <a:t>Delta and JDBC; a CDC binding has one consumer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Queries on queries</a:t>
                      </a:r>
                    </a:p>
                  </a:txBody>
                  <a:tcPr marL="82296" marR="64008" marT="32004" marB="32004" anchor="ctr">
                    <a:solidFill>
                      <a:srgbClr val="F7F5F2"/>
                    </a:solidFill>
                  </a:tcPr>
                </a:tc>
                <a:tc>
                  <a:txBody>
                    <a:bodyPr wrap="square"/>
                    <a:lstStyle/>
                    <a:p>
                      <a:r>
                        <a:rPr sz="1350" b="0">
                          <a:solidFill>
                            <a:srgbClr val="1A1A1A"/>
                          </a:solidFill>
                          <a:latin typeface="Source Sans 3"/>
                        </a:rPr>
                        <a:t>Windows, joins, MIN/MAX over a view; replacing a chain member</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Alerts</a:t>
                      </a:r>
                    </a:p>
                  </a:txBody>
                  <a:tcPr marL="82296" marR="64008" marT="32004" marB="32004" anchor="ctr">
                    <a:solidFill>
                      <a:srgbClr val="FFFFFF"/>
                    </a:solidFill>
                  </a:tcPr>
                </a:tc>
                <a:tc>
                  <a:txBody>
                    <a:bodyPr wrap="square"/>
                    <a:lstStyle/>
                    <a:p>
                      <a:r>
                        <a:rPr sz="1350" b="0">
                          <a:solidFill>
                            <a:srgbClr val="1A1A1A"/>
                          </a:solidFill>
                          <a:latin typeface="Source Sans 3"/>
                        </a:rPr>
                        <a:t>Email, Teams and PagerDuty channels</a:t>
                      </a:r>
                    </a:p>
                  </a:txBody>
                  <a:tcPr marL="82296" marR="64008" marT="32004" marB="32004" anchor="ctr">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BOUNDARIES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Limits of a store, a format or a decision — more code would not remove them</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MIN and MAX cannot be retracted incrementally</a:t>
            </a:r>
          </a:p>
          <a:p>
            <a:pPr lvl="1">
              <a:lnSpc>
                <a:spcPct val="120000"/>
              </a:lnSpc>
              <a:spcBef>
                <a:spcPts val="0"/>
              </a:spcBef>
              <a:spcAft>
                <a:spcPts val="0"/>
              </a:spcAft>
            </a:pPr>
            <a:r>
              <a:rPr sz="1550" b="0">
                <a:solidFill>
                  <a:srgbClr val="4A5058"/>
                </a:solidFill>
                <a:latin typeface="Source Sans 3"/>
              </a:rPr>
              <a:t>Never pre-combined at a source, and over an input that deletes refused at registration (PRV-2076).</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End-to-end delivery is capped by the source</a:t>
            </a:r>
          </a:p>
          <a:p>
            <a:pPr lvl="1">
              <a:lnSpc>
                <a:spcPct val="120000"/>
              </a:lnSpc>
              <a:spcBef>
                <a:spcPts val="0"/>
              </a:spcBef>
              <a:spcAft>
                <a:spcPts val="0"/>
              </a:spcAft>
            </a:pPr>
            <a:r>
              <a:rPr sz="1550" b="0">
                <a:solidFill>
                  <a:srgbClr val="4A5058"/>
                </a:solidFill>
                <a:latin typeface="Source Sans 3"/>
              </a:rPr>
              <a:t>Transactional sinks stage each checkpoint; a source that cannot rewind caps them.</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RocksDB (ADR-044); no lz4 (ADR-053)</a:t>
            </a:r>
          </a:p>
          <a:p>
            <a:pPr lvl="1">
              <a:lnSpc>
                <a:spcPct val="120000"/>
              </a:lnSpc>
              <a:spcBef>
                <a:spcPts val="0"/>
              </a:spcBef>
              <a:spcAft>
                <a:spcPts val="0"/>
              </a:spcAft>
            </a:pPr>
            <a:r>
              <a:rPr sz="1550" b="0">
                <a:solidFill>
                  <a:srgbClr val="4A5058"/>
                </a:solidFill>
                <a:latin typeface="Source Sans 3"/>
              </a:rPr>
              <a:t>The memory-mapped tier is for surviving state larger than memory, not for capacity.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Formats say what they say</a:t>
            </a:r>
          </a:p>
          <a:p>
            <a:pPr lvl="1">
              <a:lnSpc>
                <a:spcPct val="120000"/>
              </a:lnSpc>
              <a:spcBef>
                <a:spcPts val="0"/>
              </a:spcBef>
              <a:spcAft>
                <a:spcPts val="0"/>
              </a:spcAft>
            </a:pPr>
            <a:r>
              <a:rPr sz="1550" b="0">
                <a:solidFill>
                  <a:srgbClr val="4A5058"/>
                </a:solidFill>
                <a:latin typeface="Source Sans 3"/>
              </a:rPr>
              <a:t>A proto3 scalar without optional has no NULL; an upsert tombstone does not say which row it deletes; a TRUNCATE names no rows to retract.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transaction over a live answer is READ COMMITTED</a:t>
            </a:r>
          </a:p>
          <a:p>
            <a:pPr lvl="1">
              <a:lnSpc>
                <a:spcPct val="120000"/>
              </a:lnSpc>
              <a:spcBef>
                <a:spcPts val="0"/>
              </a:spcBef>
              <a:spcAft>
                <a:spcPts val="0"/>
              </a:spcAft>
            </a:pPr>
            <a:r>
              <a:rPr sz="1550" b="0">
                <a:solidFill>
                  <a:srgbClr val="4A5058"/>
                </a:solidFill>
                <a:latin typeface="Source Sans 3"/>
              </a:rPr>
              <a:t>Each read sees the last commit; the gateway says so rather than promise repeatable reads.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99</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Ask once. Answer always.</a:t>
            </a:r>
          </a:p>
        </p:txBody>
      </p:sp>
      <p:graphicFrame>
        <p:nvGraphicFramePr>
          <p:cNvPr id="12" name="Table 11"/>
          <p:cNvGraphicFramePr>
            <a:graphicFrameLocks noGrp="1"/>
          </p:cNvGraphicFramePr>
          <p:nvPr/>
        </p:nvGraphicFramePr>
        <p:xfrm>
          <a:off x="777240" y="1361846"/>
          <a:ext cx="10637214" cy="4287005"/>
        </p:xfrm>
        <a:graphic>
          <a:graphicData uri="http://schemas.openxmlformats.org/drawingml/2006/table">
            <a:tbl>
              <a:tblPr firstRow="1">
                <a:tableStyleId>{5C22544A-7EE6-4342-B048-85BDC9FD1C3A}</a:tableStyleId>
              </a:tblPr>
              <a:tblGrid>
                <a:gridCol w="3411936"/>
                <a:gridCol w="7225278"/>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22376">
                <a:tc>
                  <a:txBody>
                    <a:bodyPr wrap="square"/>
                    <a:lstStyle/>
                    <a:p>
                      <a:r>
                        <a:rPr sz="1300" b="1">
                          <a:solidFill>
                            <a:srgbClr val="8A1626"/>
                          </a:solidFill>
                          <a:latin typeface="Source Sans 3"/>
                        </a:rPr>
                        <a:t>docs/guides/QUICKSTART.md</a:t>
                      </a:r>
                    </a:p>
                  </a:txBody>
                  <a:tcPr marL="82296" marR="64008" marT="32004" marB="32004" anchor="ctr">
                    <a:solidFill>
                      <a:srgbClr val="FFFFFF"/>
                    </a:solidFill>
                  </a:tcPr>
                </a:tc>
                <a:tc>
                  <a:txBody>
                    <a:bodyPr wrap="square"/>
                    <a:lstStyle/>
                    <a:p>
                      <a:r>
                        <a:rPr sz="1300" b="0">
                          <a:solidFill>
                            <a:srgbClr val="1A1A1A"/>
                          </a:solidFill>
                          <a:latin typeface="Source Sans 3"/>
                        </a:rPr>
                        <a:t>Clone to a running, changing view in about ten minutes</a:t>
                      </a:r>
                    </a:p>
                  </a:txBody>
                  <a:tcPr marL="82296" marR="64008" marT="32004" marB="32004" anchor="ctr">
                    <a:solidFill>
                      <a:srgbClr val="FFFFFF"/>
                    </a:solidFill>
                  </a:tcPr>
                </a:tc>
              </a:tr>
              <a:tr h="747674">
                <a:tc>
                  <a:txBody>
                    <a:bodyPr wrap="square"/>
                    <a:lstStyle/>
                    <a:p>
                      <a:r>
                        <a:rPr sz="1300" b="1">
                          <a:solidFill>
                            <a:srgbClr val="8A1626"/>
                          </a:solidFill>
                          <a:latin typeface="Source Sans 3"/>
                        </a:rPr>
                        <a:t>docs/operations/RUNNING_IN_DOCKER.md</a:t>
                      </a:r>
                    </a:p>
                  </a:txBody>
                  <a:tcPr marL="82296" marR="64008" marT="32004" marB="32004" anchor="ctr">
                    <a:solidFill>
                      <a:srgbClr val="F7F5F2"/>
                    </a:solidFill>
                  </a:tcPr>
                </a:tc>
                <a:tc>
                  <a:txBody>
                    <a:bodyPr wrap="square"/>
                    <a:lstStyle/>
                    <a:p>
                      <a:r>
                        <a:rPr sz="1300" b="0">
                          <a:solidFill>
                            <a:srgbClr val="1A1A1A"/>
                          </a:solidFill>
                          <a:latin typeface="Source Sans 3"/>
                        </a:rPr>
                        <a:t>Images, the compose stack and its profiles, /opt/pravaha</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docs/operations/COMPATIBILITY.md</a:t>
                      </a:r>
                    </a:p>
                  </a:txBody>
                  <a:tcPr marL="82296" marR="64008" marT="32004" marB="32004" anchor="ctr">
                    <a:solidFill>
                      <a:srgbClr val="FFFFFF"/>
                    </a:solidFill>
                  </a:tcPr>
                </a:tc>
                <a:tc>
                  <a:txBody>
                    <a:bodyPr wrap="square"/>
                    <a:lstStyle/>
                    <a:p>
                      <a:r>
                        <a:rPr sz="1300" b="0">
                          <a:solidFill>
                            <a:srgbClr val="1A1A1A"/>
                          </a:solidFill>
                          <a:latin typeface="Source Sans 3"/>
                        </a:rPr>
                        <a:t>What 1.x keeps stable, and what is experimental</a:t>
                      </a:r>
                    </a:p>
                  </a:txBody>
                  <a:tcPr marL="82296" marR="64008" marT="32004" marB="32004" anchor="ctr">
                    <a:solidFill>
                      <a:srgbClr val="FFFFFF"/>
                    </a:solidFill>
                  </a:tcPr>
                </a:tc>
              </a:tr>
              <a:tr h="322376">
                <a:tc>
                  <a:txBody>
                    <a:bodyPr wrap="square"/>
                    <a:lstStyle/>
                    <a:p>
                      <a:r>
                        <a:rPr sz="1300" b="1">
                          <a:solidFill>
                            <a:srgbClr val="8A1626"/>
                          </a:solidFill>
                          <a:latin typeface="Source Sans 3"/>
                        </a:rPr>
                        <a:t>docs/guides/CONCEPTS.md</a:t>
                      </a:r>
                    </a:p>
                  </a:txBody>
                  <a:tcPr marL="82296" marR="64008" marT="32004" marB="32004" anchor="ctr">
                    <a:solidFill>
                      <a:srgbClr val="F7F5F2"/>
                    </a:solidFill>
                  </a:tcPr>
                </a:tc>
                <a:tc>
                  <a:txBody>
                    <a:bodyPr wrap="square"/>
                    <a:lstStyle/>
                    <a:p>
                      <a:r>
                        <a:rPr sz="1300" b="0">
                          <a:solidFill>
                            <a:srgbClr val="1A1A1A"/>
                          </a:solidFill>
                          <a:latin typeface="Source Sans 3"/>
                        </a:rPr>
                        <a:t>The eight ideas; most surprises are one of them working correctly</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docs/guides/tutorials/</a:t>
                      </a:r>
                    </a:p>
                  </a:txBody>
                  <a:tcPr marL="82296" marR="64008" marT="32004" marB="32004" anchor="ctr">
                    <a:solidFill>
                      <a:srgbClr val="FFFFFF"/>
                    </a:solidFill>
                  </a:tcPr>
                </a:tc>
                <a:tc>
                  <a:txBody>
                    <a:bodyPr wrap="square"/>
                    <a:lstStyle/>
                    <a:p>
                      <a:r>
                        <a:rPr sz="1300" b="0">
                          <a:solidFill>
                            <a:srgbClr val="1A1A1A"/>
                          </a:solidFill>
                          <a:latin typeface="Source Sans 3"/>
                        </a:rPr>
                        <a:t>Four lessons: registering, following, replacing and debugging a query</a:t>
                      </a:r>
                    </a:p>
                  </a:txBody>
                  <a:tcPr marL="82296" marR="64008" marT="32004" marB="32004" anchor="ctr">
                    <a:solidFill>
                      <a:srgbClr val="FFFFFF"/>
                    </a:solidFill>
                  </a:tcPr>
                </a:tc>
              </a:tr>
              <a:tr h="322376">
                <a:tc>
                  <a:txBody>
                    <a:bodyPr wrap="square"/>
                    <a:lstStyle/>
                    <a:p>
                      <a:r>
                        <a:rPr sz="1300" b="1">
                          <a:solidFill>
                            <a:srgbClr val="8A1626"/>
                          </a:solidFill>
                          <a:latin typeface="Source Sans 3"/>
                        </a:rPr>
                        <a:t>examples/case-studies/</a:t>
                      </a:r>
                    </a:p>
                  </a:txBody>
                  <a:tcPr marL="82296" marR="64008" marT="32004" marB="32004" anchor="ctr">
                    <a:solidFill>
                      <a:srgbClr val="F7F5F2"/>
                    </a:solidFill>
                  </a:tcPr>
                </a:tc>
                <a:tc>
                  <a:txBody>
                    <a:bodyPr wrap="square"/>
                    <a:lstStyle/>
                    <a:p>
                      <a:r>
                        <a:rPr sz="1300" b="0">
                          <a:solidFill>
                            <a:srgbClr val="1A1A1A"/>
                          </a:solidFill>
                          <a:latin typeface="Source Sans 3"/>
                        </a:rPr>
                        <a:t>Thirteen worked systems to copy, each checked by the build</a:t>
                      </a:r>
                    </a:p>
                  </a:txBody>
                  <a:tcPr marL="82296" marR="64008" marT="32004" marB="32004" anchor="ctr">
                    <a:solidFill>
                      <a:srgbClr val="F7F5F2"/>
                    </a:solidFill>
                  </a:tcPr>
                </a:tc>
              </a:tr>
              <a:tr h="747674">
                <a:tc>
                  <a:txBody>
                    <a:bodyPr wrap="square"/>
                    <a:lstStyle/>
                    <a:p>
                      <a:r>
                        <a:rPr sz="1300" b="1">
                          <a:solidFill>
                            <a:srgbClr val="8A1626"/>
                          </a:solidFill>
                          <a:latin typeface="Source Sans 3"/>
                        </a:rPr>
                        <a:t>docs/guides/CONTINUOUS_QUERIES.md</a:t>
                      </a:r>
                    </a:p>
                  </a:txBody>
                  <a:tcPr marL="82296" marR="64008" marT="32004" marB="32004" anchor="ctr">
                    <a:solidFill>
                      <a:srgbClr val="FFFFFF"/>
                    </a:solidFill>
                  </a:tcPr>
                </a:tc>
                <a:tc>
                  <a:txBody>
                    <a:bodyPr wrap="square"/>
                    <a:lstStyle/>
                    <a:p>
                      <a:r>
                        <a:rPr sz="1300" b="0">
                          <a:solidFill>
                            <a:srgbClr val="1A1A1A"/>
                          </a:solidFill>
                          <a:latin typeface="Source Sans 3"/>
                        </a:rPr>
                        <a:t>Streams, sources, registration, reading, and every SQL construct that works or is refused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docs/operations/OPERATIONS.md · SECURITY.md</a:t>
                      </a:r>
                    </a:p>
                  </a:txBody>
                  <a:tcPr marL="82296" marR="64008" marT="32004" marB="32004" anchor="ctr">
                    <a:solidFill>
                      <a:srgbClr val="F7F5F2"/>
                    </a:solidFill>
                  </a:tcPr>
                </a:tc>
                <a:tc>
                  <a:txBody>
                    <a:bodyPr wrap="square"/>
                    <a:lstStyle/>
                    <a:p>
                      <a:r>
                        <a:rPr sz="1300" b="0">
                          <a:solidFill>
                            <a:srgbClr val="1A1A1A"/>
                          </a:solidFill>
                          <a:latin typeface="Source Sans 3"/>
                        </a:rPr>
                        <a:t>Sizing, lanes, recovery, what to watch; authentication, authorization, audit</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docs/design/adr/</a:t>
                      </a:r>
                    </a:p>
                  </a:txBody>
                  <a:tcPr marL="82296" marR="64008" marT="32004" marB="32004" anchor="ctr">
                    <a:solidFill>
                      <a:srgbClr val="FFFFFF"/>
                    </a:solidFill>
                  </a:tcPr>
                </a:tc>
                <a:tc>
                  <a:txBody>
                    <a:bodyPr wrap="square"/>
                    <a:lstStyle/>
                    <a:p>
                      <a:r>
                        <a:rPr sz="1300" b="0">
                          <a:solidFill>
                            <a:srgbClr val="1A1A1A"/>
                          </a:solidFill>
                          <a:latin typeface="Source Sans 3"/>
                        </a:rPr>
                        <a:t>Every architectural decision, including the ones later reversed</a:t>
                      </a:r>
                    </a:p>
                  </a:txBody>
                  <a:tcPr marL="82296" marR="64008" marT="32004" marB="3200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A Continuous SQL Engine: Design and Evidence</dc:title>
  <dc:subject>What a continuous query is, how Pravaha keeps its answer correct and current on one node, and what has and has not been measured</dc:subject>
  <dc:creator>Ashutosh Sinha</dc:creator>
  <cp:keywords>Pravaha; continuous SQL; incremental view maintenance</cp:keywords>
  <dc:description>Copyright (c) 2026 Ashutosh Sinha. All rights reserved. Proprietary and confidential.</dc:description>
  <cp:lastModifiedBy>Ashutosh Sinha</cp:lastModifiedBy>
  <cp:revision>1</cp:revision>
  <dcterms:created xsi:type="dcterms:W3CDTF">2026-10-02T12:00:00Z</dcterms:created>
  <dcterms:modified xsi:type="dcterms:W3CDTF">2026-10-02T12:00:00Z</dcterms:modified>
  <cp:category/>
</cp:coreProperties>
</file>