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(name, slogan, Java 21, release badge 1.0.0); brand/README.md (the name and slogan); docs/project/RELEASE_NOTES.md '1.0.0 — 2026-09-30'; docs/operations/COMPATIBILITY.md (one-node release).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docs/project/RELEASE_NOTES.md '1.0.0 — 2026-09-30' (opening, upgrade notes, register line); docs/operations/COMPATIBILITY.md; docs/project/qa/FINDINGS.md (482 findings — 464 FIXED, 0 OPEN, 9 BY DESIGN, 9 SUPERSEDED); docs/development/HANDOVER.md §1 (ADRs 60; wave 11 on hold).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examples/case-studies/*/README.md (problem statements); docs/guides/CONCEPTS.md §1; README.md 'What it 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examples/case-studies/banking-card-velocity/README.md, finance-counterparty-exposure/README.md, ecommerce-checkout-funnel/README.md, telecom-cdr-fraud/README.md, lakehouse-orders-iceberg/README.md (problem statements, quoted).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examples/case-studies/finance-counterparty-exposure/README.md; retail-inventory-mysql/README.md; logistics-delivery-sla/README.md; docs/design/system_design.md §19 (connector shapes table, 'Poll with a watermark').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docs/guides/CONCEPTS.md §1 'A continuous query is a computation, not a request' (costs measured by NodeScaleTest, per docs/operations/OPERATIONS.md 'Sizing a node for many queries').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'What it is' (the query and its description, verbatim; AerospikeContinuousQueryIT needs Docker).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header, 'What it is', 'How it is built', 'Building' (plugin list; plugins/ holds ten connector plugins plus pravaha-cluster-zookeeper), 'What is not built' (PRV-9002); examples/case-studies/README.md (thirteen studies; CaseStudyRunTest).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§1–§2; docs/guides/CONCEPTS.md; docs/design/EXECUTION_MODEL.md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§1 'The three nouns' (table and the source → stream → continuous query → view → SELECT 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§2 'Declaring a stream' (the three blocks and the YAML, schema line wrapped for the slide); docs/guides/CONNECTORS.md §3 ('a binding is per stream name, not per query'); README.md 'Sources' (one reader per source binding).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docs/guides/CONCEPTS.md §2 'Event time, not clock time' and §3 'Watermarks' (10-second default, minimum across partitions, idle exclusion, PRV-2002 / TIME-6).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docs/guides/CONCEPTS.md §4 'Changes carry weights' (STRM-1); docs/guides/USER_GUIDE.md 'Subscribing to a registered query' (per commit, never per row); examples/case-studies/manufacturing-sensor-anomalies/README.md step 5 (the snapshot and commit lines, columns trimmed; temperatures are deci-degrees).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docs/design/EXECUTION_MODEL.md §1–§2 ('One thread, one inbox, one arena, one processor, one loop'); docs/design/adr/008-aligned-checkpoints.md; README.md 'Recovery', 'Sinks', 'How it is built'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§3–§4; docs/design/ARCHITECTURE.md 'One path, end to end'.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§3 'Registering a continuous query' (the statement verbatim, the TUMBLE line wrapped for the slide; --keys, --retain, TY-21).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§3 'What happens at registration' (six steps, condensed to five); docs/guides/CONCEPTS.md §5 'Sharing is by fingerprint'; docs/design/adr/050-a-tenant-owns-names-and-state-and-shares-only-with-itself.md (tenant in the fingerprint).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§2 (PRV-2002, TIME-6), §3 steps 2 (PRV-2042, PRV-2041); docs/guides/CONCEPTS.md §7 (PRV-2050); README.md 'Windows and event time' (PRV-2020), 'Sinks' (PRV-8010); docs/guides/CONNECTORS.md §1 (a sink reports schema() and keyColumns()); docs/design/adr/050 §2 (PRV-8020, PRV-8021).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'What it is' (both SDK snippets, string literal split across lines for the slide) and 'Serving'; docs/design/ARCHITECTURE.md 'One path, end to end' step 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docs/guides/USER_GUIDE.md 'Subscribing to a registered query' (snapshot then commits; CONFLATE, DROP_OLDEST, FAIL); docs/guides/CONCEPTS.md §8 (STRM-8); docs/operations/OPERATIONS.md 'What to watch' (dropped()/conflated(), ChangeBatch.droppedBefore, STRM-10).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docs/design/adr/008-aligned-checkpoints.md; README.md 'Corrections', 'Recovery', 'Survival', 'How it is built'; docs/guides/CONCEPTS.md §4, §7.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docs/design/adr/008-aligned-checkpoints.md 'Implementation status — as of 2026-09-14' (W8-2, W8-3, W8-4; IngestPump.pumpOnce, QueryExecution.checkpoint, freezeIngest; the two named tests).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docs/design/adr/008-aligned-checkpoints.md ('Output is cut at the same marker (amended 2026-09-19, ADR-043 "As built")', ADR-029 cap); README.md 'Sinks' and 'Boundaries' (transactional sinks; capped by whether the source can rewind); docs/operations/OPERATIONS.md sink delivery table.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docs/operations/OPERATIONS.md 'Restarts: what survives' and 'Checkpoints: what is actually true' (PRV-8006; pravaha.checkpoint.keep default 3); docs/design/adr/008 ('The exchange is not cut', QueryExecution.refuseWhileRowsCrossTheExchange).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docs/guides/CONCEPTS.md §4; README.md 'Corrections' and 'Sinks' (kafka-sink tombstone, iceberg-sink equality deletes).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docs/guides/CONCEPTS.md §3 (lateness belongs to the source; 10-second default; allowed lateness defaults to zero); docs/guides/CONTINUOUS_QUERIES.md §2 (TIME-3; join takes the minimum); examples/case-studies/manufacturing-sensor-anomalies/README.md step 5 ('A correction is emitted when event time next moves').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'Survival', 'State', 'Boundaries' (ADR-044); docs/guides/CONCEPTS.md §7 (state_held, _ceiling, _fraction; PRV-4001); docs/design/EXECUTION_MODEL.md §2 'A lane fails alone'.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docs/operations/OPERATIONS.md 'What holds memory, and what bounds it' (rows abridged); docs/guides/CONCEPTS.md §7.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'Project status', 'Many queries on one node'; docs/design/EXECUTION_MODEL.md; docs/operations/OPERATIONS.md 'Sizing a node for many queries'.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docs/design/EXECUTION_MODEL.md §1 'A lane', §2 'Why there are no locks', §3 'Lane vs thread'; docs/operations/OPERATIONS.md 'Sizing a node for many queries' (PRV-3001).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'Many queries on one node' and 'Performance' (200 queries, 24 threads; 1 MiB idle; 3.7 ms and 61 MiB, NodeScaleTest and SourceScaleTest); docs/operations/OPERATIONS.md 'Sizing a node for many queries' (1,024 KiB, 1,328 KiB, 64 KiB) and 'Sharing lanes between queries' (SRC-2).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docs/operations/OPERATIONS.md 'Sizing a node for many queries' (settings table) and 'Sharing lanes between queries'; docs/project/RELEASE_NOTES.md '1.0.0' ('Lane sharing is on by default, as auto').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docs/operations/OPERATIONS.md 'Sharing lanes between queries' (SharedLaneDensityTest; LANE-2; PRV-3002); README.md 'Many queries on one node', 'Continuous queries'.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docs/operations/OPERATIONS.md 'Keeping one query on its own lane' (statements quoted, names elided); docs/project/RELEASE_NOTES.md '1.0.0' (WITH (lane = 'dedicated'), the L record, PRV-8017, GET /api/v1/queries lane and sharedLane); commit fba15e14.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docs/operations/OPERATIONS.md 'An administrator rebalances by hand'; commits 14914ae0, 6869419b, 86dd3e19; docs/project/RELEASE_NOTES.md '1.0.0'.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docs/design/adr/054-an-ordered-source-is-shared-at-an-exact-seam.md (Decision, table verbatim, 'Which sources'); README.md 'What is not built' first-versions table; docs/project/RELEASE_NOTES.md 0.2.0.</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docs/design/adr/055-an-equality-index-over-a-column-outside-the-key.md §1–§4 (ServedView.commit, SecondaryIndexTest, SecondaryIndexRegistryTest, MAX_EQUALITY_INDEXES, PRV-2074); docs/project/RELEASE_NOTES.md '1.0.0' (IDXVIS-1: access paths visible).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docs/design/adr/046-a-replacement-meets-the-running-version-at-a-position.md; docs/guides/CONTINUOUS_QUERIES.md §8.1.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docs/design/adr/046-a-replacement-meets-the-running-version-at-a-position.md 'Decision' and 'Alternatives considered' (paraphrased closely).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§8.1 ('What happens, in order'; PRV-4013, PRV-4014); docs/design/adr/046 §1 (OffsetSplicedReader), §4 (P, C, E records).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docs/design/adr/046 §2–§3 and 'Consequences'; docs/guides/CONTINUOUS_QUERIES.md §8.1 ('What a reader / subscriber / sink sees'); README.md 'The console' (backfill and cutover).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§8.1 (the statement verbatim, reflowed; options table; refusals table); docs/design/adr/050 §3 / docs/operations/SECURITY.md 'A replacement stays in its tenant' (PRV-8022); README.md 'Blue/green replacement' (eight gauges).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docs/design/adr/056-queries-on-queries.md; docs/design/adr/057-alerts.md; docs/project/RELEASE_NOTES.md '1.0.0'.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docs/guides/CONTINUOUS_QUERIES.md §3.1 (the three statements, verbatim, reflowed); docs/design/adr/056-queries-on-queries.md §1, §4, §5; docs/project/RELEASE_NOTES.md '1.0.0' (Queries on queries).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docs/design/adr/056-queries-on-queries.md §2 (the image, the freeze, restore by difference, the 65,536-change queue); QueryChainsTest, UpstreamReaderTest; docs/publications/research/continuous-queries-as-maintained-answers.tex §8 (Theorem: a chain is exact).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docs/design/adr/057-alerts.md §1–§3, §5 (statement shape and options from §2; channels built and designed); docs/project/RELEASE_NOTES.md '1.0.0' (Alerts).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docs/design/adr/057-alerts.md §4 (journal, restart, redelivery, idempotency key) and §6 (PRV-8024); docs/project/RELEASE_NOTES.md '1.0.0' (Alerts, RetailLowStockAlertEndToEndTest).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plugins/ (ten connector plugins and pravaha-cluster-zookeeper); docs/guides/CONNECTORS.md; README.md 'Sources', 'Sinks'.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'Sources'; docs/guides/CONNECTORS.md §1 (kinds and shipped examples, lookup names with suffix); plugins/*/src/main/resources/META-INF/services/ (which plugin declares which kind); docs/design/adr/054 ('Which sources').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'Sinks'; docs/guides/CONNECTORS.md §1 (StreamSinkPlugin row); docs/project/RELEASE_NOTES.md 0.2.0 (Avro/Protobuf, commit.mode: prepared) and '1.0.0' (iceberg-sink).</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docs/design/adr/041-change-data-capture-without-debezium.md; README.md 'Sources' (postgres-cdc, mysql-cdc); docs/project/RELEASE_NOTES.md '1.0.0' (mysql-cdc, PRV-5152).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docs/guides/CONNECTORS.md §1 (PRV-5090, CFG-4); docs/design/system_design.md §33 ADR-028 row; docs/guides/CONTINUOUS_QUERIES.md §2.1 (PRV-2042, deletes: detect); README.md 'Sources' and 'Boundaries' (TLS; lz4).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docs/design/adr/031-authorization-at-the-pravaha-layer.md; docs/design/adr/052; docs/design/adr/050; docs/design/adr/059; docs/design/adr/060; docs/operations/SECURITY.md.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docs/design/adr/031-authorization-at-the-pravaha-layer.md 'Why it cannot be delegated to the store'.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docs/design/adr/031 (three pieces; soundness rule); docs/operations/SECURITY.md 'What a registration is allowed to read / write', 'A conditional entitlement cannot subscribe' (STRM-13; catalogue filters enforced per change).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docs/project/RELEASE_NOTES.md '1.0.0' (The Pravaha Catalog, phase 1); docs/design/adr/059-the-pravaha-catalog-governs-live-answers.md 'Phase 1, as built' (mid-stream revocation every two seconds); README.md 'Governed catalogue'.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docs/operations/SECURITY.md 'Row filters and masks as catalogue objects (ADR-059 §4)' (the statements, verbatim, reflowed); docs/project/RELEASE_NOTES.md '1.0.0' (phase 2: where it is enforced; PRV-7006; the fingerprint); docs/design/adr/059 'Phase 2, as built'.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docs/project/RELEASE_NOTES.md '1.0.0' (TAUTOFILTER-1: the listed filters, PRV-7003, PRV-7038); commit af5ee635 (VACUITYGAP-1: a &lt; 5 OR a &gt; 2, regions); docs/design/adr/059 'Vacuity'; FilterVacuityTest.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docs/design/adr/052-the-engine-is-the-identity-authority.md (secrets table, policy, lockout, API keys, sessions, store; status line: stages 4 and 5 dropped 2026-09-27); README.md 'Security'.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docs/design/adr/050-a-tenant-owns-names-and-state-and-shares-only-with-itself.md §1–§2; docs/design/adr/060-view-names-are-unique-per-tenant.md; docs/operations/SECURITY.md 'Tenants'; docs/project/RELEASE_NOTES.md '1.0.0' (upgrade notes; LIFE-040, SX-6 ownership; one-way upgrade).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docs/operations/SECURITY.md 'Transport', 'What is not built'; docs/design/adr/059 status line (phases 3 and 4 not built); docs/design/adr/052 status line.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'How it is built' (Deployment), 'The console', 'Try it', 'Observability', 'Time-travel debugger'.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'Embedding' and 'How it is built' (Deployment; ADR-019, ADR-024, ADR-045, ADR-047, ADR-053).</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docs/operations/RUNNING_IN_DOCKER.md 'The short version' (commands, ports) and 'One root: PRAVAHA_HOME' (layout); commit 36d766f8 (compose stack: profiles, uid:gid, read-only roots); commit c2af8cfb (PRAVAHA_HOME, PravahaHomeLayoutTest).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'The console'; docs/project/RELEASE_NOTES.md '1.0.0' (Admin → Lanes, Admin · AI models, Catalog and Admin → Grants/Policies, Alerts screens, MAYA design and four themes); docs/development/TESTING.md tiers table (console 1,937 passed); commit ff9fae5d.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docs/project/RELEASE_NOTES.md '1.0.0' (the Java CLI is now pravaha-engine; commands moved to the Python CLI); docs/guides/QUICKSTART.md (pip install); docs/design/ARCHITECTURE.md module table (pravaha-cli). Commit 90b14871.</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docs/guides/USER_GUIDE.md 'Surviving a restart: reconnect' (both snippets, reflowed); docs/project/RELEASE_NOTES.md '1.0.0' (JavaSdkReconnectTest, test_reconnect.py).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docs/project/RELEASE_NOTES.md '1.0.0' (SDKSTANDALONE-1, SDKNETTYMIX-1); docs/development/TESTING.md 'The SDKs on their own'; commit bc971c6b (sources and javadoc jars).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docs/project/RELEASE_NOTES.md '1.0.0' (Power BI through the gateway; PGWIRE-TX-1; AVGINT-1; PGWIREPASS-1); commit 2a77768a (psql 18's \d); README.md 'BI tools'.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docs/operations/OPERATIONS.md 'Watching a running node' (per-query and per-node tables; FEED-1; ADR-037 B1); docs/project/RELEASE_NOTES.md '1.0.0' (Observability, built out; PERF-1: about 12 %, re-taken without the coverage agent).</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docs/design/adr/058-plain-english-to-continuous-sql.md (status; §1, §2, §3); docs/project/RELEASE_NOTES.md '1.0.0' (the assistant, phases 1–3; 27 + 3 golden cases); docs/operations/COMPATIBILITY.md 'Experimental in 1.0'; docs/guides/ASSIST.md.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'Time-travel debugger'; docs/design/adr/048-a-debug-fork-is-a-second-computation-nothing-can-read.md.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examples/case-studies/README.md.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examples/case-studies/README.md, the study table ('Shows' column abridged).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examples/case-studies/README.md ('What they have in common', the test paragraphs); commit f2ff2572 and 89d56996 (the four wrong keys; the windowing defect).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examples/case-studies/manufacturing-sensor-anomalies/README.md step 5 (output lines trimmed of line_id and vibration; temperatures in deci-degrees; the three bullets follow 'What happened, reading by reading').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examples/case-studies/retail-inventory-mysql/README.md steps 4–5 (the morning table, abridged to four of six statements; units per warehouse) and step 7 (the alert, its FIRED and CLEARED lines); checked by CaseStudyRunTest and RetailLowStockAlertEndToEndTest.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examples/case-studies/lakehouse-orders-iceberg/README.md step 5 (commit lines trimmed of the date; the collapse to one row, customers staying 4); checked by CaseStudyRunTest.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examples/case-studies/payments-shared-kafka/README.md (the statement verbatim, one line wrapped; the quotation; coffee and books totals); ADR-054, ADR-055; CaseStudyRunTest.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examples/case-studies/adtech-click-attribution/README.md (generator output 'wrote 61 impressions and 17 clicks'; 'Fourteen clicks are attributed in all'; PRV-4025); examples/case-studies/logistics-delivery-sla/README.md ('wrote 25 dispatches and 23 deliveries'; undelivered output; the quotation).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docs/project/gates/measured-2026-09-20/README.md; benchmarks/README.md; docs/design/adr/042-the-throughput-bar-is-the-requirement.md; docs/development/TESTING.md; docs/project/qa/FINDINGS.md; docs/operations/COMPATIBILITY.md; README.md 'Performance', 'What is not built'.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docs/design/adr/042-the-throughput-bar-is-the-requirement.md (Decision; 'Why this is not the thing this project forbids'; 'What this decision does NOT license'); README.md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docs/project/gates/measured-2026-09-20/README.md (verdict line; 'The machine, named'; Gate P2 throughput and scaling; re-measured 2026-09-26 incl. machineScalingReference; Gate P3; W5); docs/project/RELEASE_NOTES.md '1.0.0' PERF-1 and commit 75e9fc9e (30–31 % at load 3.1–5.2).</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docs/project/gates/measured-2026-09-20/README.md 'Coverage re-measured on 2026-09-26 — 12 of 23' and 'The head-to-head cannot be run here'; README.md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benchmarks/README.md (Profile A generated vs interpreted; lane scaling; false sharing; PF-2); docs/project/gates/measured-2026-09-20/README.md 'C-7: generated against interpreted, end to end'.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docs/development/TESTING.md 'The tiers at a glance', 'With Docker' measured table, 'Without Docker'; docs/development/HANDOVER.md §1 (4,688 Java tests, 211 skipped, verify-clean 2026-09-29); docs/project/RELEASE_NOTES.md '1.0.0' (PERF-1).</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docs/project/qa/FINDINGS.md (header counts; SINKKEYROWS-2, PGWIRETX-1, SDKNETTYMIX-1, VIEWW-1, TESTNAME-1; 'The commonest defect'); docs/development/TESTING.md 'What this pass found'; docs/project/RELEASE_NOTES.md '1.0.0'.</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docs/operations/COMPATIBILITY.md (Stable in 1.x table; Experimental in 1.0; Clients and servers; Upgrading from 0.2.x).</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'What is not built, or not finished' (deferred by decision; first versions table; not yet proven); docs/design/adr/039; docs/design/adr/052 status line; docs/design/adr/056 'Consequences'; docs/design/adr/057 status line; docs/project/RELEASE_NOTES.md '1.0.0' (MYC-2 GTID positions; IDXVIS-1 access paths visible; CDCREPL-2).</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'Boundaries: limits of a store, a format or a recorded decision'; docs/project/RELEASE_NOTES.md '1.0.0' (PGWIRE-TX-1: READ COMMITTED, REPEATABLE READ with a NOTICE).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'Try it' and 'Documentation'; docs/guides/CONCEPTS.md opening; examples/case-studies/README.md (docs/guides/tutorials/, four lessons); docs/operations/RUNNING_IN_DOCKER.md; docs/operations/COMPATIBILITY.md.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93192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12191695" cy="5486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182880" cy="393192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082860" y="942975"/>
            <a:ext cx="1028700" cy="257175"/>
          </a:xfrm>
          <a:custGeom>
            <a:avLst/>
            <a:gdLst/>
            <a:ahLst/>
            <a:cxnLst/>
            <a:rect l="l" t="t" r="r" b="b"/>
            <a:pathLst>
              <a:path w="1028700" h="257175">
                <a:moveTo>
                  <a:pt x="0" y="128587"/>
                </a:moveTo>
                <a:lnTo>
                  <a:pt x="32147" y="98449"/>
                </a:lnTo>
                <a:lnTo>
                  <a:pt x="64293" y="72330"/>
                </a:lnTo>
                <a:lnTo>
                  <a:pt x="96440" y="50229"/>
                </a:lnTo>
                <a:lnTo>
                  <a:pt x="128587" y="32146"/>
                </a:lnTo>
                <a:lnTo>
                  <a:pt x="160734" y="18082"/>
                </a:lnTo>
                <a:lnTo>
                  <a:pt x="192881" y="8036"/>
                </a:lnTo>
                <a:lnTo>
                  <a:pt x="225028" y="2009"/>
                </a:lnTo>
                <a:lnTo>
                  <a:pt x="257175" y="0"/>
                </a:lnTo>
                <a:lnTo>
                  <a:pt x="289322" y="2009"/>
                </a:lnTo>
                <a:lnTo>
                  <a:pt x="321468" y="8036"/>
                </a:lnTo>
                <a:lnTo>
                  <a:pt x="353615" y="18082"/>
                </a:lnTo>
                <a:lnTo>
                  <a:pt x="385762" y="32146"/>
                </a:lnTo>
                <a:lnTo>
                  <a:pt x="417909" y="50229"/>
                </a:lnTo>
                <a:lnTo>
                  <a:pt x="450056" y="72330"/>
                </a:lnTo>
                <a:lnTo>
                  <a:pt x="482203" y="98449"/>
                </a:lnTo>
                <a:lnTo>
                  <a:pt x="514350" y="128587"/>
                </a:lnTo>
                <a:lnTo>
                  <a:pt x="546497" y="158725"/>
                </a:lnTo>
                <a:lnTo>
                  <a:pt x="578643" y="184844"/>
                </a:lnTo>
                <a:lnTo>
                  <a:pt x="610790" y="206945"/>
                </a:lnTo>
                <a:lnTo>
                  <a:pt x="642937" y="225028"/>
                </a:lnTo>
                <a:lnTo>
                  <a:pt x="675084" y="239092"/>
                </a:lnTo>
                <a:lnTo>
                  <a:pt x="707231" y="249138"/>
                </a:lnTo>
                <a:lnTo>
                  <a:pt x="739378" y="255165"/>
                </a:lnTo>
                <a:lnTo>
                  <a:pt x="771525" y="257175"/>
                </a:lnTo>
                <a:lnTo>
                  <a:pt x="803672" y="255165"/>
                </a:lnTo>
                <a:lnTo>
                  <a:pt x="835818" y="249138"/>
                </a:lnTo>
                <a:lnTo>
                  <a:pt x="867965" y="239092"/>
                </a:lnTo>
                <a:lnTo>
                  <a:pt x="900112" y="225028"/>
                </a:lnTo>
                <a:lnTo>
                  <a:pt x="932259" y="206945"/>
                </a:lnTo>
                <a:lnTo>
                  <a:pt x="964406" y="184844"/>
                </a:lnTo>
                <a:lnTo>
                  <a:pt x="996553" y="158725"/>
                </a:lnTo>
                <a:lnTo>
                  <a:pt x="1028700" y="128587"/>
                </a:lnTo>
              </a:path>
            </a:pathLst>
          </a:custGeom>
          <a:noFill/>
          <a:ln w="150018"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a:off x="10082860" y="1243012"/>
            <a:ext cx="1028700" cy="257175"/>
          </a:xfrm>
          <a:custGeom>
            <a:avLst/>
            <a:gdLst/>
            <a:ahLst/>
            <a:cxnLst/>
            <a:rect l="l" t="t" r="r" b="b"/>
            <a:pathLst>
              <a:path w="1028700" h="257175">
                <a:moveTo>
                  <a:pt x="0" y="128588"/>
                </a:moveTo>
                <a:lnTo>
                  <a:pt x="32147" y="98450"/>
                </a:lnTo>
                <a:lnTo>
                  <a:pt x="64293" y="72330"/>
                </a:lnTo>
                <a:lnTo>
                  <a:pt x="96440" y="50229"/>
                </a:lnTo>
                <a:lnTo>
                  <a:pt x="128587" y="32147"/>
                </a:lnTo>
                <a:lnTo>
                  <a:pt x="160734" y="18083"/>
                </a:lnTo>
                <a:lnTo>
                  <a:pt x="192881" y="8037"/>
                </a:lnTo>
                <a:lnTo>
                  <a:pt x="225028" y="2009"/>
                </a:lnTo>
                <a:lnTo>
                  <a:pt x="257175" y="0"/>
                </a:lnTo>
                <a:lnTo>
                  <a:pt x="289322" y="2009"/>
                </a:lnTo>
                <a:lnTo>
                  <a:pt x="321468" y="8037"/>
                </a:lnTo>
                <a:lnTo>
                  <a:pt x="353615" y="18083"/>
                </a:lnTo>
                <a:lnTo>
                  <a:pt x="385762" y="32147"/>
                </a:lnTo>
                <a:lnTo>
                  <a:pt x="417909" y="50229"/>
                </a:lnTo>
                <a:lnTo>
                  <a:pt x="450056" y="72330"/>
                </a:lnTo>
                <a:lnTo>
                  <a:pt x="482203" y="98450"/>
                </a:lnTo>
                <a:lnTo>
                  <a:pt x="514350" y="128588"/>
                </a:lnTo>
                <a:lnTo>
                  <a:pt x="546497" y="158725"/>
                </a:lnTo>
                <a:lnTo>
                  <a:pt x="578643" y="184845"/>
                </a:lnTo>
                <a:lnTo>
                  <a:pt x="610790" y="206946"/>
                </a:lnTo>
                <a:lnTo>
                  <a:pt x="642937" y="225028"/>
                </a:lnTo>
                <a:lnTo>
                  <a:pt x="675084" y="239092"/>
                </a:lnTo>
                <a:lnTo>
                  <a:pt x="707231" y="249138"/>
                </a:lnTo>
                <a:lnTo>
                  <a:pt x="739378" y="255166"/>
                </a:lnTo>
                <a:lnTo>
                  <a:pt x="771525" y="257175"/>
                </a:lnTo>
                <a:lnTo>
                  <a:pt x="803672" y="255166"/>
                </a:lnTo>
                <a:lnTo>
                  <a:pt x="835818" y="249138"/>
                </a:lnTo>
                <a:lnTo>
                  <a:pt x="867965" y="239092"/>
                </a:lnTo>
                <a:lnTo>
                  <a:pt x="900112" y="225028"/>
                </a:lnTo>
                <a:lnTo>
                  <a:pt x="932259" y="206946"/>
                </a:lnTo>
                <a:lnTo>
                  <a:pt x="964406" y="184845"/>
                </a:lnTo>
                <a:lnTo>
                  <a:pt x="996553" y="158725"/>
                </a:lnTo>
                <a:lnTo>
                  <a:pt x="1028700" y="128588"/>
                </a:lnTo>
              </a:path>
            </a:pathLst>
          </a:custGeom>
          <a:noFill/>
          <a:ln w="150018"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0082860" y="1543050"/>
            <a:ext cx="1028700" cy="257175"/>
          </a:xfrm>
          <a:custGeom>
            <a:avLst/>
            <a:gdLst/>
            <a:ahLst/>
            <a:cxnLst/>
            <a:rect l="l" t="t" r="r" b="b"/>
            <a:pathLst>
              <a:path w="1028700" h="257175">
                <a:moveTo>
                  <a:pt x="0" y="128587"/>
                </a:moveTo>
                <a:lnTo>
                  <a:pt x="32147" y="98449"/>
                </a:lnTo>
                <a:lnTo>
                  <a:pt x="64293" y="72330"/>
                </a:lnTo>
                <a:lnTo>
                  <a:pt x="96440" y="50229"/>
                </a:lnTo>
                <a:lnTo>
                  <a:pt x="128587" y="32146"/>
                </a:lnTo>
                <a:lnTo>
                  <a:pt x="160734" y="18082"/>
                </a:lnTo>
                <a:lnTo>
                  <a:pt x="192881" y="8036"/>
                </a:lnTo>
                <a:lnTo>
                  <a:pt x="225028" y="2009"/>
                </a:lnTo>
                <a:lnTo>
                  <a:pt x="257175" y="0"/>
                </a:lnTo>
                <a:lnTo>
                  <a:pt x="289322" y="2009"/>
                </a:lnTo>
                <a:lnTo>
                  <a:pt x="321468" y="8036"/>
                </a:lnTo>
                <a:lnTo>
                  <a:pt x="353615" y="18082"/>
                </a:lnTo>
                <a:lnTo>
                  <a:pt x="385762" y="32146"/>
                </a:lnTo>
                <a:lnTo>
                  <a:pt x="417909" y="50229"/>
                </a:lnTo>
                <a:lnTo>
                  <a:pt x="450056" y="72330"/>
                </a:lnTo>
                <a:lnTo>
                  <a:pt x="482203" y="98449"/>
                </a:lnTo>
                <a:lnTo>
                  <a:pt x="514350" y="128587"/>
                </a:lnTo>
                <a:lnTo>
                  <a:pt x="546497" y="158725"/>
                </a:lnTo>
                <a:lnTo>
                  <a:pt x="578643" y="184844"/>
                </a:lnTo>
                <a:lnTo>
                  <a:pt x="610790" y="206945"/>
                </a:lnTo>
                <a:lnTo>
                  <a:pt x="642937" y="225028"/>
                </a:lnTo>
                <a:lnTo>
                  <a:pt x="675084" y="239092"/>
                </a:lnTo>
                <a:lnTo>
                  <a:pt x="707231" y="249138"/>
                </a:lnTo>
                <a:lnTo>
                  <a:pt x="739378" y="255165"/>
                </a:lnTo>
                <a:lnTo>
                  <a:pt x="771525" y="257175"/>
                </a:lnTo>
                <a:lnTo>
                  <a:pt x="803672" y="255165"/>
                </a:lnTo>
                <a:lnTo>
                  <a:pt x="835818" y="249138"/>
                </a:lnTo>
                <a:lnTo>
                  <a:pt x="867965" y="239092"/>
                </a:lnTo>
                <a:lnTo>
                  <a:pt x="900112" y="225028"/>
                </a:lnTo>
                <a:lnTo>
                  <a:pt x="932259" y="206945"/>
                </a:lnTo>
                <a:lnTo>
                  <a:pt x="964406" y="184844"/>
                </a:lnTo>
                <a:lnTo>
                  <a:pt x="996553" y="158725"/>
                </a:lnTo>
                <a:lnTo>
                  <a:pt x="1028700" y="128587"/>
                </a:lnTo>
              </a:path>
            </a:pathLst>
          </a:custGeom>
          <a:noFill/>
          <a:ln w="150018"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731520"/>
            <a:ext cx="7446050" cy="310896"/>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C4384B"/>
                </a:solidFill>
                <a:latin typeface="Source Sans 3"/>
              </a:rPr>
              <a:t>PRAVAHA · प्रवाह · CONTINUOUS, UNINTERRUPTED FLOW</a:t>
            </a:r>
          </a:p>
        </p:txBody>
      </p:sp>
      <p:sp>
        <p:nvSpPr>
          <p:cNvPr id="10" name="TextBox 9"/>
          <p:cNvSpPr txBox="1"/>
          <p:nvPr/>
        </p:nvSpPr>
        <p:spPr>
          <a:xfrm>
            <a:off x="1051560" y="1188720"/>
            <a:ext cx="8297027" cy="1691640"/>
          </a:xfrm>
          <a:prstGeom prst="rect">
            <a:avLst/>
          </a:prstGeom>
          <a:noFill/>
        </p:spPr>
        <p:txBody>
          <a:bodyPr wrap="square" lIns="0" rIns="0" tIns="0" bIns="0" anchor="t">
            <a:spAutoFit/>
          </a:bodyPr>
          <a:lstStyle/>
          <a:p>
            <a:pPr algn="l">
              <a:lnSpc>
                <a:spcPct val="108000"/>
              </a:lnSpc>
              <a:spcBef>
                <a:spcPts val="0"/>
              </a:spcBef>
              <a:spcAft>
                <a:spcPts val="0"/>
              </a:spcAft>
            </a:pPr>
            <a:r>
              <a:rPr sz="3800" b="1" i="0">
                <a:solidFill>
                  <a:srgbClr val="FFFFFF"/>
                </a:solidFill>
                <a:latin typeface="Source Sans 3"/>
              </a:rPr>
              <a:t>A continuous SQL engine:</a:t>
            </a:r>
          </a:p>
          <a:p>
            <a:pPr>
              <a:lnSpc>
                <a:spcPct val="108000"/>
              </a:lnSpc>
              <a:spcBef>
                <a:spcPts val="0"/>
              </a:spcBef>
              <a:spcAft>
                <a:spcPts val="0"/>
              </a:spcAft>
            </a:pPr>
            <a:r>
              <a:rPr sz="3800" b="1" i="0">
                <a:solidFill>
                  <a:srgbClr val="FFFFFF"/>
                </a:solidFill>
                <a:latin typeface="Source Sans 3"/>
              </a:rPr>
              <a:t>design and evidence</a:t>
            </a:r>
          </a:p>
        </p:txBody>
      </p:sp>
      <p:sp>
        <p:nvSpPr>
          <p:cNvPr id="11" name="Rectangle 10"/>
          <p:cNvSpPr/>
          <p:nvPr/>
        </p:nvSpPr>
        <p:spPr>
          <a:xfrm>
            <a:off x="1051560" y="2971800"/>
            <a:ext cx="155448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3127248"/>
            <a:ext cx="9041632" cy="640080"/>
          </a:xfrm>
          <a:prstGeom prst="rect">
            <a:avLst/>
          </a:prstGeom>
          <a:noFill/>
        </p:spPr>
        <p:txBody>
          <a:bodyPr wrap="square" lIns="0" rIns="0" tIns="0" bIns="0" anchor="t">
            <a:spAutoFit/>
          </a:bodyPr>
          <a:lstStyle/>
          <a:p>
            <a:pPr algn="l">
              <a:lnSpc>
                <a:spcPct val="120000"/>
              </a:lnSpc>
              <a:spcBef>
                <a:spcPts val="0"/>
              </a:spcBef>
              <a:spcAft>
                <a:spcPts val="0"/>
              </a:spcAft>
            </a:pPr>
            <a:r>
              <a:rPr sz="2500" b="0" i="1">
                <a:solidFill>
                  <a:srgbClr val="FFFFFF"/>
                </a:solidFill>
                <a:latin typeface="Source Sans 3"/>
              </a:rPr>
              <a:t>Ask once. Answer always.</a:t>
            </a:r>
          </a:p>
        </p:txBody>
      </p:sp>
      <p:sp>
        <p:nvSpPr>
          <p:cNvPr id="13" name="TextBox 12"/>
          <p:cNvSpPr txBox="1"/>
          <p:nvPr/>
        </p:nvSpPr>
        <p:spPr>
          <a:xfrm>
            <a:off x="1051560" y="4343400"/>
            <a:ext cx="4254886" cy="1188720"/>
          </a:xfrm>
          <a:prstGeom prst="rect">
            <a:avLst/>
          </a:prstGeom>
          <a:noFill/>
        </p:spPr>
        <p:txBody>
          <a:bodyPr wrap="square" lIns="0" rIns="0" tIns="0" bIns="0" anchor="t">
            <a:spAutoFit/>
          </a:bodyPr>
          <a:lstStyle/>
          <a:p>
            <a:pPr algn="l">
              <a:lnSpc>
                <a:spcPct val="120000"/>
              </a:lnSpc>
              <a:spcBef>
                <a:spcPts val="0"/>
              </a:spcBef>
              <a:spcAft>
                <a:spcPts val="300"/>
              </a:spcAft>
            </a:pPr>
            <a:r>
              <a:rPr sz="2000" b="1" i="0">
                <a:solidFill>
                  <a:srgbClr val="1A1A1A"/>
                </a:solidFill>
                <a:latin typeface="Source Sans 3"/>
              </a:rPr>
              <a:t>Ashutosh Sinha</a:t>
            </a:r>
          </a:p>
          <a:p>
            <a:pPr>
              <a:lnSpc>
                <a:spcPct val="120000"/>
              </a:lnSpc>
              <a:spcBef>
                <a:spcPts val="0"/>
              </a:spcBef>
              <a:spcAft>
                <a:spcPts val="100"/>
              </a:spcAft>
            </a:pPr>
            <a:r>
              <a:rPr sz="1200" b="0" i="0">
                <a:solidFill>
                  <a:srgbClr val="A51C30"/>
                </a:solidFill>
                <a:latin typeface="Source Sans 3"/>
              </a:rPr>
              <a:t>30 September 2026</a:t>
            </a:r>
          </a:p>
          <a:p>
            <a:pPr>
              <a:lnSpc>
                <a:spcPct val="120000"/>
              </a:lnSpc>
              <a:spcBef>
                <a:spcPts val="0"/>
              </a:spcBef>
              <a:spcAft>
                <a:spcPts val="0"/>
              </a:spcAft>
            </a:pPr>
            <a:r>
              <a:rPr sz="1100" b="0" i="0">
                <a:solidFill>
                  <a:srgbClr val="4A5058"/>
                </a:solidFill>
                <a:latin typeface="Source Sans 3"/>
              </a:rPr>
              <a:t>Pravaha 1.0.0 · one node · Java 21</a:t>
            </a:r>
          </a:p>
        </p:txBody>
      </p:sp>
      <p:sp>
        <p:nvSpPr>
          <p:cNvPr id="14" name="TextBox 13"/>
          <p:cNvSpPr txBox="1"/>
          <p:nvPr/>
        </p:nvSpPr>
        <p:spPr>
          <a:xfrm>
            <a:off x="5563986" y="4224528"/>
            <a:ext cx="5318607" cy="219456"/>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A51C30"/>
                </a:solidFill>
                <a:latin typeface="Source Sans 3"/>
              </a:rPr>
              <a:t>IN THIS DECK</a:t>
            </a:r>
          </a:p>
        </p:txBody>
      </p:sp>
      <p:sp>
        <p:nvSpPr>
          <p:cNvPr id="15" name="TextBox 14"/>
          <p:cNvSpPr txBox="1"/>
          <p:nvPr/>
        </p:nvSpPr>
        <p:spPr>
          <a:xfrm>
            <a:off x="5563986" y="4498848"/>
            <a:ext cx="2833794" cy="1737360"/>
          </a:xfrm>
          <a:prstGeom prst="rect">
            <a:avLst/>
          </a:prstGeom>
          <a:noFill/>
        </p:spPr>
        <p:txBody>
          <a:bodyPr wrap="square" lIns="0" rIns="0" tIns="0" bIns="0" anchor="t">
            <a:spAutoFit/>
          </a:bodyPr>
          <a:lstStyle/>
          <a:p>
            <a:pPr algn="l">
              <a:lnSpc>
                <a:spcPct val="120000"/>
              </a:lnSpc>
              <a:spcBef>
                <a:spcPts val="0"/>
              </a:spcBef>
              <a:spcAft>
                <a:spcPts val="300"/>
              </a:spcAft>
            </a:pPr>
            <a:r>
              <a:rPr sz="1100" b="1">
                <a:solidFill>
                  <a:srgbClr val="A51C30"/>
                </a:solidFill>
                <a:latin typeface="Source Sans 3"/>
              </a:rPr>
              <a:t>1  </a:t>
            </a:r>
            <a:r>
              <a:rPr sz="1100" b="0">
                <a:solidFill>
                  <a:srgbClr val="4A5058"/>
                </a:solidFill>
                <a:latin typeface="Source Sans 3"/>
              </a:rPr>
              <a:t>Why ask once, answer always</a:t>
            </a:r>
          </a:p>
          <a:p>
            <a:pPr>
              <a:lnSpc>
                <a:spcPct val="120000"/>
              </a:lnSpc>
              <a:spcBef>
                <a:spcPts val="0"/>
              </a:spcBef>
              <a:spcAft>
                <a:spcPts val="300"/>
              </a:spcAft>
            </a:pPr>
            <a:r>
              <a:rPr sz="1100" b="1">
                <a:solidFill>
                  <a:srgbClr val="A51C30"/>
                </a:solidFill>
                <a:latin typeface="Source Sans 3"/>
              </a:rPr>
              <a:t>2  </a:t>
            </a:r>
            <a:r>
              <a:rPr sz="1100" b="0">
                <a:solidFill>
                  <a:srgbClr val="4A5058"/>
                </a:solidFill>
                <a:latin typeface="Source Sans 3"/>
              </a:rPr>
              <a:t>The vocabulary, from nothing</a:t>
            </a:r>
          </a:p>
          <a:p>
            <a:pPr>
              <a:lnSpc>
                <a:spcPct val="120000"/>
              </a:lnSpc>
              <a:spcBef>
                <a:spcPts val="0"/>
              </a:spcBef>
              <a:spcAft>
                <a:spcPts val="300"/>
              </a:spcAft>
            </a:pPr>
            <a:r>
              <a:rPr sz="1100" b="1">
                <a:solidFill>
                  <a:srgbClr val="A51C30"/>
                </a:solidFill>
                <a:latin typeface="Source Sans 3"/>
              </a:rPr>
              <a:t>3  </a:t>
            </a:r>
            <a:r>
              <a:rPr sz="1100" b="0">
                <a:solidFill>
                  <a:srgbClr val="4A5058"/>
                </a:solidFill>
                <a:latin typeface="Source Sans 3"/>
              </a:rPr>
              <a:t>A query's life</a:t>
            </a:r>
          </a:p>
          <a:p>
            <a:pPr>
              <a:lnSpc>
                <a:spcPct val="120000"/>
              </a:lnSpc>
              <a:spcBef>
                <a:spcPts val="0"/>
              </a:spcBef>
              <a:spcAft>
                <a:spcPts val="300"/>
              </a:spcAft>
            </a:pPr>
            <a:r>
              <a:rPr sz="1100" b="1">
                <a:solidFill>
                  <a:srgbClr val="A51C30"/>
                </a:solidFill>
                <a:latin typeface="Source Sans 3"/>
              </a:rPr>
              <a:t>4  </a:t>
            </a:r>
            <a:r>
              <a:rPr sz="1100" b="0">
                <a:solidFill>
                  <a:srgbClr val="4A5058"/>
                </a:solidFill>
                <a:latin typeface="Source Sans 3"/>
              </a:rPr>
              <a:t>Correctness: exactly once, retractions, late data</a:t>
            </a:r>
          </a:p>
          <a:p>
            <a:pPr>
              <a:lnSpc>
                <a:spcPct val="120000"/>
              </a:lnSpc>
              <a:spcBef>
                <a:spcPts val="0"/>
              </a:spcBef>
              <a:spcAft>
                <a:spcPts val="300"/>
              </a:spcAft>
            </a:pPr>
            <a:r>
              <a:rPr sz="1100" b="1">
                <a:solidFill>
                  <a:srgbClr val="A51C30"/>
                </a:solidFill>
                <a:latin typeface="Source Sans 3"/>
              </a:rPr>
              <a:t>5  </a:t>
            </a:r>
            <a:r>
              <a:rPr sz="1100" b="0">
                <a:solidFill>
                  <a:srgbClr val="4A5058"/>
                </a:solidFill>
                <a:latin typeface="Source Sans 3"/>
              </a:rPr>
              <a:t>Scale on one node</a:t>
            </a:r>
          </a:p>
          <a:p>
            <a:pPr>
              <a:lnSpc>
                <a:spcPct val="120000"/>
              </a:lnSpc>
              <a:spcBef>
                <a:spcPts val="0"/>
              </a:spcBef>
              <a:spcAft>
                <a:spcPts val="300"/>
              </a:spcAft>
            </a:pPr>
            <a:r>
              <a:rPr sz="1100" b="1">
                <a:solidFill>
                  <a:srgbClr val="A51C30"/>
                </a:solidFill>
                <a:latin typeface="Source Sans 3"/>
              </a:rPr>
              <a:t>6  </a:t>
            </a:r>
            <a:r>
              <a:rPr sz="1100" b="0">
                <a:solidFill>
                  <a:srgbClr val="4A5058"/>
                </a:solidFill>
                <a:latin typeface="Source Sans 3"/>
              </a:rPr>
              <a:t>Changing a running query</a:t>
            </a:r>
          </a:p>
        </p:txBody>
      </p:sp>
      <p:sp>
        <p:nvSpPr>
          <p:cNvPr id="16" name="TextBox 15"/>
          <p:cNvSpPr txBox="1"/>
          <p:nvPr/>
        </p:nvSpPr>
        <p:spPr>
          <a:xfrm>
            <a:off x="8580661" y="4498848"/>
            <a:ext cx="2833794" cy="1737360"/>
          </a:xfrm>
          <a:prstGeom prst="rect">
            <a:avLst/>
          </a:prstGeom>
          <a:noFill/>
        </p:spPr>
        <p:txBody>
          <a:bodyPr wrap="square" lIns="0" rIns="0" tIns="0" bIns="0" anchor="t">
            <a:spAutoFit/>
          </a:bodyPr>
          <a:lstStyle/>
          <a:p>
            <a:pPr algn="l">
              <a:lnSpc>
                <a:spcPct val="120000"/>
              </a:lnSpc>
              <a:spcBef>
                <a:spcPts val="0"/>
              </a:spcBef>
              <a:spcAft>
                <a:spcPts val="300"/>
              </a:spcAft>
            </a:pPr>
            <a:r>
              <a:rPr sz="1050" b="1">
                <a:solidFill>
                  <a:srgbClr val="A51C30"/>
                </a:solidFill>
                <a:latin typeface="Source Sans 3"/>
              </a:rPr>
              <a:t>7  </a:t>
            </a:r>
            <a:r>
              <a:rPr sz="1050" b="0">
                <a:solidFill>
                  <a:srgbClr val="4A5058"/>
                </a:solidFill>
                <a:latin typeface="Source Sans 3"/>
              </a:rPr>
              <a:t>Answers built on answers: chains and alerts</a:t>
            </a:r>
          </a:p>
          <a:p>
            <a:pPr>
              <a:lnSpc>
                <a:spcPct val="120000"/>
              </a:lnSpc>
              <a:spcBef>
                <a:spcPts val="0"/>
              </a:spcBef>
              <a:spcAft>
                <a:spcPts val="300"/>
              </a:spcAft>
            </a:pPr>
            <a:r>
              <a:rPr sz="1050" b="1">
                <a:solidFill>
                  <a:srgbClr val="A51C30"/>
                </a:solidFill>
                <a:latin typeface="Source Sans 3"/>
              </a:rPr>
              <a:t>8  </a:t>
            </a:r>
            <a:r>
              <a:rPr sz="1050" b="0">
                <a:solidFill>
                  <a:srgbClr val="4A5058"/>
                </a:solidFill>
                <a:latin typeface="Source Sans 3"/>
              </a:rPr>
              <a:t>Connectors</a:t>
            </a:r>
          </a:p>
          <a:p>
            <a:pPr>
              <a:lnSpc>
                <a:spcPct val="120000"/>
              </a:lnSpc>
              <a:spcBef>
                <a:spcPts val="0"/>
              </a:spcBef>
              <a:spcAft>
                <a:spcPts val="300"/>
              </a:spcAft>
            </a:pPr>
            <a:r>
              <a:rPr sz="1050" b="1">
                <a:solidFill>
                  <a:srgbClr val="A51C30"/>
                </a:solidFill>
                <a:latin typeface="Source Sans 3"/>
              </a:rPr>
              <a:t>9  </a:t>
            </a:r>
            <a:r>
              <a:rPr sz="1050" b="0">
                <a:solidFill>
                  <a:srgbClr val="4A5058"/>
                </a:solidFill>
                <a:latin typeface="Source Sans 3"/>
              </a:rPr>
              <a:t>Security, identity and governance</a:t>
            </a:r>
          </a:p>
          <a:p>
            <a:pPr>
              <a:lnSpc>
                <a:spcPct val="120000"/>
              </a:lnSpc>
              <a:spcBef>
                <a:spcPts val="0"/>
              </a:spcBef>
              <a:spcAft>
                <a:spcPts val="300"/>
              </a:spcAft>
            </a:pPr>
            <a:r>
              <a:rPr sz="1050" b="1">
                <a:solidFill>
                  <a:srgbClr val="A51C30"/>
                </a:solidFill>
                <a:latin typeface="Source Sans 3"/>
              </a:rPr>
              <a:t>10  </a:t>
            </a:r>
            <a:r>
              <a:rPr sz="1050" b="0">
                <a:solidFill>
                  <a:srgbClr val="4A5058"/>
                </a:solidFill>
                <a:latin typeface="Source Sans 3"/>
              </a:rPr>
              <a:t>Operating it</a:t>
            </a:r>
          </a:p>
          <a:p>
            <a:pPr>
              <a:lnSpc>
                <a:spcPct val="120000"/>
              </a:lnSpc>
              <a:spcBef>
                <a:spcPts val="0"/>
              </a:spcBef>
              <a:spcAft>
                <a:spcPts val="300"/>
              </a:spcAft>
            </a:pPr>
            <a:r>
              <a:rPr sz="1050" b="1">
                <a:solidFill>
                  <a:srgbClr val="A51C30"/>
                </a:solidFill>
                <a:latin typeface="Source Sans 3"/>
              </a:rPr>
              <a:t>11  </a:t>
            </a:r>
            <a:r>
              <a:rPr sz="1050" b="0">
                <a:solidFill>
                  <a:srgbClr val="4A5058"/>
                </a:solidFill>
                <a:latin typeface="Source Sans 3"/>
              </a:rPr>
              <a:t>Thirteen worked systems</a:t>
            </a:r>
          </a:p>
          <a:p>
            <a:pPr>
              <a:lnSpc>
                <a:spcPct val="120000"/>
              </a:lnSpc>
              <a:spcBef>
                <a:spcPts val="0"/>
              </a:spcBef>
              <a:spcAft>
                <a:spcPts val="300"/>
              </a:spcAft>
            </a:pPr>
            <a:r>
              <a:rPr sz="1050" b="1">
                <a:solidFill>
                  <a:srgbClr val="A51C30"/>
                </a:solidFill>
                <a:latin typeface="Source Sans 3"/>
              </a:rPr>
              <a:t>12  </a:t>
            </a:r>
            <a:r>
              <a:rPr sz="1050" b="0">
                <a:solidFill>
                  <a:srgbClr val="4A5058"/>
                </a:solidFill>
                <a:latin typeface="Source Sans 3"/>
              </a:rPr>
              <a:t>Evidence, 1.0, and where to start</a:t>
            </a:r>
          </a:p>
        </p:txBody>
      </p:sp>
      <p:sp>
        <p:nvSpPr>
          <p:cNvPr id="17" name="Rectangle 1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Pravaha · Continuous SQL</a:t>
            </a:r>
          </a:p>
        </p:txBody>
      </p:sp>
      <p:sp>
        <p:nvSpPr>
          <p:cNvPr id="19" name="TextBox 1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RELEASE 1.0.0 · 30 SEPTEMBER 2026</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The first release with a compatibility promise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Pravaha · Continuous SQL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a:t>
            </a:r>
          </a:p>
        </p:txBody>
      </p:sp>
      <p:sp>
        <p:nvSpPr>
          <p:cNvPr id="10" name="Rectangle 9"/>
          <p:cNvSpPr/>
          <p:nvPr/>
        </p:nvSpPr>
        <p:spPr>
          <a:xfrm>
            <a:off x="777240"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1.0.0</a:t>
            </a:r>
          </a:p>
        </p:txBody>
      </p:sp>
      <p:sp>
        <p:nvSpPr>
          <p:cNvPr id="13" name="TextBox 12"/>
          <p:cNvSpPr txBox="1"/>
          <p:nvPr/>
        </p:nvSpPr>
        <p:spPr>
          <a:xfrm>
            <a:off x="978408"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Semantic versioning from here: 1.x adds, never breaks what is marked stable</a:t>
            </a:r>
          </a:p>
        </p:txBody>
      </p:sp>
      <p:sp>
        <p:nvSpPr>
          <p:cNvPr id="14" name="Rectangle 13"/>
          <p:cNvSpPr/>
          <p:nvPr/>
        </p:nvSpPr>
        <p:spPr>
          <a:xfrm>
            <a:off x="3486835"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 node</a:t>
            </a:r>
          </a:p>
        </p:txBody>
      </p:sp>
      <p:sp>
        <p:nvSpPr>
          <p:cNvPr id="17" name="TextBox 16"/>
          <p:cNvSpPr txBox="1"/>
          <p:nvPr/>
        </p:nvSpPr>
        <p:spPr>
          <a:xfrm>
            <a:off x="3688003"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Cluster mode (wave 11) is on hold and not in 1.0; a node refuses PARTITIONED</a:t>
            </a:r>
          </a:p>
        </p:txBody>
      </p:sp>
      <p:sp>
        <p:nvSpPr>
          <p:cNvPr id="18" name="Rectangle 17"/>
          <p:cNvSpPr/>
          <p:nvPr/>
        </p:nvSpPr>
        <p:spPr>
          <a:xfrm>
            <a:off x="6196431"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0 open</a:t>
            </a:r>
          </a:p>
        </p:txBody>
      </p:sp>
      <p:sp>
        <p:nvSpPr>
          <p:cNvPr id="21" name="TextBox 20"/>
          <p:cNvSpPr txBox="1"/>
          <p:nvPr/>
        </p:nvSpPr>
        <p:spPr>
          <a:xfrm>
            <a:off x="6397599"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Findings in the register: 482 recorded, 464 fixed, 9 by design, 9 superseded</a:t>
            </a:r>
          </a:p>
        </p:txBody>
      </p:sp>
      <p:sp>
        <p:nvSpPr>
          <p:cNvPr id="22" name="Rectangle 21"/>
          <p:cNvSpPr/>
          <p:nvPr/>
        </p:nvSpPr>
        <p:spPr>
          <a:xfrm>
            <a:off x="8906027"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60 ADRs</a:t>
            </a:r>
          </a:p>
        </p:txBody>
      </p:sp>
      <p:sp>
        <p:nvSpPr>
          <p:cNvPr id="25" name="TextBox 24"/>
          <p:cNvSpPr txBox="1"/>
          <p:nvPr/>
        </p:nvSpPr>
        <p:spPr>
          <a:xfrm>
            <a:off x="9107195"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Every decision recorded, including the ones later reversed</a:t>
            </a:r>
          </a:p>
        </p:txBody>
      </p:sp>
      <p:sp>
        <p:nvSpPr>
          <p:cNvPr id="26" name="TextBox 25"/>
          <p:cNvSpPr txBox="1"/>
          <p:nvPr/>
        </p:nvSpPr>
        <p:spPr>
          <a:xfrm>
            <a:off x="777240" y="2764231"/>
            <a:ext cx="10637215" cy="3481120"/>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New since 0.2.0</a:t>
            </a:r>
          </a:p>
          <a:p>
            <a:pPr lvl="1">
              <a:lnSpc>
                <a:spcPct val="120000"/>
              </a:lnSpc>
              <a:spcBef>
                <a:spcPts val="0"/>
              </a:spcBef>
              <a:spcAft>
                <a:spcPts val="0"/>
              </a:spcAft>
            </a:pPr>
            <a:r>
              <a:rPr sz="1350" b="0">
                <a:solidFill>
                  <a:srgbClr val="4A5058"/>
                </a:solidFill>
                <a:latin typeface="Source Sans 3"/>
              </a:rPr>
              <a:t>Queries on queries, alerts that fire and clear, a governed catalogue with grants, row filters and masks, per-tenant names, ownership-based administration, BI tools over the PostgreSQL protocol, observability, one /opt/pravaha layout in and out of Docker, and SDKs that ship on their own.</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Experimental in 1.0</a:t>
            </a:r>
          </a:p>
          <a:p>
            <a:pPr lvl="1">
              <a:lnSpc>
                <a:spcPct val="120000"/>
              </a:lnSpc>
              <a:spcBef>
                <a:spcPts val="0"/>
              </a:spcBef>
              <a:spcAft>
                <a:spcPts val="0"/>
              </a:spcAft>
            </a:pPr>
            <a:r>
              <a:rPr sz="1350" b="0">
                <a:solidFill>
                  <a:srgbClr val="4A5058"/>
                </a:solidFill>
                <a:latin typeface="Source Sans 3"/>
              </a:rPr>
              <a:t>The assistant — plain English to continuous SQL through any model, with the engine as the judge — works and is tested, and may still change in a minor release.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1</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Why ask once, answer always</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 batch answer is as old as its last run, and a poll pays for its freshness by re-reading what it has already read. Pravaha inverts the arrangement: the question is registered once, and the engine keeps its answer current as the data changes.</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What a batch answer costs, in the case studies' own words</a:t>
            </a:r>
          </a:p>
          <a:p>
            <a:pPr>
              <a:lnSpc>
                <a:spcPct val="115000"/>
              </a:lnSpc>
              <a:spcBef>
                <a:spcPts val="0"/>
              </a:spcBef>
              <a:spcAft>
                <a:spcPts val="600"/>
              </a:spcAft>
            </a:pPr>
            <a:r>
              <a:rPr sz="1250" b="0" i="0">
                <a:solidFill>
                  <a:srgbClr val="F6E6E9"/>
                </a:solidFill>
                <a:latin typeface="Source Sans 3"/>
              </a:rPr>
              <a:t>What polling re-reads, and what it misses</a:t>
            </a:r>
          </a:p>
          <a:p>
            <a:pPr>
              <a:lnSpc>
                <a:spcPct val="115000"/>
              </a:lnSpc>
              <a:spcBef>
                <a:spcPts val="0"/>
              </a:spcBef>
              <a:spcAft>
                <a:spcPts val="600"/>
              </a:spcAft>
            </a:pPr>
            <a:r>
              <a:rPr sz="1250" b="0" i="0">
                <a:solidFill>
                  <a:srgbClr val="F6E6E9"/>
                </a:solidFill>
                <a:latin typeface="Source Sans 3"/>
              </a:rPr>
              <a:t>The inversion: a computation, not a request</a:t>
            </a:r>
          </a:p>
          <a:p>
            <a:pPr>
              <a:lnSpc>
                <a:spcPct val="115000"/>
              </a:lnSpc>
              <a:spcBef>
                <a:spcPts val="0"/>
              </a:spcBef>
              <a:spcAft>
                <a:spcPts val="600"/>
              </a:spcAft>
            </a:pPr>
            <a:r>
              <a:rPr sz="1250" b="0" i="0">
                <a:solidFill>
                  <a:srgbClr val="F6E6E9"/>
                </a:solidFill>
                <a:latin typeface="Source Sans 3"/>
              </a:rPr>
              <a:t>One query, end to end</a:t>
            </a:r>
          </a:p>
          <a:p>
            <a:pPr>
              <a:lnSpc>
                <a:spcPct val="115000"/>
              </a:lnSpc>
              <a:spcBef>
                <a:spcPts val="0"/>
              </a:spcBef>
              <a:spcAft>
                <a:spcPts val="600"/>
              </a:spcAft>
            </a:pPr>
            <a:r>
              <a:rPr sz="1250" b="0" i="0">
                <a:solidFill>
                  <a:srgbClr val="F6E6E9"/>
                </a:solidFill>
                <a:latin typeface="Source Sans 3"/>
              </a:rPr>
              <a:t>Pravaha in one slide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PROBLEM WITH BATCH</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batch answer is as old as the last run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Five of the thirteen case studies open with the same complaint. Each quotation is from the study's own README.</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Nobody in these studies is short of data. They are short of an answer that is current when somebody needs to act on it.</a:t>
            </a:r>
          </a:p>
        </p:txBody>
      </p:sp>
      <p:graphicFrame>
        <p:nvGraphicFramePr>
          <p:cNvPr id="13" name="Table 12"/>
          <p:cNvGraphicFramePr>
            <a:graphicFrameLocks noGrp="1"/>
          </p:cNvGraphicFramePr>
          <p:nvPr/>
        </p:nvGraphicFramePr>
        <p:xfrm>
          <a:off x="777240" y="2073351"/>
          <a:ext cx="10637215" cy="3161076"/>
        </p:xfrm>
        <a:graphic>
          <a:graphicData uri="http://schemas.openxmlformats.org/drawingml/2006/table">
            <a:tbl>
              <a:tblPr firstRow="1">
                <a:tableStyleId>{5C22544A-7EE6-4342-B048-85BDC9FD1C3A}</a:tableStyleId>
              </a:tblPr>
              <a:tblGrid>
                <a:gridCol w="2954782"/>
                <a:gridCol w="7682433"/>
              </a:tblGrid>
              <a:tr h="322376">
                <a:tc>
                  <a:txBody>
                    <a:bodyPr wrap="square"/>
                    <a:lstStyle/>
                    <a:p>
                      <a:r>
                        <a:rPr sz="1300" b="1">
                          <a:solidFill>
                            <a:srgbClr val="FFFFFF"/>
                          </a:solidFill>
                          <a:latin typeface="Source Sans 3"/>
                        </a:rPr>
                        <a:t>Study</a:t>
                      </a:r>
                    </a:p>
                  </a:txBody>
                  <a:tcPr marL="82296" marR="64008" marT="32004" marB="32004" anchor="ctr">
                    <a:solidFill>
                      <a:srgbClr val="8A1626"/>
                    </a:solidFill>
                  </a:tcPr>
                </a:tc>
                <a:tc>
                  <a:txBody>
                    <a:bodyPr wrap="square"/>
                    <a:lstStyle/>
                    <a:p>
                      <a:r>
                        <a:rPr sz="1300" b="1">
                          <a:solidFill>
                            <a:srgbClr val="FFFFFF"/>
                          </a:solidFill>
                          <a:latin typeface="Source Sans 3"/>
                        </a:rPr>
                        <a:t>What the batch answer costs</a:t>
                      </a:r>
                    </a:p>
                  </a:txBody>
                  <a:tcPr marL="82296" marR="64008" marT="32004" marB="32004" anchor="ctr">
                    <a:solidFill>
                      <a:srgbClr val="8A1626"/>
                    </a:solidFill>
                  </a:tcPr>
                </a:tc>
              </a:tr>
              <a:tr h="567740">
                <a:tc>
                  <a:txBody>
                    <a:bodyPr wrap="square"/>
                    <a:lstStyle/>
                    <a:p>
                      <a:r>
                        <a:rPr sz="1400" b="1">
                          <a:solidFill>
                            <a:srgbClr val="8A1626"/>
                          </a:solidFill>
                          <a:latin typeface="Source Sans 3"/>
                        </a:rPr>
                        <a:t>Card authorisation velocity</a:t>
                      </a:r>
                    </a:p>
                  </a:txBody>
                  <a:tcPr marL="82296" marR="64008" marT="32004" marB="32004" anchor="ctr">
                    <a:solidFill>
                      <a:srgbClr val="FFFFFF"/>
                    </a:solidFill>
                  </a:tcPr>
                </a:tc>
                <a:tc>
                  <a:txBody>
                    <a:bodyPr wrap="square"/>
                    <a:lstStyle/>
                    <a:p>
                      <a:r>
                        <a:rPr sz="1400" b="0">
                          <a:solidFill>
                            <a:srgbClr val="1A1A1A"/>
                          </a:solidFill>
                          <a:latin typeface="Source Sans 3"/>
                        </a:rPr>
                        <a:t>“The fraud is detected four minutes after the fourth authorisation cleared.”</a:t>
                      </a:r>
                    </a:p>
                  </a:txBody>
                  <a:tcPr marL="82296" marR="64008" marT="32004" marB="32004" anchor="ctr">
                    <a:solidFill>
                      <a:srgbClr val="FFFFFF"/>
                    </a:solidFill>
                  </a:tcPr>
                </a:tc>
              </a:tr>
              <a:tr h="567740">
                <a:tc>
                  <a:txBody>
                    <a:bodyPr wrap="square"/>
                    <a:lstStyle/>
                    <a:p>
                      <a:r>
                        <a:rPr sz="1400" b="1">
                          <a:solidFill>
                            <a:srgbClr val="8A1626"/>
                          </a:solidFill>
                          <a:latin typeface="Source Sans 3"/>
                        </a:rPr>
                        <a:t>Intraday counterparty exposure</a:t>
                      </a:r>
                    </a:p>
                  </a:txBody>
                  <a:tcPr marL="82296" marR="64008" marT="32004" marB="32004" anchor="ctr">
                    <a:solidFill>
                      <a:srgbClr val="F7F5F2"/>
                    </a:solidFill>
                  </a:tcPr>
                </a:tc>
                <a:tc>
                  <a:txBody>
                    <a:bodyPr wrap="square"/>
                    <a:lstStyle/>
                    <a:p>
                      <a:r>
                        <a:rPr sz="1400" b="0">
                          <a:solidFill>
                            <a:srgbClr val="1A1A1A"/>
                          </a:solidFill>
                          <a:latin typeface="Source Sans 3"/>
                        </a:rPr>
                        <a:t>“The number on the risk screen is as old as the last run.”</a:t>
                      </a:r>
                    </a:p>
                  </a:txBody>
                  <a:tcPr marL="82296" marR="64008" marT="32004" marB="32004" anchor="ctr">
                    <a:solidFill>
                      <a:srgbClr val="F7F5F2"/>
                    </a:solidFill>
                  </a:tcPr>
                </a:tc>
              </a:tr>
              <a:tr h="567740">
                <a:tc>
                  <a:txBody>
                    <a:bodyPr wrap="square"/>
                    <a:lstStyle/>
                    <a:p>
                      <a:r>
                        <a:rPr sz="1400" b="1">
                          <a:solidFill>
                            <a:srgbClr val="8A1626"/>
                          </a:solidFill>
                          <a:latin typeface="Source Sans 3"/>
                        </a:rPr>
                        <a:t>Checkout funnel</a:t>
                      </a:r>
                    </a:p>
                  </a:txBody>
                  <a:tcPr marL="82296" marR="64008" marT="32004" marB="32004" anchor="ctr">
                    <a:solidFill>
                      <a:srgbClr val="FFFFFF"/>
                    </a:solidFill>
                  </a:tcPr>
                </a:tc>
                <a:tc>
                  <a:txBody>
                    <a:bodyPr wrap="square"/>
                    <a:lstStyle/>
                    <a:p>
                      <a:r>
                        <a:rPr sz="1400" b="0">
                          <a:solidFill>
                            <a:srgbClr val="1A1A1A"/>
                          </a:solidFill>
                          <a:latin typeface="Source Sans 3"/>
                        </a:rPr>
                        <a:t>The payment integration starts failing at 10:06; “the dashboard — refreshed from the warehouse every hour — shows nothing until eleven.”</a:t>
                      </a:r>
                    </a:p>
                  </a:txBody>
                  <a:tcPr marL="82296" marR="64008" marT="32004" marB="32004" anchor="ctr">
                    <a:solidFill>
                      <a:srgbClr val="FFFFFF"/>
                    </a:solidFill>
                  </a:tcPr>
                </a:tc>
              </a:tr>
              <a:tr h="567740">
                <a:tc>
                  <a:txBody>
                    <a:bodyPr wrap="square"/>
                    <a:lstStyle/>
                    <a:p>
                      <a:r>
                        <a:rPr sz="1400" b="1">
                          <a:solidFill>
                            <a:srgbClr val="8A1626"/>
                          </a:solidFill>
                          <a:latin typeface="Source Sans 3"/>
                        </a:rPr>
                        <a:t>Call-detail-record fraud</a:t>
                      </a:r>
                    </a:p>
                  </a:txBody>
                  <a:tcPr marL="82296" marR="64008" marT="32004" marB="32004" anchor="ctr">
                    <a:solidFill>
                      <a:srgbClr val="F7F5F2"/>
                    </a:solidFill>
                  </a:tcPr>
                </a:tc>
                <a:tc>
                  <a:txBody>
                    <a:bodyPr wrap="square"/>
                    <a:lstStyle/>
                    <a:p>
                      <a:r>
                        <a:rPr sz="1400" b="0">
                          <a:solidFill>
                            <a:srgbClr val="1A1A1A"/>
                          </a:solidFill>
                          <a:latin typeface="Source Sans 3"/>
                        </a:rPr>
                        <a:t>SIM-box bypass and revenue-share fraud: “a nightly batch over the day's CDRs finds both, twelve hours and several thousand pounds late.”</a:t>
                      </a:r>
                    </a:p>
                  </a:txBody>
                  <a:tcPr marL="82296" marR="64008" marT="32004" marB="32004" anchor="ctr">
                    <a:solidFill>
                      <a:srgbClr val="F7F5F2"/>
                    </a:solidFill>
                  </a:tcPr>
                </a:tc>
              </a:tr>
              <a:tr h="567740">
                <a:tc>
                  <a:txBody>
                    <a:bodyPr wrap="square"/>
                    <a:lstStyle/>
                    <a:p>
                      <a:r>
                        <a:rPr sz="1400" b="1">
                          <a:solidFill>
                            <a:srgbClr val="8A1626"/>
                          </a:solidFill>
                          <a:latin typeface="Source Sans 3"/>
                        </a:rPr>
                        <a:t>Order revenue into Iceberg</a:t>
                      </a:r>
                    </a:p>
                  </a:txBody>
                  <a:tcPr marL="82296" marR="64008" marT="32004" marB="32004" anchor="ctr">
                    <a:solidFill>
                      <a:srgbClr val="FFFFFF"/>
                    </a:solidFill>
                  </a:tcPr>
                </a:tc>
                <a:tc>
                  <a:txBody>
                    <a:bodyPr wrap="square"/>
                    <a:lstStyle/>
                    <a:p>
                      <a:r>
                        <a:rPr sz="1400" b="0">
                          <a:solidFill>
                            <a:srgbClr val="1A1A1A"/>
                          </a:solidFill>
                          <a:latin typeface="Source Sans 3"/>
                        </a:rPr>
                        <a:t>“By mid-morning the analysts are looking at yesterday.”</a:t>
                      </a:r>
                    </a:p>
                  </a:txBody>
                  <a:tcPr marL="82296" marR="64008" marT="32004" marB="32004"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PROBLEM WITH POLLING</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Polling buys freshness by reading everything again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The usual fix for a stale answer is to ask more often. Two of the studies say what that costs the database and what it still cannot see.</a:t>
            </a:r>
          </a:p>
        </p:txBody>
      </p:sp>
      <p:sp>
        <p:nvSpPr>
          <p:cNvPr id="11" name="Rectangle 10"/>
          <p:cNvSpPr/>
          <p:nvPr/>
        </p:nvSpPr>
        <p:spPr>
          <a:xfrm>
            <a:off x="777240"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a poll re-reads</a:t>
            </a:r>
          </a:p>
        </p:txBody>
      </p:sp>
      <p:sp>
        <p:nvSpPr>
          <p:cNvPr id="14" name="TextBox 13"/>
          <p:cNvSpPr txBox="1"/>
          <p:nvPr/>
        </p:nvSpPr>
        <p:spPr>
          <a:xfrm>
            <a:off x="777240"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Every row, every run, for ever</a:t>
            </a:r>
          </a:p>
          <a:p>
            <a:pPr lvl="1">
              <a:lnSpc>
                <a:spcPct val="120000"/>
              </a:lnSpc>
              <a:spcBef>
                <a:spcPts val="0"/>
              </a:spcBef>
              <a:spcAft>
                <a:spcPts val="0"/>
              </a:spcAft>
            </a:pPr>
            <a:r>
              <a:rPr sz="1350" b="0">
                <a:solidFill>
                  <a:srgbClr val="4A5058"/>
                </a:solidFill>
                <a:latin typeface="Source Sans 3"/>
              </a:rPr>
              <a:t>“The interesting part is not that batch is slow — it is that the job re-reads rows it has already read, every run, forever.” (counterparty exposure)</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scan on the database that serves the tills</a:t>
            </a:r>
          </a:p>
          <a:p>
            <a:pPr lvl="1">
              <a:lnSpc>
                <a:spcPct val="120000"/>
              </a:lnSpc>
              <a:spcBef>
                <a:spcPts val="0"/>
              </a:spcBef>
              <a:spcAft>
                <a:spcPts val="0"/>
              </a:spcAft>
            </a:pPr>
            <a:r>
              <a:rPr sz="1350" b="0">
                <a:solidFill>
                  <a:srgbClr val="4A5058"/>
                </a:solidFill>
                <a:latin typeface="Source Sans 3"/>
              </a:rPr>
              <a:t>Polling WHERE on_hand &lt;= reorder_point “puts a scan on the database that serves the tills.” (stock levels from MySQL)</a:t>
            </a:r>
          </a:p>
        </p:txBody>
      </p:sp>
      <p:sp>
        <p:nvSpPr>
          <p:cNvPr id="15" name="Rectangle 14"/>
          <p:cNvSpPr/>
          <p:nvPr/>
        </p:nvSpPr>
        <p:spPr>
          <a:xfrm>
            <a:off x="6278727"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a poll cannot see</a:t>
            </a:r>
          </a:p>
        </p:txBody>
      </p:sp>
      <p:sp>
        <p:nvSpPr>
          <p:cNvPr id="18" name="TextBox 17"/>
          <p:cNvSpPr txBox="1"/>
          <p:nvPr/>
        </p:nvSpPr>
        <p:spPr>
          <a:xfrm>
            <a:off x="6278727"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A change between two polls</a:t>
            </a:r>
          </a:p>
          <a:p>
            <a:pPr lvl="1">
              <a:lnSpc>
                <a:spcPct val="120000"/>
              </a:lnSpc>
              <a:spcBef>
                <a:spcPts val="0"/>
              </a:spcBef>
              <a:spcAft>
                <a:spcPts val="0"/>
              </a:spcAft>
            </a:pPr>
            <a:r>
              <a:rPr sz="1350" b="0">
                <a:solidFill>
                  <a:srgbClr val="4A5058"/>
                </a:solidFill>
                <a:latin typeface="Source Sans 3"/>
              </a:rPr>
              <a:t>The same poll “misses a line that dips and recovers between polls.”</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delete</a:t>
            </a:r>
          </a:p>
          <a:p>
            <a:pPr lvl="1">
              <a:lnSpc>
                <a:spcPct val="120000"/>
              </a:lnSpc>
              <a:spcBef>
                <a:spcPts val="0"/>
              </a:spcBef>
              <a:spcAft>
                <a:spcPts val="0"/>
              </a:spcAft>
            </a:pPr>
            <a:r>
              <a:rPr sz="1350" b="0">
                <a:solidFill>
                  <a:srgbClr val="4A5058"/>
                </a:solidFill>
                <a:latin typeface="Source Sans 3"/>
              </a:rPr>
              <a:t>A poll with a watermark carries “the honest admission that deletes are invisible” (design §19).</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Something that did not happen</a:t>
            </a:r>
          </a:p>
          <a:p>
            <a:pPr lvl="1">
              <a:lnSpc>
                <a:spcPct val="120000"/>
              </a:lnSpc>
              <a:spcBef>
                <a:spcPts val="0"/>
              </a:spcBef>
              <a:spcAft>
                <a:spcPts val="0"/>
              </a:spcAft>
            </a:pPr>
            <a:r>
              <a:rPr sz="1350" b="0">
                <a:solidFill>
                  <a:srgbClr val="4A5058"/>
                </a:solidFill>
                <a:latin typeface="Source Sans 3"/>
              </a:rPr>
              <a:t>“‘No scan yet’ is not an event anything can react to.” (delivery SLA breaches)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INVERSION</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continuous query is a computation, not a request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database answers a question when asked. Pravaha is told the question in advance and maintains the answer, so asking is a hash probe rather than a scan.</a:t>
            </a:r>
          </a:p>
        </p:txBody>
      </p:sp>
      <p:sp>
        <p:nvSpPr>
          <p:cNvPr id="11" name="TextBox 10"/>
          <p:cNvSpPr txBox="1"/>
          <p:nvPr/>
        </p:nvSpPr>
        <p:spPr>
          <a:xfrm>
            <a:off x="777240" y="2073351"/>
            <a:ext cx="10637215" cy="4172000"/>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Register the SQL once</a:t>
            </a:r>
          </a:p>
          <a:p>
            <a:pPr lvl="1">
              <a:lnSpc>
                <a:spcPct val="120000"/>
              </a:lnSpc>
              <a:spcBef>
                <a:spcPts val="0"/>
              </a:spcBef>
              <a:spcAft>
                <a:spcPts val="0"/>
              </a:spcAft>
            </a:pPr>
            <a:r>
              <a:rPr sz="1550" b="0">
                <a:solidFill>
                  <a:srgbClr val="4A5058"/>
                </a:solidFill>
                <a:latin typeface="Source Sans 3"/>
              </a:rPr>
              <a:t>It keeps running, and keeps a view current, until somebody drops it.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Registering is expensive; querying is cheap</a:t>
            </a:r>
          </a:p>
          <a:p>
            <a:pPr lvl="1">
              <a:lnSpc>
                <a:spcPct val="120000"/>
              </a:lnSpc>
              <a:spcBef>
                <a:spcPts val="0"/>
              </a:spcBef>
              <a:spcAft>
                <a:spcPts val="0"/>
              </a:spcAft>
            </a:pPr>
            <a:r>
              <a:rPr sz="1550" b="0">
                <a:solidFill>
                  <a:srgbClr val="4A5058"/>
                </a:solidFill>
                <a:latin typeface="Source Sans 3"/>
              </a:rPr>
              <a:t>A registration commits the node to memory and a share of a lane for as long as it exists, which is why registering is authorised separately from reading.</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What one costs, measured</a:t>
            </a:r>
          </a:p>
          <a:p>
            <a:pPr lvl="1">
              <a:lnSpc>
                <a:spcPct val="120000"/>
              </a:lnSpc>
              <a:spcBef>
                <a:spcPts val="0"/>
              </a:spcBef>
              <a:spcAft>
                <a:spcPts val="0"/>
              </a:spcAft>
            </a:pPr>
            <a:r>
              <a:rPr sz="1550" b="0">
                <a:solidFill>
                  <a:srgbClr val="4A5058"/>
                </a:solidFill>
                <a:latin typeface="Source Sans 3"/>
              </a:rPr>
              <a:t>About 1 MiB off-heap idle, 1.3 MiB once rows move, ~65 KiB of heap, ~16 ms to register (mostly planning), and no platform thread of its own.</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Two ways to take the answer</a:t>
            </a:r>
          </a:p>
          <a:p>
            <a:pPr lvl="1">
              <a:lnSpc>
                <a:spcPct val="120000"/>
              </a:lnSpc>
              <a:spcBef>
                <a:spcPts val="0"/>
              </a:spcBef>
              <a:spcAft>
                <a:spcPts val="0"/>
              </a:spcAft>
            </a:pPr>
            <a:r>
              <a:rPr sz="1550" b="0">
                <a:solidFill>
                  <a:srgbClr val="4A5058"/>
                </a:solidFill>
                <a:latin typeface="Source Sans 3"/>
              </a:rPr>
              <a:t>Read the view by key, or subscribe and receive every commit as weighted changes.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ONE QUERY, END TO END</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windowed, enriched answer, registered once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a:t>
            </a:r>
          </a:p>
        </p:txBody>
      </p:sp>
      <p:sp>
        <p:nvSpPr>
          <p:cNvPr id="10" name="Rectangle 9"/>
          <p:cNvSpPr/>
          <p:nvPr/>
        </p:nvSpPr>
        <p:spPr>
          <a:xfrm>
            <a:off x="777240" y="1410919"/>
            <a:ext cx="5667588" cy="295412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2954121"/>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5265252" cy="2551785"/>
          </a:xfrm>
          <a:prstGeom prst="rect">
            <a:avLst/>
          </a:prstGeom>
          <a:noFill/>
        </p:spPr>
        <p:txBody>
          <a:bodyPr wrap="square" lIns="0" rIns="0" tIns="0" bIns="0" anchor="t">
            <a:spAutoFit/>
          </a:bodyPr>
          <a:lstStyle/>
          <a:p>
            <a:pPr algn="l">
              <a:lnSpc>
                <a:spcPct val="100000"/>
              </a:lnSpc>
              <a:spcBef>
                <a:spcPts val="0"/>
              </a:spcBef>
              <a:spcAft>
                <a:spcPts val="0"/>
              </a:spcAft>
            </a:pPr>
            <a:r>
              <a:rPr sz="1200" b="0" i="0">
                <a:solidFill>
                  <a:srgbClr val="F1EEE9"/>
                </a:solidFill>
                <a:latin typeface="Consolas"/>
              </a:rPr>
              <a:t>SELECT STREAM</a:t>
            </a:r>
          </a:p>
          <a:p>
            <a:pPr>
              <a:lnSpc>
                <a:spcPct val="100000"/>
              </a:lnSpc>
              <a:spcBef>
                <a:spcPts val="0"/>
              </a:spcBef>
              <a:spcAft>
                <a:spcPts val="0"/>
              </a:spcAft>
            </a:pPr>
            <a:r>
              <a:rPr sz="1200" b="0" i="0">
                <a:solidFill>
                  <a:srgbClr val="F1EEE9"/>
                </a:solidFill>
                <a:latin typeface="Consolas"/>
              </a:rPr>
              <a:t>    TUMBLE_END(event_time, INTERVAL '10' SECOND)</a:t>
            </a:r>
          </a:p>
          <a:p>
            <a:pPr>
              <a:lnSpc>
                <a:spcPct val="100000"/>
              </a:lnSpc>
              <a:spcBef>
                <a:spcPts val="0"/>
              </a:spcBef>
              <a:spcAft>
                <a:spcPts val="0"/>
              </a:spcAft>
            </a:pPr>
            <a:r>
              <a:rPr sz="1200" b="0" i="0">
                <a:solidFill>
                  <a:srgbClr val="F1EEE9"/>
                </a:solidFill>
                <a:latin typeface="Consolas"/>
              </a:rPr>
              <a:t>                  AS window_end,</a:t>
            </a:r>
          </a:p>
          <a:p>
            <a:pPr>
              <a:lnSpc>
                <a:spcPct val="100000"/>
              </a:lnSpc>
              <a:spcBef>
                <a:spcPts val="0"/>
              </a:spcBef>
              <a:spcAft>
                <a:spcPts val="0"/>
              </a:spcAft>
            </a:pPr>
            <a:r>
              <a:rPr sz="1200" b="0" i="0">
                <a:solidFill>
                  <a:srgbClr val="F1EEE9"/>
                </a:solidFill>
                <a:latin typeface="Consolas"/>
              </a:rPr>
              <a:t>    t.user_id, p.tier,</a:t>
            </a:r>
          </a:p>
          <a:p>
            <a:pPr>
              <a:lnSpc>
                <a:spcPct val="100000"/>
              </a:lnSpc>
              <a:spcBef>
                <a:spcPts val="0"/>
              </a:spcBef>
              <a:spcAft>
                <a:spcPts val="0"/>
              </a:spcAft>
            </a:pPr>
            <a:r>
              <a:rPr sz="1200" b="0" i="0">
                <a:solidFill>
                  <a:srgbClr val="F1EEE9"/>
                </a:solidFill>
                <a:latin typeface="Consolas"/>
              </a:rPr>
              <a:t>    COUNT(*)      AS txn_count,</a:t>
            </a:r>
          </a:p>
          <a:p>
            <a:pPr>
              <a:lnSpc>
                <a:spcPct val="100000"/>
              </a:lnSpc>
              <a:spcBef>
                <a:spcPts val="0"/>
              </a:spcBef>
              <a:spcAft>
                <a:spcPts val="0"/>
              </a:spcAft>
            </a:pPr>
            <a:r>
              <a:rPr sz="1200" b="0" i="0">
                <a:solidFill>
                  <a:srgbClr val="F1EEE9"/>
                </a:solidFill>
                <a:latin typeface="Consolas"/>
              </a:rPr>
              <a:t>    SUM(t.amount) AS total_volume</a:t>
            </a:r>
          </a:p>
          <a:p>
            <a:pPr>
              <a:lnSpc>
                <a:spcPct val="100000"/>
              </a:lnSpc>
              <a:spcBef>
                <a:spcPts val="0"/>
              </a:spcBef>
              <a:spcAft>
                <a:spcPts val="0"/>
              </a:spcAft>
            </a:pPr>
            <a:r>
              <a:rPr sz="1200" b="0" i="0">
                <a:solidFill>
                  <a:srgbClr val="F1EEE9"/>
                </a:solidFill>
                <a:latin typeface="Consolas"/>
              </a:rPr>
              <a:t>FROM  txn_stream AS t</a:t>
            </a:r>
          </a:p>
          <a:p>
            <a:pPr>
              <a:lnSpc>
                <a:spcPct val="100000"/>
              </a:lnSpc>
              <a:spcBef>
                <a:spcPts val="0"/>
              </a:spcBef>
              <a:spcAft>
                <a:spcPts val="0"/>
              </a:spcAft>
            </a:pPr>
            <a:r>
              <a:rPr sz="1200" b="0" i="0">
                <a:solidFill>
                  <a:srgbClr val="F1EEE9"/>
                </a:solidFill>
                <a:latin typeface="Consolas"/>
              </a:rPr>
              <a:t>LEFT JOIN user_profile</a:t>
            </a:r>
          </a:p>
          <a:p>
            <a:pPr>
              <a:lnSpc>
                <a:spcPct val="100000"/>
              </a:lnSpc>
              <a:spcBef>
                <a:spcPts val="0"/>
              </a:spcBef>
              <a:spcAft>
                <a:spcPts val="0"/>
              </a:spcAft>
            </a:pPr>
            <a:r>
              <a:rPr sz="1200" b="0" i="0">
                <a:solidFill>
                  <a:srgbClr val="F1EEE9"/>
                </a:solidFill>
                <a:latin typeface="Consolas"/>
              </a:rPr>
              <a:t>      FOR SYSTEM_TIME AS OF t.event_time AS p</a:t>
            </a:r>
          </a:p>
          <a:p>
            <a:pPr>
              <a:lnSpc>
                <a:spcPct val="100000"/>
              </a:lnSpc>
              <a:spcBef>
                <a:spcPts val="0"/>
              </a:spcBef>
              <a:spcAft>
                <a:spcPts val="0"/>
              </a:spcAft>
            </a:pPr>
            <a:r>
              <a:rPr sz="1200" b="0" i="0">
                <a:solidFill>
                  <a:srgbClr val="F1EEE9"/>
                </a:solidFill>
                <a:latin typeface="Consolas"/>
              </a:rPr>
              <a:t>       ON t.user_id = p.user_id</a:t>
            </a:r>
          </a:p>
          <a:p>
            <a:pPr>
              <a:lnSpc>
                <a:spcPct val="100000"/>
              </a:lnSpc>
              <a:spcBef>
                <a:spcPts val="0"/>
              </a:spcBef>
              <a:spcAft>
                <a:spcPts val="0"/>
              </a:spcAft>
            </a:pPr>
            <a:r>
              <a:rPr sz="1200" b="0" i="0">
                <a:solidFill>
                  <a:srgbClr val="F1EEE9"/>
                </a:solidFill>
                <a:latin typeface="Consolas"/>
              </a:rPr>
              <a:t>WHERE t.status = 'COMPLETED'</a:t>
            </a:r>
          </a:p>
          <a:p>
            <a:pPr>
              <a:lnSpc>
                <a:spcPct val="100000"/>
              </a:lnSpc>
              <a:spcBef>
                <a:spcPts val="0"/>
              </a:spcBef>
              <a:spcAft>
                <a:spcPts val="0"/>
              </a:spcAft>
            </a:pPr>
            <a:r>
              <a:rPr sz="1200" b="0" i="0">
                <a:solidFill>
                  <a:srgbClr val="F1EEE9"/>
                </a:solidFill>
                <a:latin typeface="Consolas"/>
              </a:rPr>
              <a:t>GROUP BY TUMBLE(t.event_time, INTERVAL '10' SECOND),</a:t>
            </a:r>
          </a:p>
          <a:p>
            <a:pPr>
              <a:lnSpc>
                <a:spcPct val="100000"/>
              </a:lnSpc>
              <a:spcBef>
                <a:spcPts val="0"/>
              </a:spcBef>
              <a:spcAft>
                <a:spcPts val="0"/>
              </a:spcAft>
            </a:pPr>
            <a:r>
              <a:rPr sz="1200" b="0" i="0">
                <a:solidFill>
                  <a:srgbClr val="F1EEE9"/>
                </a:solidFill>
                <a:latin typeface="Consolas"/>
              </a:rPr>
              <a:t>         t.user_id, p.tier</a:t>
            </a:r>
          </a:p>
        </p:txBody>
      </p:sp>
      <p:sp>
        <p:nvSpPr>
          <p:cNvPr id="13" name="TextBox 12"/>
          <p:cNvSpPr txBox="1"/>
          <p:nvPr/>
        </p:nvSpPr>
        <p:spPr>
          <a:xfrm>
            <a:off x="6810588" y="1410919"/>
            <a:ext cx="4603866"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Four things in one statement</a:t>
            </a:r>
          </a:p>
          <a:p>
            <a:pPr lvl="1">
              <a:lnSpc>
                <a:spcPct val="120000"/>
              </a:lnSpc>
              <a:spcBef>
                <a:spcPts val="0"/>
              </a:spcBef>
              <a:spcAft>
                <a:spcPts val="0"/>
              </a:spcAft>
            </a:pPr>
            <a:r>
              <a:rPr sz="1450" b="0">
                <a:solidFill>
                  <a:srgbClr val="4A5058"/>
                </a:solidFill>
                <a:latin typeface="Source Sans 3"/>
              </a:rPr>
              <a:t>A tumbling window, a temporal lookup join, a filter evaluated inside Aerospike rather than after the read, and two aggregates.</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Run against a real Aerospike</a:t>
            </a:r>
          </a:p>
          <a:p>
            <a:pPr lvl="1">
              <a:lnSpc>
                <a:spcPct val="120000"/>
              </a:lnSpc>
              <a:spcBef>
                <a:spcPts val="0"/>
              </a:spcBef>
              <a:spcAft>
                <a:spcPts val="0"/>
              </a:spcAft>
            </a:pPr>
            <a:r>
              <a:rPr sz="1450" b="0">
                <a:solidFill>
                  <a:srgbClr val="4A5058"/>
                </a:solidFill>
                <a:latin typeface="Source Sans 3"/>
              </a:rPr>
              <a:t>By AerospikeContinuousQueryIT, over a binding with deletes: detect — without it a scan re-reads an updated record as another row, and the aggregate is refused (PRV-2042).</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Every query is continuous</a:t>
            </a:r>
          </a:p>
          <a:p>
            <a:pPr lvl="1">
              <a:lnSpc>
                <a:spcPct val="120000"/>
              </a:lnSpc>
              <a:spcBef>
                <a:spcPts val="0"/>
              </a:spcBef>
              <a:spcAft>
                <a:spcPts val="0"/>
              </a:spcAft>
            </a:pPr>
            <a:r>
              <a:rPr sz="1450" b="0">
                <a:solidFill>
                  <a:srgbClr val="4A5058"/>
                </a:solidFill>
                <a:latin typeface="Source Sans 3"/>
              </a:rPr>
              <a:t>SELECT STREAM is accepted and redundant. Registered as CREATE CONTINUOUS QUERY txn_volume KEYED BY (window_end, user_id) AS SELECT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PRAVAHA IN ONE SLIDE</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Continuous SQL where your data already lives</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 · Why ask once, answer always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a:t>
            </a:r>
          </a:p>
        </p:txBody>
      </p:sp>
      <p:sp>
        <p:nvSpPr>
          <p:cNvPr id="10" name="Rectangle 9"/>
          <p:cNvSpPr/>
          <p:nvPr/>
        </p:nvSpPr>
        <p:spPr>
          <a:xfrm>
            <a:off x="777240"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Java 21</a:t>
            </a:r>
          </a:p>
        </p:txBody>
      </p:sp>
      <p:sp>
        <p:nvSpPr>
          <p:cNvPr id="13" name="TextBox 12"/>
          <p:cNvSpPr txBox="1"/>
          <p:nvPr/>
        </p:nvSpPr>
        <p:spPr>
          <a:xfrm>
            <a:off x="978408"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One language. Calcite plans; Pravaha's own operators execute</a:t>
            </a:r>
          </a:p>
        </p:txBody>
      </p:sp>
      <p:sp>
        <p:nvSpPr>
          <p:cNvPr id="14" name="Rectangle 13"/>
          <p:cNvSpPr/>
          <p:nvPr/>
        </p:nvSpPr>
        <p:spPr>
          <a:xfrm>
            <a:off x="3486835"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10 plugins</a:t>
            </a:r>
          </a:p>
        </p:txBody>
      </p:sp>
      <p:sp>
        <p:nvSpPr>
          <p:cNvPr id="17" name="TextBox 16"/>
          <p:cNvSpPr txBox="1"/>
          <p:nvPr/>
        </p:nvSpPr>
        <p:spPr>
          <a:xfrm>
            <a:off x="3688003"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Source and sink connectors under plugins/, each its own jar</a:t>
            </a:r>
          </a:p>
        </p:txBody>
      </p:sp>
      <p:sp>
        <p:nvSpPr>
          <p:cNvPr id="18" name="Rectangle 17"/>
          <p:cNvSpPr/>
          <p:nvPr/>
        </p:nvSpPr>
        <p:spPr>
          <a:xfrm>
            <a:off x="6196431"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 node</a:t>
            </a:r>
          </a:p>
        </p:txBody>
      </p:sp>
      <p:sp>
        <p:nvSpPr>
          <p:cNvPr id="21" name="TextBox 20"/>
          <p:cNvSpPr txBox="1"/>
          <p:nvPr/>
        </p:nvSpPr>
        <p:spPr>
          <a:xfrm>
            <a:off x="6397599"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Clustering is not built; a node refuses PARTITIONED mode (PRV-9002)</a:t>
            </a:r>
          </a:p>
        </p:txBody>
      </p:sp>
      <p:sp>
        <p:nvSpPr>
          <p:cNvPr id="22" name="Rectangle 21"/>
          <p:cNvSpPr/>
          <p:nvPr/>
        </p:nvSpPr>
        <p:spPr>
          <a:xfrm>
            <a:off x="8906027"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13 studies</a:t>
            </a:r>
          </a:p>
        </p:txBody>
      </p:sp>
      <p:sp>
        <p:nvSpPr>
          <p:cNvPr id="25" name="TextBox 24"/>
          <p:cNvSpPr txBox="1"/>
          <p:nvPr/>
        </p:nvSpPr>
        <p:spPr>
          <a:xfrm>
            <a:off x="9107195"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Worked systems, each run and checked by the build</a:t>
            </a:r>
          </a:p>
        </p:txBody>
      </p:sp>
      <p:sp>
        <p:nvSpPr>
          <p:cNvPr id="26" name="TextBox 25"/>
          <p:cNvSpPr txBox="1"/>
          <p:nvPr/>
        </p:nvSpPr>
        <p:spPr>
          <a:xfrm>
            <a:off x="777240" y="2764231"/>
            <a:ext cx="10637215" cy="348112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What it is</a:t>
            </a:r>
          </a:p>
          <a:p>
            <a:pPr lvl="1">
              <a:lnSpc>
                <a:spcPct val="120000"/>
              </a:lnSpc>
              <a:spcBef>
                <a:spcPts val="0"/>
              </a:spcBef>
              <a:spcAft>
                <a:spcPts val="0"/>
              </a:spcAft>
            </a:pPr>
            <a:r>
              <a:rPr sz="1450" b="0">
                <a:solidFill>
                  <a:srgbClr val="4A5058"/>
                </a:solidFill>
                <a:latin typeface="Source Sans 3"/>
              </a:rPr>
              <a:t>An embeddable, store-native, incrementally-maintained SQL engine. It runs continuous SQL over Aerospike, Cassandra, PostgreSQL or any JDBC database, MySQL, Kafka, files and Delta tables, keeps each answer current, and serves it back by key — so the result needs no second database to live in.</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How it is reached</a:t>
            </a:r>
          </a:p>
          <a:p>
            <a:pPr lvl="1">
              <a:lnSpc>
                <a:spcPct val="120000"/>
              </a:lnSpc>
              <a:spcBef>
                <a:spcPts val="0"/>
              </a:spcBef>
              <a:spcAft>
                <a:spcPts val="0"/>
              </a:spcAft>
            </a:pPr>
            <a:r>
              <a:rPr sz="1450" b="0">
                <a:solidFill>
                  <a:srgbClr val="4A5058"/>
                </a:solidFill>
                <a:latin typeface="Source Sans 3"/>
              </a:rPr>
              <a:t>Arrow Flight SQL and the PostgreSQL wire protocol for rows; REST under /api/v1 for everything that manages the engine; Java and Python SDKs; a console; or in process.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2</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The vocabulary, from nothing</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 handful of words carry the rest of this deck. Each is defined here before it is used, and each definition is the one the engine's own documentation gives.</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Stream, continuous query, view</a:t>
            </a:r>
          </a:p>
          <a:p>
            <a:pPr>
              <a:lnSpc>
                <a:spcPct val="115000"/>
              </a:lnSpc>
              <a:spcBef>
                <a:spcPts val="0"/>
              </a:spcBef>
              <a:spcAft>
                <a:spcPts val="600"/>
              </a:spcAft>
            </a:pPr>
            <a:r>
              <a:rPr sz="1250" b="0" i="0">
                <a:solidFill>
                  <a:srgbClr val="F6E6E9"/>
                </a:solidFill>
                <a:latin typeface="Source Sans 3"/>
              </a:rPr>
              <a:t>Source, binding, lookup</a:t>
            </a:r>
          </a:p>
          <a:p>
            <a:pPr>
              <a:lnSpc>
                <a:spcPct val="115000"/>
              </a:lnSpc>
              <a:spcBef>
                <a:spcPts val="0"/>
              </a:spcBef>
              <a:spcAft>
                <a:spcPts val="600"/>
              </a:spcAft>
            </a:pPr>
            <a:r>
              <a:rPr sz="1250" b="0" i="0">
                <a:solidFill>
                  <a:srgbClr val="F6E6E9"/>
                </a:solidFill>
                <a:latin typeface="Source Sans 3"/>
              </a:rPr>
              <a:t>Event time and the watermark</a:t>
            </a:r>
          </a:p>
          <a:p>
            <a:pPr>
              <a:lnSpc>
                <a:spcPct val="115000"/>
              </a:lnSpc>
              <a:spcBef>
                <a:spcPts val="0"/>
              </a:spcBef>
              <a:spcAft>
                <a:spcPts val="600"/>
              </a:spcAft>
            </a:pPr>
            <a:r>
              <a:rPr sz="1250" b="0" i="0">
                <a:solidFill>
                  <a:srgbClr val="F6E6E9"/>
                </a:solidFill>
                <a:latin typeface="Source Sans 3"/>
              </a:rPr>
              <a:t>A weight on every row, and the commit</a:t>
            </a:r>
          </a:p>
          <a:p>
            <a:pPr>
              <a:lnSpc>
                <a:spcPct val="115000"/>
              </a:lnSpc>
              <a:spcBef>
                <a:spcPts val="0"/>
              </a:spcBef>
              <a:spcAft>
                <a:spcPts val="600"/>
              </a:spcAft>
            </a:pPr>
            <a:r>
              <a:rPr sz="1250" b="0" i="0">
                <a:solidFill>
                  <a:srgbClr val="F6E6E9"/>
                </a:solidFill>
                <a:latin typeface="Source Sans 3"/>
              </a:rPr>
              <a:t>Lane, checkpoint, sink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THREE NOUNS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stream becomes a query becomes a view</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10</a:t>
            </a:r>
          </a:p>
        </p:txBody>
      </p:sp>
      <p:sp>
        <p:nvSpPr>
          <p:cNvPr id="10" name="Rectangle 9"/>
          <p:cNvSpPr/>
          <p:nvPr/>
        </p:nvSpPr>
        <p:spPr>
          <a:xfrm>
            <a:off x="777240"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Source</a:t>
            </a:r>
          </a:p>
        </p:txBody>
      </p:sp>
      <p:sp>
        <p:nvSpPr>
          <p:cNvPr id="13" name="TextBox 12"/>
          <p:cNvSpPr txBox="1"/>
          <p:nvPr/>
        </p:nvSpPr>
        <p:spPr>
          <a:xfrm>
            <a:off x="960120" y="1936851"/>
            <a:ext cx="1542227" cy="112913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A plugin that produces rows: a file, a table, a topic, a change log</a:t>
            </a:r>
          </a:p>
        </p:txBody>
      </p:sp>
      <p:sp>
        <p:nvSpPr>
          <p:cNvPr id="14" name="Rectangle 13"/>
          <p:cNvSpPr/>
          <p:nvPr/>
        </p:nvSpPr>
        <p:spPr>
          <a:xfrm>
            <a:off x="2959547"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9547"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42427"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Stream</a:t>
            </a:r>
          </a:p>
        </p:txBody>
      </p:sp>
      <p:sp>
        <p:nvSpPr>
          <p:cNvPr id="17" name="TextBox 16"/>
          <p:cNvSpPr txBox="1"/>
          <p:nvPr/>
        </p:nvSpPr>
        <p:spPr>
          <a:xfrm>
            <a:off x="3142427" y="1936851"/>
            <a:ext cx="1542227" cy="112913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A named, typed, unbounded sequence of rows, bound to a source</a:t>
            </a:r>
          </a:p>
        </p:txBody>
      </p:sp>
      <p:cxnSp>
        <p:nvCxnSpPr>
          <p:cNvPr id="18" name="Connector 17"/>
          <p:cNvCxnSpPr/>
          <p:nvPr/>
        </p:nvCxnSpPr>
        <p:spPr>
          <a:xfrm>
            <a:off x="2721803" y="230245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41854"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1854"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24734"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Continuous query</a:t>
            </a:r>
          </a:p>
        </p:txBody>
      </p:sp>
      <p:sp>
        <p:nvSpPr>
          <p:cNvPr id="22" name="TextBox 21"/>
          <p:cNvSpPr txBox="1"/>
          <p:nvPr/>
        </p:nvSpPr>
        <p:spPr>
          <a:xfrm>
            <a:off x="5324734" y="2206752"/>
            <a:ext cx="1542227" cy="859231"/>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5058"/>
                </a:solidFill>
                <a:latin typeface="Source Sans 3"/>
              </a:rPr>
              <a:t>A registered computation over one or more streams</a:t>
            </a:r>
          </a:p>
        </p:txBody>
      </p:sp>
      <p:cxnSp>
        <p:nvCxnSpPr>
          <p:cNvPr id="23" name="Connector 22"/>
          <p:cNvCxnSpPr/>
          <p:nvPr/>
        </p:nvCxnSpPr>
        <p:spPr>
          <a:xfrm>
            <a:off x="4904110" y="230245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24161"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161"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7041"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View</a:t>
            </a:r>
          </a:p>
        </p:txBody>
      </p:sp>
      <p:sp>
        <p:nvSpPr>
          <p:cNvPr id="27" name="TextBox 26"/>
          <p:cNvSpPr txBox="1"/>
          <p:nvPr/>
        </p:nvSpPr>
        <p:spPr>
          <a:xfrm>
            <a:off x="7507041" y="1936851"/>
            <a:ext cx="1542227" cy="112913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The query's answer, maintained incrementally, readable by SQL</a:t>
            </a:r>
          </a:p>
        </p:txBody>
      </p:sp>
      <p:cxnSp>
        <p:nvCxnSpPr>
          <p:cNvPr id="28" name="Connector 27"/>
          <p:cNvCxnSpPr/>
          <p:nvPr/>
        </p:nvCxnSpPr>
        <p:spPr>
          <a:xfrm>
            <a:off x="7086417" y="230245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506468" y="1410919"/>
            <a:ext cx="1907987"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6468"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89348"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Read or subscribe</a:t>
            </a:r>
          </a:p>
        </p:txBody>
      </p:sp>
      <p:sp>
        <p:nvSpPr>
          <p:cNvPr id="32" name="TextBox 31"/>
          <p:cNvSpPr txBox="1"/>
          <p:nvPr/>
        </p:nvSpPr>
        <p:spPr>
          <a:xfrm>
            <a:off x="9689348" y="2206752"/>
            <a:ext cx="1542227" cy="859231"/>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5058"/>
                </a:solidFill>
                <a:latin typeface="Source Sans 3"/>
              </a:rPr>
              <a:t>SELECT by key, or a batch of weighted changes per commit</a:t>
            </a:r>
          </a:p>
        </p:txBody>
      </p:sp>
      <p:cxnSp>
        <p:nvCxnSpPr>
          <p:cNvPr id="33" name="Connector 32"/>
          <p:cNvCxnSpPr/>
          <p:nvPr/>
        </p:nvCxnSpPr>
        <p:spPr>
          <a:xfrm>
            <a:off x="9268724" y="230245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4" name="Table 33"/>
          <p:cNvGraphicFramePr>
            <a:graphicFrameLocks noGrp="1"/>
          </p:cNvGraphicFramePr>
          <p:nvPr/>
        </p:nvGraphicFramePr>
        <p:xfrm>
          <a:off x="777240" y="3404311"/>
          <a:ext cx="10637214" cy="2123744"/>
        </p:xfrm>
        <a:graphic>
          <a:graphicData uri="http://schemas.openxmlformats.org/drawingml/2006/table">
            <a:tbl>
              <a:tblPr firstRow="1">
                <a:tableStyleId>{5C22544A-7EE6-4342-B048-85BDC9FD1C3A}</a:tableStyleId>
              </a:tblPr>
              <a:tblGrid>
                <a:gridCol w="2085728"/>
                <a:gridCol w="2294301"/>
                <a:gridCol w="6257185"/>
              </a:tblGrid>
              <a:tr h="322376">
                <a:tc>
                  <a:txBody>
                    <a:bodyPr wrap="square"/>
                    <a:lstStyle/>
                    <a:p>
                      <a:r>
                        <a:rPr sz="1300" b="1">
                          <a:solidFill>
                            <a:srgbClr val="FFFFFF"/>
                          </a:solidFill>
                          <a:latin typeface="Source Sans 3"/>
                        </a:rPr>
                        <a:t>Noun</a:t>
                      </a:r>
                    </a:p>
                  </a:txBody>
                  <a:tcPr marL="82296" marR="64008" marT="32004" marB="32004" anchor="ctr">
                    <a:solidFill>
                      <a:srgbClr val="8A1626"/>
                    </a:solidFill>
                  </a:tcPr>
                </a:tc>
                <a:tc>
                  <a:txBody>
                    <a:bodyPr wrap="square"/>
                    <a:lstStyle/>
                    <a:p>
                      <a:r>
                        <a:rPr sz="1300" b="1">
                          <a:solidFill>
                            <a:srgbClr val="FFFFFF"/>
                          </a:solidFill>
                          <a:latin typeface="Source Sans 3"/>
                        </a:rPr>
                        <a:t>Lives for</a:t>
                      </a:r>
                    </a:p>
                  </a:txBody>
                  <a:tcPr marL="82296" marR="64008" marT="32004" marB="32004" anchor="ctr">
                    <a:solidFill>
                      <a:srgbClr val="8A1626"/>
                    </a:solidFill>
                  </a:tcPr>
                </a:tc>
                <a:tc>
                  <a:txBody>
                    <a:bodyPr wrap="square"/>
                    <a:lstStyle/>
                    <a:p>
                      <a:r>
                        <a:rPr sz="1300" b="1">
                          <a:solidFill>
                            <a:srgbClr val="FFFFFF"/>
                          </a:solidFill>
                          <a:latin typeface="Source Sans 3"/>
                        </a:rPr>
                        <a:t>Note</a:t>
                      </a:r>
                    </a:p>
                  </a:txBody>
                  <a:tcPr marL="82296" marR="64008" marT="32004" marB="32004" anchor="ctr">
                    <a:solidFill>
                      <a:srgbClr val="8A1626"/>
                    </a:solidFill>
                  </a:tcPr>
                </a:tc>
              </a:tr>
              <a:tr h="600456">
                <a:tc>
                  <a:txBody>
                    <a:bodyPr wrap="square"/>
                    <a:lstStyle/>
                    <a:p>
                      <a:r>
                        <a:rPr sz="1500" b="1">
                          <a:solidFill>
                            <a:srgbClr val="8A1626"/>
                          </a:solidFill>
                          <a:latin typeface="Source Sans 3"/>
                        </a:rPr>
                        <a:t>Stream</a:t>
                      </a:r>
                    </a:p>
                  </a:txBody>
                  <a:tcPr marL="82296" marR="64008" marT="32004" marB="32004" anchor="ctr">
                    <a:solidFill>
                      <a:srgbClr val="FFFFFF"/>
                    </a:solidFill>
                  </a:tcPr>
                </a:tc>
                <a:tc>
                  <a:txBody>
                    <a:bodyPr wrap="square"/>
                    <a:lstStyle/>
                    <a:p>
                      <a:r>
                        <a:rPr sz="1500" b="0">
                          <a:solidFill>
                            <a:srgbClr val="1A1A1A"/>
                          </a:solidFill>
                          <a:latin typeface="Source Sans 3"/>
                        </a:rPr>
                        <a:t>The node's lifetime</a:t>
                      </a:r>
                    </a:p>
                  </a:txBody>
                  <a:tcPr marL="82296" marR="64008" marT="32004" marB="32004" anchor="ctr">
                    <a:solidFill>
                      <a:srgbClr val="FFFFFF"/>
                    </a:solidFill>
                  </a:tcPr>
                </a:tc>
                <a:tc>
                  <a:txBody>
                    <a:bodyPr wrap="square"/>
                    <a:lstStyle/>
                    <a:p>
                      <a:r>
                        <a:rPr sz="1500" b="0">
                          <a:solidFill>
                            <a:srgbClr val="1A1A1A"/>
                          </a:solidFill>
                          <a:latin typeface="Source Sans 3"/>
                        </a:rPr>
                        <a:t>Declared with a schema and the column that carries its event time</a:t>
                      </a:r>
                    </a:p>
                  </a:txBody>
                  <a:tcPr marL="82296" marR="64008" marT="32004" marB="32004" anchor="ctr">
                    <a:solidFill>
                      <a:srgbClr val="FFFFFF"/>
                    </a:solidFill>
                  </a:tcPr>
                </a:tc>
              </a:tr>
              <a:tr h="600456">
                <a:tc>
                  <a:txBody>
                    <a:bodyPr wrap="square"/>
                    <a:lstStyle/>
                    <a:p>
                      <a:r>
                        <a:rPr sz="1500" b="1">
                          <a:solidFill>
                            <a:srgbClr val="8A1626"/>
                          </a:solidFill>
                          <a:latin typeface="Source Sans 3"/>
                        </a:rPr>
                        <a:t>Continuous query</a:t>
                      </a:r>
                    </a:p>
                  </a:txBody>
                  <a:tcPr marL="82296" marR="64008" marT="32004" marB="32004" anchor="ctr">
                    <a:solidFill>
                      <a:srgbClr val="F7F5F2"/>
                    </a:solidFill>
                  </a:tcPr>
                </a:tc>
                <a:tc>
                  <a:txBody>
                    <a:bodyPr wrap="square"/>
                    <a:lstStyle/>
                    <a:p>
                      <a:r>
                        <a:rPr sz="1500" b="0">
                          <a:solidFill>
                            <a:srgbClr val="1A1A1A"/>
                          </a:solidFill>
                          <a:latin typeface="Source Sans 3"/>
                        </a:rPr>
                        <a:t>Until dropped</a:t>
                      </a:r>
                    </a:p>
                  </a:txBody>
                  <a:tcPr marL="82296" marR="64008" marT="32004" marB="32004" anchor="ctr">
                    <a:solidFill>
                      <a:srgbClr val="F7F5F2"/>
                    </a:solidFill>
                  </a:tcPr>
                </a:tc>
                <a:tc>
                  <a:txBody>
                    <a:bodyPr wrap="square"/>
                    <a:lstStyle/>
                    <a:p>
                      <a:r>
                        <a:rPr sz="1500" b="0">
                          <a:solidFill>
                            <a:srgbClr val="1A1A1A"/>
                          </a:solidFill>
                          <a:latin typeface="Source Sans 3"/>
                        </a:rPr>
                        <a:t>You do not ask it for an answer; you register it once and it keeps one</a:t>
                      </a:r>
                    </a:p>
                  </a:txBody>
                  <a:tcPr marL="82296" marR="64008" marT="32004" marB="32004" anchor="ctr">
                    <a:solidFill>
                      <a:srgbClr val="F7F5F2"/>
                    </a:solidFill>
                  </a:tcPr>
                </a:tc>
              </a:tr>
              <a:tr h="600456">
                <a:tc>
                  <a:txBody>
                    <a:bodyPr wrap="square"/>
                    <a:lstStyle/>
                    <a:p>
                      <a:r>
                        <a:rPr sz="1500" b="1">
                          <a:solidFill>
                            <a:srgbClr val="8A1626"/>
                          </a:solidFill>
                          <a:latin typeface="Source Sans 3"/>
                        </a:rPr>
                        <a:t>View</a:t>
                      </a:r>
                    </a:p>
                  </a:txBody>
                  <a:tcPr marL="82296" marR="64008" marT="32004" marB="32004" anchor="ctr">
                    <a:solidFill>
                      <a:srgbClr val="FFFFFF"/>
                    </a:solidFill>
                  </a:tcPr>
                </a:tc>
                <a:tc>
                  <a:txBody>
                    <a:bodyPr wrap="square"/>
                    <a:lstStyle/>
                    <a:p>
                      <a:r>
                        <a:rPr sz="1500" b="0">
                          <a:solidFill>
                            <a:srgbClr val="1A1A1A"/>
                          </a:solidFill>
                          <a:latin typeface="Source Sans 3"/>
                        </a:rPr>
                        <a:t>As long as its query</a:t>
                      </a:r>
                    </a:p>
                  </a:txBody>
                  <a:tcPr marL="82296" marR="64008" marT="32004" marB="32004" anchor="ctr">
                    <a:solidFill>
                      <a:srgbClr val="FFFFFF"/>
                    </a:solidFill>
                  </a:tcPr>
                </a:tc>
                <a:tc>
                  <a:txBody>
                    <a:bodyPr wrap="square"/>
                    <a:lstStyle/>
                    <a:p>
                      <a:r>
                        <a:rPr sz="1500" b="0">
                          <a:solidFill>
                            <a:srgbClr val="1A1A1A"/>
                          </a:solidFill>
                          <a:latin typeface="Source Sans 3"/>
                        </a:rPr>
                        <a:t>Reading it is cheap, repeatable, and not the query running again</a:t>
                      </a:r>
                    </a:p>
                  </a:txBody>
                  <a:tcPr marL="82296" marR="64008" marT="32004" marB="32004"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WHERE ROWS COME FROM</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stream is declared; a source is bound to it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11</a:t>
            </a:r>
          </a:p>
        </p:txBody>
      </p:sp>
      <p:sp>
        <p:nvSpPr>
          <p:cNvPr id="10" name="Rectangle 9"/>
          <p:cNvSpPr/>
          <p:nvPr/>
        </p:nvSpPr>
        <p:spPr>
          <a:xfrm>
            <a:off x="777240" y="1410919"/>
            <a:ext cx="5348471" cy="295412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2954121"/>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4946135" cy="2551785"/>
          </a:xfrm>
          <a:prstGeom prst="rect">
            <a:avLst/>
          </a:prstGeom>
          <a:noFill/>
        </p:spPr>
        <p:txBody>
          <a:bodyPr wrap="square" lIns="0" rIns="0" tIns="0" bIns="0" anchor="t">
            <a:spAutoFit/>
          </a:bodyPr>
          <a:lstStyle/>
          <a:p>
            <a:pPr algn="l">
              <a:lnSpc>
                <a:spcPct val="100000"/>
              </a:lnSpc>
              <a:spcBef>
                <a:spcPts val="0"/>
              </a:spcBef>
              <a:spcAft>
                <a:spcPts val="0"/>
              </a:spcAft>
            </a:pPr>
            <a:r>
              <a:rPr sz="1200" b="0" i="0">
                <a:solidFill>
                  <a:srgbClr val="F1EEE9"/>
                </a:solidFill>
                <a:latin typeface="Consolas"/>
              </a:rPr>
              <a:t>pravaha:</a:t>
            </a:r>
          </a:p>
          <a:p>
            <a:pPr>
              <a:lnSpc>
                <a:spcPct val="100000"/>
              </a:lnSpc>
              <a:spcBef>
                <a:spcPts val="0"/>
              </a:spcBef>
              <a:spcAft>
                <a:spcPts val="0"/>
              </a:spcAft>
            </a:pPr>
            <a:r>
              <a:rPr sz="1200" b="0" i="0">
                <a:solidFill>
                  <a:srgbClr val="F1EEE9"/>
                </a:solidFill>
                <a:latin typeface="Consolas"/>
              </a:rPr>
              <a:t>  streams:</a:t>
            </a:r>
          </a:p>
          <a:p>
            <a:pPr>
              <a:lnSpc>
                <a:spcPct val="100000"/>
              </a:lnSpc>
              <a:spcBef>
                <a:spcPts val="0"/>
              </a:spcBef>
              <a:spcAft>
                <a:spcPts val="0"/>
              </a:spcAft>
            </a:pPr>
            <a:r>
              <a:rPr sz="1200" b="0" i="0">
                <a:solidFill>
                  <a:srgbClr val="F1EEE9"/>
                </a:solidFill>
                <a:latin typeface="Consolas"/>
              </a:rPr>
              <a:t>    txn:</a:t>
            </a:r>
          </a:p>
          <a:p>
            <a:pPr>
              <a:lnSpc>
                <a:spcPct val="100000"/>
              </a:lnSpc>
              <a:spcBef>
                <a:spcPts val="0"/>
              </a:spcBef>
              <a:spcAft>
                <a:spcPts val="0"/>
              </a:spcAft>
            </a:pPr>
            <a:r>
              <a:rPr sz="1200" b="0" i="0">
                <a:solidFill>
                  <a:srgbClr val="F1EEE9"/>
                </a:solidFill>
                <a:latin typeface="Consolas"/>
              </a:rPr>
              <a:t>      schema: "txn_id:INT64,user_id:STRING,</a:t>
            </a:r>
          </a:p>
          <a:p>
            <a:pPr>
              <a:lnSpc>
                <a:spcPct val="100000"/>
              </a:lnSpc>
              <a:spcBef>
                <a:spcPts val="0"/>
              </a:spcBef>
              <a:spcAft>
                <a:spcPts val="0"/>
              </a:spcAft>
            </a:pPr>
            <a:r>
              <a:rPr sz="1200" b="0" i="0">
                <a:solidFill>
                  <a:srgbClr val="F1EEE9"/>
                </a:solidFill>
                <a:latin typeface="Consolas"/>
              </a:rPr>
              <a:t>               amount:INT64,event_time:TIMESTAMP"</a:t>
            </a:r>
          </a:p>
          <a:p>
            <a:pPr>
              <a:lnSpc>
                <a:spcPct val="100000"/>
              </a:lnSpc>
              <a:spcBef>
                <a:spcPts val="0"/>
              </a:spcBef>
              <a:spcAft>
                <a:spcPts val="0"/>
              </a:spcAft>
            </a:pPr>
            <a:r>
              <a:rPr sz="1200" b="0" i="0">
                <a:solidFill>
                  <a:srgbClr val="F1EEE9"/>
                </a:solidFill>
                <a:latin typeface="Consolas"/>
              </a:rPr>
              <a:t>      event-time: event_time</a:t>
            </a:r>
          </a:p>
          <a:p>
            <a:pPr>
              <a:lnSpc>
                <a:spcPct val="100000"/>
              </a:lnSpc>
              <a:spcBef>
                <a:spcPts val="0"/>
              </a:spcBef>
              <a:spcAft>
                <a:spcPts val="0"/>
              </a:spcAft>
            </a:pPr>
            <a:r>
              <a:rPr sz="1200" b="0" i="0">
                <a:solidFill>
                  <a:srgbClr val="F1EEE9"/>
                </a:solidFill>
                <a:latin typeface="Consolas"/>
              </a:rPr>
              <a:t>      out-of-orderness: 10s</a:t>
            </a:r>
          </a:p>
          <a:p>
            <a:pPr>
              <a:lnSpc>
                <a:spcPct val="100000"/>
              </a:lnSpc>
              <a:spcBef>
                <a:spcPts val="0"/>
              </a:spcBef>
              <a:spcAft>
                <a:spcPts val="0"/>
              </a:spcAft>
            </a:pPr>
            <a:r>
              <a:rPr sz="1200" b="0" i="0">
                <a:solidFill>
                  <a:srgbClr val="F1EEE9"/>
                </a:solidFill>
                <a:latin typeface="Consolas"/>
              </a:rPr>
              <a:t>  sources:</a:t>
            </a:r>
          </a:p>
          <a:p>
            <a:pPr>
              <a:lnSpc>
                <a:spcPct val="100000"/>
              </a:lnSpc>
              <a:spcBef>
                <a:spcPts val="0"/>
              </a:spcBef>
              <a:spcAft>
                <a:spcPts val="0"/>
              </a:spcAft>
            </a:pPr>
            <a:r>
              <a:rPr sz="1200" b="0" i="0">
                <a:solidFill>
                  <a:srgbClr val="F1EEE9"/>
                </a:solidFill>
                <a:latin typeface="Consolas"/>
              </a:rPr>
              <a:t>    txn:</a:t>
            </a:r>
          </a:p>
          <a:p>
            <a:pPr>
              <a:lnSpc>
                <a:spcPct val="100000"/>
              </a:lnSpc>
              <a:spcBef>
                <a:spcPts val="0"/>
              </a:spcBef>
              <a:spcAft>
                <a:spcPts val="0"/>
              </a:spcAft>
            </a:pPr>
            <a:r>
              <a:rPr sz="1200" b="0" i="0">
                <a:solidFill>
                  <a:srgbClr val="F1EEE9"/>
                </a:solidFill>
                <a:latin typeface="Consolas"/>
              </a:rPr>
              <a:t>      plugin: filesystem</a:t>
            </a:r>
          </a:p>
          <a:p>
            <a:pPr>
              <a:lnSpc>
                <a:spcPct val="100000"/>
              </a:lnSpc>
              <a:spcBef>
                <a:spcPts val="0"/>
              </a:spcBef>
              <a:spcAft>
                <a:spcPts val="0"/>
              </a:spcAft>
            </a:pPr>
            <a:r>
              <a:rPr sz="1200" b="0" i="0">
                <a:solidFill>
                  <a:srgbClr val="F1EEE9"/>
                </a:solidFill>
                <a:latin typeface="Consolas"/>
              </a:rPr>
              <a:t>      options:</a:t>
            </a:r>
          </a:p>
          <a:p>
            <a:pPr>
              <a:lnSpc>
                <a:spcPct val="100000"/>
              </a:lnSpc>
              <a:spcBef>
                <a:spcPts val="0"/>
              </a:spcBef>
              <a:spcAft>
                <a:spcPts val="0"/>
              </a:spcAft>
            </a:pPr>
            <a:r>
              <a:rPr sz="1200" b="0" i="0">
                <a:solidFill>
                  <a:srgbClr val="F1EEE9"/>
                </a:solidFill>
                <a:latin typeface="Consolas"/>
              </a:rPr>
              <a:t>        path: /opt/pravaha/data/incoming/txn.csv</a:t>
            </a:r>
          </a:p>
          <a:p>
            <a:pPr>
              <a:lnSpc>
                <a:spcPct val="100000"/>
              </a:lnSpc>
              <a:spcBef>
                <a:spcPts val="0"/>
              </a:spcBef>
              <a:spcAft>
                <a:spcPts val="0"/>
              </a:spcAft>
            </a:pPr>
            <a:r>
              <a:rPr sz="1200" b="0" i="0">
                <a:solidFill>
                  <a:srgbClr val="F1EEE9"/>
                </a:solidFill>
                <a:latin typeface="Consolas"/>
              </a:rPr>
              <a:t>        event.time: event_time</a:t>
            </a:r>
          </a:p>
        </p:txBody>
      </p:sp>
      <p:sp>
        <p:nvSpPr>
          <p:cNvPr id="13" name="TextBox 12"/>
          <p:cNvSpPr txBox="1"/>
          <p:nvPr/>
        </p:nvSpPr>
        <p:spPr>
          <a:xfrm>
            <a:off x="6491471" y="1410919"/>
            <a:ext cx="4922983"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Stream: what it is</a:t>
            </a:r>
          </a:p>
          <a:p>
            <a:pPr lvl="1">
              <a:lnSpc>
                <a:spcPct val="120000"/>
              </a:lnSpc>
              <a:spcBef>
                <a:spcPts val="0"/>
              </a:spcBef>
              <a:spcAft>
                <a:spcPts val="0"/>
              </a:spcAft>
            </a:pPr>
            <a:r>
              <a:rPr sz="1450" b="0">
                <a:solidFill>
                  <a:srgbClr val="4A5058"/>
                </a:solidFill>
                <a:latin typeface="Source Sans 3"/>
              </a:rPr>
              <a:t>pravaha.streams.&lt;name&gt; — schema, event time, lateness. Enough to plan and validate a query with nothing attached.</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Source binding: where rows come from</a:t>
            </a:r>
          </a:p>
          <a:p>
            <a:pPr lvl="1">
              <a:lnSpc>
                <a:spcPct val="120000"/>
              </a:lnSpc>
              <a:spcBef>
                <a:spcPts val="0"/>
              </a:spcBef>
              <a:spcAft>
                <a:spcPts val="0"/>
              </a:spcAft>
            </a:pPr>
            <a:r>
              <a:rPr sz="1450" b="0">
                <a:solidFill>
                  <a:srgbClr val="4A5058"/>
                </a:solidFill>
                <a:latin typeface="Source Sans 3"/>
              </a:rPr>
              <a:t>pravaha.sources.&lt;name&gt; — a plugin and its options, keyed by the stream it feeds. A binding is per stream name, not per query: one reader per binding can feed every query.</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Lookup: a table a query may ask</a:t>
            </a:r>
          </a:p>
          <a:p>
            <a:pPr lvl="1">
              <a:lnSpc>
                <a:spcPct val="120000"/>
              </a:lnSpc>
              <a:spcBef>
                <a:spcPts val="0"/>
              </a:spcBef>
              <a:spcAft>
                <a:spcPts val="0"/>
              </a:spcAft>
            </a:pPr>
            <a:r>
              <a:rPr sz="1450" b="0">
                <a:solidFill>
                  <a:srgbClr val="4A5058"/>
                </a:solidFill>
                <a:latin typeface="Source Sans 3"/>
              </a:rPr>
              <a:t>pravaha.lookups.&lt;name&gt; — the right side of a temporal join. A source is consumed and advances event time; a lookup is only asked.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EVENT TIME AND THE WATERMARK</a:t>
            </a:r>
          </a:p>
        </p:txBody>
      </p:sp>
      <p:sp>
        <p:nvSpPr>
          <p:cNvPr id="5" name="TextBox 4"/>
          <p:cNvSpPr txBox="1"/>
          <p:nvPr/>
        </p:nvSpPr>
        <p:spPr>
          <a:xfrm>
            <a:off x="777240" y="749808"/>
            <a:ext cx="10637215" cy="396443"/>
          </a:xfrm>
          <a:prstGeom prst="rect">
            <a:avLst/>
          </a:prstGeom>
          <a:noFill/>
        </p:spPr>
        <p:txBody>
          <a:bodyPr wrap="square" lIns="0" rIns="0" tIns="0" bIns="0" anchor="t">
            <a:spAutoFit/>
          </a:bodyPr>
          <a:lstStyle/>
          <a:p>
            <a:pPr algn="l">
              <a:lnSpc>
                <a:spcPct val="115000"/>
              </a:lnSpc>
              <a:spcBef>
                <a:spcPts val="0"/>
              </a:spcBef>
              <a:spcAft>
                <a:spcPts val="0"/>
              </a:spcAft>
            </a:pPr>
            <a:r>
              <a:rPr sz="2200" b="1" i="0">
                <a:solidFill>
                  <a:srgbClr val="1A1A1A"/>
                </a:solidFill>
                <a:latin typeface="Source Sans 3"/>
              </a:rPr>
              <a:t>A window closes because data said so, not because time passed</a:t>
            </a:r>
          </a:p>
        </p:txBody>
      </p:sp>
      <p:sp>
        <p:nvSpPr>
          <p:cNvPr id="6" name="Rectangle 5"/>
          <p:cNvSpPr/>
          <p:nvPr/>
        </p:nvSpPr>
        <p:spPr>
          <a:xfrm>
            <a:off x="777240" y="120111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12</a:t>
            </a:r>
          </a:p>
        </p:txBody>
      </p:sp>
      <p:sp>
        <p:nvSpPr>
          <p:cNvPr id="10" name="TextBox 9"/>
          <p:cNvSpPr txBox="1"/>
          <p:nvPr/>
        </p:nvSpPr>
        <p:spPr>
          <a:xfrm>
            <a:off x="777240" y="1329131"/>
            <a:ext cx="10637215" cy="4916220"/>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Event time</a:t>
            </a:r>
          </a:p>
          <a:p>
            <a:pPr lvl="1">
              <a:lnSpc>
                <a:spcPct val="120000"/>
              </a:lnSpc>
              <a:spcBef>
                <a:spcPts val="0"/>
              </a:spcBef>
              <a:spcAft>
                <a:spcPts val="0"/>
              </a:spcAft>
            </a:pPr>
            <a:r>
              <a:rPr sz="1550" b="0">
                <a:solidFill>
                  <a:srgbClr val="4A5058"/>
                </a:solidFill>
                <a:latin typeface="Source Sans 3"/>
              </a:rPr>
              <a:t>Every window, watermark and retention is measured in the timestamp in the data. Load the same rows in any order, at any speed, tomorrow, and the answer is the same.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Watermark: “nothing earlier is coming”</a:t>
            </a:r>
          </a:p>
          <a:p>
            <a:pPr lvl="1">
              <a:lnSpc>
                <a:spcPct val="120000"/>
              </a:lnSpc>
              <a:spcBef>
                <a:spcPts val="0"/>
              </a:spcBef>
              <a:spcAft>
                <a:spcPts val="0"/>
              </a:spcAft>
            </a:pPr>
            <a:r>
              <a:rPr sz="1550" b="0">
                <a:solidFill>
                  <a:srgbClr val="4A5058"/>
                </a:solidFill>
                <a:latin typeface="Source Sans 3"/>
              </a:rPr>
              <a:t>At a watermark T no row earlier than T will arrive, so everything ending at or before T can be published. It closes windows and releases join state.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How late is late belongs to the stream</a:t>
            </a:r>
          </a:p>
          <a:p>
            <a:pPr lvl="1">
              <a:lnSpc>
                <a:spcPct val="120000"/>
              </a:lnSpc>
              <a:spcBef>
                <a:spcPts val="0"/>
              </a:spcBef>
              <a:spcAft>
                <a:spcPts val="0"/>
              </a:spcAft>
            </a:pPr>
            <a:r>
              <a:rPr sz="1550" b="0">
                <a:solidFill>
                  <a:srgbClr val="4A5058"/>
                </a:solidFill>
                <a:latin typeface="Source Sans 3"/>
              </a:rPr>
              <a:t>Out-of-orderness is declared per stream; a stream that says nothing gets 10 seconds. Each source partition contributes a watermark, the query takes the minimum, and a partition that has gone quiet is excluded rather than holding everyone back.</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No event time, no window</a:t>
            </a:r>
          </a:p>
          <a:p>
            <a:pPr lvl="1">
              <a:lnSpc>
                <a:spcPct val="120000"/>
              </a:lnSpc>
              <a:spcBef>
                <a:spcPts val="0"/>
              </a:spcBef>
              <a:spcAft>
                <a:spcPts val="0"/>
              </a:spcAft>
            </a:pPr>
            <a:r>
              <a:rPr sz="1550" b="0">
                <a:solidFill>
                  <a:srgbClr val="4A5058"/>
                </a:solidFill>
                <a:latin typeface="Source Sans 3"/>
              </a:rPr>
              <a:t>A windowed query over a stream that declares no event-time column is refused at registration (PRV-2002) — it would report RUNNING, ingest everything and emit nothing.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 WEIGHT ON EVERY ROW</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A change is a row with a weight; a correction is −1 then +1</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13</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The panel is a real run: a late reading from press-02 corrected the 08:03 minute (machine sensor anomalies, step 5), trimmed to the columns that changed.</a:t>
            </a:r>
          </a:p>
        </p:txBody>
      </p:sp>
      <p:sp>
        <p:nvSpPr>
          <p:cNvPr id="12" name="Rectangle 11"/>
          <p:cNvSpPr/>
          <p:nvPr/>
        </p:nvSpPr>
        <p:spPr>
          <a:xfrm>
            <a:off x="777240" y="1345488"/>
            <a:ext cx="5135727" cy="1302003"/>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45488"/>
            <a:ext cx="45720" cy="1302003"/>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1546656"/>
            <a:ext cx="4733391" cy="899667"/>
          </a:xfrm>
          <a:prstGeom prst="rect">
            <a:avLst/>
          </a:prstGeom>
          <a:noFill/>
        </p:spPr>
        <p:txBody>
          <a:bodyPr wrap="square" lIns="0" rIns="0" tIns="0" bIns="0" anchor="t">
            <a:spAutoFit/>
          </a:bodyPr>
          <a:lstStyle/>
          <a:p>
            <a:pPr algn="l">
              <a:lnSpc>
                <a:spcPct val="100000"/>
              </a:lnSpc>
              <a:spcBef>
                <a:spcPts val="0"/>
              </a:spcBef>
              <a:spcAft>
                <a:spcPts val="0"/>
              </a:spcAft>
            </a:pPr>
            <a:r>
              <a:rPr sz="1100" b="0" i="0">
                <a:solidFill>
                  <a:srgbClr val="E8B8C0"/>
                </a:solidFill>
                <a:latin typeface="Consolas"/>
              </a:rPr>
              <a:t>-- snapshot</a:t>
            </a:r>
          </a:p>
          <a:p>
            <a:pPr>
              <a:lnSpc>
                <a:spcPct val="100000"/>
              </a:lnSpc>
              <a:spcBef>
                <a:spcPts val="0"/>
              </a:spcBef>
              <a:spcAft>
                <a:spcPts val="0"/>
              </a:spcAft>
            </a:pPr>
            <a:r>
              <a:rPr sz="1100" b="0" i="0">
                <a:solidFill>
                  <a:srgbClr val="F1EEE9"/>
                </a:solidFill>
                <a:latin typeface="Consolas"/>
              </a:rPr>
              <a:t>+1 {window_end 08:03, press-02, readings 6, max 980}</a:t>
            </a:r>
          </a:p>
          <a:p>
            <a:pPr>
              <a:lnSpc>
                <a:spcPct val="100000"/>
              </a:lnSpc>
              <a:spcBef>
                <a:spcPts val="0"/>
              </a:spcBef>
              <a:spcAft>
                <a:spcPts val="0"/>
              </a:spcAft>
            </a:pPr>
            <a:r>
              <a:rPr sz="1100" b="0" i="0">
                <a:solidFill>
                  <a:srgbClr val="E8B8C0"/>
                </a:solidFill>
                <a:latin typeface="Consolas"/>
              </a:rPr>
              <a:t>-- commit</a:t>
            </a:r>
          </a:p>
          <a:p>
            <a:pPr>
              <a:lnSpc>
                <a:spcPct val="100000"/>
              </a:lnSpc>
              <a:spcBef>
                <a:spcPts val="0"/>
              </a:spcBef>
              <a:spcAft>
                <a:spcPts val="0"/>
              </a:spcAft>
            </a:pPr>
            <a:r>
              <a:rPr sz="1100" b="0" i="0">
                <a:solidFill>
                  <a:srgbClr val="F1EEE9"/>
                </a:solidFill>
                <a:latin typeface="Consolas"/>
              </a:rPr>
              <a:t>-1 {window_end 08:03, press-02, readings 6, max 980}</a:t>
            </a:r>
          </a:p>
          <a:p>
            <a:pPr>
              <a:lnSpc>
                <a:spcPct val="100000"/>
              </a:lnSpc>
              <a:spcBef>
                <a:spcPts val="0"/>
              </a:spcBef>
              <a:spcAft>
                <a:spcPts val="0"/>
              </a:spcAft>
            </a:pPr>
            <a:r>
              <a:rPr sz="1100" b="0" i="0">
                <a:solidFill>
                  <a:srgbClr val="F1EEE9"/>
                </a:solidFill>
                <a:latin typeface="Consolas"/>
              </a:rPr>
              <a:t>+1 {window_end 08:03, press-02, readings 7, max 991}</a:t>
            </a:r>
          </a:p>
        </p:txBody>
      </p:sp>
      <p:sp>
        <p:nvSpPr>
          <p:cNvPr id="15" name="TextBox 14"/>
          <p:cNvSpPr txBox="1"/>
          <p:nvPr/>
        </p:nvSpPr>
        <p:spPr>
          <a:xfrm>
            <a:off x="6278727" y="1345488"/>
            <a:ext cx="5135727" cy="432562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Weight: the Z-set row</a:t>
            </a:r>
          </a:p>
          <a:p>
            <a:pPr lvl="1">
              <a:lnSpc>
                <a:spcPct val="120000"/>
              </a:lnSpc>
              <a:spcBef>
                <a:spcPts val="0"/>
              </a:spcBef>
              <a:spcAft>
                <a:spcPts val="0"/>
              </a:spcAft>
            </a:pPr>
            <a:r>
              <a:rPr sz="1450" b="0">
                <a:solidFill>
                  <a:srgbClr val="4A5058"/>
                </a:solidFill>
                <a:latin typeface="Source Sans 3"/>
              </a:rPr>
              <a:t>+1 is a row appearing, −1 one being withdrawn. A row is present exactly while its weights sum positive; a change of weight zero is never delivered.</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Commit</a:t>
            </a:r>
          </a:p>
          <a:p>
            <a:pPr lvl="1">
              <a:lnSpc>
                <a:spcPct val="120000"/>
              </a:lnSpc>
              <a:spcBef>
                <a:spcPts val="0"/>
              </a:spcBef>
              <a:spcAft>
                <a:spcPts val="0"/>
              </a:spcAft>
            </a:pPr>
            <a:r>
              <a:rPr sz="1450" b="0">
                <a:solidFill>
                  <a:srgbClr val="4A5058"/>
                </a:solidFill>
                <a:latin typeface="Source Sans 3"/>
              </a:rPr>
              <a:t>The point at which the engine says a prefix of the input is fully processed. Changes arrive per commit, never per row, so nobody acts on a total still being assembled.</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What a consumer does</a:t>
            </a:r>
          </a:p>
          <a:p>
            <a:pPr lvl="1">
              <a:lnSpc>
                <a:spcPct val="120000"/>
              </a:lnSpc>
              <a:spcBef>
                <a:spcPts val="0"/>
              </a:spcBef>
              <a:spcAft>
                <a:spcPts val="0"/>
              </a:spcAft>
            </a:pPr>
            <a:r>
              <a:rPr sz="1450" b="0">
                <a:solidFill>
                  <a:srgbClr val="4A5058"/>
                </a:solidFill>
                <a:latin typeface="Source Sans 3"/>
              </a:rPr>
              <a:t>Wants current values: ignore −1 and overwrite by key. Keeps its own aggregate: apply the weights, or it drifts from the view the first time a window is corrected.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WHERE IT RUNS, AND WHAT SURVIVES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Lane, checkpoint, sink</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2 · The vocabulary, from nothing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14</a:t>
            </a:r>
          </a:p>
        </p:txBody>
      </p:sp>
      <p:sp>
        <p:nvSpPr>
          <p:cNvPr id="10" name="Rectangle 9"/>
          <p:cNvSpPr/>
          <p:nvPr/>
        </p:nvSpPr>
        <p:spPr>
          <a:xfrm>
            <a:off x="777240" y="1410919"/>
            <a:ext cx="3436010" cy="483443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LANE</a:t>
            </a:r>
          </a:p>
        </p:txBody>
      </p:sp>
      <p:sp>
        <p:nvSpPr>
          <p:cNvPr id="13" name="TextBox 12"/>
          <p:cNvSpPr txBox="1"/>
          <p:nvPr/>
        </p:nvSpPr>
        <p:spPr>
          <a:xfrm>
            <a:off x="960120"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One thread at a time, one inbox, one arena</a:t>
            </a:r>
          </a:p>
        </p:txBody>
      </p:sp>
      <p:sp>
        <p:nvSpPr>
          <p:cNvPr id="14" name="TextBox 13"/>
          <p:cNvSpPr txBox="1"/>
          <p:nvPr/>
        </p:nvSpPr>
        <p:spPr>
          <a:xfrm>
            <a:off x="960120" y="2462784"/>
            <a:ext cx="3070250" cy="365455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The unit of execution: a driver and the memory only it may touch — an off-heap inbox ring, off-heap arena slabs and a compiled operator pipeline. One thread per core steps many lanes; no locks in the steady state.</a:t>
            </a:r>
          </a:p>
        </p:txBody>
      </p:sp>
      <p:sp>
        <p:nvSpPr>
          <p:cNvPr id="15" name="Rectangle 14"/>
          <p:cNvSpPr/>
          <p:nvPr/>
        </p:nvSpPr>
        <p:spPr>
          <a:xfrm>
            <a:off x="4377842" y="1410919"/>
            <a:ext cx="3436010" cy="483443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77842"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0722"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CHECKPOINT</a:t>
            </a:r>
          </a:p>
        </p:txBody>
      </p:sp>
      <p:sp>
        <p:nvSpPr>
          <p:cNvPr id="18" name="TextBox 17"/>
          <p:cNvSpPr txBox="1"/>
          <p:nvPr/>
        </p:nvSpPr>
        <p:spPr>
          <a:xfrm>
            <a:off x="4560722"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450" b="1" i="0">
                <a:solidFill>
                  <a:srgbClr val="1A1A1A"/>
                </a:solidFill>
                <a:latin typeface="Source Sans 3"/>
              </a:rPr>
              <a:t>Operator state, source offsets and the view, at one cut</a:t>
            </a:r>
          </a:p>
        </p:txBody>
      </p:sp>
      <p:sp>
        <p:nvSpPr>
          <p:cNvPr id="19" name="TextBox 18"/>
          <p:cNvSpPr txBox="1"/>
          <p:nvPr/>
        </p:nvSpPr>
        <p:spPr>
          <a:xfrm>
            <a:off x="4560722" y="2634538"/>
            <a:ext cx="3070250" cy="3482797"/>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Taken with every input held between rows, so the state and the offsets name the same point (ADR-008). A restart resumes from it rather than replaying from scratch or starting empty.</a:t>
            </a:r>
          </a:p>
        </p:txBody>
      </p:sp>
      <p:sp>
        <p:nvSpPr>
          <p:cNvPr id="20" name="Rectangle 19"/>
          <p:cNvSpPr/>
          <p:nvPr/>
        </p:nvSpPr>
        <p:spPr>
          <a:xfrm>
            <a:off x="7978444" y="1410919"/>
            <a:ext cx="3436010" cy="483443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78444"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61324"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SINK</a:t>
            </a:r>
          </a:p>
        </p:txBody>
      </p:sp>
      <p:sp>
        <p:nvSpPr>
          <p:cNvPr id="23" name="TextBox 22"/>
          <p:cNvSpPr txBox="1"/>
          <p:nvPr/>
        </p:nvSpPr>
        <p:spPr>
          <a:xfrm>
            <a:off x="8161324"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Where every commit of a view is also written</a:t>
            </a:r>
          </a:p>
        </p:txBody>
      </p:sp>
      <p:sp>
        <p:nvSpPr>
          <p:cNvPr id="24" name="TextBox 23"/>
          <p:cNvSpPr txBox="1"/>
          <p:nvPr/>
        </p:nvSpPr>
        <p:spPr>
          <a:xfrm>
            <a:off x="8161324" y="2462784"/>
            <a:ext cx="3070250" cy="365455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Named at registration and sent retractions too. Its delivery is stated up front: exactly once to a transactional sink, effectively once to an idempotent upsert, at least once to a plain append.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3</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A query's life</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From CREATE CONTINUOUS QUERY to a planned, fingerprinted computation on a lane, to a view a reader asks by key and a subscriber follows commit by commit.</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Registering: the statement and its key</a:t>
            </a:r>
          </a:p>
          <a:p>
            <a:pPr>
              <a:lnSpc>
                <a:spcPct val="115000"/>
              </a:lnSpc>
              <a:spcBef>
                <a:spcPts val="0"/>
              </a:spcBef>
              <a:spcAft>
                <a:spcPts val="600"/>
              </a:spcAft>
            </a:pPr>
            <a:r>
              <a:rPr sz="1250" b="0" i="0">
                <a:solidFill>
                  <a:srgbClr val="F6E6E9"/>
                </a:solidFill>
                <a:latin typeface="Source Sans 3"/>
              </a:rPr>
              <a:t>What happens at registration</a:t>
            </a:r>
          </a:p>
          <a:p>
            <a:pPr>
              <a:lnSpc>
                <a:spcPct val="115000"/>
              </a:lnSpc>
              <a:spcBef>
                <a:spcPts val="0"/>
              </a:spcBef>
              <a:spcAft>
                <a:spcPts val="600"/>
              </a:spcAft>
            </a:pPr>
            <a:r>
              <a:rPr sz="1250" b="0" i="0">
                <a:solidFill>
                  <a:srgbClr val="F6E6E9"/>
                </a:solidFill>
                <a:latin typeface="Source Sans 3"/>
              </a:rPr>
              <a:t>Refused at registration, not discovered later</a:t>
            </a:r>
          </a:p>
          <a:p>
            <a:pPr>
              <a:lnSpc>
                <a:spcPct val="115000"/>
              </a:lnSpc>
              <a:spcBef>
                <a:spcPts val="0"/>
              </a:spcBef>
              <a:spcAft>
                <a:spcPts val="600"/>
              </a:spcAft>
            </a:pPr>
            <a:r>
              <a:rPr sz="1250" b="0" i="0">
                <a:solidFill>
                  <a:srgbClr val="F6E6E9"/>
                </a:solidFill>
                <a:latin typeface="Source Sans 3"/>
              </a:rPr>
              <a:t>Reading the answer</a:t>
            </a:r>
          </a:p>
          <a:p>
            <a:pPr>
              <a:lnSpc>
                <a:spcPct val="115000"/>
              </a:lnSpc>
              <a:spcBef>
                <a:spcPts val="0"/>
              </a:spcBef>
              <a:spcAft>
                <a:spcPts val="600"/>
              </a:spcAft>
            </a:pPr>
            <a:r>
              <a:rPr sz="1250" b="0" i="0">
                <a:solidFill>
                  <a:srgbClr val="F6E6E9"/>
                </a:solidFill>
                <a:latin typeface="Source Sans 3"/>
              </a:rPr>
              <a:t>Subscribing to the changes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REGISTER</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CREATE CONTINUOUS QUERY: a name, a key, a retention</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16</a:t>
            </a:r>
          </a:p>
        </p:txBody>
      </p:sp>
      <p:sp>
        <p:nvSpPr>
          <p:cNvPr id="10" name="Rectangle 9"/>
          <p:cNvSpPr/>
          <p:nvPr/>
        </p:nvSpPr>
        <p:spPr>
          <a:xfrm>
            <a:off x="777240" y="1394561"/>
            <a:ext cx="5454844" cy="244703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94561"/>
            <a:ext cx="45720" cy="2447035"/>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95729"/>
            <a:ext cx="5052508" cy="2044699"/>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F1EEE9"/>
                </a:solidFill>
                <a:latin typeface="Consolas"/>
              </a:rPr>
              <a:t>CREATE CONTINUOUS QUERY hourly_spend</a:t>
            </a:r>
          </a:p>
          <a:p>
            <a:pPr>
              <a:lnSpc>
                <a:spcPct val="100000"/>
              </a:lnSpc>
              <a:spcBef>
                <a:spcPts val="0"/>
              </a:spcBef>
              <a:spcAft>
                <a:spcPts val="0"/>
              </a:spcAft>
            </a:pPr>
            <a:r>
              <a:rPr sz="1250" b="0" i="0">
                <a:solidFill>
                  <a:srgbClr val="F1EEE9"/>
                </a:solidFill>
                <a:latin typeface="Consolas"/>
              </a:rPr>
              <a:t>    KEYED BY (user_id, window_end)</a:t>
            </a:r>
          </a:p>
          <a:p>
            <a:pPr>
              <a:lnSpc>
                <a:spcPct val="100000"/>
              </a:lnSpc>
              <a:spcBef>
                <a:spcPts val="0"/>
              </a:spcBef>
              <a:spcAft>
                <a:spcPts val="0"/>
              </a:spcAft>
            </a:pPr>
            <a:r>
              <a:rPr sz="1250" b="0" i="0">
                <a:solidFill>
                  <a:srgbClr val="F1EEE9"/>
                </a:solidFill>
                <a:latin typeface="Consolas"/>
              </a:rPr>
              <a:t>    RETAIN FOR P7D</a:t>
            </a:r>
          </a:p>
          <a:p>
            <a:pPr>
              <a:lnSpc>
                <a:spcPct val="100000"/>
              </a:lnSpc>
              <a:spcBef>
                <a:spcPts val="0"/>
              </a:spcBef>
              <a:spcAft>
                <a:spcPts val="0"/>
              </a:spcAft>
            </a:pPr>
            <a:r>
              <a:rPr sz="1250" b="0" i="0">
                <a:solidFill>
                  <a:srgbClr val="F1EEE9"/>
                </a:solidFill>
                <a:latin typeface="Consolas"/>
              </a:rPr>
              <a:t>AS</a:t>
            </a:r>
          </a:p>
          <a:p>
            <a:pPr>
              <a:lnSpc>
                <a:spcPct val="100000"/>
              </a:lnSpc>
              <a:spcBef>
                <a:spcPts val="0"/>
              </a:spcBef>
              <a:spcAft>
                <a:spcPts val="0"/>
              </a:spcAft>
            </a:pPr>
            <a:r>
              <a:rPr sz="1250" b="0" i="0">
                <a:solidFill>
                  <a:srgbClr val="F1EEE9"/>
                </a:solidFill>
                <a:latin typeface="Consolas"/>
              </a:rPr>
              <a:t>SELECT user_id,</a:t>
            </a:r>
          </a:p>
          <a:p>
            <a:pPr>
              <a:lnSpc>
                <a:spcPct val="100000"/>
              </a:lnSpc>
              <a:spcBef>
                <a:spcPts val="0"/>
              </a:spcBef>
              <a:spcAft>
                <a:spcPts val="0"/>
              </a:spcAft>
            </a:pPr>
            <a:r>
              <a:rPr sz="1250" b="0" i="0">
                <a:solidFill>
                  <a:srgbClr val="F1EEE9"/>
                </a:solidFill>
                <a:latin typeface="Consolas"/>
              </a:rPr>
              <a:t>       window_end,</a:t>
            </a:r>
          </a:p>
          <a:p>
            <a:pPr>
              <a:lnSpc>
                <a:spcPct val="100000"/>
              </a:lnSpc>
              <a:spcBef>
                <a:spcPts val="0"/>
              </a:spcBef>
              <a:spcAft>
                <a:spcPts val="0"/>
              </a:spcAft>
            </a:pPr>
            <a:r>
              <a:rPr sz="1250" b="0" i="0">
                <a:solidFill>
                  <a:srgbClr val="F1EEE9"/>
                </a:solidFill>
                <a:latin typeface="Consolas"/>
              </a:rPr>
              <a:t>       SUM(amount) AS spend</a:t>
            </a:r>
          </a:p>
          <a:p>
            <a:pPr>
              <a:lnSpc>
                <a:spcPct val="100000"/>
              </a:lnSpc>
              <a:spcBef>
                <a:spcPts val="0"/>
              </a:spcBef>
              <a:spcAft>
                <a:spcPts val="0"/>
              </a:spcAft>
            </a:pPr>
            <a:r>
              <a:rPr sz="1250" b="0" i="0">
                <a:solidFill>
                  <a:srgbClr val="F1EEE9"/>
                </a:solidFill>
                <a:latin typeface="Consolas"/>
              </a:rPr>
              <a:t>FROM TABLE(TUMBLE(TABLE txn,</a:t>
            </a:r>
          </a:p>
          <a:p>
            <a:pPr>
              <a:lnSpc>
                <a:spcPct val="100000"/>
              </a:lnSpc>
              <a:spcBef>
                <a:spcPts val="0"/>
              </a:spcBef>
              <a:spcAft>
                <a:spcPts val="0"/>
              </a:spcAft>
            </a:pPr>
            <a:r>
              <a:rPr sz="1250" b="0" i="0">
                <a:solidFill>
                  <a:srgbClr val="F1EEE9"/>
                </a:solidFill>
                <a:latin typeface="Consolas"/>
              </a:rPr>
              <a:t>     DESCRIPTOR(event_time), INTERVAL '1' HOUR))</a:t>
            </a:r>
          </a:p>
          <a:p>
            <a:pPr>
              <a:lnSpc>
                <a:spcPct val="100000"/>
              </a:lnSpc>
              <a:spcBef>
                <a:spcPts val="0"/>
              </a:spcBef>
              <a:spcAft>
                <a:spcPts val="0"/>
              </a:spcAft>
            </a:pPr>
            <a:r>
              <a:rPr sz="1250" b="0" i="0">
                <a:solidFill>
                  <a:srgbClr val="F1EEE9"/>
                </a:solidFill>
                <a:latin typeface="Consolas"/>
              </a:rPr>
              <a:t>GROUP BY user_id, window_start, window_end;</a:t>
            </a:r>
          </a:p>
        </p:txBody>
      </p:sp>
      <p:sp>
        <p:nvSpPr>
          <p:cNvPr id="13" name="TextBox 12"/>
          <p:cNvSpPr txBox="1"/>
          <p:nvPr/>
        </p:nvSpPr>
        <p:spPr>
          <a:xfrm>
            <a:off x="6597844" y="1394561"/>
            <a:ext cx="4816611" cy="485079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KEYED BY decides what a row replaces</a:t>
            </a:r>
          </a:p>
          <a:p>
            <a:pPr lvl="1">
              <a:lnSpc>
                <a:spcPct val="120000"/>
              </a:lnSpc>
              <a:spcBef>
                <a:spcPts val="0"/>
              </a:spcBef>
              <a:spcAft>
                <a:spcPts val="0"/>
              </a:spcAft>
            </a:pPr>
            <a:r>
              <a:rPr sz="1450" b="0">
                <a:solidFill>
                  <a:srgbClr val="4A5058"/>
                </a:solidFill>
                <a:latin typeface="Source Sans 3"/>
              </a:rPr>
              <a:t>A second row with the same key supersedes the first. Given by column name, resolved by planning the SELECT; part of the query's identity.</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RETAIN FOR: event time the view keeps</a:t>
            </a:r>
          </a:p>
          <a:p>
            <a:pPr lvl="1">
              <a:lnSpc>
                <a:spcPct val="120000"/>
              </a:lnSpc>
              <a:spcBef>
                <a:spcPts val="0"/>
              </a:spcBef>
              <a:spcAft>
                <a:spcPts val="0"/>
              </a:spcAft>
            </a:pPr>
            <a:r>
              <a:rPr sz="1450" b="0">
                <a:solidFill>
                  <a:srgbClr val="4A5058"/>
                </a:solidFill>
                <a:latin typeface="Source Sans 3"/>
              </a:rPr>
              <a:t>Left out, the view keeps forever. Also part of the fingerprint, and journalled.</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From anywhere SQL arrives</a:t>
            </a:r>
          </a:p>
          <a:p>
            <a:pPr lvl="1">
              <a:lnSpc>
                <a:spcPct val="120000"/>
              </a:lnSpc>
              <a:spcBef>
                <a:spcPts val="0"/>
              </a:spcBef>
              <a:spcAft>
                <a:spcPts val="0"/>
              </a:spcAft>
            </a:pPr>
            <a:r>
              <a:rPr sz="1450" b="0">
                <a:solidFill>
                  <a:srgbClr val="4A5058"/>
                </a:solidFill>
                <a:latin typeface="Source Sans 3"/>
              </a:rPr>
              <a:t>Any Flight SQL client, the CLI, an SDK, the console, the embedded engine. SHOW, PAUSE, RESUME and DROP CONTINUOUS QUERY manage what runs.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WHAT HAPPENS AT REGISTRATION</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Plan once, fingerprint, share or place, then serve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17</a:t>
            </a:r>
          </a:p>
        </p:txBody>
      </p:sp>
      <p:sp>
        <p:nvSpPr>
          <p:cNvPr id="10" name="Rectangle 9"/>
          <p:cNvSpPr/>
          <p:nvPr/>
        </p:nvSpPr>
        <p:spPr>
          <a:xfrm>
            <a:off x="777240"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Parse, validate</a:t>
            </a:r>
          </a:p>
        </p:txBody>
      </p:sp>
      <p:sp>
        <p:nvSpPr>
          <p:cNvPr id="13" name="TextBox 12"/>
          <p:cNvSpPr txBox="1"/>
          <p:nvPr/>
        </p:nvSpPr>
        <p:spPr>
          <a:xfrm>
            <a:off x="960120" y="2206752"/>
            <a:ext cx="1542227" cy="813511"/>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4A5058"/>
                </a:solidFill>
                <a:latin typeface="Source Sans 3"/>
              </a:rPr>
              <a:t>Against the declared streams, by Calcite</a:t>
            </a:r>
          </a:p>
        </p:txBody>
      </p:sp>
      <p:sp>
        <p:nvSpPr>
          <p:cNvPr id="14" name="Rectangle 13"/>
          <p:cNvSpPr/>
          <p:nvPr/>
        </p:nvSpPr>
        <p:spPr>
          <a:xfrm>
            <a:off x="2959547"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9547"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42427"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A1A1A"/>
                </a:solidFill>
                <a:latin typeface="Source Sans 3"/>
              </a:rPr>
              <a:t>Check sources and sink</a:t>
            </a:r>
          </a:p>
        </p:txBody>
      </p:sp>
      <p:sp>
        <p:nvSpPr>
          <p:cNvPr id="17" name="TextBox 16"/>
          <p:cNvSpPr txBox="1"/>
          <p:nvPr/>
        </p:nvSpPr>
        <p:spPr>
          <a:xfrm>
            <a:off x="3142427" y="2157679"/>
            <a:ext cx="1542227" cy="862583"/>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5058"/>
                </a:solidFill>
                <a:latin typeface="Source Sans 3"/>
              </a:rPr>
              <a:t>Does a source repeat rows? Can the sink take this changelog?</a:t>
            </a:r>
          </a:p>
        </p:txBody>
      </p:sp>
      <p:cxnSp>
        <p:nvCxnSpPr>
          <p:cNvPr id="18" name="Connector 17"/>
          <p:cNvCxnSpPr/>
          <p:nvPr/>
        </p:nvCxnSpPr>
        <p:spPr>
          <a:xfrm>
            <a:off x="2721803" y="227959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41854"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1854"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24734"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Plan and fingerprint</a:t>
            </a:r>
          </a:p>
        </p:txBody>
      </p:sp>
      <p:sp>
        <p:nvSpPr>
          <p:cNvPr id="22" name="TextBox 21"/>
          <p:cNvSpPr txBox="1"/>
          <p:nvPr/>
        </p:nvSpPr>
        <p:spPr>
          <a:xfrm>
            <a:off x="5324734" y="2206752"/>
            <a:ext cx="1542227" cy="813511"/>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4A5058"/>
                </a:solidFill>
                <a:latin typeface="Source Sans 3"/>
              </a:rPr>
              <a:t>Plan, row filters, key columns, retention — and the tenant</a:t>
            </a:r>
          </a:p>
        </p:txBody>
      </p:sp>
      <p:cxnSp>
        <p:nvCxnSpPr>
          <p:cNvPr id="23" name="Connector 22"/>
          <p:cNvCxnSpPr/>
          <p:nvPr/>
        </p:nvCxnSpPr>
        <p:spPr>
          <a:xfrm>
            <a:off x="4904110" y="227959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24161"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161"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7041"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Share or place</a:t>
            </a:r>
          </a:p>
        </p:txBody>
      </p:sp>
      <p:sp>
        <p:nvSpPr>
          <p:cNvPr id="27" name="TextBox 26"/>
          <p:cNvSpPr txBox="1"/>
          <p:nvPr/>
        </p:nvSpPr>
        <p:spPr>
          <a:xfrm>
            <a:off x="7507041" y="2206752"/>
            <a:ext cx="1542227" cy="813511"/>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4A5058"/>
                </a:solidFill>
                <a:latin typeface="Source Sans 3"/>
              </a:rPr>
              <a:t>Same fingerprint running: join it. Otherwise a lane and a feed</a:t>
            </a:r>
          </a:p>
        </p:txBody>
      </p:sp>
      <p:cxnSp>
        <p:nvCxnSpPr>
          <p:cNvPr id="28" name="Connector 27"/>
          <p:cNvCxnSpPr/>
          <p:nvPr/>
        </p:nvCxnSpPr>
        <p:spPr>
          <a:xfrm>
            <a:off x="7086417" y="227959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506468" y="1410919"/>
            <a:ext cx="1907987" cy="17373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6468" y="1410919"/>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89348" y="1575511"/>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Register the view</a:t>
            </a:r>
          </a:p>
        </p:txBody>
      </p:sp>
      <p:sp>
        <p:nvSpPr>
          <p:cNvPr id="32" name="TextBox 31"/>
          <p:cNvSpPr txBox="1"/>
          <p:nvPr/>
        </p:nvSpPr>
        <p:spPr>
          <a:xfrm>
            <a:off x="9689348" y="2206752"/>
            <a:ext cx="1542227" cy="81351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In the catalogue; readable at once</a:t>
            </a:r>
          </a:p>
        </p:txBody>
      </p:sp>
      <p:cxnSp>
        <p:nvCxnSpPr>
          <p:cNvPr id="33" name="Connector 32"/>
          <p:cNvCxnSpPr/>
          <p:nvPr/>
        </p:nvCxnSpPr>
        <p:spPr>
          <a:xfrm>
            <a:off x="9268724" y="2279599"/>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3358591"/>
            <a:ext cx="10637215" cy="288676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Why a thousand dashboards cost one computation</a:t>
            </a:r>
          </a:p>
          <a:p>
            <a:pPr lvl="1">
              <a:lnSpc>
                <a:spcPct val="120000"/>
              </a:lnSpc>
              <a:spcBef>
                <a:spcPts val="0"/>
              </a:spcBef>
              <a:spcAft>
                <a:spcPts val="0"/>
              </a:spcAft>
            </a:pPr>
            <a:r>
              <a:rPr sz="1450" b="0">
                <a:solidFill>
                  <a:srgbClr val="4A5058"/>
                </a:solidFill>
                <a:latin typeface="Source Sans 3"/>
              </a:rPr>
              <a:t>Identical fingerprints share one computation under many names. The match is on the normalised plan, so whitespace and aliases do not matter — operand order does.</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Released only by its last name</a:t>
            </a:r>
          </a:p>
          <a:p>
            <a:pPr lvl="1">
              <a:lnSpc>
                <a:spcPct val="120000"/>
              </a:lnSpc>
              <a:spcBef>
                <a:spcPts val="0"/>
              </a:spcBef>
              <a:spcAft>
                <a:spcPts val="0"/>
              </a:spcAft>
            </a:pPr>
            <a:r>
              <a:rPr sz="1450" b="0">
                <a:solidFill>
                  <a:srgbClr val="4A5058"/>
                </a:solidFill>
                <a:latin typeface="Source Sans 3"/>
              </a:rPr>
              <a:t>Neither registrant knows the other exists, so dropping eagerly would be an outage caused by somebody tidying up their own query.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REFUSED BY NAME</a:t>
            </a:r>
          </a:p>
        </p:txBody>
      </p:sp>
      <p:sp>
        <p:nvSpPr>
          <p:cNvPr id="5" name="TextBox 4"/>
          <p:cNvSpPr txBox="1"/>
          <p:nvPr/>
        </p:nvSpPr>
        <p:spPr>
          <a:xfrm>
            <a:off x="777240" y="749808"/>
            <a:ext cx="10637215" cy="363728"/>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What cannot work is refused at registration, before anything opens</a:t>
            </a:r>
          </a:p>
        </p:txBody>
      </p:sp>
      <p:sp>
        <p:nvSpPr>
          <p:cNvPr id="6" name="Rectangle 5"/>
          <p:cNvSpPr/>
          <p:nvPr/>
        </p:nvSpPr>
        <p:spPr>
          <a:xfrm>
            <a:off x="777240" y="116840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18</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refusal names the setting to change. A query that could never answer is not allowed to report RUNNING with an empty view.</a:t>
            </a:r>
          </a:p>
        </p:txBody>
      </p:sp>
      <p:graphicFrame>
        <p:nvGraphicFramePr>
          <p:cNvPr id="12" name="Table 11"/>
          <p:cNvGraphicFramePr>
            <a:graphicFrameLocks noGrp="1"/>
          </p:cNvGraphicFramePr>
          <p:nvPr/>
        </p:nvGraphicFramePr>
        <p:xfrm>
          <a:off x="777240" y="1296416"/>
          <a:ext cx="10637213" cy="4067550"/>
        </p:xfrm>
        <a:graphic>
          <a:graphicData uri="http://schemas.openxmlformats.org/drawingml/2006/table">
            <a:tbl>
              <a:tblPr firstRow="1">
                <a:tableStyleId>{5C22544A-7EE6-4342-B048-85BDC9FD1C3A}</a:tableStyleId>
              </a:tblPr>
              <a:tblGrid>
                <a:gridCol w="1806319"/>
                <a:gridCol w="4415447"/>
                <a:gridCol w="4415447"/>
              </a:tblGrid>
              <a:tr h="322376">
                <a:tc>
                  <a:txBody>
                    <a:bodyPr wrap="square"/>
                    <a:lstStyle/>
                    <a:p>
                      <a:r>
                        <a:rPr sz="1300" b="1">
                          <a:solidFill>
                            <a:srgbClr val="FFFFFF"/>
                          </a:solidFill>
                          <a:latin typeface="Source Sans 3"/>
                        </a:rPr>
                        <a:t>Code</a:t>
                      </a:r>
                    </a:p>
                  </a:txBody>
                  <a:tcPr marL="82296" marR="64008" marT="32004" marB="32004" anchor="ctr">
                    <a:solidFill>
                      <a:srgbClr val="8A1626"/>
                    </a:solidFill>
                  </a:tcPr>
                </a:tc>
                <a:tc>
                  <a:txBody>
                    <a:bodyPr wrap="square"/>
                    <a:lstStyle/>
                    <a:p>
                      <a:r>
                        <a:rPr sz="1300" b="1">
                          <a:solidFill>
                            <a:srgbClr val="FFFFFF"/>
                          </a:solidFill>
                          <a:latin typeface="Source Sans 3"/>
                        </a:rPr>
                        <a:t>Refuses</a:t>
                      </a:r>
                    </a:p>
                  </a:txBody>
                  <a:tcPr marL="82296" marR="64008" marT="32004" marB="32004" anchor="ctr">
                    <a:solidFill>
                      <a:srgbClr val="8A1626"/>
                    </a:solidFill>
                  </a:tcPr>
                </a:tc>
                <a:tc>
                  <a:txBody>
                    <a:bodyPr wrap="square"/>
                    <a:lstStyle/>
                    <a:p>
                      <a:r>
                        <a:rPr sz="1300" b="1">
                          <a:solidFill>
                            <a:srgbClr val="FFFFFF"/>
                          </a:solidFill>
                          <a:latin typeface="Source Sans 3"/>
                        </a:rPr>
                        <a:t>Because</a:t>
                      </a:r>
                    </a:p>
                  </a:txBody>
                  <a:tcPr marL="82296" marR="64008" marT="32004" marB="32004" anchor="ctr">
                    <a:solidFill>
                      <a:srgbClr val="8A1626"/>
                    </a:solidFill>
                  </a:tcPr>
                </a:tc>
              </a:tr>
              <a:tr h="567740">
                <a:tc>
                  <a:txBody>
                    <a:bodyPr wrap="square"/>
                    <a:lstStyle/>
                    <a:p>
                      <a:r>
                        <a:rPr sz="1400" b="1">
                          <a:solidFill>
                            <a:srgbClr val="8A1626"/>
                          </a:solidFill>
                          <a:latin typeface="Source Sans 3"/>
                        </a:rPr>
                        <a:t>PRV-2002</a:t>
                      </a:r>
                    </a:p>
                  </a:txBody>
                  <a:tcPr marL="82296" marR="64008" marT="32004" marB="32004" anchor="ctr">
                    <a:solidFill>
                      <a:srgbClr val="FFFFFF"/>
                    </a:solidFill>
                  </a:tcPr>
                </a:tc>
                <a:tc>
                  <a:txBody>
                    <a:bodyPr wrap="square"/>
                    <a:lstStyle/>
                    <a:p>
                      <a:r>
                        <a:rPr sz="1400" b="0">
                          <a:solidFill>
                            <a:srgbClr val="1A1A1A"/>
                          </a:solidFill>
                          <a:latin typeface="Source Sans 3"/>
                        </a:rPr>
                        <a:t>A windowed query over a stream with no event-time column</a:t>
                      </a:r>
                    </a:p>
                  </a:txBody>
                  <a:tcPr marL="82296" marR="64008" marT="32004" marB="32004" anchor="ctr">
                    <a:solidFill>
                      <a:srgbClr val="FFFFFF"/>
                    </a:solidFill>
                  </a:tcPr>
                </a:tc>
                <a:tc>
                  <a:txBody>
                    <a:bodyPr wrap="square"/>
                    <a:lstStyle/>
                    <a:p>
                      <a:r>
                        <a:rPr sz="1400" b="0">
                          <a:solidFill>
                            <a:srgbClr val="1A1A1A"/>
                          </a:solidFill>
                          <a:latin typeface="Source Sans 3"/>
                        </a:rPr>
                        <a:t>No watermark would advance, so no window could ever close</a:t>
                      </a:r>
                    </a:p>
                  </a:txBody>
                  <a:tcPr marL="82296" marR="64008" marT="32004" marB="32004" anchor="ctr">
                    <a:solidFill>
                      <a:srgbClr val="FFFFFF"/>
                    </a:solidFill>
                  </a:tcPr>
                </a:tc>
              </a:tr>
              <a:tr h="567740">
                <a:tc>
                  <a:txBody>
                    <a:bodyPr wrap="square"/>
                    <a:lstStyle/>
                    <a:p>
                      <a:r>
                        <a:rPr sz="1400" b="1">
                          <a:solidFill>
                            <a:srgbClr val="8A1626"/>
                          </a:solidFill>
                          <a:latin typeface="Source Sans 3"/>
                        </a:rPr>
                        <a:t>PRV-2050</a:t>
                      </a:r>
                    </a:p>
                  </a:txBody>
                  <a:tcPr marL="82296" marR="64008" marT="32004" marB="32004" anchor="ctr">
                    <a:solidFill>
                      <a:srgbClr val="F7F5F2"/>
                    </a:solidFill>
                  </a:tcPr>
                </a:tc>
                <a:tc>
                  <a:txBody>
                    <a:bodyPr wrap="square"/>
                    <a:lstStyle/>
                    <a:p>
                      <a:r>
                        <a:rPr sz="1400" b="0">
                          <a:solidFill>
                            <a:srgbClr val="1A1A1A"/>
                          </a:solidFill>
                          <a:latin typeface="Source Sans 3"/>
                        </a:rPr>
                        <a:t>GROUP BY a key with no window</a:t>
                      </a:r>
                    </a:p>
                  </a:txBody>
                  <a:tcPr marL="82296" marR="64008" marT="32004" marB="32004" anchor="ctr">
                    <a:solidFill>
                      <a:srgbClr val="F7F5F2"/>
                    </a:solidFill>
                  </a:tcPr>
                </a:tc>
                <a:tc>
                  <a:txBody>
                    <a:bodyPr wrap="square"/>
                    <a:lstStyle/>
                    <a:p>
                      <a:r>
                        <a:rPr sz="1400" b="0">
                          <a:solidFill>
                            <a:srgbClr val="1A1A1A"/>
                          </a:solidFill>
                          <a:latin typeface="Source Sans 3"/>
                        </a:rPr>
                        <a:t>One accumulator per key for ever: unbounded state</a:t>
                      </a:r>
                    </a:p>
                  </a:txBody>
                  <a:tcPr marL="82296" marR="64008" marT="32004" marB="32004" anchor="ctr">
                    <a:solidFill>
                      <a:srgbClr val="F7F5F2"/>
                    </a:solidFill>
                  </a:tcPr>
                </a:tc>
              </a:tr>
              <a:tr h="567740">
                <a:tc>
                  <a:txBody>
                    <a:bodyPr wrap="square"/>
                    <a:lstStyle/>
                    <a:p>
                      <a:r>
                        <a:rPr sz="1400" b="1">
                          <a:solidFill>
                            <a:srgbClr val="8A1626"/>
                          </a:solidFill>
                          <a:latin typeface="Source Sans 3"/>
                        </a:rPr>
                        <a:t>PRV-2042</a:t>
                      </a:r>
                    </a:p>
                  </a:txBody>
                  <a:tcPr marL="82296" marR="64008" marT="32004" marB="32004" anchor="ctr">
                    <a:solidFill>
                      <a:srgbClr val="FFFFFF"/>
                    </a:solidFill>
                  </a:tcPr>
                </a:tc>
                <a:tc>
                  <a:txBody>
                    <a:bodyPr wrap="square"/>
                    <a:lstStyle/>
                    <a:p>
                      <a:r>
                        <a:rPr sz="1400" b="0">
                          <a:solidFill>
                            <a:srgbClr val="1A1A1A"/>
                          </a:solidFill>
                          <a:latin typeface="Source Sans 3"/>
                        </a:rPr>
                        <a:t>An aggregate or join over a source that repeats rows</a:t>
                      </a:r>
                    </a:p>
                  </a:txBody>
                  <a:tcPr marL="82296" marR="64008" marT="32004" marB="32004" anchor="ctr">
                    <a:solidFill>
                      <a:srgbClr val="FFFFFF"/>
                    </a:solidFill>
                  </a:tcPr>
                </a:tc>
                <a:tc>
                  <a:txBody>
                    <a:bodyPr wrap="square"/>
                    <a:lstStyle/>
                    <a:p>
                      <a:r>
                        <a:rPr sz="1400" b="0">
                          <a:solidFill>
                            <a:srgbClr val="1A1A1A"/>
                          </a:solidFill>
                          <a:latin typeface="Source Sans 3"/>
                        </a:rPr>
                        <a:t>It would count a re-read record twice; the fix is deletes: detect</a:t>
                      </a:r>
                    </a:p>
                  </a:txBody>
                  <a:tcPr marL="82296" marR="64008" marT="32004" marB="32004" anchor="ctr">
                    <a:solidFill>
                      <a:srgbClr val="FFFFFF"/>
                    </a:solidFill>
                  </a:tcPr>
                </a:tc>
              </a:tr>
              <a:tr h="338734">
                <a:tc>
                  <a:txBody>
                    <a:bodyPr wrap="square"/>
                    <a:lstStyle/>
                    <a:p>
                      <a:r>
                        <a:rPr sz="1400" b="1">
                          <a:solidFill>
                            <a:srgbClr val="8A1626"/>
                          </a:solidFill>
                          <a:latin typeface="Source Sans 3"/>
                        </a:rPr>
                        <a:t>PRV-2041</a:t>
                      </a:r>
                    </a:p>
                  </a:txBody>
                  <a:tcPr marL="82296" marR="64008" marT="32004" marB="32004" anchor="ctr">
                    <a:solidFill>
                      <a:srgbClr val="F7F5F2"/>
                    </a:solidFill>
                  </a:tcPr>
                </a:tc>
                <a:tc>
                  <a:txBody>
                    <a:bodyPr wrap="square"/>
                    <a:lstStyle/>
                    <a:p>
                      <a:r>
                        <a:rPr sz="1400" b="0">
                          <a:solidFill>
                            <a:srgbClr val="1A1A1A"/>
                          </a:solidFill>
                          <a:latin typeface="Source Sans 3"/>
                        </a:rPr>
                        <a:t>A revising query into an append-only sink</a:t>
                      </a:r>
                    </a:p>
                  </a:txBody>
                  <a:tcPr marL="82296" marR="64008" marT="32004" marB="32004" anchor="ctr">
                    <a:solidFill>
                      <a:srgbClr val="F7F5F2"/>
                    </a:solidFill>
                  </a:tcPr>
                </a:tc>
                <a:tc>
                  <a:txBody>
                    <a:bodyPr wrap="square"/>
                    <a:lstStyle/>
                    <a:p>
                      <a:r>
                        <a:rPr sz="1400" b="0">
                          <a:solidFill>
                            <a:srgbClr val="1A1A1A"/>
                          </a:solidFill>
                          <a:latin typeface="Source Sans 3"/>
                        </a:rPr>
                        <a:t>The sink cannot take a retraction</a:t>
                      </a:r>
                    </a:p>
                  </a:txBody>
                  <a:tcPr marL="82296" marR="64008" marT="32004" marB="32004" anchor="ctr">
                    <a:solidFill>
                      <a:srgbClr val="F7F5F2"/>
                    </a:solidFill>
                  </a:tcPr>
                </a:tc>
              </a:tr>
              <a:tr h="567740">
                <a:tc>
                  <a:txBody>
                    <a:bodyPr wrap="square"/>
                    <a:lstStyle/>
                    <a:p>
                      <a:r>
                        <a:rPr sz="1400" b="1">
                          <a:solidFill>
                            <a:srgbClr val="8A1626"/>
                          </a:solidFill>
                          <a:latin typeface="Source Sans 3"/>
                        </a:rPr>
                        <a:t>PRV-8010</a:t>
                      </a:r>
                    </a:p>
                  </a:txBody>
                  <a:tcPr marL="82296" marR="64008" marT="32004" marB="32004" anchor="ctr">
                    <a:solidFill>
                      <a:srgbClr val="FFFFFF"/>
                    </a:solidFill>
                  </a:tcPr>
                </a:tc>
                <a:tc>
                  <a:txBody>
                    <a:bodyPr wrap="square"/>
                    <a:lstStyle/>
                    <a:p>
                      <a:r>
                        <a:rPr sz="1400" b="0">
                          <a:solidFill>
                            <a:srgbClr val="1A1A1A"/>
                          </a:solidFill>
                          <a:latin typeface="Source Sans 3"/>
                        </a:rPr>
                        <a:t>A sink whose columns or key differ from the query's</a:t>
                      </a:r>
                    </a:p>
                  </a:txBody>
                  <a:tcPr marL="82296" marR="64008" marT="32004" marB="32004" anchor="ctr">
                    <a:solidFill>
                      <a:srgbClr val="FFFFFF"/>
                    </a:solidFill>
                  </a:tcPr>
                </a:tc>
                <a:tc>
                  <a:txBody>
                    <a:bodyPr wrap="square"/>
                    <a:lstStyle/>
                    <a:p>
                      <a:r>
                        <a:rPr sz="1400" b="0">
                          <a:solidFill>
                            <a:srgbClr val="1A1A1A"/>
                          </a:solidFill>
                          <a:latin typeface="Source Sans 3"/>
                        </a:rPr>
                        <a:t>Checked against the sink's declared schema() and keyColumns()</a:t>
                      </a:r>
                    </a:p>
                  </a:txBody>
                  <a:tcPr marL="82296" marR="64008" marT="32004" marB="32004" anchor="ctr">
                    <a:solidFill>
                      <a:srgbClr val="FFFFFF"/>
                    </a:solidFill>
                  </a:tcPr>
                </a:tc>
              </a:tr>
              <a:tr h="567740">
                <a:tc>
                  <a:txBody>
                    <a:bodyPr wrap="square"/>
                    <a:lstStyle/>
                    <a:p>
                      <a:r>
                        <a:rPr sz="1400" b="1">
                          <a:solidFill>
                            <a:srgbClr val="8A1626"/>
                          </a:solidFill>
                          <a:latin typeface="Source Sans 3"/>
                        </a:rPr>
                        <a:t>PRV-2020</a:t>
                      </a:r>
                    </a:p>
                  </a:txBody>
                  <a:tcPr marL="82296" marR="64008" marT="32004" marB="32004" anchor="ctr">
                    <a:solidFill>
                      <a:srgbClr val="F7F5F2"/>
                    </a:solidFill>
                  </a:tcPr>
                </a:tc>
                <a:tc>
                  <a:txBody>
                    <a:bodyPr wrap="square"/>
                    <a:lstStyle/>
                    <a:p>
                      <a:r>
                        <a:rPr sz="1400" b="0">
                          <a:solidFill>
                            <a:srgbClr val="1A1A1A"/>
                          </a:solidFill>
                          <a:latin typeface="Source Sans 3"/>
                        </a:rPr>
                        <a:t>Session windows</a:t>
                      </a:r>
                    </a:p>
                  </a:txBody>
                  <a:tcPr marL="82296" marR="64008" marT="32004" marB="32004" anchor="ctr">
                    <a:solidFill>
                      <a:srgbClr val="F7F5F2"/>
                    </a:solidFill>
                  </a:tcPr>
                </a:tc>
                <a:tc>
                  <a:txBody>
                    <a:bodyPr wrap="square"/>
                    <a:lstStyle/>
                    <a:p>
                      <a:r>
                        <a:rPr sz="1400" b="0">
                          <a:solidFill>
                            <a:srgbClr val="1A1A1A"/>
                          </a:solidFill>
                          <a:latin typeface="Source Sans 3"/>
                        </a:rPr>
                        <a:t>Not built; tumbling and hopping windows are</a:t>
                      </a:r>
                    </a:p>
                  </a:txBody>
                  <a:tcPr marL="82296" marR="64008" marT="32004" marB="32004" anchor="ctr">
                    <a:solidFill>
                      <a:srgbClr val="F7F5F2"/>
                    </a:solidFill>
                  </a:tcPr>
                </a:tc>
              </a:tr>
              <a:tr h="567740">
                <a:tc>
                  <a:txBody>
                    <a:bodyPr wrap="square"/>
                    <a:lstStyle/>
                    <a:p>
                      <a:r>
                        <a:rPr sz="1400" b="1">
                          <a:solidFill>
                            <a:srgbClr val="8A1626"/>
                          </a:solidFill>
                          <a:latin typeface="Source Sans 3"/>
                        </a:rPr>
                        <a:t>PRV-8020 · 8021</a:t>
                      </a:r>
                    </a:p>
                  </a:txBody>
                  <a:tcPr marL="82296" marR="64008" marT="32004" marB="32004" anchor="ctr">
                    <a:solidFill>
                      <a:srgbClr val="FFFFFF"/>
                    </a:solidFill>
                  </a:tcPr>
                </a:tc>
                <a:tc>
                  <a:txBody>
                    <a:bodyPr wrap="square"/>
                    <a:lstStyle/>
                    <a:p>
                      <a:r>
                        <a:rPr sz="1400" b="0">
                          <a:solidFill>
                            <a:srgbClr val="1A1A1A"/>
                          </a:solidFill>
                          <a:latin typeface="Source Sans 3"/>
                        </a:rPr>
                        <a:t>A registration over its tenant's query or state quota</a:t>
                      </a:r>
                    </a:p>
                  </a:txBody>
                  <a:tcPr marL="82296" marR="64008" marT="32004" marB="32004" anchor="ctr">
                    <a:solidFill>
                      <a:srgbClr val="FFFFFF"/>
                    </a:solidFill>
                  </a:tcPr>
                </a:tc>
                <a:tc>
                  <a:txBody>
                    <a:bodyPr wrap="square"/>
                    <a:lstStyle/>
                    <a:p>
                      <a:r>
                        <a:rPr sz="1400" b="0">
                          <a:solidFill>
                            <a:srgbClr val="1A1A1A"/>
                          </a:solidFill>
                          <a:latin typeface="Source Sans 3"/>
                        </a:rPr>
                        <a:t>Admission is decided before a sink opens or a feed starts</a:t>
                      </a:r>
                    </a:p>
                  </a:txBody>
                  <a:tcPr marL="82296" marR="64008" marT="32004" marB="32004"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READ</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Reading the answer is ordinary SQL over the view</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19</a:t>
            </a:r>
          </a:p>
        </p:txBody>
      </p:sp>
      <p:sp>
        <p:nvSpPr>
          <p:cNvPr id="10" name="Rectangle 9"/>
          <p:cNvSpPr/>
          <p:nvPr/>
        </p:nvSpPr>
        <p:spPr>
          <a:xfrm>
            <a:off x="777240" y="1410919"/>
            <a:ext cx="5348471" cy="3379419"/>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3379419"/>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4946135" cy="2977083"/>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E8B8C0"/>
                </a:solidFill>
                <a:latin typeface="Consolas"/>
              </a:rPr>
              <a:t>// Java SDK</a:t>
            </a:r>
          </a:p>
          <a:p>
            <a:pPr>
              <a:lnSpc>
                <a:spcPct val="100000"/>
              </a:lnSpc>
              <a:spcBef>
                <a:spcPts val="0"/>
              </a:spcBef>
              <a:spcAft>
                <a:spcPts val="0"/>
              </a:spcAft>
            </a:pPr>
            <a:r>
              <a:rPr sz="1300" b="0" i="0">
                <a:solidFill>
                  <a:srgbClr val="F1EEE9"/>
                </a:solidFill>
                <a:latin typeface="Consolas"/>
              </a:rPr>
              <a:t>try (QueryResult result = client.query(</a:t>
            </a:r>
          </a:p>
          <a:p>
            <a:pPr>
              <a:lnSpc>
                <a:spcPct val="100000"/>
              </a:lnSpc>
              <a:spcBef>
                <a:spcPts val="0"/>
              </a:spcBef>
              <a:spcAft>
                <a:spcPts val="0"/>
              </a:spcAft>
            </a:pPr>
            <a:r>
              <a:rPr sz="1300" b="0" i="0">
                <a:solidFill>
                  <a:srgbClr val="F1EEE9"/>
                </a:solidFill>
                <a:latin typeface="Consolas"/>
              </a:rPr>
              <a:t>    "SELECT total_volume FROM user_volume"</a:t>
            </a:r>
          </a:p>
          <a:p>
            <a:pPr>
              <a:lnSpc>
                <a:spcPct val="100000"/>
              </a:lnSpc>
              <a:spcBef>
                <a:spcPts val="0"/>
              </a:spcBef>
              <a:spcAft>
                <a:spcPts val="0"/>
              </a:spcAft>
            </a:pPr>
            <a:r>
              <a:rPr sz="1300" b="0" i="0">
                <a:solidFill>
                  <a:srgbClr val="F1EEE9"/>
                </a:solidFill>
                <a:latin typeface="Consolas"/>
              </a:rPr>
              <a:t>  + " WHERE user_id = ?", "u42")) {</a:t>
            </a:r>
          </a:p>
          <a:p>
            <a:pPr>
              <a:lnSpc>
                <a:spcPct val="100000"/>
              </a:lnSpc>
              <a:spcBef>
                <a:spcPts val="0"/>
              </a:spcBef>
              <a:spcAft>
                <a:spcPts val="0"/>
              </a:spcAft>
            </a:pPr>
            <a:r>
              <a:rPr sz="1300" b="0" i="0">
                <a:solidFill>
                  <a:srgbClr val="F1EEE9"/>
                </a:solidFill>
                <a:latin typeface="Consolas"/>
              </a:rPr>
              <a:t>  for (Row row : result) {</a:t>
            </a:r>
          </a:p>
          <a:p>
            <a:pPr>
              <a:lnSpc>
                <a:spcPct val="100000"/>
              </a:lnSpc>
              <a:spcBef>
                <a:spcPts val="0"/>
              </a:spcBef>
              <a:spcAft>
                <a:spcPts val="0"/>
              </a:spcAft>
            </a:pPr>
            <a:r>
              <a:rPr sz="1300" b="0" i="0">
                <a:solidFill>
                  <a:srgbClr val="F1EEE9"/>
                </a:solidFill>
                <a:latin typeface="Consolas"/>
              </a:rPr>
              <a:t>    long volume = row.getLong("total_volume");</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F1EEE9"/>
                </a:solidFill>
                <a:latin typeface="Consolas"/>
              </a:rPr>
              <a:t>}</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E8B8C0"/>
                </a:solidFill>
                <a:latin typeface="Consolas"/>
              </a:rPr>
              <a:t># Python SDK, against the same engine</a:t>
            </a:r>
          </a:p>
          <a:p>
            <a:pPr>
              <a:lnSpc>
                <a:spcPct val="100000"/>
              </a:lnSpc>
              <a:spcBef>
                <a:spcPts val="0"/>
              </a:spcBef>
              <a:spcAft>
                <a:spcPts val="0"/>
              </a:spcAft>
            </a:pPr>
            <a:r>
              <a:rPr sz="1300" b="0" i="0">
                <a:solidFill>
                  <a:srgbClr val="F1EEE9"/>
                </a:solidFill>
                <a:latin typeface="Consolas"/>
              </a:rPr>
              <a:t>for row in client.query(</a:t>
            </a:r>
          </a:p>
          <a:p>
            <a:pPr>
              <a:lnSpc>
                <a:spcPct val="100000"/>
              </a:lnSpc>
              <a:spcBef>
                <a:spcPts val="0"/>
              </a:spcBef>
              <a:spcAft>
                <a:spcPts val="0"/>
              </a:spcAft>
            </a:pPr>
            <a:r>
              <a:rPr sz="1300" b="0" i="0">
                <a:solidFill>
                  <a:srgbClr val="F1EEE9"/>
                </a:solidFill>
                <a:latin typeface="Consolas"/>
              </a:rPr>
              <a:t>    "SELECT total_volume FROM user_volume"</a:t>
            </a:r>
          </a:p>
          <a:p>
            <a:pPr>
              <a:lnSpc>
                <a:spcPct val="100000"/>
              </a:lnSpc>
              <a:spcBef>
                <a:spcPts val="0"/>
              </a:spcBef>
              <a:spcAft>
                <a:spcPts val="0"/>
              </a:spcAft>
            </a:pPr>
            <a:r>
              <a:rPr sz="1300" b="0" i="0">
                <a:solidFill>
                  <a:srgbClr val="F1EEE9"/>
                </a:solidFill>
                <a:latin typeface="Consolas"/>
              </a:rPr>
              <a:t>    " WHERE user_id = ?", "u42"):</a:t>
            </a:r>
          </a:p>
          <a:p>
            <a:pPr>
              <a:lnSpc>
                <a:spcPct val="100000"/>
              </a:lnSpc>
              <a:spcBef>
                <a:spcPts val="0"/>
              </a:spcBef>
              <a:spcAft>
                <a:spcPts val="0"/>
              </a:spcAft>
            </a:pPr>
            <a:r>
              <a:rPr sz="1300" b="0" i="0">
                <a:solidFill>
                  <a:srgbClr val="F1EEE9"/>
                </a:solidFill>
                <a:latin typeface="Consolas"/>
              </a:rPr>
              <a:t>    volume = row["total_volume"]</a:t>
            </a:r>
          </a:p>
        </p:txBody>
      </p:sp>
      <p:sp>
        <p:nvSpPr>
          <p:cNvPr id="13" name="TextBox 12"/>
          <p:cNvSpPr txBox="1"/>
          <p:nvPr/>
        </p:nvSpPr>
        <p:spPr>
          <a:xfrm>
            <a:off x="6491471" y="1410919"/>
            <a:ext cx="4922983"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The same planner and operators</a:t>
            </a:r>
          </a:p>
          <a:p>
            <a:pPr lvl="1">
              <a:lnSpc>
                <a:spcPct val="120000"/>
              </a:lnSpc>
              <a:spcBef>
                <a:spcPts val="0"/>
              </a:spcBef>
              <a:spcAft>
                <a:spcPts val="0"/>
              </a:spcAft>
            </a:pPr>
            <a:r>
              <a:rPr sz="1450" b="0">
                <a:solidFill>
                  <a:srgbClr val="4A5058"/>
                </a:solidFill>
                <a:latin typeface="Source Sans 3"/>
              </a:rPr>
              <a:t>A read is planned by the planner a continuous query uses, so a WHERE means exactly what it means there rather than nearly. A lookup by key is a hash probe.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Over Arrow Flight SQL</a:t>
            </a:r>
          </a:p>
          <a:p>
            <a:pPr lvl="1">
              <a:lnSpc>
                <a:spcPct val="120000"/>
              </a:lnSpc>
              <a:spcBef>
                <a:spcPts val="0"/>
              </a:spcBef>
              <a:spcAft>
                <a:spcPts val="0"/>
              </a:spcAft>
            </a:pPr>
            <a:r>
              <a:rPr sz="1450" b="0">
                <a:solidFill>
                  <a:srgbClr val="4A5058"/>
                </a:solidFill>
                <a:latin typeface="Source Sans 3"/>
              </a:rPr>
              <a:t>The Java and Python SDKs, the CLI and the console.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Over the PostgreSQL wire protocol</a:t>
            </a:r>
          </a:p>
          <a:p>
            <a:pPr lvl="1">
              <a:lnSpc>
                <a:spcPct val="120000"/>
              </a:lnSpc>
              <a:spcBef>
                <a:spcPts val="0"/>
              </a:spcBef>
              <a:spcAft>
                <a:spcPts val="0"/>
              </a:spcAft>
            </a:pPr>
            <a:r>
              <a:rPr sz="1450" b="0">
                <a:solidFill>
                  <a:srgbClr val="4A5058"/>
                </a:solidFill>
                <a:latin typeface="Source Sans 3"/>
              </a:rPr>
              <a:t>Off by default (pravaha.pgwire.enabled): psql, DBeaver, Grafana and any Postgres driver can read a view, with TLS.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SUBSCRIBE</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subscriber follows the view commit by commit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3 · A query's life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20</a:t>
            </a:r>
          </a:p>
        </p:txBody>
      </p:sp>
      <p:sp>
        <p:nvSpPr>
          <p:cNvPr id="10" name="TextBox 9"/>
          <p:cNvSpPr txBox="1"/>
          <p:nvPr/>
        </p:nvSpPr>
        <p:spPr>
          <a:xfrm>
            <a:off x="777240" y="1410919"/>
            <a:ext cx="10637215" cy="4834432"/>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From a snapshot, with nothing lost between</a:t>
            </a:r>
          </a:p>
          <a:p>
            <a:pPr lvl="1">
              <a:lnSpc>
                <a:spcPct val="120000"/>
              </a:lnSpc>
              <a:spcBef>
                <a:spcPts val="0"/>
              </a:spcBef>
              <a:spcAft>
                <a:spcPts val="0"/>
              </a:spcAft>
            </a:pPr>
            <a:r>
              <a:rPr sz="1550" b="0">
                <a:solidFill>
                  <a:srgbClr val="4A5058"/>
                </a:solidFill>
                <a:latin typeface="Source Sans 3"/>
              </a:rPr>
              <a:t>The first batch is the view as a commit left it; every batch after is a later commit, whole and in order. Applying the snapshot, then each commit by weight, gives the view.</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Registration and subscription are separate</a:t>
            </a:r>
          </a:p>
          <a:p>
            <a:pPr lvl="1">
              <a:lnSpc>
                <a:spcPct val="120000"/>
              </a:lnSpc>
              <a:spcBef>
                <a:spcPts val="0"/>
              </a:spcBef>
              <a:spcAft>
                <a:spcPts val="0"/>
              </a:spcAft>
            </a:pPr>
            <a:r>
              <a:rPr sz="1550" b="0">
                <a:solidFill>
                  <a:srgbClr val="4A5058"/>
                </a:solidFill>
                <a:latin typeface="Source Sans 3"/>
              </a:rPr>
              <a:t>Many subscribers share one computation, which outlives them all: a reconnecting dashboard costs nothing. Each may tap its own filter — still one read, one state.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slow subscriber never blocks the engine</a:t>
            </a:r>
          </a:p>
          <a:p>
            <a:pPr lvl="1">
              <a:lnSpc>
                <a:spcPct val="120000"/>
              </a:lnSpc>
              <a:spcBef>
                <a:spcPts val="0"/>
              </a:spcBef>
              <a:spcAft>
                <a:spcPts val="0"/>
              </a:spcAft>
            </a:pPr>
            <a:r>
              <a:rPr sz="1550" b="0">
                <a:solidFill>
                  <a:srgbClr val="4A5058"/>
                </a:solidFill>
                <a:latin typeface="Source Sans 3"/>
              </a:rPr>
              <a:t>Its buffer is bounded and overflow is declared — CONFLATE, DROP_OLDEST or FAIL — and whatever is lost is counted, and reaches the client over Flight.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Its consumer runs on its own thread</a:t>
            </a:r>
          </a:p>
          <a:p>
            <a:pPr lvl="1">
              <a:lnSpc>
                <a:spcPct val="120000"/>
              </a:lnSpc>
              <a:spcBef>
                <a:spcPts val="0"/>
              </a:spcBef>
              <a:spcAft>
                <a:spcPts val="0"/>
              </a:spcAft>
            </a:pPr>
            <a:r>
              <a:rPr sz="1550" b="0">
                <a:solidFill>
                  <a:srgbClr val="4A5058"/>
                </a:solidFill>
                <a:latin typeface="Source Sans 3"/>
              </a:rPr>
              <a:t>A commit hands each subscriber the batch and returns; a slow consumer backs up its own buffer, not the feed's publish timer.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4</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Correctness</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Exactly-once state, output cut at the same point, a weight on every change, and late data applied as a correction rather than dropped or double-counted — with each guarantee stated as narrowly as the engine can keep it.</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One checkpoint is one cut (ADR-008)</a:t>
            </a:r>
          </a:p>
          <a:p>
            <a:pPr>
              <a:lnSpc>
                <a:spcPct val="115000"/>
              </a:lnSpc>
              <a:spcBef>
                <a:spcPts val="0"/>
              </a:spcBef>
              <a:spcAft>
                <a:spcPts val="600"/>
              </a:spcAft>
            </a:pPr>
            <a:r>
              <a:rPr sz="1250" b="0" i="0">
                <a:solidFill>
                  <a:srgbClr val="F6E6E9"/>
                </a:solidFill>
                <a:latin typeface="Source Sans 3"/>
              </a:rPr>
              <a:t>Output cut at the same marker</a:t>
            </a:r>
          </a:p>
          <a:p>
            <a:pPr>
              <a:lnSpc>
                <a:spcPct val="115000"/>
              </a:lnSpc>
              <a:spcBef>
                <a:spcPts val="0"/>
              </a:spcBef>
              <a:spcAft>
                <a:spcPts val="600"/>
              </a:spcAft>
            </a:pPr>
            <a:r>
              <a:rPr sz="1250" b="0" i="0">
                <a:solidFill>
                  <a:srgbClr val="F6E6E9"/>
                </a:solidFill>
                <a:latin typeface="Source Sans 3"/>
              </a:rPr>
              <a:t>Recovery: what a restart gives back</a:t>
            </a:r>
          </a:p>
          <a:p>
            <a:pPr>
              <a:lnSpc>
                <a:spcPct val="115000"/>
              </a:lnSpc>
              <a:spcBef>
                <a:spcPts val="0"/>
              </a:spcBef>
              <a:spcAft>
                <a:spcPts val="600"/>
              </a:spcAft>
            </a:pPr>
            <a:r>
              <a:rPr sz="1250" b="0" i="0">
                <a:solidFill>
                  <a:srgbClr val="F6E6E9"/>
                </a:solidFill>
                <a:latin typeface="Source Sans 3"/>
              </a:rPr>
              <a:t>Weights and retractions</a:t>
            </a:r>
          </a:p>
          <a:p>
            <a:pPr>
              <a:lnSpc>
                <a:spcPct val="115000"/>
              </a:lnSpc>
              <a:spcBef>
                <a:spcPts val="0"/>
              </a:spcBef>
              <a:spcAft>
                <a:spcPts val="600"/>
              </a:spcAft>
            </a:pPr>
            <a:r>
              <a:rPr sz="1250" b="0" i="0">
                <a:solidFill>
                  <a:srgbClr val="F6E6E9"/>
                </a:solidFill>
                <a:latin typeface="Source Sans 3"/>
              </a:rPr>
              <a:t>Late data: two settings, two meanings</a:t>
            </a:r>
          </a:p>
          <a:p>
            <a:pPr>
              <a:lnSpc>
                <a:spcPct val="115000"/>
              </a:lnSpc>
              <a:spcBef>
                <a:spcPts val="0"/>
              </a:spcBef>
              <a:spcAft>
                <a:spcPts val="600"/>
              </a:spcAft>
            </a:pPr>
            <a:r>
              <a:rPr sz="1250" b="0" i="0">
                <a:solidFill>
                  <a:srgbClr val="F6E6E9"/>
                </a:solidFill>
                <a:latin typeface="Source Sans 3"/>
              </a:rPr>
              <a:t>Survival, and state that degrades</a:t>
            </a:r>
          </a:p>
          <a:p>
            <a:pPr>
              <a:lnSpc>
                <a:spcPct val="115000"/>
              </a:lnSpc>
              <a:spcBef>
                <a:spcPts val="0"/>
              </a:spcBef>
              <a:spcAft>
                <a:spcPts val="600"/>
              </a:spcAft>
            </a:pPr>
            <a:r>
              <a:rPr sz="1250" b="0" i="0">
                <a:solidFill>
                  <a:srgbClr val="F6E6E9"/>
                </a:solidFill>
                <a:latin typeface="Source Sans 3"/>
              </a:rPr>
              <a:t>A bound that changes the answer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EXACTLY-ONCE STATE · ADR-008</a:t>
            </a:r>
          </a:p>
        </p:txBody>
      </p:sp>
      <p:sp>
        <p:nvSpPr>
          <p:cNvPr id="5" name="TextBox 4"/>
          <p:cNvSpPr txBox="1"/>
          <p:nvPr/>
        </p:nvSpPr>
        <p:spPr>
          <a:xfrm>
            <a:off x="777240" y="749808"/>
            <a:ext cx="10637215" cy="363728"/>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A checkpoint is one cut across every input, not a snapshot per lane</a:t>
            </a:r>
          </a:p>
        </p:txBody>
      </p:sp>
      <p:sp>
        <p:nvSpPr>
          <p:cNvPr id="6" name="Rectangle 5"/>
          <p:cNvSpPr/>
          <p:nvPr/>
        </p:nvSpPr>
        <p:spPr>
          <a:xfrm>
            <a:off x="777240" y="116840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22</a:t>
            </a:r>
          </a:p>
        </p:txBody>
      </p:sp>
      <p:sp>
        <p:nvSpPr>
          <p:cNvPr id="10" name="TextBox 9"/>
          <p:cNvSpPr txBox="1"/>
          <p:nvPr/>
        </p:nvSpPr>
        <p:spPr>
          <a:xfrm>
            <a:off x="777240" y="1296416"/>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Three separate defects each broke the promise before they were fixed. The fix for each is what the guarantee now rests on.</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AlignedCheckpointBarrierTest and ControlTaskBarrierTest hold all three, taking checkpoints with the sources still running.</a:t>
            </a:r>
          </a:p>
        </p:txBody>
      </p:sp>
      <p:sp>
        <p:nvSpPr>
          <p:cNvPr id="13" name="Rectangle 12"/>
          <p:cNvSpPr/>
          <p:nvPr/>
        </p:nvSpPr>
        <p:spPr>
          <a:xfrm>
            <a:off x="777240" y="1958848"/>
            <a:ext cx="3436010" cy="37122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1958848"/>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2123440"/>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1 · HOLD</a:t>
            </a:r>
          </a:p>
        </p:txBody>
      </p:sp>
      <p:sp>
        <p:nvSpPr>
          <p:cNvPr id="16" name="TextBox 15"/>
          <p:cNvSpPr txBox="1"/>
          <p:nvPr/>
        </p:nvSpPr>
        <p:spPr>
          <a:xfrm>
            <a:off x="960120" y="2379472"/>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00" b="1" i="0">
                <a:solidFill>
                  <a:srgbClr val="1A1A1A"/>
                </a:solidFill>
                <a:latin typeface="Source Sans 3"/>
              </a:rPr>
              <a:t>Every source is held between rows for the cut</a:t>
            </a:r>
          </a:p>
        </p:txBody>
      </p:sp>
      <p:sp>
        <p:nvSpPr>
          <p:cNvPr id="17" name="TextBox 16"/>
          <p:cNvSpPr txBox="1"/>
          <p:nvPr/>
        </p:nvSpPr>
        <p:spPr>
          <a:xfrm>
            <a:off x="960120" y="2994355"/>
            <a:ext cx="3070250" cy="2548737"/>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Inside one freeze the engine reads every source's offset and hands every lane its marker, and only then waits. The offsets and the state name the same rows. Before, offsets were read after the snapshots and a restore skipped rows.</a:t>
            </a:r>
          </a:p>
        </p:txBody>
      </p:sp>
      <p:sp>
        <p:nvSpPr>
          <p:cNvPr id="18" name="Rectangle 17"/>
          <p:cNvSpPr/>
          <p:nvPr/>
        </p:nvSpPr>
        <p:spPr>
          <a:xfrm>
            <a:off x="4377842" y="1958848"/>
            <a:ext cx="3436010" cy="37122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77842" y="1958848"/>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60722" y="2123440"/>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2 · EXACT</a:t>
            </a:r>
          </a:p>
        </p:txBody>
      </p:sp>
      <p:sp>
        <p:nvSpPr>
          <p:cNvPr id="21" name="TextBox 20"/>
          <p:cNvSpPr txBox="1"/>
          <p:nvPr/>
        </p:nvSpPr>
        <p:spPr>
          <a:xfrm>
            <a:off x="4560722" y="2379472"/>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500" b="1" i="0">
                <a:solidFill>
                  <a:srgbClr val="1A1A1A"/>
                </a:solidFill>
                <a:latin typeface="Source Sans 3"/>
              </a:rPr>
              <a:t>A marker is honoured exactly, not approximately</a:t>
            </a:r>
          </a:p>
        </p:txBody>
      </p:sp>
      <p:sp>
        <p:nvSpPr>
          <p:cNvPr id="22" name="TextBox 21"/>
          <p:cNvSpPr txBox="1"/>
          <p:nvPr/>
        </p:nvSpPr>
        <p:spPr>
          <a:xfrm>
            <a:off x="4560722" y="2961640"/>
            <a:ext cx="3070250" cy="258145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 lane cuts its batch at the marker, so a snapshot holds the state at the position it names — not a batch's worth beyond it, which the recorded offset would replay.</a:t>
            </a:r>
          </a:p>
        </p:txBody>
      </p:sp>
      <p:sp>
        <p:nvSpPr>
          <p:cNvPr id="23" name="Rectangle 22"/>
          <p:cNvSpPr/>
          <p:nvPr/>
        </p:nvSpPr>
        <p:spPr>
          <a:xfrm>
            <a:off x="7978444" y="1958848"/>
            <a:ext cx="3436010" cy="37122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78444" y="1958848"/>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61324" y="2123440"/>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3 · EVERY</a:t>
            </a:r>
          </a:p>
        </p:txBody>
      </p:sp>
      <p:sp>
        <p:nvSpPr>
          <p:cNvPr id="26" name="TextBox 25"/>
          <p:cNvSpPr txBox="1"/>
          <p:nvPr/>
        </p:nvSpPr>
        <p:spPr>
          <a:xfrm>
            <a:off x="8161324" y="2379472"/>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Every source's offset is recorded</a:t>
            </a:r>
          </a:p>
        </p:txBody>
      </p:sp>
      <p:sp>
        <p:nvSpPr>
          <p:cNvPr id="27" name="TextBox 26"/>
          <p:cNvSpPr txBox="1"/>
          <p:nvPr/>
        </p:nvSpPr>
        <p:spPr>
          <a:xfrm>
            <a:off x="8161324" y="3010712"/>
            <a:ext cx="3070250" cy="253238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Including a shuffling one: the pumps feeding a multi-lane query were missing from the offsets map, so such a checkpoint could not be rewound to at all.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OUTPUT · ADR-008 AS AMENDED, ADR-043</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Output is cut at the same marker, and its guarantee is stated per sink</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23</a:t>
            </a:r>
          </a:p>
        </p:txBody>
      </p:sp>
      <p:sp>
        <p:nvSpPr>
          <p:cNvPr id="10" name="TextBox 9"/>
          <p:cNvSpPr txBox="1"/>
          <p:nvPr/>
        </p:nvSpPr>
        <p:spPr>
          <a:xfrm>
            <a:off x="777240" y="1623568"/>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registered query's view is committed and snapshotted on the lane at the marker. What a sink then gets depends on what the sink can do, and is said at registration.</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End to end is still capped by the source: anything read from Aerospike is at least once, whatever the engine does (ADR-029), and a source that cannot rewind caps every sink behind it.</a:t>
            </a:r>
          </a:p>
        </p:txBody>
      </p:sp>
      <p:graphicFrame>
        <p:nvGraphicFramePr>
          <p:cNvPr id="13" name="Table 12"/>
          <p:cNvGraphicFramePr>
            <a:graphicFrameLocks noGrp="1"/>
          </p:cNvGraphicFramePr>
          <p:nvPr/>
        </p:nvGraphicFramePr>
        <p:xfrm>
          <a:off x="777240" y="2286000"/>
          <a:ext cx="10637212" cy="2426358"/>
        </p:xfrm>
        <a:graphic>
          <a:graphicData uri="http://schemas.openxmlformats.org/drawingml/2006/table">
            <a:tbl>
              <a:tblPr firstRow="1">
                <a:tableStyleId>{5C22544A-7EE6-4342-B048-85BDC9FD1C3A}</a:tableStyleId>
              </a:tblPr>
              <a:tblGrid>
                <a:gridCol w="1887247"/>
                <a:gridCol w="2916655"/>
                <a:gridCol w="1715679"/>
                <a:gridCol w="4117631"/>
              </a:tblGrid>
              <a:tr h="322376">
                <a:tc>
                  <a:txBody>
                    <a:bodyPr wrap="square"/>
                    <a:lstStyle/>
                    <a:p>
                      <a:r>
                        <a:rPr sz="1300" b="1">
                          <a:solidFill>
                            <a:srgbClr val="FFFFFF"/>
                          </a:solidFill>
                          <a:latin typeface="Source Sans 3"/>
                        </a:rPr>
                        <a:t>Sink kind</a:t>
                      </a:r>
                    </a:p>
                  </a:txBody>
                  <a:tcPr marL="82296" marR="64008" marT="32004" marB="32004" anchor="ctr">
                    <a:solidFill>
                      <a:srgbClr val="8A1626"/>
                    </a:solidFill>
                  </a:tcPr>
                </a:tc>
                <a:tc>
                  <a:txBody>
                    <a:bodyPr wrap="square"/>
                    <a:lstStyle/>
                    <a:p>
                      <a:r>
                        <a:rPr sz="1300" b="1">
                          <a:solidFill>
                            <a:srgbClr val="FFFFFF"/>
                          </a:solidFill>
                          <a:latin typeface="Source Sans 3"/>
                        </a:rPr>
                        <a:t>Shipped examples</a:t>
                      </a:r>
                    </a:p>
                  </a:txBody>
                  <a:tcPr marL="82296" marR="64008" marT="32004" marB="32004" anchor="ctr">
                    <a:solidFill>
                      <a:srgbClr val="8A1626"/>
                    </a:solidFill>
                  </a:tcPr>
                </a:tc>
                <a:tc>
                  <a:txBody>
                    <a:bodyPr wrap="square"/>
                    <a:lstStyle/>
                    <a:p>
                      <a:r>
                        <a:rPr sz="1300" b="1">
                          <a:solidFill>
                            <a:srgbClr val="FFFFFF"/>
                          </a:solidFill>
                          <a:latin typeface="Source Sans 3"/>
                        </a:rPr>
                        <a:t>Delivery</a:t>
                      </a:r>
                    </a:p>
                  </a:txBody>
                  <a:tcPr marL="82296" marR="64008" marT="32004" marB="32004" anchor="ctr">
                    <a:solidFill>
                      <a:srgbClr val="8A1626"/>
                    </a:solidFill>
                  </a:tcPr>
                </a:tc>
                <a:tc>
                  <a:txBody>
                    <a:bodyPr wrap="square"/>
                    <a:lstStyle/>
                    <a:p>
                      <a:r>
                        <a:rPr sz="1300" b="1">
                          <a:solidFill>
                            <a:srgbClr val="FFFFFF"/>
                          </a:solidFill>
                          <a:latin typeface="Source Sans 3"/>
                        </a:rPr>
                        <a:t>How</a:t>
                      </a:r>
                    </a:p>
                  </a:txBody>
                  <a:tcPr marL="82296" marR="64008" marT="32004" marB="32004" anchor="ctr">
                    <a:solidFill>
                      <a:srgbClr val="8A1626"/>
                    </a:solidFill>
                  </a:tcPr>
                </a:tc>
              </a:tr>
              <a:tr h="870356">
                <a:tc>
                  <a:txBody>
                    <a:bodyPr wrap="square"/>
                    <a:lstStyle/>
                    <a:p>
                      <a:r>
                        <a:rPr sz="1550" b="1">
                          <a:solidFill>
                            <a:srgbClr val="8A1626"/>
                          </a:solidFill>
                          <a:latin typeface="Source Sans 3"/>
                        </a:rPr>
                        <a:t>Transactional</a:t>
                      </a:r>
                    </a:p>
                  </a:txBody>
                  <a:tcPr marL="82296" marR="64008" marT="32004" marB="32004" anchor="ctr">
                    <a:solidFill>
                      <a:srgbClr val="FFFFFF"/>
                    </a:solidFill>
                  </a:tcPr>
                </a:tc>
                <a:tc>
                  <a:txBody>
                    <a:bodyPr wrap="square"/>
                    <a:lstStyle/>
                    <a:p>
                      <a:r>
                        <a:rPr sz="1550" b="0">
                          <a:solidFill>
                            <a:srgbClr val="1A1A1A"/>
                          </a:solidFill>
                          <a:latin typeface="Source Sans 3"/>
                        </a:rPr>
                        <a:t>jdbc-sink, kafka-sink, delta-sink, iceberg-sink</a:t>
                      </a:r>
                    </a:p>
                  </a:txBody>
                  <a:tcPr marL="82296" marR="64008" marT="32004" marB="32004" anchor="ctr">
                    <a:solidFill>
                      <a:srgbClr val="FFFFFF"/>
                    </a:solidFill>
                  </a:tcPr>
                </a:tc>
                <a:tc>
                  <a:txBody>
                    <a:bodyPr wrap="square"/>
                    <a:lstStyle/>
                    <a:p>
                      <a:r>
                        <a:rPr sz="1550" b="0">
                          <a:solidFill>
                            <a:srgbClr val="1A1A1A"/>
                          </a:solidFill>
                          <a:latin typeface="Source Sans 3"/>
                        </a:rPr>
                        <a:t>Exactly once</a:t>
                      </a:r>
                    </a:p>
                  </a:txBody>
                  <a:tcPr marL="82296" marR="64008" marT="32004" marB="32004" anchor="ctr">
                    <a:solidFill>
                      <a:srgbClr val="FFFFFF"/>
                    </a:solidFill>
                  </a:tcPr>
                </a:tc>
                <a:tc>
                  <a:txBody>
                    <a:bodyPr wrap="square"/>
                    <a:lstStyle/>
                    <a:p>
                      <a:r>
                        <a:rPr sz="1550" b="0">
                          <a:solidFill>
                            <a:srgbClr val="1A1A1A"/>
                          </a:solidFill>
                          <a:latin typeface="Source Sans 3"/>
                        </a:rPr>
                        <a:t>Prepared at the checkpoint's cut; committed once the checkpoint is durable</a:t>
                      </a:r>
                    </a:p>
                  </a:txBody>
                  <a:tcPr marL="82296" marR="64008" marT="32004" marB="32004" anchor="ctr">
                    <a:solidFill>
                      <a:srgbClr val="FFFFFF"/>
                    </a:solidFill>
                  </a:tcPr>
                </a:tc>
              </a:tr>
              <a:tr h="616813">
                <a:tc>
                  <a:txBody>
                    <a:bodyPr wrap="square"/>
                    <a:lstStyle/>
                    <a:p>
                      <a:r>
                        <a:rPr sz="1550" b="1">
                          <a:solidFill>
                            <a:srgbClr val="8A1626"/>
                          </a:solidFill>
                          <a:latin typeface="Source Sans 3"/>
                        </a:rPr>
                        <a:t>Idempotent upsert</a:t>
                      </a:r>
                    </a:p>
                  </a:txBody>
                  <a:tcPr marL="82296" marR="64008" marT="32004" marB="32004" anchor="ctr">
                    <a:solidFill>
                      <a:srgbClr val="F7F5F2"/>
                    </a:solidFill>
                  </a:tcPr>
                </a:tc>
                <a:tc>
                  <a:txBody>
                    <a:bodyPr wrap="square"/>
                    <a:lstStyle/>
                    <a:p>
                      <a:r>
                        <a:rPr sz="1550" b="0">
                          <a:solidFill>
                            <a:srgbClr val="1A1A1A"/>
                          </a:solidFill>
                          <a:latin typeface="Source Sans 3"/>
                        </a:rPr>
                        <a:t>aerospike-sink</a:t>
                      </a:r>
                    </a:p>
                  </a:txBody>
                  <a:tcPr marL="82296" marR="64008" marT="32004" marB="32004" anchor="ctr">
                    <a:solidFill>
                      <a:srgbClr val="F7F5F2"/>
                    </a:solidFill>
                  </a:tcPr>
                </a:tc>
                <a:tc>
                  <a:txBody>
                    <a:bodyPr wrap="square"/>
                    <a:lstStyle/>
                    <a:p>
                      <a:r>
                        <a:rPr sz="1550" b="0">
                          <a:solidFill>
                            <a:srgbClr val="1A1A1A"/>
                          </a:solidFill>
                          <a:latin typeface="Source Sans 3"/>
                        </a:rPr>
                        <a:t>Effectively once</a:t>
                      </a:r>
                    </a:p>
                  </a:txBody>
                  <a:tcPr marL="82296" marR="64008" marT="32004" marB="32004" anchor="ctr">
                    <a:solidFill>
                      <a:srgbClr val="F7F5F2"/>
                    </a:solidFill>
                  </a:tcPr>
                </a:tc>
                <a:tc>
                  <a:txBody>
                    <a:bodyPr wrap="square"/>
                    <a:lstStyle/>
                    <a:p>
                      <a:r>
                        <a:rPr sz="1550" b="0">
                          <a:solidFill>
                            <a:srgbClr val="1A1A1A"/>
                          </a:solidFill>
                          <a:latin typeface="Source Sans 3"/>
                        </a:rPr>
                        <a:t>A repeated upsert rewrites the values already there</a:t>
                      </a:r>
                    </a:p>
                  </a:txBody>
                  <a:tcPr marL="82296" marR="64008" marT="32004" marB="32004" anchor="ctr">
                    <a:solidFill>
                      <a:srgbClr val="F7F5F2"/>
                    </a:solidFill>
                  </a:tcPr>
                </a:tc>
              </a:tr>
              <a:tr h="616813">
                <a:tc>
                  <a:txBody>
                    <a:bodyPr wrap="square"/>
                    <a:lstStyle/>
                    <a:p>
                      <a:r>
                        <a:rPr sz="1550" b="1">
                          <a:solidFill>
                            <a:srgbClr val="8A1626"/>
                          </a:solidFill>
                          <a:latin typeface="Source Sans 3"/>
                        </a:rPr>
                        <a:t>Plain append</a:t>
                      </a:r>
                    </a:p>
                  </a:txBody>
                  <a:tcPr marL="82296" marR="64008" marT="32004" marB="32004" anchor="ctr">
                    <a:solidFill>
                      <a:srgbClr val="FFFFFF"/>
                    </a:solidFill>
                  </a:tcPr>
                </a:tc>
                <a:tc>
                  <a:txBody>
                    <a:bodyPr wrap="square"/>
                    <a:lstStyle/>
                    <a:p>
                      <a:r>
                        <a:rPr sz="1550" b="0">
                          <a:solidFill>
                            <a:srgbClr val="1A1A1A"/>
                          </a:solidFill>
                          <a:latin typeface="Source Sans 3"/>
                        </a:rPr>
                        <a:t>filesystem</a:t>
                      </a:r>
                    </a:p>
                  </a:txBody>
                  <a:tcPr marL="82296" marR="64008" marT="32004" marB="32004" anchor="ctr">
                    <a:solidFill>
                      <a:srgbClr val="FFFFFF"/>
                    </a:solidFill>
                  </a:tcPr>
                </a:tc>
                <a:tc>
                  <a:txBody>
                    <a:bodyPr wrap="square"/>
                    <a:lstStyle/>
                    <a:p>
                      <a:r>
                        <a:rPr sz="1550" b="0">
                          <a:solidFill>
                            <a:srgbClr val="1A1A1A"/>
                          </a:solidFill>
                          <a:latin typeface="Source Sans 3"/>
                        </a:rPr>
                        <a:t>At least once</a:t>
                      </a:r>
                    </a:p>
                  </a:txBody>
                  <a:tcPr marL="82296" marR="64008" marT="32004" marB="32004" anchor="ctr">
                    <a:solidFill>
                      <a:srgbClr val="FFFFFF"/>
                    </a:solidFill>
                  </a:tcPr>
                </a:tc>
                <a:tc>
                  <a:txBody>
                    <a:bodyPr wrap="square"/>
                    <a:lstStyle/>
                    <a:p>
                      <a:r>
                        <a:rPr sz="1550" b="0">
                          <a:solidFill>
                            <a:srgbClr val="1A1A1A"/>
                          </a:solidFill>
                          <a:latin typeface="Source Sans 3"/>
                        </a:rPr>
                        <a:t>A restart may repeat what it appended</a:t>
                      </a:r>
                    </a:p>
                  </a:txBody>
                  <a:tcPr marL="82296" marR="64008" marT="32004" marB="32004" anchor="ct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RECOVERY</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What a restart gives back, and what it refuses to</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24</a:t>
            </a:r>
          </a:p>
        </p:txBody>
      </p:sp>
      <p:sp>
        <p:nvSpPr>
          <p:cNvPr id="10" name="TextBox 9"/>
          <p:cNvSpPr txBox="1"/>
          <p:nvPr/>
        </p:nvSpPr>
        <p:spPr>
          <a:xfrm>
            <a:off x="777240" y="1410919"/>
            <a:ext cx="10637215" cy="4834432"/>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Registrations come back from a journal</a:t>
            </a:r>
          </a:p>
          <a:p>
            <a:pPr lvl="1">
              <a:lnSpc>
                <a:spcPct val="120000"/>
              </a:lnSpc>
              <a:spcBef>
                <a:spcPts val="0"/>
              </a:spcBef>
              <a:spcAft>
                <a:spcPts val="0"/>
              </a:spcAft>
            </a:pPr>
            <a:r>
              <a:rPr sz="1550" b="0">
                <a:solidFill>
                  <a:srgbClr val="4A5058"/>
                </a:solidFill>
                <a:latin typeface="Source Sans 3"/>
              </a:rPr>
              <a:t>Name, SQL, key, owner, retention and bound values: small, rarely changed, and impossible to recompute. A journal that cannot be written refuses the registration.</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State comes back only if checkpointing is on</a:t>
            </a:r>
          </a:p>
          <a:p>
            <a:pPr lvl="1">
              <a:lnSpc>
                <a:spcPct val="120000"/>
              </a:lnSpc>
              <a:spcBef>
                <a:spcPts val="0"/>
              </a:spcBef>
              <a:spcAft>
                <a:spcPts val="0"/>
              </a:spcAft>
            </a:pPr>
            <a:r>
              <a:rPr sz="1550" b="0">
                <a:solidFill>
                  <a:srgbClr val="4A5058"/>
                </a:solidFill>
                <a:latin typeface="Source Sans 3"/>
              </a:rPr>
              <a:t>With pravaha.checkpoint.directory set, state, offsets and the view resume from the newest checkpoint (the newest 3 are kept). Unset is the default, and the node says so at startup; a restart then costs a warm-up, not an outage.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Owners are re-checked on replay</a:t>
            </a:r>
          </a:p>
          <a:p>
            <a:pPr lvl="1">
              <a:lnSpc>
                <a:spcPct val="120000"/>
              </a:lnSpc>
              <a:spcBef>
                <a:spcPts val="0"/>
              </a:spcBef>
              <a:spcAft>
                <a:spcPts val="0"/>
              </a:spcAft>
            </a:pPr>
            <a:r>
              <a:rPr sz="1550" b="0">
                <a:solidFill>
                  <a:srgbClr val="4A5058"/>
                </a:solidFill>
                <a:latin typeface="Source Sans 3"/>
              </a:rPr>
              <a:t>A principal who has lost access does not get the query back; recovery names it.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Rows in flight between lanes are refused, not dropped</a:t>
            </a:r>
          </a:p>
          <a:p>
            <a:pPr lvl="1">
              <a:lnSpc>
                <a:spcPct val="120000"/>
              </a:lnSpc>
              <a:spcBef>
                <a:spcPts val="0"/>
              </a:spcBef>
              <a:spcAft>
                <a:spcPts val="0"/>
              </a:spcAft>
            </a:pPr>
            <a:r>
              <a:rPr sz="1550" b="0">
                <a:solidFill>
                  <a:srgbClr val="4A5058"/>
                </a:solidFill>
                <a:latin typeface="Source Sans 3"/>
              </a:rPr>
              <a:t>The exchange between lanes is not cut. No compiled pipeline sends on it, and a checkpoint that would have to cut it is refused rather than stored wrong.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WEIGHTS AND RETRACTIONS</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Every change carries a weight, from the engine to the SDK</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25</a:t>
            </a:r>
          </a:p>
        </p:txBody>
      </p:sp>
      <p:sp>
        <p:nvSpPr>
          <p:cNvPr id="10" name="TextBox 9"/>
          <p:cNvSpPr txBox="1"/>
          <p:nvPr/>
        </p:nvSpPr>
        <p:spPr>
          <a:xfrm>
            <a:off x="777240" y="1361846"/>
            <a:ext cx="10637215" cy="4883505"/>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One arithmetic for everything</a:t>
            </a:r>
          </a:p>
          <a:p>
            <a:pPr lvl="1">
              <a:lnSpc>
                <a:spcPct val="120000"/>
              </a:lnSpc>
              <a:spcBef>
                <a:spcPts val="0"/>
              </a:spcBef>
              <a:spcAft>
                <a:spcPts val="0"/>
              </a:spcAft>
            </a:pPr>
            <a:r>
              <a:rPr sz="1550" b="0">
                <a:solidFill>
                  <a:srgbClr val="4A5058"/>
                </a:solidFill>
                <a:latin typeface="Source Sans 3"/>
              </a:rPr>
              <a:t>A correction is a −1 for the old row and a +1 for the new, not a special message type every consumer must recognise. That is the Z-set idea, and why an aggregate is maintained incrementally without a separate retract path to get wrong.</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Carried the whole way</a:t>
            </a:r>
          </a:p>
          <a:p>
            <a:pPr lvl="1">
              <a:lnSpc>
                <a:spcPct val="120000"/>
              </a:lnSpc>
              <a:spcBef>
                <a:spcPts val="0"/>
              </a:spcBef>
              <a:spcAft>
                <a:spcPts val="0"/>
              </a:spcAft>
            </a:pPr>
            <a:r>
              <a:rPr sz="1550" b="0">
                <a:solidFill>
                  <a:srgbClr val="4A5058"/>
                </a:solidFill>
                <a:latin typeface="Source Sans 3"/>
              </a:rPr>
              <a:t>Through the engine, across the wire and into both SDKs. A sink receives retractions too: a tombstone in kafka-sink, an equality delete in iceberg-sink.</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Present while the weights sum positive</a:t>
            </a:r>
          </a:p>
          <a:p>
            <a:pPr lvl="1">
              <a:lnSpc>
                <a:spcPct val="120000"/>
              </a:lnSpc>
              <a:spcBef>
                <a:spcPts val="0"/>
              </a:spcBef>
              <a:spcAft>
                <a:spcPts val="0"/>
              </a:spcAft>
            </a:pPr>
            <a:r>
              <a:rPr sz="1550" b="0">
                <a:solidFill>
                  <a:srgbClr val="4A5058"/>
                </a:solidFill>
                <a:latin typeface="Source Sans 3"/>
              </a:rPr>
              <a:t>A net weight of zero means the row is not there, so a change of weight zero is never delivered to a subscriber (STRM-1).</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consumer that ignores weights drifts</a:t>
            </a:r>
          </a:p>
          <a:p>
            <a:pPr lvl="1">
              <a:lnSpc>
                <a:spcPct val="120000"/>
              </a:lnSpc>
              <a:spcBef>
                <a:spcPts val="0"/>
              </a:spcBef>
              <a:spcAft>
                <a:spcPts val="0"/>
              </a:spcAft>
            </a:pPr>
            <a:r>
              <a:rPr sz="1550" b="0">
                <a:solidFill>
                  <a:srgbClr val="4A5058"/>
                </a:solidFill>
                <a:latin typeface="Source Sans 3"/>
              </a:rPr>
              <a:t>Overwrite by key if only current values matter; apply the weights if you keep your own total.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LATE DATA</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Two settings, two meanings: waiting and correcting</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26</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Both are declared per stream, because a topic fed by phones over a flaky network and a scan of data at rest have nothing in common.</a:t>
            </a:r>
          </a:p>
        </p:txBody>
      </p:sp>
      <p:sp>
        <p:nvSpPr>
          <p:cNvPr id="11" name="Rectangle 10"/>
          <p:cNvSpPr/>
          <p:nvPr/>
        </p:nvSpPr>
        <p:spPr>
          <a:xfrm>
            <a:off x="777240"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Out-of-orderness: how long to wait</a:t>
            </a:r>
          </a:p>
        </p:txBody>
      </p:sp>
      <p:sp>
        <p:nvSpPr>
          <p:cNvPr id="14" name="TextBox 13"/>
          <p:cNvSpPr txBox="1"/>
          <p:nvPr/>
        </p:nvSpPr>
        <p:spPr>
          <a:xfrm>
            <a:off x="777240"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Decides when a window is complete</a:t>
            </a:r>
          </a:p>
          <a:p>
            <a:pPr lvl="1">
              <a:lnSpc>
                <a:spcPct val="120000"/>
              </a:lnSpc>
              <a:spcBef>
                <a:spcPts val="0"/>
              </a:spcBef>
              <a:spcAft>
                <a:spcPts val="0"/>
              </a:spcAft>
            </a:pPr>
            <a:r>
              <a:rPr sz="1350" b="0">
                <a:solidFill>
                  <a:srgbClr val="4A5058"/>
                </a:solidFill>
                <a:latin typeface="Source Sans 3"/>
              </a:rPr>
              <a:t>10 seconds unless the stream says otherwise; the watermark trails the data by it.</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join is as current as its laggiest input</a:t>
            </a:r>
          </a:p>
          <a:p>
            <a:pPr lvl="1">
              <a:lnSpc>
                <a:spcPct val="120000"/>
              </a:lnSpc>
              <a:spcBef>
                <a:spcPts val="0"/>
              </a:spcBef>
              <a:spcAft>
                <a:spcPts val="0"/>
              </a:spcAft>
            </a:pPr>
            <a:r>
              <a:rPr sz="1350" b="0">
                <a:solidFill>
                  <a:srgbClr val="4A5058"/>
                </a:solidFill>
                <a:latin typeface="Source Sans 3"/>
              </a:rPr>
              <a:t>It takes the minimum of its streams' watermarks.</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Unitless is seconds</a:t>
            </a:r>
          </a:p>
          <a:p>
            <a:pPr lvl="1">
              <a:lnSpc>
                <a:spcPct val="120000"/>
              </a:lnSpc>
              <a:spcBef>
                <a:spcPts val="0"/>
              </a:spcBef>
              <a:spcAft>
                <a:spcPts val="0"/>
              </a:spcAft>
            </a:pPr>
            <a:r>
              <a:rPr sz="1350" b="0">
                <a:solidFill>
                  <a:srgbClr val="4A5058"/>
                </a:solidFill>
                <a:latin typeface="Source Sans 3"/>
              </a:rPr>
              <a:t>out-of-orderness: 60 is a minute; it once bound as milliseconds (TIME-3).</a:t>
            </a:r>
          </a:p>
        </p:txBody>
      </p:sp>
      <p:sp>
        <p:nvSpPr>
          <p:cNvPr id="15" name="Rectangle 14"/>
          <p:cNvSpPr/>
          <p:nvPr/>
        </p:nvSpPr>
        <p:spPr>
          <a:xfrm>
            <a:off x="6278727"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Allowed lateness: whether to correct</a:t>
            </a:r>
          </a:p>
        </p:txBody>
      </p:sp>
      <p:sp>
        <p:nvSpPr>
          <p:cNvPr id="18" name="TextBox 17"/>
          <p:cNvSpPr txBox="1"/>
          <p:nvPr/>
        </p:nvSpPr>
        <p:spPr>
          <a:xfrm>
            <a:off x="6278727"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Zero by default</a:t>
            </a:r>
          </a:p>
          <a:p>
            <a:pPr lvl="1">
              <a:lnSpc>
                <a:spcPct val="120000"/>
              </a:lnSpc>
              <a:spcBef>
                <a:spcPts val="0"/>
              </a:spcBef>
              <a:spcAft>
                <a:spcPts val="0"/>
              </a:spcAft>
            </a:pPr>
            <a:r>
              <a:rPr sz="1350" b="0">
                <a:solidFill>
                  <a:srgbClr val="4A5058"/>
                </a:solidFill>
                <a:latin typeface="Source Sans 3"/>
              </a:rPr>
              <a:t>A row arriving after its window closed is counted as late and dropped.</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Declared, a late row is a correction</a:t>
            </a:r>
          </a:p>
          <a:p>
            <a:pPr lvl="1">
              <a:lnSpc>
                <a:spcPct val="120000"/>
              </a:lnSpc>
              <a:spcBef>
                <a:spcPts val="0"/>
              </a:spcBef>
              <a:spcAft>
                <a:spcPts val="0"/>
              </a:spcAft>
            </a:pPr>
            <a:r>
              <a:rPr sz="1350" b="0">
                <a:solidFill>
                  <a:srgbClr val="4A5058"/>
                </a:solidFill>
                <a:latin typeface="Source Sans 3"/>
              </a:rPr>
              <a:t>pravaha.streams.&lt;name&gt;.allowed-lateness reopens the window: a retraction of the published answer and the corrected one, in one commit.</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Published when event time next moves</a:t>
            </a:r>
          </a:p>
          <a:p>
            <a:pPr lvl="1">
              <a:lnSpc>
                <a:spcPct val="120000"/>
              </a:lnSpc>
              <a:spcBef>
                <a:spcPts val="0"/>
              </a:spcBef>
              <a:spcAft>
                <a:spcPts val="0"/>
              </a:spcAft>
            </a:pPr>
            <a:r>
              <a:rPr sz="1350" b="0">
                <a:solidFill>
                  <a:srgbClr val="4A5058"/>
                </a:solidFill>
                <a:latin typeface="Source Sans 3"/>
              </a:rPr>
              <a:t>Not the instant the late row is read.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SURVIVAL ON ONE NODE</a:t>
            </a:r>
          </a:p>
        </p:txBody>
      </p:sp>
      <p:sp>
        <p:nvSpPr>
          <p:cNvPr id="5" name="TextBox 4"/>
          <p:cNvSpPr txBox="1"/>
          <p:nvPr/>
        </p:nvSpPr>
        <p:spPr>
          <a:xfrm>
            <a:off x="777240" y="749808"/>
            <a:ext cx="10637215" cy="363728"/>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Failures that end one thing, loudly, instead of everything, quietly</a:t>
            </a:r>
          </a:p>
        </p:txBody>
      </p:sp>
      <p:sp>
        <p:nvSpPr>
          <p:cNvPr id="6" name="Rectangle 5"/>
          <p:cNvSpPr/>
          <p:nvPr/>
        </p:nvSpPr>
        <p:spPr>
          <a:xfrm>
            <a:off x="777240" y="116840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27</a:t>
            </a:r>
          </a:p>
        </p:txBody>
      </p:sp>
      <p:sp>
        <p:nvSpPr>
          <p:cNvPr id="10" name="TextBox 9"/>
          <p:cNvSpPr txBox="1"/>
          <p:nvPr/>
        </p:nvSpPr>
        <p:spPr>
          <a:xfrm>
            <a:off x="777240" y="1296416"/>
            <a:ext cx="10637215" cy="4948936"/>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A node claims the directories it writes</a:t>
            </a:r>
          </a:p>
          <a:p>
            <a:pPr lvl="1">
              <a:lnSpc>
                <a:spcPct val="120000"/>
              </a:lnSpc>
              <a:spcBef>
                <a:spcPts val="0"/>
              </a:spcBef>
              <a:spcAft>
                <a:spcPts val="0"/>
              </a:spcAft>
            </a:pPr>
            <a:r>
              <a:rPr sz="1550" b="0">
                <a:solidFill>
                  <a:srgbClr val="4A5058"/>
                </a:solidFill>
                <a:latin typeface="Source Sans 3"/>
              </a:rPr>
              <a:t>Two nodes cannot silently share state (PRV-4003). A standby takes over when the claim goes stale and reports what the takeover cost.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Undecodable input goes to a dead-letter directory</a:t>
            </a:r>
          </a:p>
          <a:p>
            <a:pPr lvl="1">
              <a:lnSpc>
                <a:spcPct val="120000"/>
              </a:lnSpc>
              <a:spcBef>
                <a:spcPts val="0"/>
              </a:spcBef>
              <a:spcAft>
                <a:spcPts val="0"/>
              </a:spcAft>
            </a:pPr>
            <a:r>
              <a:rPr sz="1550" b="0">
                <a:solidFill>
                  <a:srgbClr val="4A5058"/>
                </a:solidFill>
                <a:latin typeface="Source Sans 3"/>
              </a:rPr>
              <a:t>Instead of ending the query.</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State past its ceiling can spill instead of stopping</a:t>
            </a:r>
          </a:p>
          <a:p>
            <a:pPr lvl="1">
              <a:lnSpc>
                <a:spcPct val="120000"/>
              </a:lnSpc>
              <a:spcBef>
                <a:spcPts val="0"/>
              </a:spcBef>
              <a:spcAft>
                <a:spcPts val="0"/>
              </a:spcAft>
            </a:pPr>
            <a:r>
              <a:rPr sz="1550" b="0">
                <a:solidFill>
                  <a:srgbClr val="4A5058"/>
                </a:solidFill>
                <a:latin typeface="Source Sans 3"/>
              </a:rPr>
              <a:t>With pravaha.state.spill.* set, state beyond its memory ceiling moves to memory-mapped files and the query slows. There is no RocksDB, by decision (ADR-044).</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ceiling you can see coming</a:t>
            </a:r>
          </a:p>
          <a:p>
            <a:pPr lvl="1">
              <a:lnSpc>
                <a:spcPct val="120000"/>
              </a:lnSpc>
              <a:spcBef>
                <a:spcPts val="0"/>
              </a:spcBef>
              <a:spcAft>
                <a:spcPts val="0"/>
              </a:spcAft>
            </a:pPr>
            <a:r>
              <a:rPr sz="1550" b="0">
                <a:solidFill>
                  <a:srgbClr val="4A5058"/>
                </a:solidFill>
                <a:latin typeface="Source Sans 3"/>
              </a:rPr>
              <a:t>Each query reports state held against its ceiling: alert on pravaha_query_state_fraction before PRV-4001 refuses it.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lane fails alone</a:t>
            </a:r>
          </a:p>
          <a:p>
            <a:pPr lvl="1">
              <a:lnSpc>
                <a:spcPct val="120000"/>
              </a:lnSpc>
              <a:spcBef>
                <a:spcPts val="0"/>
              </a:spcBef>
              <a:spcAft>
                <a:spcPts val="0"/>
              </a:spcAft>
            </a:pPr>
            <a:r>
              <a:rPr sz="1550" b="0">
                <a:solidFill>
                  <a:srgbClr val="4A5058"/>
                </a:solidFill>
                <a:latin typeface="Source Sans 3"/>
              </a:rPr>
              <a:t>A throwing pipeline drops its lane; sibling lanes never learn of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BOUNDS</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A bound that changes the answer belongs in the query</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4 · Correctness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28</a:t>
            </a:r>
          </a:p>
        </p:txBody>
      </p:sp>
      <p:sp>
        <p:nvSpPr>
          <p:cNvPr id="10" name="TextBox 9"/>
          <p:cNvSpPr txBox="1"/>
          <p:nvPr/>
        </p:nvSpPr>
        <p:spPr>
          <a:xfrm>
            <a:off x="777240" y="1394561"/>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bound that protects the machine belongs in configuration, and fails rather than quietly altering results.</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view forgets because retention is a cache policy; a join fails because evicting to fit would silently lose matches the query asked for.</a:t>
            </a:r>
          </a:p>
        </p:txBody>
      </p:sp>
      <p:graphicFrame>
        <p:nvGraphicFramePr>
          <p:cNvPr id="13" name="Table 12"/>
          <p:cNvGraphicFramePr>
            <a:graphicFrameLocks noGrp="1"/>
          </p:cNvGraphicFramePr>
          <p:nvPr/>
        </p:nvGraphicFramePr>
        <p:xfrm>
          <a:off x="777240" y="2056993"/>
          <a:ext cx="10637214" cy="3462322"/>
        </p:xfrm>
        <a:graphic>
          <a:graphicData uri="http://schemas.openxmlformats.org/drawingml/2006/table">
            <a:tbl>
              <a:tblPr firstRow="1">
                <a:tableStyleId>{5C22544A-7EE6-4342-B048-85BDC9FD1C3A}</a:tableStyleId>
              </a:tblPr>
              <a:tblGrid>
                <a:gridCol w="2954782"/>
                <a:gridCol w="3939709"/>
                <a:gridCol w="3742723"/>
              </a:tblGrid>
              <a:tr h="322376">
                <a:tc>
                  <a:txBody>
                    <a:bodyPr wrap="square"/>
                    <a:lstStyle/>
                    <a:p>
                      <a:r>
                        <a:rPr sz="1300" b="1">
                          <a:solidFill>
                            <a:srgbClr val="FFFFFF"/>
                          </a:solidFill>
                          <a:latin typeface="Source Sans 3"/>
                        </a:rPr>
                        <a:t>Holder</a:t>
                      </a:r>
                    </a:p>
                  </a:txBody>
                  <a:tcPr marL="82296" marR="64008" marT="32004" marB="32004" anchor="ctr">
                    <a:solidFill>
                      <a:srgbClr val="8A1626"/>
                    </a:solidFill>
                  </a:tcPr>
                </a:tc>
                <a:tc>
                  <a:txBody>
                    <a:bodyPr wrap="square"/>
                    <a:lstStyle/>
                    <a:p>
                      <a:r>
                        <a:rPr sz="1300" b="1">
                          <a:solidFill>
                            <a:srgbClr val="FFFFFF"/>
                          </a:solidFill>
                          <a:latin typeface="Source Sans 3"/>
                        </a:rPr>
                        <a:t>Bounded by</a:t>
                      </a:r>
                    </a:p>
                  </a:txBody>
                  <a:tcPr marL="82296" marR="64008" marT="32004" marB="32004" anchor="ctr">
                    <a:solidFill>
                      <a:srgbClr val="8A1626"/>
                    </a:solidFill>
                  </a:tcPr>
                </a:tc>
                <a:tc>
                  <a:txBody>
                    <a:bodyPr wrap="square"/>
                    <a:lstStyle/>
                    <a:p>
                      <a:r>
                        <a:rPr sz="1300" b="1">
                          <a:solidFill>
                            <a:srgbClr val="FFFFFF"/>
                          </a:solidFill>
                          <a:latin typeface="Source Sans 3"/>
                        </a:rPr>
                        <a:t>On exceeding</a:t>
                      </a:r>
                    </a:p>
                  </a:txBody>
                  <a:tcPr marL="82296" marR="64008" marT="32004" marB="32004" anchor="ctr">
                    <a:solidFill>
                      <a:srgbClr val="8A1626"/>
                    </a:solidFill>
                  </a:tcPr>
                </a:tc>
              </a:tr>
              <a:tr h="346913">
                <a:tc>
                  <a:txBody>
                    <a:bodyPr wrap="square"/>
                    <a:lstStyle/>
                    <a:p>
                      <a:r>
                        <a:rPr sz="1450" b="1">
                          <a:solidFill>
                            <a:srgbClr val="8A1626"/>
                          </a:solidFill>
                          <a:latin typeface="Source Sans 3"/>
                        </a:rPr>
                        <a:t>Windowed aggregate state</a:t>
                      </a:r>
                    </a:p>
                  </a:txBody>
                  <a:tcPr marL="82296" marR="64008" marT="32004" marB="32004" anchor="ctr">
                    <a:solidFill>
                      <a:srgbClr val="FFFFFF"/>
                    </a:solidFill>
                  </a:tcPr>
                </a:tc>
                <a:tc>
                  <a:txBody>
                    <a:bodyPr wrap="square"/>
                    <a:lstStyle/>
                    <a:p>
                      <a:r>
                        <a:rPr sz="1450" b="0">
                          <a:solidFill>
                            <a:srgbClr val="1A1A1A"/>
                          </a:solidFill>
                          <a:latin typeface="Source Sans 3"/>
                        </a:rPr>
                        <a:t>The window — it closes and releases</a:t>
                      </a:r>
                    </a:p>
                  </a:txBody>
                  <a:tcPr marL="82296" marR="64008" marT="32004" marB="32004" anchor="ctr">
                    <a:solidFill>
                      <a:srgbClr val="FFFFFF"/>
                    </a:solidFill>
                  </a:tcPr>
                </a:tc>
                <a:tc>
                  <a:txBody>
                    <a:bodyPr wrap="square"/>
                    <a:lstStyle/>
                    <a:p>
                      <a:r>
                        <a:rPr sz="1450" b="0">
                          <a:solidFill>
                            <a:srgbClr val="1A1A1A"/>
                          </a:solidFill>
                          <a:latin typeface="Source Sans 3"/>
                        </a:rPr>
                        <a:t>—</a:t>
                      </a:r>
                    </a:p>
                  </a:txBody>
                  <a:tcPr marL="82296" marR="64008" marT="32004" marB="32004" anchor="ctr">
                    <a:solidFill>
                      <a:srgbClr val="FFFFFF"/>
                    </a:solidFill>
                  </a:tcPr>
                </a:tc>
              </a:tr>
              <a:tr h="584098">
                <a:tc>
                  <a:txBody>
                    <a:bodyPr wrap="square"/>
                    <a:lstStyle/>
                    <a:p>
                      <a:r>
                        <a:rPr sz="1450" b="1">
                          <a:solidFill>
                            <a:srgbClr val="8A1626"/>
                          </a:solidFill>
                          <a:latin typeface="Source Sans 3"/>
                        </a:rPr>
                        <a:t>Unwindowed keyed aggregate</a:t>
                      </a:r>
                    </a:p>
                  </a:txBody>
                  <a:tcPr marL="82296" marR="64008" marT="32004" marB="32004" anchor="ctr">
                    <a:solidFill>
                      <a:srgbClr val="F7F5F2"/>
                    </a:solidFill>
                  </a:tcPr>
                </a:tc>
                <a:tc>
                  <a:txBody>
                    <a:bodyPr wrap="square"/>
                    <a:lstStyle/>
                    <a:p>
                      <a:r>
                        <a:rPr sz="1450" b="0">
                          <a:solidFill>
                            <a:srgbClr val="1A1A1A"/>
                          </a:solidFill>
                          <a:latin typeface="Source Sans 3"/>
                        </a:rPr>
                        <a:t>Nothing</a:t>
                      </a:r>
                    </a:p>
                  </a:txBody>
                  <a:tcPr marL="82296" marR="64008" marT="32004" marB="32004" anchor="ctr">
                    <a:solidFill>
                      <a:srgbClr val="F7F5F2"/>
                    </a:solidFill>
                  </a:tcPr>
                </a:tc>
                <a:tc>
                  <a:txBody>
                    <a:bodyPr wrap="square"/>
                    <a:lstStyle/>
                    <a:p>
                      <a:r>
                        <a:rPr sz="1450" b="0">
                          <a:solidFill>
                            <a:srgbClr val="1A1A1A"/>
                          </a:solidFill>
                          <a:latin typeface="Source Sans 3"/>
                        </a:rPr>
                        <a:t>Refused at planning (PRV-2050)</a:t>
                      </a:r>
                    </a:p>
                  </a:txBody>
                  <a:tcPr marL="82296" marR="64008" marT="32004" marB="32004" anchor="ctr">
                    <a:solidFill>
                      <a:srgbClr val="F7F5F2"/>
                    </a:solidFill>
                  </a:tcPr>
                </a:tc>
              </a:tr>
              <a:tr h="584098">
                <a:tc>
                  <a:txBody>
                    <a:bodyPr wrap="square"/>
                    <a:lstStyle/>
                    <a:p>
                      <a:r>
                        <a:rPr sz="1450" b="1">
                          <a:solidFill>
                            <a:srgbClr val="8A1626"/>
                          </a:solidFill>
                          <a:latin typeface="Source Sans 3"/>
                        </a:rPr>
                        <a:t>Stream-to-stream join state</a:t>
                      </a:r>
                    </a:p>
                  </a:txBody>
                  <a:tcPr marL="82296" marR="64008" marT="32004" marB="32004" anchor="ctr">
                    <a:solidFill>
                      <a:srgbClr val="FFFFFF"/>
                    </a:solidFill>
                  </a:tcPr>
                </a:tc>
                <a:tc>
                  <a:txBody>
                    <a:bodyPr wrap="square"/>
                    <a:lstStyle/>
                    <a:p>
                      <a:r>
                        <a:rPr sz="1450" b="0">
                          <a:solidFill>
                            <a:srgbClr val="1A1A1A"/>
                          </a:solidFill>
                          <a:latin typeface="Source Sans 3"/>
                        </a:rPr>
                        <a:t>The match window (1 h event time by default)</a:t>
                      </a:r>
                    </a:p>
                  </a:txBody>
                  <a:tcPr marL="82296" marR="64008" marT="32004" marB="32004" anchor="ctr">
                    <a:solidFill>
                      <a:srgbClr val="FFFFFF"/>
                    </a:solidFill>
                  </a:tcPr>
                </a:tc>
                <a:tc>
                  <a:txBody>
                    <a:bodyPr wrap="square"/>
                    <a:lstStyle/>
                    <a:p>
                      <a:r>
                        <a:rPr sz="1450" b="0">
                          <a:solidFill>
                            <a:srgbClr val="1A1A1A"/>
                          </a:solidFill>
                          <a:latin typeface="Source Sans 3"/>
                        </a:rPr>
                        <a:t>Rows released as the watermark passes</a:t>
                      </a:r>
                    </a:p>
                  </a:txBody>
                  <a:tcPr marL="82296" marR="64008" marT="32004" marB="32004" anchor="ctr">
                    <a:solidFill>
                      <a:srgbClr val="FFFFFF"/>
                    </a:solidFill>
                  </a:tcPr>
                </a:tc>
              </a:tr>
              <a:tr h="346913">
                <a:tc>
                  <a:txBody>
                    <a:bodyPr wrap="square"/>
                    <a:lstStyle/>
                    <a:p>
                      <a:r>
                        <a:rPr sz="1450" b="1">
                          <a:solidFill>
                            <a:srgbClr val="8A1626"/>
                          </a:solidFill>
                          <a:latin typeface="Source Sans 3"/>
                        </a:rPr>
                        <a:t>…and as a backstop</a:t>
                      </a:r>
                    </a:p>
                  </a:txBody>
                  <a:tcPr marL="82296" marR="64008" marT="32004" marB="32004" anchor="ctr">
                    <a:solidFill>
                      <a:srgbClr val="F7F5F2"/>
                    </a:solidFill>
                  </a:tcPr>
                </a:tc>
                <a:tc>
                  <a:txBody>
                    <a:bodyPr wrap="square"/>
                    <a:lstStyle/>
                    <a:p>
                      <a:r>
                        <a:rPr sz="1450" b="0">
                          <a:solidFill>
                            <a:srgbClr val="1A1A1A"/>
                          </a:solidFill>
                          <a:latin typeface="Source Sans 3"/>
                        </a:rPr>
                        <a:t>maxRowsPerSide</a:t>
                      </a:r>
                    </a:p>
                  </a:txBody>
                  <a:tcPr marL="82296" marR="64008" marT="32004" marB="32004" anchor="ctr">
                    <a:solidFill>
                      <a:srgbClr val="F7F5F2"/>
                    </a:solidFill>
                  </a:tcPr>
                </a:tc>
                <a:tc>
                  <a:txBody>
                    <a:bodyPr wrap="square"/>
                    <a:lstStyle/>
                    <a:p>
                      <a:r>
                        <a:rPr sz="1450" b="0">
                          <a:solidFill>
                            <a:srgbClr val="1A1A1A"/>
                          </a:solidFill>
                          <a:latin typeface="Source Sans 3"/>
                        </a:rPr>
                        <a:t>Fails (PRV-3021) — never evicts</a:t>
                      </a:r>
                    </a:p>
                  </a:txBody>
                  <a:tcPr marL="82296" marR="64008" marT="32004" marB="32004" anchor="ctr">
                    <a:solidFill>
                      <a:srgbClr val="F7F5F2"/>
                    </a:solidFill>
                  </a:tcPr>
                </a:tc>
              </a:tr>
              <a:tr h="584098">
                <a:tc>
                  <a:txBody>
                    <a:bodyPr wrap="square"/>
                    <a:lstStyle/>
                    <a:p>
                      <a:r>
                        <a:rPr sz="1450" b="1">
                          <a:solidFill>
                            <a:srgbClr val="8A1626"/>
                          </a:solidFill>
                          <a:latin typeface="Source Sans 3"/>
                        </a:rPr>
                        <a:t>A served view</a:t>
                      </a:r>
                    </a:p>
                  </a:txBody>
                  <a:tcPr marL="82296" marR="64008" marT="32004" marB="32004" anchor="ctr">
                    <a:solidFill>
                      <a:srgbClr val="FFFFFF"/>
                    </a:solidFill>
                  </a:tcPr>
                </a:tc>
                <a:tc>
                  <a:txBody>
                    <a:bodyPr wrap="square"/>
                    <a:lstStyle/>
                    <a:p>
                      <a:r>
                        <a:rPr sz="1450" b="0">
                          <a:solidFill>
                            <a:srgbClr val="1A1A1A"/>
                          </a:solidFill>
                          <a:latin typeface="Source Sans 3"/>
                        </a:rPr>
                        <a:t>Retention: forever unless RETAIN FOR says</a:t>
                      </a:r>
                    </a:p>
                  </a:txBody>
                  <a:tcPr marL="82296" marR="64008" marT="32004" marB="32004" anchor="ctr">
                    <a:solidFill>
                      <a:srgbClr val="FFFFFF"/>
                    </a:solidFill>
                  </a:tcPr>
                </a:tc>
                <a:tc>
                  <a:txBody>
                    <a:bodyPr wrap="square"/>
                    <a:lstStyle/>
                    <a:p>
                      <a:r>
                        <a:rPr sz="1450" b="0">
                          <a:solidFill>
                            <a:srgbClr val="1A1A1A"/>
                          </a:solidFill>
                          <a:latin typeface="Source Sans 3"/>
                        </a:rPr>
                        <a:t>Oldest rows forgotten</a:t>
                      </a:r>
                    </a:p>
                  </a:txBody>
                  <a:tcPr marL="82296" marR="64008" marT="32004" marB="32004" anchor="ctr">
                    <a:solidFill>
                      <a:srgbClr val="FFFFFF"/>
                    </a:solidFill>
                  </a:tcPr>
                </a:tc>
              </a:tr>
              <a:tr h="346913">
                <a:tc>
                  <a:txBody>
                    <a:bodyPr wrap="square"/>
                    <a:lstStyle/>
                    <a:p>
                      <a:r>
                        <a:rPr sz="1450" b="1">
                          <a:solidFill>
                            <a:srgbClr val="8A1626"/>
                          </a:solidFill>
                          <a:latin typeface="Source Sans 3"/>
                        </a:rPr>
                        <a:t>…and as a backstop</a:t>
                      </a:r>
                    </a:p>
                  </a:txBody>
                  <a:tcPr marL="82296" marR="64008" marT="32004" marB="32004" anchor="ctr">
                    <a:solidFill>
                      <a:srgbClr val="F7F5F2"/>
                    </a:solidFill>
                  </a:tcPr>
                </a:tc>
                <a:tc>
                  <a:txBody>
                    <a:bodyPr wrap="square"/>
                    <a:lstStyle/>
                    <a:p>
                      <a:r>
                        <a:rPr sz="1450" b="0">
                          <a:solidFill>
                            <a:srgbClr val="1A1A1A"/>
                          </a:solidFill>
                          <a:latin typeface="Source Sans 3"/>
                        </a:rPr>
                        <a:t>maxKeys</a:t>
                      </a:r>
                    </a:p>
                  </a:txBody>
                  <a:tcPr marL="82296" marR="64008" marT="32004" marB="32004" anchor="ctr">
                    <a:solidFill>
                      <a:srgbClr val="F7F5F2"/>
                    </a:solidFill>
                  </a:tcPr>
                </a:tc>
                <a:tc>
                  <a:txBody>
                    <a:bodyPr wrap="square"/>
                    <a:lstStyle/>
                    <a:p>
                      <a:r>
                        <a:rPr sz="1450" b="0">
                          <a:solidFill>
                            <a:srgbClr val="1A1A1A"/>
                          </a:solidFill>
                          <a:latin typeface="Source Sans 3"/>
                        </a:rPr>
                        <a:t>Fails (PRV-4022)</a:t>
                      </a:r>
                    </a:p>
                  </a:txBody>
                  <a:tcPr marL="82296" marR="64008" marT="32004" marB="32004" anchor="ctr">
                    <a:solidFill>
                      <a:srgbClr val="F7F5F2"/>
                    </a:solidFill>
                  </a:tcPr>
                </a:tc>
              </a:tr>
              <a:tr h="346913">
                <a:tc>
                  <a:txBody>
                    <a:bodyPr wrap="square"/>
                    <a:lstStyle/>
                    <a:p>
                      <a:r>
                        <a:rPr sz="1450" b="1">
                          <a:solidFill>
                            <a:srgbClr val="8A1626"/>
                          </a:solidFill>
                          <a:latin typeface="Source Sans 3"/>
                        </a:rPr>
                        <a:t>Subscriber buffers</a:t>
                      </a:r>
                    </a:p>
                  </a:txBody>
                  <a:tcPr marL="82296" marR="64008" marT="32004" marB="32004" anchor="ctr">
                    <a:solidFill>
                      <a:srgbClr val="FFFFFF"/>
                    </a:solidFill>
                  </a:tcPr>
                </a:tc>
                <a:tc>
                  <a:txBody>
                    <a:bodyPr wrap="square"/>
                    <a:lstStyle/>
                    <a:p>
                      <a:r>
                        <a:rPr sz="1450" b="0">
                          <a:solidFill>
                            <a:srgbClr val="1A1A1A"/>
                          </a:solidFill>
                          <a:latin typeface="Source Sans 3"/>
                        </a:rPr>
                        <a:t>The subscriber's options</a:t>
                      </a:r>
                    </a:p>
                  </a:txBody>
                  <a:tcPr marL="82296" marR="64008" marT="32004" marB="32004" anchor="ctr">
                    <a:solidFill>
                      <a:srgbClr val="FFFFFF"/>
                    </a:solidFill>
                  </a:tcPr>
                </a:tc>
                <a:tc>
                  <a:txBody>
                    <a:bodyPr wrap="square"/>
                    <a:lstStyle/>
                    <a:p>
                      <a:r>
                        <a:rPr sz="1450" b="0">
                          <a:solidFill>
                            <a:srgbClr val="1A1A1A"/>
                          </a:solidFill>
                          <a:latin typeface="Source Sans 3"/>
                        </a:rPr>
                        <a:t>Conflate, drop or fail — counted</a:t>
                      </a:r>
                    </a:p>
                  </a:txBody>
                  <a:tcPr marL="82296" marR="64008" marT="32004" marB="32004"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5</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Scale on one node</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Thousands of continuous queries on one node, at a thread and memory cost that stops following the query count — and an operator who can see, and change, where each one runs.</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What a lane is, and why it has no locks</a:t>
            </a:r>
          </a:p>
          <a:p>
            <a:pPr>
              <a:lnSpc>
                <a:spcPct val="115000"/>
              </a:lnSpc>
              <a:spcBef>
                <a:spcPts val="0"/>
              </a:spcBef>
              <a:spcAft>
                <a:spcPts val="600"/>
              </a:spcAft>
            </a:pPr>
            <a:r>
              <a:rPr sz="1250" b="0" i="0">
                <a:solidFill>
                  <a:srgbClr val="F6E6E9"/>
                </a:solidFill>
                <a:latin typeface="Source Sans 3"/>
              </a:rPr>
              <a:t>Threads follow cores, not queries</a:t>
            </a:r>
          </a:p>
          <a:p>
            <a:pPr>
              <a:lnSpc>
                <a:spcPct val="115000"/>
              </a:lnSpc>
              <a:spcBef>
                <a:spcPts val="0"/>
              </a:spcBef>
              <a:spcAft>
                <a:spcPts val="600"/>
              </a:spcAft>
            </a:pPr>
            <a:r>
              <a:rPr sz="1250" b="0" i="0">
                <a:solidFill>
                  <a:srgbClr val="F6E6E9"/>
                </a:solidFill>
                <a:latin typeface="Source Sans 3"/>
              </a:rPr>
              <a:t>Sharing lanes: the auto mode</a:t>
            </a:r>
          </a:p>
          <a:p>
            <a:pPr>
              <a:lnSpc>
                <a:spcPct val="115000"/>
              </a:lnSpc>
              <a:spcBef>
                <a:spcPts val="0"/>
              </a:spcBef>
              <a:spcAft>
                <a:spcPts val="600"/>
              </a:spcAft>
            </a:pPr>
            <a:r>
              <a:rPr sz="1250" b="0" i="0">
                <a:solidFill>
                  <a:srgbClr val="F6E6E9"/>
                </a:solidFill>
                <a:latin typeface="Source Sans 3"/>
              </a:rPr>
              <a:t>One row written once per lane</a:t>
            </a:r>
          </a:p>
          <a:p>
            <a:pPr>
              <a:lnSpc>
                <a:spcPct val="115000"/>
              </a:lnSpc>
              <a:spcBef>
                <a:spcPts val="0"/>
              </a:spcBef>
              <a:spcAft>
                <a:spcPts val="600"/>
              </a:spcAft>
            </a:pPr>
            <a:r>
              <a:rPr sz="1250" b="0" i="0">
                <a:solidFill>
                  <a:srgbClr val="F6E6E9"/>
                </a:solidFill>
                <a:latin typeface="Source Sans 3"/>
              </a:rPr>
              <a:t>Dedicated lanes and admin rebalance</a:t>
            </a:r>
          </a:p>
          <a:p>
            <a:pPr>
              <a:lnSpc>
                <a:spcPct val="115000"/>
              </a:lnSpc>
              <a:spcBef>
                <a:spcPts val="0"/>
              </a:spcBef>
              <a:spcAft>
                <a:spcPts val="600"/>
              </a:spcAft>
            </a:pPr>
            <a:r>
              <a:rPr sz="1250" b="0" i="0">
                <a:solidFill>
                  <a:srgbClr val="F6E6E9"/>
                </a:solidFill>
                <a:latin typeface="Source Sans 3"/>
              </a:rPr>
              <a:t>One reader at an exact seam (ADR-054)</a:t>
            </a:r>
          </a:p>
          <a:p>
            <a:pPr>
              <a:lnSpc>
                <a:spcPct val="115000"/>
              </a:lnSpc>
              <a:spcBef>
                <a:spcPts val="0"/>
              </a:spcBef>
              <a:spcAft>
                <a:spcPts val="600"/>
              </a:spcAft>
            </a:pPr>
            <a:r>
              <a:rPr sz="1250" b="0" i="0">
                <a:solidFill>
                  <a:srgbClr val="F6E6E9"/>
                </a:solidFill>
                <a:latin typeface="Source Sans 3"/>
              </a:rPr>
              <a:t>An equality index (ADR-055)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EXECUTION MODEL</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One thread, one inbox, one arena, one processor, one loop</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30</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full inbox backpressures the source rather than spilling; a row wider than a cell is refused at ingest (PRV-3001) rather than buffered.</a:t>
            </a:r>
          </a:p>
        </p:txBody>
      </p:sp>
      <p:sp>
        <p:nvSpPr>
          <p:cNvPr id="12" name="Rectangle 11"/>
          <p:cNvSpPr/>
          <p:nvPr/>
        </p:nvSpPr>
        <p:spPr>
          <a:xfrm>
            <a:off x="777240" y="1361846"/>
            <a:ext cx="3436010" cy="43092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61846"/>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26438"/>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THE LANE</a:t>
            </a:r>
          </a:p>
        </p:txBody>
      </p:sp>
      <p:sp>
        <p:nvSpPr>
          <p:cNvPr id="15" name="TextBox 14"/>
          <p:cNvSpPr txBox="1"/>
          <p:nvPr/>
        </p:nvSpPr>
        <p:spPr>
          <a:xfrm>
            <a:off x="960120" y="1782470"/>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Everything it touches, it owns</a:t>
            </a:r>
          </a:p>
        </p:txBody>
      </p:sp>
      <p:sp>
        <p:nvSpPr>
          <p:cNvPr id="16" name="TextBox 15"/>
          <p:cNvSpPr txBox="1"/>
          <p:nvPr/>
        </p:nvSpPr>
        <p:spPr>
          <a:xfrm>
            <a:off x="960120" y="2413711"/>
            <a:ext cx="3070250" cy="312938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An off-heap inbox ring many producers write and one lane reads; off-heap arena slabs rewound once per batch; its own compiled pipeline. Rows are flyweights over bytes in a cell, not copies.</a:t>
            </a:r>
          </a:p>
        </p:txBody>
      </p:sp>
      <p:sp>
        <p:nvSpPr>
          <p:cNvPr id="17" name="Rectangle 16"/>
          <p:cNvSpPr/>
          <p:nvPr/>
        </p:nvSpPr>
        <p:spPr>
          <a:xfrm>
            <a:off x="4377842" y="1361846"/>
            <a:ext cx="3436010" cy="43092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7842" y="1361846"/>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0722" y="1526438"/>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NO LOCKS</a:t>
            </a:r>
          </a:p>
        </p:txBody>
      </p:sp>
      <p:sp>
        <p:nvSpPr>
          <p:cNvPr id="20" name="TextBox 19"/>
          <p:cNvSpPr txBox="1"/>
          <p:nvPr/>
        </p:nvSpPr>
        <p:spPr>
          <a:xfrm>
            <a:off x="4560722" y="1782470"/>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Confinement is the correctness model</a:t>
            </a:r>
          </a:p>
        </p:txBody>
      </p:sp>
      <p:sp>
        <p:nvSpPr>
          <p:cNvPr id="21" name="TextBox 20"/>
          <p:cNvSpPr txBox="1"/>
          <p:nvPr/>
        </p:nvSpPr>
        <p:spPr>
          <a:xfrm>
            <a:off x="4560722" y="2413711"/>
            <a:ext cx="3070250" cy="312938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No synchronized, no concurrent map, no CAS on a shared aggregate in the steady state. A key hashes to one of 1024 virtual partitions, and a partition belongs to one lane.</a:t>
            </a:r>
          </a:p>
        </p:txBody>
      </p:sp>
      <p:sp>
        <p:nvSpPr>
          <p:cNvPr id="22" name="Rectangle 21"/>
          <p:cNvSpPr/>
          <p:nvPr/>
        </p:nvSpPr>
        <p:spPr>
          <a:xfrm>
            <a:off x="7978444" y="1361846"/>
            <a:ext cx="3436010" cy="4309262"/>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78444" y="1361846"/>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1324" y="1526438"/>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ONE THREAD AT A TIME</a:t>
            </a:r>
          </a:p>
        </p:txBody>
      </p:sp>
      <p:sp>
        <p:nvSpPr>
          <p:cNvPr id="25" name="TextBox 24"/>
          <p:cNvSpPr txBox="1"/>
          <p:nvPr/>
        </p:nvSpPr>
        <p:spPr>
          <a:xfrm>
            <a:off x="8161324" y="1782470"/>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Not one thread per lane</a:t>
            </a:r>
          </a:p>
        </p:txBody>
      </p:sp>
      <p:sp>
        <p:nvSpPr>
          <p:cNvPr id="26" name="TextBox 25"/>
          <p:cNvSpPr txBox="1"/>
          <p:nvPr/>
        </p:nvSpPr>
        <p:spPr>
          <a:xfrm>
            <a:off x="8161324" y="2143810"/>
            <a:ext cx="3070250" cy="3399282"/>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 fixed pool of one thread per core steps many lanes in turn, the event-loop shape. A lane stays on its runner thread, so every ordering rule still holds.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MEASURED ON THE DEVELOPMENT MACHINE</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Threads follow cores, not queries</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31</a:t>
            </a:r>
          </a:p>
        </p:txBody>
      </p:sp>
      <p:sp>
        <p:nvSpPr>
          <p:cNvPr id="10" name="Rectangle 9"/>
          <p:cNvSpPr/>
          <p:nvPr/>
        </p:nvSpPr>
        <p:spPr>
          <a:xfrm>
            <a:off x="777240"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24 threads</a:t>
            </a:r>
          </a:p>
        </p:txBody>
      </p:sp>
      <p:sp>
        <p:nvSpPr>
          <p:cNvPr id="13" name="TextBox 12"/>
          <p:cNvSpPr txBox="1"/>
          <p:nvPr/>
        </p:nvSpPr>
        <p:spPr>
          <a:xfrm>
            <a:off x="978408"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Added by 200 queries on 24 cores — where they once added 400</a:t>
            </a:r>
          </a:p>
        </p:txBody>
      </p:sp>
      <p:sp>
        <p:nvSpPr>
          <p:cNvPr id="14" name="Rectangle 13"/>
          <p:cNvSpPr/>
          <p:nvPr/>
        </p:nvSpPr>
        <p:spPr>
          <a:xfrm>
            <a:off x="3486835"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6835"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 MiB</a:t>
            </a:r>
          </a:p>
        </p:txBody>
      </p:sp>
      <p:sp>
        <p:nvSpPr>
          <p:cNvPr id="17" name="TextBox 16"/>
          <p:cNvSpPr txBox="1"/>
          <p:nvPr/>
        </p:nvSpPr>
        <p:spPr>
          <a:xfrm>
            <a:off x="3688003"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Off-heap per idle query on a lane of its own; 1.3 MiB active</a:t>
            </a:r>
          </a:p>
        </p:txBody>
      </p:sp>
      <p:sp>
        <p:nvSpPr>
          <p:cNvPr id="18" name="Rectangle 17"/>
          <p:cNvSpPr/>
          <p:nvPr/>
        </p:nvSpPr>
        <p:spPr>
          <a:xfrm>
            <a:off x="6196431"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7599"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3.7 ms</a:t>
            </a:r>
          </a:p>
        </p:txBody>
      </p:sp>
      <p:sp>
        <p:nvSpPr>
          <p:cNvPr id="21" name="TextBox 20"/>
          <p:cNvSpPr txBox="1"/>
          <p:nvPr/>
        </p:nvSpPr>
        <p:spPr>
          <a:xfrm>
            <a:off x="6397599"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950" b="0" i="0">
                <a:solidFill>
                  <a:srgbClr val="4A5058"/>
                </a:solidFill>
                <a:latin typeface="Source Sans 3"/>
              </a:rPr>
              <a:t>To register each of a thousand distinct continuous queries</a:t>
            </a:r>
          </a:p>
        </p:txBody>
      </p:sp>
      <p:sp>
        <p:nvSpPr>
          <p:cNvPr id="22" name="Rectangle 21"/>
          <p:cNvSpPr/>
          <p:nvPr/>
        </p:nvSpPr>
        <p:spPr>
          <a:xfrm>
            <a:off x="8906027" y="141091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06027"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07195" y="153893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61 MiB</a:t>
            </a:r>
          </a:p>
        </p:txBody>
      </p:sp>
      <p:sp>
        <p:nvSpPr>
          <p:cNvPr id="25" name="TextBox 24"/>
          <p:cNvSpPr txBox="1"/>
          <p:nvPr/>
        </p:nvSpPr>
        <p:spPr>
          <a:xfrm>
            <a:off x="9107195" y="201442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Off-heap for those thousand, at the advised inbox sizing</a:t>
            </a:r>
          </a:p>
        </p:txBody>
      </p:sp>
      <p:sp>
        <p:nvSpPr>
          <p:cNvPr id="26" name="TextBox 25"/>
          <p:cNvSpPr txBox="1"/>
          <p:nvPr/>
        </p:nvSpPr>
        <p:spPr>
          <a:xfrm>
            <a:off x="777240" y="2764231"/>
            <a:ext cx="10637215" cy="348112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The per-query megabyte is the inbox</a:t>
            </a:r>
          </a:p>
          <a:p>
            <a:pPr lvl="1">
              <a:lnSpc>
                <a:spcPct val="120000"/>
              </a:lnSpc>
              <a:spcBef>
                <a:spcPts val="0"/>
              </a:spcBef>
              <a:spcAft>
                <a:spcPts val="0"/>
              </a:spcAft>
            </a:pPr>
            <a:r>
              <a:rPr sz="1450" b="0">
                <a:solidFill>
                  <a:srgbClr val="4A5058"/>
                </a:solidFill>
                <a:latin typeface="Source Sans 3"/>
              </a:rPr>
              <a:t>2,048 cells × 512 bytes = 1,024 KiB. Sized to 256 × 256 for a slow source, it is 64 KiB — about 64 MB for a thousand queries rather than a gigabyte.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No per-query platform thread is left</a:t>
            </a:r>
          </a:p>
          <a:p>
            <a:pPr lvl="1">
              <a:lnSpc>
                <a:spcPct val="120000"/>
              </a:lnSpc>
              <a:spcBef>
                <a:spcPts val="0"/>
              </a:spcBef>
              <a:spcAft>
                <a:spcPts val="0"/>
              </a:spcAft>
            </a:pPr>
            <a:r>
              <a:rPr sz="1450" b="0">
                <a:solidFill>
                  <a:srgbClr val="4A5058"/>
                </a:solidFill>
                <a:latin typeface="Source Sans 3"/>
              </a:rPr>
              <a:t>Lanes share the runner pool; periodic work shares one process-wide clock; the feed loop and Flight's call executor are virtual; Aerospike shares one client per cluster per credential.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SHARING LANES · THE DEFAULT IS AUTO</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Isolation while it is cheap, sharing once memory binds</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32</a:t>
            </a:r>
          </a:p>
        </p:txBody>
      </p:sp>
      <p:sp>
        <p:nvSpPr>
          <p:cNvPr id="10" name="Rectangle 9"/>
          <p:cNvSpPr/>
          <p:nvPr/>
        </p:nvSpPr>
        <p:spPr>
          <a:xfrm>
            <a:off x="777240" y="137820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7820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5135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pravaha.lane.multiplex.*</a:t>
            </a:r>
          </a:p>
        </p:txBody>
      </p:sp>
      <p:graphicFrame>
        <p:nvGraphicFramePr>
          <p:cNvPr id="13" name="Table 12"/>
          <p:cNvGraphicFramePr>
            <a:graphicFrameLocks noGrp="1"/>
          </p:cNvGraphicFramePr>
          <p:nvPr/>
        </p:nvGraphicFramePr>
        <p:xfrm>
          <a:off x="777240" y="1890267"/>
          <a:ext cx="5135726" cy="3795621"/>
        </p:xfrm>
        <a:graphic>
          <a:graphicData uri="http://schemas.openxmlformats.org/drawingml/2006/table">
            <a:tbl>
              <a:tblPr firstRow="1">
                <a:tableStyleId>{5C22544A-7EE6-4342-B048-85BDC9FD1C3A}</a:tableStyleId>
              </a:tblPr>
              <a:tblGrid>
                <a:gridCol w="1750816"/>
                <a:gridCol w="817047"/>
                <a:gridCol w="2567863"/>
              </a:tblGrid>
              <a:tr h="747674">
                <a:tc>
                  <a:txBody>
                    <a:bodyPr wrap="square"/>
                    <a:lstStyle/>
                    <a:p>
                      <a:r>
                        <a:rPr sz="1300" b="1">
                          <a:solidFill>
                            <a:srgbClr val="FFFFFF"/>
                          </a:solidFill>
                          <a:latin typeface="Source Sans 3"/>
                        </a:rPr>
                        <a:t>Key</a:t>
                      </a:r>
                    </a:p>
                  </a:txBody>
                  <a:tcPr marL="82296" marR="64008" marT="32004" marB="32004" anchor="ctr">
                    <a:solidFill>
                      <a:srgbClr val="8A1626"/>
                    </a:solidFill>
                  </a:tcPr>
                </a:tc>
                <a:tc>
                  <a:txBody>
                    <a:bodyPr wrap="square"/>
                    <a:lstStyle/>
                    <a:p>
                      <a:r>
                        <a:rPr sz="1300" b="1">
                          <a:solidFill>
                            <a:srgbClr val="FFFFFF"/>
                          </a:solidFill>
                          <a:latin typeface="Source Sans 3"/>
                        </a:rPr>
                        <a:t>Default</a:t>
                      </a:r>
                    </a:p>
                  </a:txBody>
                  <a:tcPr marL="82296" marR="64008" marT="32004" marB="32004" anchor="ctr">
                    <a:solidFill>
                      <a:srgbClr val="8A1626"/>
                    </a:solidFill>
                  </a:tcPr>
                </a:tc>
                <a:tc>
                  <a:txBody>
                    <a:bodyPr wrap="square"/>
                    <a:lstStyle/>
                    <a:p>
                      <a:r>
                        <a:rPr sz="1300" b="1">
                          <a:solidFill>
                            <a:srgbClr val="FFFFFF"/>
                          </a:solidFill>
                          <a:latin typeface="Source Sans 3"/>
                        </a:rPr>
                        <a:t>Decides</a:t>
                      </a:r>
                    </a:p>
                  </a:txBody>
                  <a:tcPr marL="82296" marR="64008" marT="32004" marB="32004" anchor="ctr">
                    <a:solidFill>
                      <a:srgbClr val="8A1626"/>
                    </a:solidFill>
                  </a:tcPr>
                </a:tc>
              </a:tr>
              <a:tr h="821283">
                <a:tc>
                  <a:txBody>
                    <a:bodyPr wrap="square"/>
                    <a:lstStyle/>
                    <a:p>
                      <a:r>
                        <a:rPr sz="1450" b="1">
                          <a:solidFill>
                            <a:srgbClr val="8A1626"/>
                          </a:solidFill>
                          <a:latin typeface="Source Sans 3"/>
                        </a:rPr>
                        <a:t>enabled</a:t>
                      </a:r>
                    </a:p>
                  </a:txBody>
                  <a:tcPr marL="82296" marR="64008" marT="32004" marB="32004" anchor="ctr">
                    <a:solidFill>
                      <a:srgbClr val="FFFFFF"/>
                    </a:solidFill>
                  </a:tcPr>
                </a:tc>
                <a:tc>
                  <a:txBody>
                    <a:bodyPr wrap="square"/>
                    <a:lstStyle/>
                    <a:p>
                      <a:r>
                        <a:rPr sz="1450" b="0">
                          <a:solidFill>
                            <a:srgbClr val="1A1A1A"/>
                          </a:solidFill>
                          <a:latin typeface="Source Sans 3"/>
                        </a:rPr>
                        <a:t>auto</a:t>
                      </a:r>
                    </a:p>
                  </a:txBody>
                  <a:tcPr marL="82296" marR="64008" marT="32004" marB="32004" anchor="ctr">
                    <a:solidFill>
                      <a:srgbClr val="FFFFFF"/>
                    </a:solidFill>
                  </a:tcPr>
                </a:tc>
                <a:tc>
                  <a:txBody>
                    <a:bodyPr wrap="square"/>
                    <a:lstStyle/>
                    <a:p>
                      <a:r>
                        <a:rPr sz="1450" b="0">
                          <a:solidFill>
                            <a:srgbClr val="1A1A1A"/>
                          </a:solidFill>
                          <a:latin typeface="Source Sans 3"/>
                        </a:rPr>
                        <a:t>auto shares after auto-from; true always; false never</a:t>
                      </a:r>
                    </a:p>
                  </a:txBody>
                  <a:tcPr marL="82296" marR="64008" marT="32004" marB="32004" anchor="ctr">
                    <a:solidFill>
                      <a:srgbClr val="FFFFFF"/>
                    </a:solidFill>
                  </a:tcPr>
                </a:tc>
              </a:tr>
              <a:tr h="821283">
                <a:tc>
                  <a:txBody>
                    <a:bodyPr wrap="square"/>
                    <a:lstStyle/>
                    <a:p>
                      <a:r>
                        <a:rPr sz="1450" b="1">
                          <a:solidFill>
                            <a:srgbClr val="8A1626"/>
                          </a:solidFill>
                          <a:latin typeface="Source Sans 3"/>
                        </a:rPr>
                        <a:t>auto-from</a:t>
                      </a:r>
                    </a:p>
                  </a:txBody>
                  <a:tcPr marL="82296" marR="64008" marT="32004" marB="32004" anchor="ctr">
                    <a:solidFill>
                      <a:srgbClr val="F7F5F2"/>
                    </a:solidFill>
                  </a:tcPr>
                </a:tc>
                <a:tc>
                  <a:txBody>
                    <a:bodyPr wrap="square"/>
                    <a:lstStyle/>
                    <a:p>
                      <a:r>
                        <a:rPr sz="1450" b="0">
                          <a:solidFill>
                            <a:srgbClr val="1A1A1A"/>
                          </a:solidFill>
                          <a:latin typeface="Source Sans 3"/>
                        </a:rPr>
                        <a:t>64</a:t>
                      </a:r>
                    </a:p>
                  </a:txBody>
                  <a:tcPr marL="82296" marR="64008" marT="32004" marB="32004" anchor="ctr">
                    <a:solidFill>
                      <a:srgbClr val="F7F5F2"/>
                    </a:solidFill>
                  </a:tcPr>
                </a:tc>
                <a:tc>
                  <a:txBody>
                    <a:bodyPr wrap="square"/>
                    <a:lstStyle/>
                    <a:p>
                      <a:r>
                        <a:rPr sz="1450" b="0">
                          <a:solidFill>
                            <a:srgbClr val="1A1A1A"/>
                          </a:solidFill>
                          <a:latin typeface="Source Sans 3"/>
                        </a:rPr>
                        <a:t>Queries that own a lane before sharing starts</a:t>
                      </a:r>
                    </a:p>
                  </a:txBody>
                  <a:tcPr marL="82296" marR="64008" marT="32004" marB="32004" anchor="ctr">
                    <a:solidFill>
                      <a:srgbClr val="F7F5F2"/>
                    </a:solidFill>
                  </a:tcPr>
                </a:tc>
              </a:tr>
              <a:tr h="584098">
                <a:tc>
                  <a:txBody>
                    <a:bodyPr wrap="square"/>
                    <a:lstStyle/>
                    <a:p>
                      <a:r>
                        <a:rPr sz="1450" b="1">
                          <a:solidFill>
                            <a:srgbClr val="8A1626"/>
                          </a:solidFill>
                          <a:latin typeface="Source Sans 3"/>
                        </a:rPr>
                        <a:t>lanes</a:t>
                      </a:r>
                    </a:p>
                  </a:txBody>
                  <a:tcPr marL="82296" marR="64008" marT="32004" marB="32004" anchor="ctr">
                    <a:solidFill>
                      <a:srgbClr val="FFFFFF"/>
                    </a:solidFill>
                  </a:tcPr>
                </a:tc>
                <a:tc>
                  <a:txBody>
                    <a:bodyPr wrap="square"/>
                    <a:lstStyle/>
                    <a:p>
                      <a:r>
                        <a:rPr sz="1450" b="0">
                          <a:solidFill>
                            <a:srgbClr val="1A1A1A"/>
                          </a:solidFill>
                          <a:latin typeface="Source Sans 3"/>
                        </a:rPr>
                        <a:t>0</a:t>
                      </a:r>
                    </a:p>
                  </a:txBody>
                  <a:tcPr marL="82296" marR="64008" marT="32004" marB="32004" anchor="ctr">
                    <a:solidFill>
                      <a:srgbClr val="FFFFFF"/>
                    </a:solidFill>
                  </a:tcPr>
                </a:tc>
                <a:tc>
                  <a:txBody>
                    <a:bodyPr wrap="square"/>
                    <a:lstStyle/>
                    <a:p>
                      <a:r>
                        <a:rPr sz="1450" b="0">
                          <a:solidFill>
                            <a:srgbClr val="1A1A1A"/>
                          </a:solidFill>
                          <a:latin typeface="Source Sans 3"/>
                        </a:rPr>
                        <a:t>Shared lanes; 0 is one per processor</a:t>
                      </a:r>
                    </a:p>
                  </a:txBody>
                  <a:tcPr marL="82296" marR="64008" marT="32004" marB="32004" anchor="ctr">
                    <a:solidFill>
                      <a:srgbClr val="FFFFFF"/>
                    </a:solidFill>
                  </a:tcPr>
                </a:tc>
              </a:tr>
              <a:tr h="821283">
                <a:tc>
                  <a:txBody>
                    <a:bodyPr wrap="square"/>
                    <a:lstStyle/>
                    <a:p>
                      <a:r>
                        <a:rPr sz="1450" b="1">
                          <a:solidFill>
                            <a:srgbClr val="8A1626"/>
                          </a:solidFill>
                          <a:latin typeface="Source Sans 3"/>
                        </a:rPr>
                        <a:t>max-queries-per-lane</a:t>
                      </a:r>
                    </a:p>
                  </a:txBody>
                  <a:tcPr marL="82296" marR="64008" marT="32004" marB="32004" anchor="ctr">
                    <a:solidFill>
                      <a:srgbClr val="F7F5F2"/>
                    </a:solidFill>
                  </a:tcPr>
                </a:tc>
                <a:tc>
                  <a:txBody>
                    <a:bodyPr wrap="square"/>
                    <a:lstStyle/>
                    <a:p>
                      <a:r>
                        <a:rPr sz="1450" b="0">
                          <a:solidFill>
                            <a:srgbClr val="1A1A1A"/>
                          </a:solidFill>
                          <a:latin typeface="Source Sans 3"/>
                        </a:rPr>
                        <a:t>300</a:t>
                      </a:r>
                    </a:p>
                  </a:txBody>
                  <a:tcPr marL="82296" marR="64008" marT="32004" marB="32004" anchor="ctr">
                    <a:solidFill>
                      <a:srgbClr val="F7F5F2"/>
                    </a:solidFill>
                  </a:tcPr>
                </a:tc>
                <a:tc>
                  <a:txBody>
                    <a:bodyPr wrap="square"/>
                    <a:lstStyle/>
                    <a:p>
                      <a:r>
                        <a:rPr sz="1450" b="0">
                          <a:solidFill>
                            <a:srgbClr val="1A1A1A"/>
                          </a:solidFill>
                          <a:latin typeface="Source Sans 3"/>
                        </a:rPr>
                        <a:t>The ceiling on one shared lane</a:t>
                      </a:r>
                    </a:p>
                  </a:txBody>
                  <a:tcPr marL="82296" marR="64008" marT="32004" marB="32004" anchor="ctr">
                    <a:solidFill>
                      <a:srgbClr val="F7F5F2"/>
                    </a:solidFill>
                  </a:tcPr>
                </a:tc>
              </a:tr>
            </a:tbl>
          </a:graphicData>
        </a:graphic>
      </p:graphicFrame>
      <p:sp>
        <p:nvSpPr>
          <p:cNvPr id="14" name="Rectangle 13"/>
          <p:cNvSpPr/>
          <p:nvPr/>
        </p:nvSpPr>
        <p:spPr>
          <a:xfrm>
            <a:off x="6278727" y="1378204"/>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78204"/>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51356"/>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How a registration is placed</a:t>
            </a:r>
          </a:p>
        </p:txBody>
      </p:sp>
      <p:sp>
        <p:nvSpPr>
          <p:cNvPr id="17" name="TextBox 16"/>
          <p:cNvSpPr txBox="1"/>
          <p:nvPr/>
        </p:nvSpPr>
        <p:spPr>
          <a:xfrm>
            <a:off x="6278727" y="1890267"/>
            <a:ext cx="5135727" cy="4355084"/>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Least loaded shared lane wins</a:t>
            </a:r>
          </a:p>
          <a:p>
            <a:pPr lvl="1">
              <a:lnSpc>
                <a:spcPct val="120000"/>
              </a:lnSpc>
              <a:spcBef>
                <a:spcPts val="0"/>
              </a:spcBef>
              <a:spcAft>
                <a:spcPts val="0"/>
              </a:spcAft>
            </a:pPr>
            <a:r>
              <a:rPr sz="1400" b="0">
                <a:solidFill>
                  <a:srgbClr val="4A5058"/>
                </a:solidFill>
                <a:latin typeface="Source Sans 3"/>
              </a:rPr>
              <a:t>By query count, below the ceiling. What it reads does not matter — joins too.</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Nowhere to fit is not a refusal</a:t>
            </a:r>
          </a:p>
          <a:p>
            <a:pPr lvl="1">
              <a:lnSpc>
                <a:spcPct val="120000"/>
              </a:lnSpc>
              <a:spcBef>
                <a:spcPts val="0"/>
              </a:spcBef>
              <a:spcAft>
                <a:spcPts val="0"/>
              </a:spcAft>
            </a:pPr>
            <a:r>
              <a:rPr sz="1400" b="0">
                <a:solidFill>
                  <a:srgbClr val="4A5058"/>
                </a:solidFill>
                <a:latin typeface="Source Sans 3"/>
              </a:rPr>
              <a:t>It gets a lane of its own, visible as pravaha_lane_own_queries.</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A shared lane shares its fate</a:t>
            </a:r>
          </a:p>
          <a:p>
            <a:pPr lvl="1">
              <a:lnSpc>
                <a:spcPct val="120000"/>
              </a:lnSpc>
              <a:spcBef>
                <a:spcPts val="0"/>
              </a:spcBef>
              <a:spcAft>
                <a:spcPts val="0"/>
              </a:spcAft>
            </a:pPr>
            <a:r>
              <a:rPr sz="1400" b="0">
                <a:solidFill>
                  <a:srgbClr val="4A5058"/>
                </a:solidFill>
                <a:latin typeface="Source Sans 3"/>
              </a:rPr>
              <a:t>A throwing pipeline takes down every query on the lane — the reason the first 64 own one.</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Running queries are never moved</a:t>
            </a:r>
          </a:p>
          <a:p>
            <a:pPr lvl="1">
              <a:lnSpc>
                <a:spcPct val="120000"/>
              </a:lnSpc>
              <a:spcBef>
                <a:spcPts val="0"/>
              </a:spcBef>
              <a:spcAft>
                <a:spcPts val="0"/>
              </a:spcAft>
            </a:pPr>
            <a:r>
              <a:rPr sz="1400" b="0">
                <a:solidFill>
                  <a:srgbClr val="4A5058"/>
                </a:solidFill>
                <a:latin typeface="Source Sans 3"/>
              </a:rPr>
              <a:t>A restart re-places every query in journal order.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SHARING WHAT IS READ</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row is written once per lane, not once per query</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33</a:t>
            </a:r>
          </a:p>
        </p:txBody>
      </p:sp>
      <p:sp>
        <p:nvSpPr>
          <p:cNvPr id="10" name="Rectangle 9"/>
          <p:cNvSpPr/>
          <p:nvPr/>
        </p:nvSpPr>
        <p:spPr>
          <a:xfrm>
            <a:off x="777240" y="141091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3893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8 copies</a:t>
            </a:r>
          </a:p>
        </p:txBody>
      </p:sp>
      <p:sp>
        <p:nvSpPr>
          <p:cNvPr id="13" name="TextBox 12"/>
          <p:cNvSpPr txBox="1"/>
          <p:nvPr/>
        </p:nvSpPr>
        <p:spPr>
          <a:xfrm>
            <a:off x="978408" y="201442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Of each row, for 1,000 queries over one source on 8 shared lanes</a:t>
            </a:r>
          </a:p>
        </p:txBody>
      </p:sp>
      <p:sp>
        <p:nvSpPr>
          <p:cNvPr id="14" name="Rectangle 13"/>
          <p:cNvSpPr/>
          <p:nvPr/>
        </p:nvSpPr>
        <p:spPr>
          <a:xfrm>
            <a:off x="4390034" y="141091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90034"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1202" y="153893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1,000 copies</a:t>
            </a:r>
          </a:p>
        </p:txBody>
      </p:sp>
      <p:sp>
        <p:nvSpPr>
          <p:cNvPr id="17" name="TextBox 16"/>
          <p:cNvSpPr txBox="1"/>
          <p:nvPr/>
        </p:nvSpPr>
        <p:spPr>
          <a:xfrm>
            <a:off x="4591202" y="201442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The same queries on lanes of their own</a:t>
            </a:r>
          </a:p>
        </p:txBody>
      </p:sp>
      <p:sp>
        <p:nvSpPr>
          <p:cNvPr id="18" name="Rectangle 17"/>
          <p:cNvSpPr/>
          <p:nvPr/>
        </p:nvSpPr>
        <p:spPr>
          <a:xfrm>
            <a:off x="8002828" y="1410919"/>
            <a:ext cx="3411626"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2828" y="141091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03996" y="1538935"/>
            <a:ext cx="3100730" cy="457200"/>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8A1626"/>
                </a:solidFill>
                <a:latin typeface="Source Sans 3"/>
              </a:rPr>
              <a:t>8 MiB</a:t>
            </a:r>
          </a:p>
        </p:txBody>
      </p:sp>
      <p:sp>
        <p:nvSpPr>
          <p:cNvPr id="21" name="TextBox 20"/>
          <p:cNvSpPr txBox="1"/>
          <p:nvPr/>
        </p:nvSpPr>
        <p:spPr>
          <a:xfrm>
            <a:off x="8203996" y="2014423"/>
            <a:ext cx="3100730" cy="466344"/>
          </a:xfrm>
          <a:prstGeom prst="rect">
            <a:avLst/>
          </a:prstGeom>
          <a:noFill/>
        </p:spPr>
        <p:txBody>
          <a:bodyPr wrap="square" lIns="0" rIns="0" tIns="0" bIns="0" anchor="t">
            <a:spAutoFit/>
          </a:bodyPr>
          <a:lstStyle/>
          <a:p>
            <a:pPr algn="l">
              <a:lnSpc>
                <a:spcPct val="112000"/>
              </a:lnSpc>
              <a:spcBef>
                <a:spcPts val="0"/>
              </a:spcBef>
              <a:spcAft>
                <a:spcPts val="0"/>
              </a:spcAft>
            </a:pPr>
            <a:r>
              <a:rPr sz="1050" b="0" i="0">
                <a:solidFill>
                  <a:srgbClr val="4A5058"/>
                </a:solidFill>
                <a:latin typeface="Source Sans 3"/>
              </a:rPr>
              <a:t>Of inboxes at the defaults, shared — against about 1 GB</a:t>
            </a:r>
          </a:p>
        </p:txBody>
      </p:sp>
      <p:sp>
        <p:nvSpPr>
          <p:cNvPr id="22" name="TextBox 21"/>
          <p:cNvSpPr txBox="1"/>
          <p:nvPr/>
        </p:nvSpPr>
        <p:spPr>
          <a:xfrm>
            <a:off x="777240" y="2764231"/>
            <a:ext cx="10637215" cy="348112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One shared reader writes each row into a shared lane once</a:t>
            </a:r>
          </a:p>
          <a:p>
            <a:pPr lvl="1">
              <a:lnSpc>
                <a:spcPct val="120000"/>
              </a:lnSpc>
              <a:spcBef>
                <a:spcPts val="0"/>
              </a:spcBef>
              <a:spcAft>
                <a:spcPts val="0"/>
              </a:spcAft>
            </a:pPr>
            <a:r>
              <a:rPr sz="1450" b="0">
                <a:solidFill>
                  <a:srgbClr val="4A5058"/>
                </a:solidFill>
                <a:latin typeface="Source Sans 3"/>
              </a:rPr>
              <a:t>Every query on that lane reading it is handed the one copy (LANE-2); what a query is fed alone travels on its own route and reaches no other.</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A slow neighbour drops nothing</a:t>
            </a:r>
          </a:p>
          <a:p>
            <a:pPr lvl="1">
              <a:lnSpc>
                <a:spcPct val="120000"/>
              </a:lnSpc>
              <a:spcBef>
                <a:spcPts val="0"/>
              </a:spcBef>
              <a:spcAft>
                <a:spcPts val="0"/>
              </a:spcAft>
            </a:pPr>
            <a:r>
              <a:rPr sz="1450" b="0">
                <a:solidFill>
                  <a:srgbClr val="4A5058"/>
                </a:solidFill>
                <a:latin typeface="Source Sans 3"/>
              </a:rPr>
              <a:t>It slows the lane's drain for every query on it; a full inbox holds everything feeding the lane, and a lane that frees no cell for 30 seconds fails the feed with PRV-3002 rather than hanging it.</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Identical questions are one computation</a:t>
            </a:r>
          </a:p>
          <a:p>
            <a:pPr lvl="1">
              <a:lnSpc>
                <a:spcPct val="120000"/>
              </a:lnSpc>
              <a:spcBef>
                <a:spcPts val="0"/>
              </a:spcBef>
              <a:spcAft>
                <a:spcPts val="0"/>
              </a:spcAft>
            </a:pPr>
            <a:r>
              <a:rPr sz="1450" b="0">
                <a:solidFill>
                  <a:srgbClr val="4A5058"/>
                </a:solidFill>
                <a:latin typeface="Source Sans 3"/>
              </a:rPr>
              <a:t>Within a tenant, matched on the normalised plan: ten desks asking the same thing cost one read of the source.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DEDICATED LANES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Keeping one query on a lane of its own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34</a:t>
            </a:r>
          </a:p>
        </p:txBody>
      </p:sp>
      <p:sp>
        <p:nvSpPr>
          <p:cNvPr id="10" name="Rectangle 9"/>
          <p:cNvSpPr/>
          <p:nvPr/>
        </p:nvSpPr>
        <p:spPr>
          <a:xfrm>
            <a:off x="777240" y="1410919"/>
            <a:ext cx="5667588" cy="274147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2741472"/>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5265252" cy="2339136"/>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E8B8C0"/>
                </a:solidFill>
                <a:latin typeface="Consolas"/>
              </a:rPr>
              <a:t>-- a lane of its own, whatever the node's mode</a:t>
            </a:r>
          </a:p>
          <a:p>
            <a:pPr>
              <a:lnSpc>
                <a:spcPct val="100000"/>
              </a:lnSpc>
              <a:spcBef>
                <a:spcPts val="0"/>
              </a:spcBef>
              <a:spcAft>
                <a:spcPts val="0"/>
              </a:spcAft>
            </a:pPr>
            <a:r>
              <a:rPr sz="1300" b="0" i="0">
                <a:solidFill>
                  <a:srgbClr val="F1EEE9"/>
                </a:solidFill>
                <a:latin typeface="Consolas"/>
              </a:rPr>
              <a:t>CREATE CONTINUOUS QUERY &lt;name&gt;</a:t>
            </a:r>
          </a:p>
          <a:p>
            <a:pPr>
              <a:lnSpc>
                <a:spcPct val="100000"/>
              </a:lnSpc>
              <a:spcBef>
                <a:spcPts val="0"/>
              </a:spcBef>
              <a:spcAft>
                <a:spcPts val="0"/>
              </a:spcAft>
            </a:pPr>
            <a:r>
              <a:rPr sz="1300" b="0" i="0">
                <a:solidFill>
                  <a:srgbClr val="F1EEE9"/>
                </a:solidFill>
                <a:latin typeface="Consolas"/>
              </a:rPr>
              <a:t>    WITH (lane = 'dedicated') AS &lt;SQL&gt;</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E8B8C0"/>
                </a:solidFill>
                <a:latin typeface="Consolas"/>
              </a:rPr>
              <a:t>-- move a running query: a lossless cutover</a:t>
            </a:r>
          </a:p>
          <a:p>
            <a:pPr>
              <a:lnSpc>
                <a:spcPct val="100000"/>
              </a:lnSpc>
              <a:spcBef>
                <a:spcPts val="0"/>
              </a:spcBef>
              <a:spcAft>
                <a:spcPts val="0"/>
              </a:spcAft>
            </a:pPr>
            <a:r>
              <a:rPr sz="1300" b="0" i="0">
                <a:solidFill>
                  <a:srgbClr val="F1EEE9"/>
                </a:solidFill>
                <a:latin typeface="Consolas"/>
              </a:rPr>
              <a:t>CREATE OR REPLACE CONTINUOUS QUERY &lt;name&gt;</a:t>
            </a:r>
          </a:p>
          <a:p>
            <a:pPr>
              <a:lnSpc>
                <a:spcPct val="100000"/>
              </a:lnSpc>
              <a:spcBef>
                <a:spcPts val="0"/>
              </a:spcBef>
              <a:spcAft>
                <a:spcPts val="0"/>
              </a:spcAft>
            </a:pPr>
            <a:r>
              <a:rPr sz="1300" b="0" i="0">
                <a:solidFill>
                  <a:srgbClr val="F1EEE9"/>
                </a:solidFill>
                <a:latin typeface="Consolas"/>
              </a:rPr>
              <a:t>    WITH (lane = 'dedicated') AS &lt;the same SQL&gt;</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E8B8C0"/>
                </a:solidFill>
                <a:latin typeface="Consolas"/>
              </a:rPr>
              <a:t>-- and back, under the node's mode</a:t>
            </a:r>
          </a:p>
          <a:p>
            <a:pPr>
              <a:lnSpc>
                <a:spcPct val="100000"/>
              </a:lnSpc>
              <a:spcBef>
                <a:spcPts val="0"/>
              </a:spcBef>
              <a:spcAft>
                <a:spcPts val="0"/>
              </a:spcAft>
            </a:pPr>
            <a:r>
              <a:rPr sz="1300" b="0" i="0">
                <a:solidFill>
                  <a:srgbClr val="F1EEE9"/>
                </a:solidFill>
                <a:latin typeface="Consolas"/>
              </a:rPr>
              <a:t>CREATE OR REPLACE CONTINUOUS QUERY &lt;name&gt;</a:t>
            </a:r>
          </a:p>
          <a:p>
            <a:pPr>
              <a:lnSpc>
                <a:spcPct val="100000"/>
              </a:lnSpc>
              <a:spcBef>
                <a:spcPts val="0"/>
              </a:spcBef>
              <a:spcAft>
                <a:spcPts val="0"/>
              </a:spcAft>
            </a:pPr>
            <a:r>
              <a:rPr sz="1300" b="0" i="0">
                <a:solidFill>
                  <a:srgbClr val="F1EEE9"/>
                </a:solidFill>
                <a:latin typeface="Consolas"/>
              </a:rPr>
              <a:t>    WITH (lane = 'shared') AS &lt;the same SQL&gt;</a:t>
            </a:r>
          </a:p>
        </p:txBody>
      </p:sp>
      <p:sp>
        <p:nvSpPr>
          <p:cNvPr id="13" name="TextBox 12"/>
          <p:cNvSpPr txBox="1"/>
          <p:nvPr/>
        </p:nvSpPr>
        <p:spPr>
          <a:xfrm>
            <a:off x="6810588" y="1410919"/>
            <a:ext cx="4603866"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When isolation is worth an inbox</a:t>
            </a:r>
          </a:p>
          <a:p>
            <a:pPr lvl="1">
              <a:lnSpc>
                <a:spcPct val="120000"/>
              </a:lnSpc>
              <a:spcBef>
                <a:spcPts val="0"/>
              </a:spcBef>
              <a:spcAft>
                <a:spcPts val="0"/>
              </a:spcAft>
            </a:pPr>
            <a:r>
              <a:rPr sz="1450" b="0">
                <a:solidFill>
                  <a:srgbClr val="4A5058"/>
                </a:solidFill>
                <a:latin typeface="Source Sans 3"/>
              </a:rPr>
              <a:t>'shared', the default, follows the node's mode; anything else is PRV-8017.</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It survives a restart</a:t>
            </a:r>
          </a:p>
          <a:p>
            <a:pPr lvl="1">
              <a:lnSpc>
                <a:spcPct val="120000"/>
              </a:lnSpc>
              <a:spcBef>
                <a:spcPts val="0"/>
              </a:spcBef>
              <a:spcAft>
                <a:spcPts val="0"/>
              </a:spcAft>
            </a:pPr>
            <a:r>
              <a:rPr sz="1450" b="0">
                <a:solidFill>
                  <a:srgbClr val="4A5058"/>
                </a:solidFill>
                <a:latin typeface="Source Sans 3"/>
              </a:rPr>
              <a:t>Journalled as an L record beside the registration; an older build refuses the journal by name rather than replaying the query onto a shared lane.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Where each query runs is visible</a:t>
            </a:r>
          </a:p>
          <a:p>
            <a:pPr lvl="1">
              <a:lnSpc>
                <a:spcPct val="120000"/>
              </a:lnSpc>
              <a:spcBef>
                <a:spcPts val="0"/>
              </a:spcBef>
              <a:spcAft>
                <a:spcPts val="0"/>
              </a:spcAft>
            </a:pPr>
            <a:r>
              <a:rPr sz="1450" b="0">
                <a:solidFill>
                  <a:srgbClr val="4A5058"/>
                </a:solidFill>
                <a:latin typeface="Source Sans 3"/>
              </a:rPr>
              <a:t>GET /api/v1/queries/{name} reports lane — dedicated, shared or own — and sharedLane.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One refusal</a:t>
            </a:r>
          </a:p>
          <a:p>
            <a:pPr lvl="1">
              <a:lnSpc>
                <a:spcPct val="120000"/>
              </a:lnSpc>
              <a:spcBef>
                <a:spcPts val="0"/>
              </a:spcBef>
              <a:spcAft>
                <a:spcPts val="0"/>
              </a:spcAft>
            </a:pPr>
            <a:r>
              <a:rPr sz="1450" b="0">
                <a:solidFill>
                  <a:srgbClr val="4A5058"/>
                </a:solidFill>
                <a:latin typeface="Source Sans 3"/>
              </a:rPr>
              <a:t>A dedicated registration that would join a computation already on a shared lane: PRV-8017.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ADMIN REBALANCE</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Rebalancing is an administrator's action, never automatic</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35</a:t>
            </a:r>
          </a:p>
        </p:txBody>
      </p:sp>
      <p:sp>
        <p:nvSpPr>
          <p:cNvPr id="10" name="Rectangle 9"/>
          <p:cNvSpPr/>
          <p:nvPr/>
        </p:nvSpPr>
        <p:spPr>
          <a:xfrm>
            <a:off x="777240" y="1361846"/>
            <a:ext cx="2453563"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61846"/>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26438"/>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Preview</a:t>
            </a:r>
          </a:p>
        </p:txBody>
      </p:sp>
      <p:sp>
        <p:nvSpPr>
          <p:cNvPr id="13" name="TextBox 12"/>
          <p:cNvSpPr txBox="1"/>
          <p:nvPr/>
        </p:nvSpPr>
        <p:spPr>
          <a:xfrm>
            <a:off x="960120" y="1887778"/>
            <a:ext cx="2087803" cy="112913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The plan first: dryRun=true, or pravaha lanes rebalance without --yes</a:t>
            </a:r>
          </a:p>
        </p:txBody>
      </p:sp>
      <p:sp>
        <p:nvSpPr>
          <p:cNvPr id="14" name="Rectangle 13"/>
          <p:cNvSpPr/>
          <p:nvPr/>
        </p:nvSpPr>
        <p:spPr>
          <a:xfrm>
            <a:off x="3505123" y="1361846"/>
            <a:ext cx="2453563"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5123" y="1361846"/>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526438"/>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Oldest first</a:t>
            </a:r>
          </a:p>
        </p:txBody>
      </p:sp>
      <p:sp>
        <p:nvSpPr>
          <p:cNvPr id="17" name="TextBox 16"/>
          <p:cNvSpPr txBox="1"/>
          <p:nvPr/>
        </p:nvSpPr>
        <p:spPr>
          <a:xfrm>
            <a:off x="3688003" y="1887778"/>
            <a:ext cx="2087803" cy="112913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Room under auto-from goes to queries on shared lanes, one at a time</a:t>
            </a:r>
          </a:p>
        </p:txBody>
      </p:sp>
      <p:cxnSp>
        <p:nvCxnSpPr>
          <p:cNvPr id="18" name="Connector 17"/>
          <p:cNvCxnSpPr/>
          <p:nvPr/>
        </p:nvCxnSpPr>
        <p:spPr>
          <a:xfrm>
            <a:off x="3267379" y="2253386"/>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33007" y="1361846"/>
            <a:ext cx="2453563"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3007" y="1361846"/>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5887" y="1526438"/>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Blue/green move</a:t>
            </a:r>
          </a:p>
        </p:txBody>
      </p:sp>
      <p:sp>
        <p:nvSpPr>
          <p:cNvPr id="22" name="TextBox 21"/>
          <p:cNvSpPr txBox="1"/>
          <p:nvPr/>
        </p:nvSpPr>
        <p:spPr>
          <a:xfrm>
            <a:off x="6415887" y="1887778"/>
            <a:ext cx="2087803" cy="112913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SQL unchanged, lane = 'own': a lane of its own, not pinned</a:t>
            </a:r>
          </a:p>
        </p:txBody>
      </p:sp>
      <p:cxnSp>
        <p:nvCxnSpPr>
          <p:cNvPr id="23" name="Connector 22"/>
          <p:cNvCxnSpPr/>
          <p:nvPr/>
        </p:nvCxnSpPr>
        <p:spPr>
          <a:xfrm>
            <a:off x="5995263" y="2253386"/>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960891" y="1361846"/>
            <a:ext cx="2453563" cy="178308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60891" y="1361846"/>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3771" y="1526438"/>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Release</a:t>
            </a:r>
          </a:p>
        </p:txBody>
      </p:sp>
      <p:sp>
        <p:nvSpPr>
          <p:cNvPr id="27" name="TextBox 26"/>
          <p:cNvSpPr txBox="1"/>
          <p:nvPr/>
        </p:nvSpPr>
        <p:spPr>
          <a:xfrm>
            <a:off x="9143771" y="1887778"/>
            <a:ext cx="2087803" cy="112913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The old version is released once the new one has the name</a:t>
            </a:r>
          </a:p>
        </p:txBody>
      </p:sp>
      <p:cxnSp>
        <p:nvCxnSpPr>
          <p:cNvPr id="28" name="Connector 27"/>
          <p:cNvCxnSpPr/>
          <p:nvPr/>
        </p:nvCxnSpPr>
        <p:spPr>
          <a:xfrm>
            <a:off x="8723147" y="2253386"/>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3355238"/>
            <a:ext cx="10637215" cy="2890113"/>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Admin role only; the engine checks it either way</a:t>
            </a:r>
          </a:p>
          <a:p>
            <a:pPr lvl="1">
              <a:lnSpc>
                <a:spcPct val="120000"/>
              </a:lnSpc>
              <a:spcBef>
                <a:spcPts val="0"/>
              </a:spcBef>
              <a:spcAft>
                <a:spcPts val="0"/>
              </a:spcAft>
            </a:pPr>
            <a:r>
              <a:rPr sz="1450" b="0">
                <a:solidFill>
                  <a:srgbClr val="4A5058"/>
                </a:solidFill>
                <a:latin typeface="Source Sans 3"/>
              </a:rPr>
              <a:t>Console Admin → Lanes shows every query's lane, the mode and each shared lane's fill; pravaha lanes and GET|POST /api/v1/lanes/rebalance do the same from a shell.</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It skips what it cannot move safely</a:t>
            </a:r>
          </a:p>
          <a:p>
            <a:pPr lvl="1">
              <a:lnSpc>
                <a:spcPct val="120000"/>
              </a:lnSpc>
              <a:spcBef>
                <a:spcPts val="0"/>
              </a:spcBef>
              <a:spcAft>
                <a:spcPts val="0"/>
              </a:spcAft>
            </a:pPr>
            <a:r>
              <a:rPr sz="1450" b="0">
                <a:solidFill>
                  <a:srgbClr val="4A5058"/>
                </a:solidFill>
                <a:latin typeface="Source Sans 3"/>
              </a:rPr>
              <a:t>Queries answering to several names or already being replaced are skipped; a move a replacement refuses is reported and the rest go 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ONE READER, EXACTLY ONCE · ADR-054</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An ordered source is shared by meeting at an exact seam</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36</a:t>
            </a:r>
          </a:p>
        </p:txBody>
      </p:sp>
      <p:sp>
        <p:nvSpPr>
          <p:cNvPr id="10" name="TextBox 9"/>
          <p:cNvSpPr txBox="1"/>
          <p:nvPr/>
        </p:nvSpPr>
        <p:spPr>
          <a:xfrm>
            <a:off x="777240" y="1361846"/>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source that declares ordered positions and can stop reading before a position is read once for every query on it. Each member is in one of three states:</a:t>
            </a:r>
          </a:p>
        </p:txBody>
      </p:sp>
      <p:sp>
        <p:nvSpPr>
          <p:cNvPr id="11" name="Rectangle 10"/>
          <p:cNvSpPr/>
          <p:nvPr/>
        </p:nvSpPr>
        <p:spPr>
          <a:xfrm>
            <a:off x="777240" y="5630875"/>
            <a:ext cx="41148" cy="6144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630875"/>
            <a:ext cx="10362895" cy="63276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Built for Kafka and files read once through: a thousand queries over one topic read it once. Delta and JDBC follow when their order is shown total; CDC keeps a reader per query, because a slot can only be confirmed as far as its slowest member.</a:t>
            </a:r>
          </a:p>
        </p:txBody>
      </p:sp>
      <p:graphicFrame>
        <p:nvGraphicFramePr>
          <p:cNvPr id="13" name="Table 12"/>
          <p:cNvGraphicFramePr>
            <a:graphicFrameLocks noGrp="1"/>
          </p:cNvGraphicFramePr>
          <p:nvPr/>
        </p:nvGraphicFramePr>
        <p:xfrm>
          <a:off x="777240" y="2024278"/>
          <a:ext cx="10637213" cy="2123744"/>
        </p:xfrm>
        <a:graphic>
          <a:graphicData uri="http://schemas.openxmlformats.org/drawingml/2006/table">
            <a:tbl>
              <a:tblPr firstRow="1">
                <a:tableStyleId>{5C22544A-7EE6-4342-B048-85BDC9FD1C3A}</a:tableStyleId>
              </a:tblPr>
              <a:tblGrid>
                <a:gridCol w="2659303"/>
                <a:gridCol w="4909483"/>
                <a:gridCol w="3068427"/>
              </a:tblGrid>
              <a:tr h="322376">
                <a:tc>
                  <a:txBody>
                    <a:bodyPr wrap="square"/>
                    <a:lstStyle/>
                    <a:p>
                      <a:r>
                        <a:rPr sz="1300" b="1">
                          <a:solidFill>
                            <a:srgbClr val="FFFFFF"/>
                          </a:solidFill>
                          <a:latin typeface="Source Sans 3"/>
                        </a:rPr>
                        <a:t>State</a:t>
                      </a:r>
                    </a:p>
                  </a:txBody>
                  <a:tcPr marL="82296" marR="64008" marT="32004" marB="32004" anchor="ctr">
                    <a:solidFill>
                      <a:srgbClr val="8A1626"/>
                    </a:solidFill>
                  </a:tcPr>
                </a:tc>
                <a:tc>
                  <a:txBody>
                    <a:bodyPr wrap="square"/>
                    <a:lstStyle/>
                    <a:p>
                      <a:r>
                        <a:rPr sz="1300" b="1">
                          <a:solidFill>
                            <a:srgbClr val="FFFFFF"/>
                          </a:solidFill>
                          <a:latin typeface="Source Sans 3"/>
                        </a:rPr>
                        <a:t>Receives</a:t>
                      </a:r>
                    </a:p>
                  </a:txBody>
                  <a:tcPr marL="82296" marR="64008" marT="32004" marB="32004" anchor="ctr">
                    <a:solidFill>
                      <a:srgbClr val="8A1626"/>
                    </a:solidFill>
                  </a:tcPr>
                </a:tc>
                <a:tc>
                  <a:txBody>
                    <a:bodyPr wrap="square"/>
                    <a:lstStyle/>
                    <a:p>
                      <a:r>
                        <a:rPr sz="1300" b="1">
                          <a:solidFill>
                            <a:srgbClr val="FFFFFF"/>
                          </a:solidFill>
                          <a:latin typeface="Source Sans 3"/>
                        </a:rPr>
                        <a:t>Its checkpoint's offset</a:t>
                      </a:r>
                    </a:p>
                  </a:txBody>
                  <a:tcPr marL="82296" marR="64008" marT="32004" marB="32004" anchor="ctr">
                    <a:solidFill>
                      <a:srgbClr val="8A1626"/>
                    </a:solidFill>
                  </a:tcPr>
                </a:tc>
              </a:tr>
              <a:tr h="600456">
                <a:tc>
                  <a:txBody>
                    <a:bodyPr wrap="square"/>
                    <a:lstStyle/>
                    <a:p>
                      <a:r>
                        <a:rPr sz="1500" b="1">
                          <a:solidFill>
                            <a:srgbClr val="8A1626"/>
                          </a:solidFill>
                          <a:latin typeface="Source Sans 3"/>
                        </a:rPr>
                        <a:t>Attached</a:t>
                      </a:r>
                    </a:p>
                  </a:txBody>
                  <a:tcPr marL="82296" marR="64008" marT="32004" marB="32004" anchor="ctr">
                    <a:solidFill>
                      <a:srgbClr val="FFFFFF"/>
                    </a:solidFill>
                  </a:tcPr>
                </a:tc>
                <a:tc>
                  <a:txBody>
                    <a:bodyPr wrap="square"/>
                    <a:lstStyle/>
                    <a:p>
                      <a:r>
                        <a:rPr sz="1500" b="0">
                          <a:solidFill>
                            <a:srgbClr val="1A1A1A"/>
                          </a:solidFill>
                          <a:latin typeface="Source Sans 3"/>
                        </a:rPr>
                        <a:t>Every record the shared reader reads, through the fan-out</a:t>
                      </a:r>
                    </a:p>
                  </a:txBody>
                  <a:tcPr marL="82296" marR="64008" marT="32004" marB="32004" anchor="ctr">
                    <a:solidFill>
                      <a:srgbClr val="FFFFFF"/>
                    </a:solidFill>
                  </a:tcPr>
                </a:tc>
                <a:tc>
                  <a:txBody>
                    <a:bodyPr wrap="square"/>
                    <a:lstStyle/>
                    <a:p>
                      <a:r>
                        <a:rPr sz="1500" b="0">
                          <a:solidFill>
                            <a:srgbClr val="1A1A1A"/>
                          </a:solidFill>
                          <a:latin typeface="Source Sans 3"/>
                        </a:rPr>
                        <a:t>The shared reader's position</a:t>
                      </a:r>
                    </a:p>
                  </a:txBody>
                  <a:tcPr marL="82296" marR="64008" marT="32004" marB="32004" anchor="ctr">
                    <a:solidFill>
                      <a:srgbClr val="FFFFFF"/>
                    </a:solidFill>
                  </a:tcPr>
                </a:tc>
              </a:tr>
              <a:tr h="600456">
                <a:tc>
                  <a:txBody>
                    <a:bodyPr wrap="square"/>
                    <a:lstStyle/>
                    <a:p>
                      <a:r>
                        <a:rPr sz="1500" b="1">
                          <a:solidFill>
                            <a:srgbClr val="8A1626"/>
                          </a:solidFill>
                          <a:latin typeface="Source Sans 3"/>
                        </a:rPr>
                        <a:t>Catching up (joined behind)</a:t>
                      </a:r>
                    </a:p>
                  </a:txBody>
                  <a:tcPr marL="82296" marR="64008" marT="32004" marB="32004" anchor="ctr">
                    <a:solidFill>
                      <a:srgbClr val="F7F5F2"/>
                    </a:solidFill>
                  </a:tcPr>
                </a:tc>
                <a:tc>
                  <a:txBody>
                    <a:bodyPr wrap="square"/>
                    <a:lstStyle/>
                    <a:p>
                      <a:r>
                        <a:rPr sz="1500" b="0">
                          <a:solidFill>
                            <a:srgbClr val="1A1A1A"/>
                          </a:solidFill>
                          <a:latin typeface="Source Sans 3"/>
                        </a:rPr>
                        <a:t>Only its private catch-up, read with pollBefore(shared position)</a:t>
                      </a:r>
                    </a:p>
                  </a:txBody>
                  <a:tcPr marL="82296" marR="64008" marT="32004" marB="32004" anchor="ctr">
                    <a:solidFill>
                      <a:srgbClr val="F7F5F2"/>
                    </a:solidFill>
                  </a:tcPr>
                </a:tc>
                <a:tc>
                  <a:txBody>
                    <a:bodyPr wrap="square"/>
                    <a:lstStyle/>
                    <a:p>
                      <a:r>
                        <a:rPr sz="1500" b="0">
                          <a:solidFill>
                            <a:srgbClr val="1A1A1A"/>
                          </a:solidFill>
                          <a:latin typeface="Source Sans 3"/>
                        </a:rPr>
                        <a:t>The catch-up's position</a:t>
                      </a:r>
                    </a:p>
                  </a:txBody>
                  <a:tcPr marL="82296" marR="64008" marT="32004" marB="32004" anchor="ctr">
                    <a:solidFill>
                      <a:srgbClr val="F7F5F2"/>
                    </a:solidFill>
                  </a:tcPr>
                </a:tc>
              </a:tr>
              <a:tr h="600456">
                <a:tc>
                  <a:txBody>
                    <a:bodyPr wrap="square"/>
                    <a:lstStyle/>
                    <a:p>
                      <a:r>
                        <a:rPr sz="1500" b="1">
                          <a:solidFill>
                            <a:srgbClr val="8A1626"/>
                          </a:solidFill>
                          <a:latin typeface="Source Sans 3"/>
                        </a:rPr>
                        <a:t>Waiting (joined ahead)</a:t>
                      </a:r>
                    </a:p>
                  </a:txBody>
                  <a:tcPr marL="82296" marR="64008" marT="32004" marB="32004" anchor="ctr">
                    <a:solidFill>
                      <a:srgbClr val="FFFFFF"/>
                    </a:solidFill>
                  </a:tcPr>
                </a:tc>
                <a:tc>
                  <a:txBody>
                    <a:bodyPr wrap="square"/>
                    <a:lstStyle/>
                    <a:p>
                      <a:r>
                        <a:rPr sz="1500" b="0">
                          <a:solidFill>
                            <a:srgbClr val="1A1A1A"/>
                          </a:solidFill>
                          <a:latin typeface="Source Sans 3"/>
                        </a:rPr>
                        <a:t>Nothing, until the shared reader reaches its position</a:t>
                      </a:r>
                    </a:p>
                  </a:txBody>
                  <a:tcPr marL="82296" marR="64008" marT="32004" marB="32004" anchor="ctr">
                    <a:solidFill>
                      <a:srgbClr val="FFFFFF"/>
                    </a:solidFill>
                  </a:tcPr>
                </a:tc>
                <a:tc>
                  <a:txBody>
                    <a:bodyPr wrap="square"/>
                    <a:lstStyle/>
                    <a:p>
                      <a:r>
                        <a:rPr sz="1500" b="0">
                          <a:solidFill>
                            <a:srgbClr val="1A1A1A"/>
                          </a:solidFill>
                          <a:latin typeface="Source Sans 3"/>
                        </a:rPr>
                        <a:t>Its own position</a:t>
                      </a:r>
                    </a:p>
                  </a:txBody>
                  <a:tcPr marL="82296" marR="64008" marT="32004" marB="32004"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EQUALITY INDEX · ADR-055</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An index over a column outside the key that cannot disagree with the view</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5 · Scale on one node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37</a:t>
            </a:r>
          </a:p>
        </p:txBody>
      </p:sp>
      <p:sp>
        <p:nvSpPr>
          <p:cNvPr id="10" name="Rectangle 9"/>
          <p:cNvSpPr/>
          <p:nvPr/>
        </p:nvSpPr>
        <p:spPr>
          <a:xfrm>
            <a:off x="777240" y="162356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62356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69672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it does</a:t>
            </a:r>
          </a:p>
        </p:txBody>
      </p:sp>
      <p:sp>
        <p:nvSpPr>
          <p:cNvPr id="13" name="TextBox 12"/>
          <p:cNvSpPr txBox="1"/>
          <p:nvPr/>
        </p:nvSpPr>
        <p:spPr>
          <a:xfrm>
            <a:off x="777240" y="2135632"/>
            <a:ext cx="5135727" cy="4109719"/>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INDEX (column), or WITH (index = 'column')</a:t>
            </a:r>
          </a:p>
          <a:p>
            <a:pPr lvl="1">
              <a:lnSpc>
                <a:spcPct val="120000"/>
              </a:lnSpc>
              <a:spcBef>
                <a:spcPts val="0"/>
              </a:spcBef>
              <a:spcAft>
                <a:spcPts val="0"/>
              </a:spcAft>
            </a:pPr>
            <a:r>
              <a:rPr sz="1400" b="0">
                <a:solidFill>
                  <a:srgbClr val="4A5058"/>
                </a:solidFill>
                <a:latin typeface="Source Sans 3"/>
              </a:rPr>
              <a:t>WHERE column = literal, or IN (…), probes once per value instead of walking the view — over Flight SQL, REST and pgwire alike.</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Allocated by the declaration, and written down</a:t>
            </a:r>
          </a:p>
          <a:p>
            <a:pPr lvl="1">
              <a:lnSpc>
                <a:spcPct val="120000"/>
              </a:lnSpc>
              <a:spcBef>
                <a:spcPts val="0"/>
              </a:spcBef>
              <a:spcAft>
                <a:spcPts val="0"/>
              </a:spcAft>
            </a:pPr>
            <a:r>
              <a:rPr sz="1400" b="0">
                <a:solidFill>
                  <a:srgbClr val="4A5058"/>
                </a:solidFill>
                <a:latin typeface="Source Sans 3"/>
              </a:rPr>
              <a:t>Built before the registration is acknowledged; journalled as an X record; carried to a replacement by column name.</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Bounded</a:t>
            </a:r>
          </a:p>
          <a:p>
            <a:pPr lvl="1">
              <a:lnSpc>
                <a:spcPct val="120000"/>
              </a:lnSpc>
              <a:spcBef>
                <a:spcPts val="0"/>
              </a:spcBef>
              <a:spcAft>
                <a:spcPts val="0"/>
              </a:spcAft>
            </a:pPr>
            <a:r>
              <a:rPr sz="1400" b="0">
                <a:solidFill>
                  <a:srgbClr val="4A5058"/>
                </a:solidFill>
                <a:latin typeface="Source Sans 3"/>
              </a:rPr>
              <a:t>At most four per view, on the heap, one entry per visible row.</a:t>
            </a:r>
          </a:p>
        </p:txBody>
      </p:sp>
      <p:sp>
        <p:nvSpPr>
          <p:cNvPr id="14" name="Rectangle 13"/>
          <p:cNvSpPr/>
          <p:nvPr/>
        </p:nvSpPr>
        <p:spPr>
          <a:xfrm>
            <a:off x="6278727" y="162356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62356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69672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Why it stays right</a:t>
            </a:r>
          </a:p>
        </p:txBody>
      </p:sp>
      <p:sp>
        <p:nvSpPr>
          <p:cNvPr id="17" name="TextBox 16"/>
          <p:cNvSpPr txBox="1"/>
          <p:nvPr/>
        </p:nvSpPr>
        <p:spPr>
          <a:xfrm>
            <a:off x="6278727" y="2135632"/>
            <a:ext cx="5135727" cy="4109719"/>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Filed under the row the view held</a:t>
            </a:r>
          </a:p>
          <a:p>
            <a:pPr lvl="1">
              <a:lnSpc>
                <a:spcPct val="120000"/>
              </a:lnSpc>
              <a:spcBef>
                <a:spcPts val="0"/>
              </a:spcBef>
              <a:spcAft>
                <a:spcPts val="0"/>
              </a:spcAft>
            </a:pPr>
            <a:r>
              <a:rPr sz="1400" b="0">
                <a:solidFill>
                  <a:srgbClr val="4A5058"/>
                </a:solidFill>
                <a:latin typeface="Source Sans 3"/>
              </a:rPr>
              <a:t>The entry to delete is found from the view's own previous row, never from the retraction — so a retraction carrying a wrong value cannot mislead it.</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Tested against the obvious bug</a:t>
            </a:r>
          </a:p>
          <a:p>
            <a:pPr lvl="1">
              <a:lnSpc>
                <a:spcPct val="120000"/>
              </a:lnSpc>
              <a:spcBef>
                <a:spcPts val="0"/>
              </a:spcBef>
              <a:spcAft>
                <a:spcPts val="0"/>
              </a:spcAft>
            </a:pPr>
            <a:r>
              <a:rPr sz="1400" b="0">
                <a:solidFill>
                  <a:srgbClr val="4A5058"/>
                </a:solidFill>
                <a:latin typeface="Source Sans 3"/>
              </a:rPr>
              <a:t>Seeded with removal under the incoming row's value, both index tests fail.</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Refused where equality lies</a:t>
            </a:r>
          </a:p>
          <a:p>
            <a:pPr lvl="1">
              <a:lnSpc>
                <a:spcPct val="120000"/>
              </a:lnSpc>
              <a:spcBef>
                <a:spcPts val="0"/>
              </a:spcBef>
              <a:spcAft>
                <a:spcPts val="0"/>
              </a:spcAft>
            </a:pPr>
            <a:r>
              <a:rPr sz="1400" b="0">
                <a:solidFill>
                  <a:srgbClr val="4A5058"/>
                </a:solidFill>
                <a:latin typeface="Source Sans 3"/>
              </a:rPr>
              <a:t>FLOAT, DECIMAL, BYTES and the whole key: PRV-2074.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6</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Changing a running query</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 query's SQL is changed without taking its answer away. The new version runs beside the old, replays the source, and takes the name only when both have consumed exactly the same input — a position, not a moment.</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Why not at a moment</a:t>
            </a:r>
          </a:p>
          <a:p>
            <a:pPr>
              <a:lnSpc>
                <a:spcPct val="115000"/>
              </a:lnSpc>
              <a:spcBef>
                <a:spcPts val="0"/>
              </a:spcBef>
              <a:spcAft>
                <a:spcPts val="600"/>
              </a:spcAft>
            </a:pPr>
            <a:r>
              <a:rPr sz="1250" b="0" i="0">
                <a:solidFill>
                  <a:srgbClr val="F6E6E9"/>
                </a:solidFill>
                <a:latin typeface="Source Sans 3"/>
              </a:rPr>
              <a:t>Blue/green, step by step</a:t>
            </a:r>
          </a:p>
          <a:p>
            <a:pPr>
              <a:lnSpc>
                <a:spcPct val="115000"/>
              </a:lnSpc>
              <a:spcBef>
                <a:spcPts val="0"/>
              </a:spcBef>
              <a:spcAft>
                <a:spcPts val="600"/>
              </a:spcAft>
            </a:pPr>
            <a:r>
              <a:rPr sz="1250" b="0" i="0">
                <a:solidFill>
                  <a:srgbClr val="F6E6E9"/>
                </a:solidFill>
                <a:latin typeface="Source Sans 3"/>
              </a:rPr>
              <a:t>What readers, subscribers and sinks see</a:t>
            </a:r>
          </a:p>
          <a:p>
            <a:pPr>
              <a:lnSpc>
                <a:spcPct val="115000"/>
              </a:lnSpc>
              <a:spcBef>
                <a:spcPts val="0"/>
              </a:spcBef>
              <a:spcAft>
                <a:spcPts val="600"/>
              </a:spcAft>
            </a:pPr>
            <a:r>
              <a:rPr sz="1250" b="0" i="0">
                <a:solidFill>
                  <a:srgbClr val="F6E6E9"/>
                </a:solidFill>
                <a:latin typeface="Source Sans 3"/>
              </a:rPr>
              <a:t>The statement, its options and its refusals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ADR-046 · ALTERNATIVES CONSIDERED</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 cutover at a moment is wrong in a way nothing reports</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6 · Changing a running query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39</a:t>
            </a:r>
          </a:p>
        </p:txBody>
      </p:sp>
      <p:graphicFrame>
        <p:nvGraphicFramePr>
          <p:cNvPr id="10" name="Table 9"/>
          <p:cNvGraphicFramePr>
            <a:graphicFrameLocks noGrp="1"/>
          </p:cNvGraphicFramePr>
          <p:nvPr/>
        </p:nvGraphicFramePr>
        <p:xfrm>
          <a:off x="777240" y="1361846"/>
          <a:ext cx="10637214" cy="4420613"/>
        </p:xfrm>
        <a:graphic>
          <a:graphicData uri="http://schemas.openxmlformats.org/drawingml/2006/table">
            <a:tbl>
              <a:tblPr firstRow="1">
                <a:tableStyleId>{5C22544A-7EE6-4342-B048-85BDC9FD1C3A}</a:tableStyleId>
              </a:tblPr>
              <a:tblGrid>
                <a:gridCol w="3403908"/>
                <a:gridCol w="7233306"/>
              </a:tblGrid>
              <a:tr h="322376">
                <a:tc>
                  <a:txBody>
                    <a:bodyPr wrap="square"/>
                    <a:lstStyle/>
                    <a:p>
                      <a:r>
                        <a:rPr sz="1300" b="1">
                          <a:solidFill>
                            <a:srgbClr val="FFFFFF"/>
                          </a:solidFill>
                          <a:latin typeface="Source Sans 3"/>
                        </a:rPr>
                        <a:t>Alternative</a:t>
                      </a:r>
                    </a:p>
                  </a:txBody>
                  <a:tcPr marL="82296" marR="64008" marT="32004" marB="32004" anchor="ctr">
                    <a:solidFill>
                      <a:srgbClr val="8A1626"/>
                    </a:solidFill>
                  </a:tcPr>
                </a:tc>
                <a:tc>
                  <a:txBody>
                    <a:bodyPr wrap="square"/>
                    <a:lstStyle/>
                    <a:p>
                      <a:r>
                        <a:rPr sz="1300" b="1">
                          <a:solidFill>
                            <a:srgbClr val="FFFFFF"/>
                          </a:solidFill>
                          <a:latin typeface="Source Sans 3"/>
                        </a:rPr>
                        <a:t>What goes wrong</a:t>
                      </a:r>
                    </a:p>
                  </a:txBody>
                  <a:tcPr marL="82296" marR="64008" marT="32004" marB="32004" anchor="ctr">
                    <a:solidFill>
                      <a:srgbClr val="8A1626"/>
                    </a:solidFill>
                  </a:tcPr>
                </a:tc>
              </a:tr>
              <a:tr h="870356">
                <a:tc>
                  <a:txBody>
                    <a:bodyPr wrap="square"/>
                    <a:lstStyle/>
                    <a:p>
                      <a:r>
                        <a:rPr sz="1550" b="1">
                          <a:solidFill>
                            <a:srgbClr val="8A1626"/>
                          </a:solidFill>
                          <a:latin typeface="Source Sans 3"/>
                        </a:rPr>
                        <a:t>Swap at a wall-clock instant</a:t>
                      </a:r>
                    </a:p>
                  </a:txBody>
                  <a:tcPr marL="82296" marR="64008" marT="32004" marB="32004" anchor="ctr">
                    <a:solidFill>
                      <a:srgbClr val="FFFFFF"/>
                    </a:solidFill>
                  </a:tcPr>
                </a:tc>
                <a:tc>
                  <a:txBody>
                    <a:bodyPr wrap="square"/>
                    <a:lstStyle/>
                    <a:p>
                      <a:r>
                        <a:rPr sz="1550" b="0">
                          <a:solidFill>
                            <a:srgbClr val="1A1A1A"/>
                          </a:solidFill>
                          <a:latin typeface="Source Sans 3"/>
                        </a:rPr>
                        <a:t>Two versions running at slightly different speeds either drop records between them or emit records from both. The numbers are merely a little off.</a:t>
                      </a:r>
                    </a:p>
                  </a:txBody>
                  <a:tcPr marL="82296" marR="64008" marT="32004" marB="32004" anchor="ctr">
                    <a:solidFill>
                      <a:srgbClr val="FFFFFF"/>
                    </a:solidFill>
                  </a:tcPr>
                </a:tc>
              </a:tr>
              <a:tr h="870356">
                <a:tc>
                  <a:txBody>
                    <a:bodyPr wrap="square"/>
                    <a:lstStyle/>
                    <a:p>
                      <a:r>
                        <a:rPr sz="1550" b="1">
                          <a:solidFill>
                            <a:srgbClr val="8A1626"/>
                          </a:solidFill>
                          <a:latin typeface="Source Sans 3"/>
                        </a:rPr>
                        <a:t>Swap when the candidate has read as many rows, or run long enough</a:t>
                      </a:r>
                    </a:p>
                  </a:txBody>
                  <a:tcPr marL="82296" marR="64008" marT="32004" marB="32004" anchor="ctr">
                    <a:solidFill>
                      <a:srgbClr val="F7F5F2"/>
                    </a:solidFill>
                  </a:tcPr>
                </a:tc>
                <a:tc>
                  <a:txBody>
                    <a:bodyPr wrap="square"/>
                    <a:lstStyle/>
                    <a:p>
                      <a:r>
                        <a:rPr sz="1550" b="0">
                          <a:solidFill>
                            <a:srgbClr val="1A1A1A"/>
                          </a:solidFill>
                          <a:latin typeface="Source Sans 3"/>
                        </a:rPr>
                        <a:t>Both are proxies, wrong exactly when the input rate changes — which is when somebody is most likely to be deploying.</a:t>
                      </a:r>
                    </a:p>
                  </a:txBody>
                  <a:tcPr marL="82296" marR="64008" marT="32004" marB="32004" anchor="ctr">
                    <a:solidFill>
                      <a:srgbClr val="F7F5F2"/>
                    </a:solidFill>
                  </a:tcPr>
                </a:tc>
              </a:tr>
              <a:tr h="870356">
                <a:tc>
                  <a:txBody>
                    <a:bodyPr wrap="square"/>
                    <a:lstStyle/>
                    <a:p>
                      <a:r>
                        <a:rPr sz="1550" b="1">
                          <a:solidFill>
                            <a:srgbClr val="8A1626"/>
                          </a:solidFill>
                          <a:latin typeface="Source Sans 3"/>
                        </a:rPr>
                        <a:t>Take the name at once and let the new version warm up</a:t>
                      </a:r>
                    </a:p>
                  </a:txBody>
                  <a:tcPr marL="82296" marR="64008" marT="32004" marB="32004" anchor="ctr">
                    <a:solidFill>
                      <a:srgbClr val="FFFFFF"/>
                    </a:solidFill>
                  </a:tcPr>
                </a:tc>
                <a:tc>
                  <a:txBody>
                    <a:bodyPr wrap="square"/>
                    <a:lstStyle/>
                    <a:p>
                      <a:r>
                        <a:rPr sz="1550" b="0">
                          <a:solidFill>
                            <a:srgbClr val="1A1A1A"/>
                          </a:solidFill>
                          <a:latin typeface="Source Sans 3"/>
                        </a:rPr>
                        <a:t>It takes the answer away from whoever is reading it; the view they get back is an aggregate missing its history.</a:t>
                      </a:r>
                    </a:p>
                  </a:txBody>
                  <a:tcPr marL="82296" marR="64008" marT="32004" marB="32004" anchor="ctr">
                    <a:solidFill>
                      <a:srgbClr val="FFFFFF"/>
                    </a:solidFill>
                  </a:tcPr>
                </a:tc>
              </a:tr>
              <a:tr h="616813">
                <a:tc>
                  <a:txBody>
                    <a:bodyPr wrap="square"/>
                    <a:lstStyle/>
                    <a:p>
                      <a:r>
                        <a:rPr sz="1550" b="1">
                          <a:solidFill>
                            <a:srgbClr val="8A1626"/>
                          </a:solidFill>
                          <a:latin typeface="Source Sans 3"/>
                        </a:rPr>
                        <a:t>Move the checkpoint files at the cutover</a:t>
                      </a:r>
                    </a:p>
                  </a:txBody>
                  <a:tcPr marL="82296" marR="64008" marT="32004" marB="32004" anchor="ctr">
                    <a:solidFill>
                      <a:srgbClr val="F7F5F2"/>
                    </a:solidFill>
                  </a:tcPr>
                </a:tc>
                <a:tc>
                  <a:txBody>
                    <a:bodyPr wrap="square"/>
                    <a:lstStyle/>
                    <a:p>
                      <a:r>
                        <a:rPr sz="1550" b="0">
                          <a:solidFill>
                            <a:srgbClr val="1A1A1A"/>
                          </a:solidFill>
                          <a:latin typeface="Source Sans 3"/>
                        </a:rPr>
                        <a:t>A window in which a crash leaves the name pointing at the other version's state.</a:t>
                      </a:r>
                    </a:p>
                  </a:txBody>
                  <a:tcPr marL="82296" marR="64008" marT="32004" marB="32004" anchor="ctr">
                    <a:solidFill>
                      <a:srgbClr val="F7F5F2"/>
                    </a:solidFill>
                  </a:tcPr>
                </a:tc>
              </a:tr>
              <a:tr h="870356">
                <a:tc>
                  <a:txBody>
                    <a:bodyPr wrap="square"/>
                    <a:lstStyle/>
                    <a:p>
                      <a:r>
                        <a:rPr sz="1550" b="1">
                          <a:solidFill>
                            <a:srgbClr val="8A1626"/>
                          </a:solidFill>
                          <a:latin typeface="Source Sans 3"/>
                        </a:rPr>
                        <a:t>Chosen: meet at a position</a:t>
                      </a:r>
                    </a:p>
                  </a:txBody>
                  <a:tcPr marL="82296" marR="64008" marT="32004" marB="32004" anchor="ctr">
                    <a:solidFill>
                      <a:srgbClr val="FFFFFF"/>
                    </a:solidFill>
                  </a:tcPr>
                </a:tc>
                <a:tc>
                  <a:txBody>
                    <a:bodyPr wrap="square"/>
                    <a:lstStyle/>
                    <a:p>
                      <a:r>
                        <a:rPr sz="1550" b="0">
                          <a:solidFill>
                            <a:srgbClr val="1A1A1A"/>
                          </a:solidFill>
                          <a:latin typeface="Source Sans 3"/>
                        </a:rPr>
                        <a:t>Cut over when both versions have consumed exactly the same input, compared as source positions per partition, with both feeds stopped.</a:t>
                      </a:r>
                    </a:p>
                  </a:txBody>
                  <a:tcPr marL="82296" marR="64008" marT="32004" marB="32004"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BLUE/GREEN · CREATE OR REPLACE</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Replay, splice at the running version's position, then swap</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6 · Changing a running query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40</a:t>
            </a:r>
          </a:p>
        </p:txBody>
      </p:sp>
      <p:sp>
        <p:nvSpPr>
          <p:cNvPr id="10" name="Rectangle 9"/>
          <p:cNvSpPr/>
          <p:nvPr/>
        </p:nvSpPr>
        <p:spPr>
          <a:xfrm>
            <a:off x="777240"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Beside, as a shadow</a:t>
            </a:r>
          </a:p>
        </p:txBody>
      </p:sp>
      <p:sp>
        <p:nvSpPr>
          <p:cNvPr id="13" name="TextBox 12"/>
          <p:cNvSpPr txBox="1"/>
          <p:nvPr/>
        </p:nvSpPr>
        <p:spPr>
          <a:xfrm>
            <a:off x="960120" y="2141321"/>
            <a:ext cx="1542227" cy="904951"/>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4A5058"/>
                </a:solidFill>
                <a:latin typeface="Source Sans 3"/>
              </a:rPr>
              <a:t>Its own state, checkpoints and readers; no reader can reach it</a:t>
            </a:r>
          </a:p>
        </p:txBody>
      </p:sp>
      <p:sp>
        <p:nvSpPr>
          <p:cNvPr id="14" name="Rectangle 13"/>
          <p:cNvSpPr/>
          <p:nvPr/>
        </p:nvSpPr>
        <p:spPr>
          <a:xfrm>
            <a:off x="2959547"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59547"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42427"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Read the history</a:t>
            </a:r>
          </a:p>
        </p:txBody>
      </p:sp>
      <p:sp>
        <p:nvSpPr>
          <p:cNvPr id="17" name="TextBox 16"/>
          <p:cNvSpPr txBox="1"/>
          <p:nvPr/>
        </p:nvSpPr>
        <p:spPr>
          <a:xfrm>
            <a:off x="3142427" y="2141321"/>
            <a:ext cx="1542227" cy="904951"/>
          </a:xfrm>
          <a:prstGeom prst="rect">
            <a:avLst/>
          </a:prstGeom>
          <a:noFill/>
        </p:spPr>
        <p:txBody>
          <a:bodyPr wrap="square" lIns="0" rIns="0" tIns="0" bIns="0" anchor="t">
            <a:spAutoFit/>
          </a:bodyPr>
          <a:lstStyle/>
          <a:p>
            <a:pPr algn="l">
              <a:lnSpc>
                <a:spcPct val="120000"/>
              </a:lnSpc>
              <a:spcBef>
                <a:spcPts val="0"/>
              </a:spcBef>
              <a:spcAft>
                <a:spcPts val="0"/>
              </a:spcAft>
            </a:pPr>
            <a:r>
              <a:rPr sz="1300" b="0" i="0">
                <a:solidFill>
                  <a:srgbClr val="4A5058"/>
                </a:solidFill>
                <a:latin typeface="Source Sans 3"/>
              </a:rPr>
              <a:t>The source from the beginning, throttled, one record at a time</a:t>
            </a:r>
          </a:p>
        </p:txBody>
      </p:sp>
      <p:cxnSp>
        <p:nvCxnSpPr>
          <p:cNvPr id="18" name="Connector 17"/>
          <p:cNvCxnSpPr/>
          <p:nvPr/>
        </p:nvCxnSpPr>
        <p:spPr>
          <a:xfrm>
            <a:off x="2721803" y="225988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141854"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1854"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324734"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Splice at the seam</a:t>
            </a:r>
          </a:p>
        </p:txBody>
      </p:sp>
      <p:sp>
        <p:nvSpPr>
          <p:cNvPr id="22" name="TextBox 21"/>
          <p:cNvSpPr txBox="1"/>
          <p:nvPr/>
        </p:nvSpPr>
        <p:spPr>
          <a:xfrm>
            <a:off x="5324734" y="2141321"/>
            <a:ext cx="1542227" cy="904951"/>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4A5058"/>
                </a:solidFill>
                <a:latin typeface="Source Sans 3"/>
              </a:rPr>
              <a:t>Read to the running version's exact position, then a reader opens at it</a:t>
            </a:r>
          </a:p>
        </p:txBody>
      </p:sp>
      <p:cxnSp>
        <p:nvCxnSpPr>
          <p:cNvPr id="23" name="Connector 22"/>
          <p:cNvCxnSpPr/>
          <p:nvPr/>
        </p:nvCxnSpPr>
        <p:spPr>
          <a:xfrm>
            <a:off x="4904110" y="225988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324161"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24161"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07041"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Caught up</a:t>
            </a:r>
          </a:p>
        </p:txBody>
      </p:sp>
      <p:sp>
        <p:nvSpPr>
          <p:cNvPr id="27" name="TextBox 26"/>
          <p:cNvSpPr txBox="1"/>
          <p:nvPr/>
        </p:nvSpPr>
        <p:spPr>
          <a:xfrm>
            <a:off x="7507041" y="1871421"/>
            <a:ext cx="1542227" cy="117485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Every partition has reached the live stream</a:t>
            </a:r>
          </a:p>
        </p:txBody>
      </p:sp>
      <p:cxnSp>
        <p:nvCxnSpPr>
          <p:cNvPr id="28" name="Connector 27"/>
          <p:cNvCxnSpPr/>
          <p:nvPr/>
        </p:nvCxnSpPr>
        <p:spPr>
          <a:xfrm>
            <a:off x="7086417" y="225988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9506468" y="1345488"/>
            <a:ext cx="1907987" cy="18288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06468" y="1345488"/>
            <a:ext cx="190798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89348" y="1510080"/>
            <a:ext cx="1542227"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Cut over</a:t>
            </a:r>
          </a:p>
        </p:txBody>
      </p:sp>
      <p:sp>
        <p:nvSpPr>
          <p:cNvPr id="32" name="TextBox 31"/>
          <p:cNvSpPr txBox="1"/>
          <p:nvPr/>
        </p:nvSpPr>
        <p:spPr>
          <a:xfrm>
            <a:off x="9689348" y="1871421"/>
            <a:ext cx="1542227" cy="117485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Both feeds stopped at the same input; the name moves</a:t>
            </a:r>
          </a:p>
        </p:txBody>
      </p:sp>
      <p:cxnSp>
        <p:nvCxnSpPr>
          <p:cNvPr id="33" name="Connector 32"/>
          <p:cNvCxnSpPr/>
          <p:nvPr/>
        </p:nvCxnSpPr>
        <p:spPr>
          <a:xfrm>
            <a:off x="9268724" y="225988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77240" y="3384600"/>
            <a:ext cx="10637215" cy="2860751"/>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A reader sees the old answer up to the seam and the new one after it</a:t>
            </a:r>
          </a:p>
          <a:p>
            <a:pPr lvl="1">
              <a:lnSpc>
                <a:spcPct val="120000"/>
              </a:lnSpc>
              <a:spcBef>
                <a:spcPts val="0"/>
              </a:spcBef>
              <a:spcAft>
                <a:spcPts val="0"/>
              </a:spcAft>
            </a:pPr>
            <a:r>
              <a:rPr sz="1450" b="0">
                <a:solidFill>
                  <a:srgbClr val="4A5058"/>
                </a:solidFill>
                <a:latin typeface="Source Sans 3"/>
              </a:rPr>
              <a:t>No gap and nothing counted twice. A history that runs out before the seam stops with PRV-4013 rather than reading past it; a cutover that cannot find the same position in thirty seconds is refused with PRV-4014.</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A replacement survives a restart</a:t>
            </a:r>
          </a:p>
          <a:p>
            <a:pPr lvl="1">
              <a:lnSpc>
                <a:spcPct val="120000"/>
              </a:lnSpc>
              <a:spcBef>
                <a:spcPts val="0"/>
              </a:spcBef>
              <a:spcAft>
                <a:spcPts val="0"/>
              </a:spcAft>
            </a:pPr>
            <a:r>
              <a:rPr sz="1450" b="0">
                <a:solidFill>
                  <a:srgbClr val="4A5058"/>
                </a:solidFill>
                <a:latin typeface="Source Sans 3"/>
              </a:rPr>
              <a:t>The journal records it pending (P), the name's change (C) and an end that never took the name (E); the candidate resumes from its own checkpoints.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AT THE CUTOVER</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What each party sees when the name changes version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6 · Changing a running query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41</a:t>
            </a:r>
          </a:p>
        </p:txBody>
      </p:sp>
      <p:graphicFrame>
        <p:nvGraphicFramePr>
          <p:cNvPr id="10" name="Table 9"/>
          <p:cNvGraphicFramePr>
            <a:graphicFrameLocks noGrp="1"/>
          </p:cNvGraphicFramePr>
          <p:nvPr/>
        </p:nvGraphicFramePr>
        <p:xfrm>
          <a:off x="777240" y="1410919"/>
          <a:ext cx="10637215" cy="3913527"/>
        </p:xfrm>
        <a:graphic>
          <a:graphicData uri="http://schemas.openxmlformats.org/drawingml/2006/table">
            <a:tbl>
              <a:tblPr firstRow="1">
                <a:tableStyleId>{5C22544A-7EE6-4342-B048-85BDC9FD1C3A}</a:tableStyleId>
              </a:tblPr>
              <a:tblGrid>
                <a:gridCol w="2711447"/>
                <a:gridCol w="7925768"/>
              </a:tblGrid>
              <a:tr h="322376">
                <a:tc>
                  <a:txBody>
                    <a:bodyPr wrap="square"/>
                    <a:lstStyle/>
                    <a:p>
                      <a:r>
                        <a:rPr sz="1300" b="1">
                          <a:solidFill>
                            <a:srgbClr val="FFFFFF"/>
                          </a:solidFill>
                          <a:latin typeface="Source Sans 3"/>
                        </a:rPr>
                        <a:t>Party</a:t>
                      </a:r>
                    </a:p>
                  </a:txBody>
                  <a:tcPr marL="82296" marR="64008" marT="32004" marB="32004" anchor="ctr">
                    <a:solidFill>
                      <a:srgbClr val="8A1626"/>
                    </a:solidFill>
                  </a:tcPr>
                </a:tc>
                <a:tc>
                  <a:txBody>
                    <a:bodyPr wrap="square"/>
                    <a:lstStyle/>
                    <a:p>
                      <a:r>
                        <a:rPr sz="1300" b="1">
                          <a:solidFill>
                            <a:srgbClr val="FFFFFF"/>
                          </a:solidFill>
                          <a:latin typeface="Source Sans 3"/>
                        </a:rPr>
                        <a:t>Sees</a:t>
                      </a:r>
                    </a:p>
                  </a:txBody>
                  <a:tcPr marL="82296" marR="64008" marT="32004" marB="32004" anchor="ctr">
                    <a:solidFill>
                      <a:srgbClr val="8A1626"/>
                    </a:solidFill>
                  </a:tcPr>
                </a:tc>
              </a:tr>
              <a:tr h="616813">
                <a:tc>
                  <a:txBody>
                    <a:bodyPr wrap="square"/>
                    <a:lstStyle/>
                    <a:p>
                      <a:r>
                        <a:rPr sz="1550" b="1">
                          <a:solidFill>
                            <a:srgbClr val="8A1626"/>
                          </a:solidFill>
                          <a:latin typeface="Source Sans 3"/>
                        </a:rPr>
                        <a:t>A reader of the name</a:t>
                      </a:r>
                    </a:p>
                  </a:txBody>
                  <a:tcPr marL="82296" marR="64008" marT="32004" marB="32004" anchor="ctr">
                    <a:solidFill>
                      <a:srgbClr val="FFFFFF"/>
                    </a:solidFill>
                  </a:tcPr>
                </a:tc>
                <a:tc>
                  <a:txBody>
                    <a:bodyPr wrap="square"/>
                    <a:lstStyle/>
                    <a:p>
                      <a:r>
                        <a:rPr sz="1550" b="0">
                          <a:solidFill>
                            <a:srgbClr val="1A1A1A"/>
                          </a:solidFill>
                          <a:latin typeface="Source Sans 3"/>
                        </a:rPr>
                        <a:t>One version's view or the other's, resolved at the moment of the read — never a mixture, and neither is behind</a:t>
                      </a:r>
                    </a:p>
                  </a:txBody>
                  <a:tcPr marL="82296" marR="64008" marT="32004" marB="32004" anchor="ctr">
                    <a:solidFill>
                      <a:srgbClr val="FFFFFF"/>
                    </a:solidFill>
                  </a:tcPr>
                </a:tc>
              </a:tr>
              <a:tr h="870356">
                <a:tc>
                  <a:txBody>
                    <a:bodyPr wrap="square"/>
                    <a:lstStyle/>
                    <a:p>
                      <a:r>
                        <a:rPr sz="1550" b="1">
                          <a:solidFill>
                            <a:srgbClr val="8A1626"/>
                          </a:solidFill>
                          <a:latin typeface="Source Sans 3"/>
                        </a:rPr>
                        <a:t>A subscriber</a:t>
                      </a:r>
                    </a:p>
                  </a:txBody>
                  <a:tcPr marL="82296" marR="64008" marT="32004" marB="32004" anchor="ctr">
                    <a:solidFill>
                      <a:srgbClr val="F7F5F2"/>
                    </a:solidFill>
                  </a:tcPr>
                </a:tc>
                <a:tc>
                  <a:txBody>
                    <a:bodyPr wrap="square"/>
                    <a:lstStyle/>
                    <a:p>
                      <a:r>
                        <a:rPr sz="1550" b="0">
                          <a:solidFill>
                            <a:srgbClr val="1A1A1A"/>
                          </a:solidFill>
                          <a:latin typeface="Source Sans 3"/>
                        </a:rPr>
                        <a:t>Every commit the replaced version made, then the end of its subscription with PRV-4019: told, rather than handed another query's changes on top</a:t>
                      </a:r>
                    </a:p>
                  </a:txBody>
                  <a:tcPr marL="82296" marR="64008" marT="32004" marB="32004" anchor="ctr">
                    <a:solidFill>
                      <a:srgbClr val="F7F5F2"/>
                    </a:solidFill>
                  </a:tcPr>
                </a:tc>
              </a:tr>
              <a:tr h="616813">
                <a:tc>
                  <a:txBody>
                    <a:bodyPr wrap="square"/>
                    <a:lstStyle/>
                    <a:p>
                      <a:r>
                        <a:rPr sz="1550" b="1">
                          <a:solidFill>
                            <a:srgbClr val="8A1626"/>
                          </a:solidFill>
                          <a:latin typeface="Source Sans 3"/>
                        </a:rPr>
                        <a:t>The sink</a:t>
                      </a:r>
                    </a:p>
                  </a:txBody>
                  <a:tcPr marL="82296" marR="64008" marT="32004" marB="32004" anchor="ctr">
                    <a:solidFill>
                      <a:srgbClr val="FFFFFF"/>
                    </a:solidFill>
                  </a:tcPr>
                </a:tc>
                <a:tc>
                  <a:txBody>
                    <a:bodyPr wrap="square"/>
                    <a:lstStyle/>
                    <a:p>
                      <a:r>
                        <a:rPr sz="1550" b="0">
                          <a:solidFill>
                            <a:srgbClr val="1A1A1A"/>
                          </a:solidFill>
                          <a:latin typeface="Source Sans 3"/>
                        </a:rPr>
                        <a:t>Follows the name at a checkpoint boundary and is sent only the difference between what it holds and the new view, as one batch</a:t>
                      </a:r>
                    </a:p>
                  </a:txBody>
                  <a:tcPr marL="82296" marR="64008" marT="32004" marB="32004" anchor="ctr">
                    <a:solidFill>
                      <a:srgbClr val="FFFFFF"/>
                    </a:solidFill>
                  </a:tcPr>
                </a:tc>
              </a:tr>
              <a:tr h="616813">
                <a:tc>
                  <a:txBody>
                    <a:bodyPr wrap="square"/>
                    <a:lstStyle/>
                    <a:p>
                      <a:r>
                        <a:rPr sz="1550" b="1">
                          <a:solidFill>
                            <a:srgbClr val="8A1626"/>
                          </a:solidFill>
                          <a:latin typeface="Source Sans 3"/>
                        </a:rPr>
                        <a:t>Whoever wants it back</a:t>
                      </a:r>
                    </a:p>
                  </a:txBody>
                  <a:tcPr marL="82296" marR="64008" marT="32004" marB="32004" anchor="ctr">
                    <a:solidFill>
                      <a:srgbClr val="F7F5F2"/>
                    </a:solidFill>
                  </a:tcPr>
                </a:tc>
                <a:tc>
                  <a:txBody>
                    <a:bodyPr wrap="square"/>
                    <a:lstStyle/>
                    <a:p>
                      <a:r>
                        <a:rPr sz="1550" b="0">
                          <a:solidFill>
                            <a:srgbClr val="1A1A1A"/>
                          </a:solidFill>
                          <a:latin typeface="Source Sans 3"/>
                        </a:rPr>
                        <a:t>The replaced version keeps running for rollback.retention (an hour by default), so a rollback is one swap, not a second backfill</a:t>
                      </a:r>
                    </a:p>
                  </a:txBody>
                  <a:tcPr marL="82296" marR="64008" marT="32004" marB="32004" anchor="ctr">
                    <a:solidFill>
                      <a:srgbClr val="F7F5F2"/>
                    </a:solidFill>
                  </a:tcPr>
                </a:tc>
              </a:tr>
              <a:tr h="870356">
                <a:tc>
                  <a:txBody>
                    <a:bodyPr wrap="square"/>
                    <a:lstStyle/>
                    <a:p>
                      <a:r>
                        <a:rPr sz="1550" b="1">
                          <a:solidFill>
                            <a:srgbClr val="8A1626"/>
                          </a:solidFill>
                          <a:latin typeface="Source Sans 3"/>
                        </a:rPr>
                        <a:t>The console</a:t>
                      </a:r>
                    </a:p>
                  </a:txBody>
                  <a:tcPr marL="82296" marR="64008" marT="32004" marB="32004" anchor="ctr">
                    <a:solidFill>
                      <a:srgbClr val="FFFFFF"/>
                    </a:solidFill>
                  </a:tcPr>
                </a:tc>
                <a:tc>
                  <a:txBody>
                    <a:bodyPr wrap="square"/>
                    <a:lstStyle/>
                    <a:p>
                      <a:r>
                        <a:rPr sz="1550" b="0">
                          <a:solidFill>
                            <a:srgbClr val="1A1A1A"/>
                          </a:solidFill>
                          <a:latin typeface="Source Sans 3"/>
                        </a:rPr>
                        <a:t>Backfill progress with no ETA and no percentage — a source does not say how much history it holds — and cutover and rollback confirmed by the typed name</a:t>
                      </a:r>
                    </a:p>
                  </a:txBody>
                  <a:tcPr marL="82296" marR="64008" marT="32004" marB="32004"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STATEMENT</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Options that are ceilings, and refusals that are named</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6 · Changing a running query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42</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backfill.rate.limit is a ceiling: an operator may lower it while it runs (pravaha throttle) and may not raise it. Eight gauges watch every query, replaced or not.</a:t>
            </a:r>
          </a:p>
        </p:txBody>
      </p:sp>
      <p:sp>
        <p:nvSpPr>
          <p:cNvPr id="12" name="Rectangle 11"/>
          <p:cNvSpPr/>
          <p:nvPr/>
        </p:nvSpPr>
        <p:spPr>
          <a:xfrm>
            <a:off x="777240" y="1378204"/>
            <a:ext cx="5135727" cy="252882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78204"/>
            <a:ext cx="45720" cy="252882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78408" y="1579372"/>
            <a:ext cx="4733391" cy="2126488"/>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F1EEE9"/>
                </a:solidFill>
                <a:latin typeface="Consolas"/>
              </a:rPr>
              <a:t>CREATE OR REPLACE CONTINUOUS QUERY spend</a:t>
            </a:r>
          </a:p>
          <a:p>
            <a:pPr>
              <a:lnSpc>
                <a:spcPct val="100000"/>
              </a:lnSpc>
              <a:spcBef>
                <a:spcPts val="0"/>
              </a:spcBef>
              <a:spcAft>
                <a:spcPts val="0"/>
              </a:spcAft>
            </a:pPr>
            <a:r>
              <a:rPr sz="1300" b="0" i="0">
                <a:solidFill>
                  <a:srgbClr val="F1EEE9"/>
                </a:solidFill>
                <a:latin typeface="Consolas"/>
              </a:rPr>
              <a:t>    KEYED BY (user_id)</a:t>
            </a:r>
          </a:p>
          <a:p>
            <a:pPr>
              <a:lnSpc>
                <a:spcPct val="100000"/>
              </a:lnSpc>
              <a:spcBef>
                <a:spcPts val="0"/>
              </a:spcBef>
              <a:spcAft>
                <a:spcPts val="0"/>
              </a:spcAft>
            </a:pPr>
            <a:r>
              <a:rPr sz="1300" b="0" i="0">
                <a:solidFill>
                  <a:srgbClr val="F1EEE9"/>
                </a:solidFill>
                <a:latin typeface="Consolas"/>
              </a:rPr>
              <a:t>    WITH (backfill = 'history',</a:t>
            </a:r>
          </a:p>
          <a:p>
            <a:pPr>
              <a:lnSpc>
                <a:spcPct val="100000"/>
              </a:lnSpc>
              <a:spcBef>
                <a:spcPts val="0"/>
              </a:spcBef>
              <a:spcAft>
                <a:spcPts val="0"/>
              </a:spcAft>
            </a:pPr>
            <a:r>
              <a:rPr sz="1300" b="0" i="0">
                <a:solidFill>
                  <a:srgbClr val="F1EEE9"/>
                </a:solidFill>
                <a:latin typeface="Consolas"/>
              </a:rPr>
              <a:t>          backfill.rate.limit = 5000,</a:t>
            </a:r>
          </a:p>
          <a:p>
            <a:pPr>
              <a:lnSpc>
                <a:spcPct val="100000"/>
              </a:lnSpc>
              <a:spcBef>
                <a:spcPts val="0"/>
              </a:spcBef>
              <a:spcAft>
                <a:spcPts val="0"/>
              </a:spcAft>
            </a:pPr>
            <a:r>
              <a:rPr sz="1300" b="0" i="0">
                <a:solidFill>
                  <a:srgbClr val="F1EEE9"/>
                </a:solidFill>
                <a:latin typeface="Consolas"/>
              </a:rPr>
              <a:t>          cutover = 'manual')</a:t>
            </a:r>
          </a:p>
          <a:p>
            <a:pPr>
              <a:lnSpc>
                <a:spcPct val="100000"/>
              </a:lnSpc>
              <a:spcBef>
                <a:spcPts val="0"/>
              </a:spcBef>
              <a:spcAft>
                <a:spcPts val="0"/>
              </a:spcAft>
            </a:pPr>
            <a:r>
              <a:rPr sz="1300" b="0" i="0">
                <a:solidFill>
                  <a:srgbClr val="F1EEE9"/>
                </a:solidFill>
                <a:latin typeface="Consolas"/>
              </a:rPr>
              <a:t>AS SELECT user_id, SUM(amount) AS total,</a:t>
            </a:r>
          </a:p>
          <a:p>
            <a:pPr>
              <a:lnSpc>
                <a:spcPct val="100000"/>
              </a:lnSpc>
              <a:spcBef>
                <a:spcPts val="0"/>
              </a:spcBef>
              <a:spcAft>
                <a:spcPts val="0"/>
              </a:spcAft>
            </a:pPr>
            <a:r>
              <a:rPr sz="1300" b="0" i="0">
                <a:solidFill>
                  <a:srgbClr val="F1EEE9"/>
                </a:solidFill>
                <a:latin typeface="Consolas"/>
              </a:rPr>
              <a:t>          COUNT(*) AS payments</a:t>
            </a:r>
          </a:p>
          <a:p>
            <a:pPr>
              <a:lnSpc>
                <a:spcPct val="100000"/>
              </a:lnSpc>
              <a:spcBef>
                <a:spcPts val="0"/>
              </a:spcBef>
              <a:spcAft>
                <a:spcPts val="0"/>
              </a:spcAft>
            </a:pPr>
            <a:r>
              <a:rPr sz="1300" b="0" i="0">
                <a:solidFill>
                  <a:srgbClr val="F1EEE9"/>
                </a:solidFill>
                <a:latin typeface="Consolas"/>
              </a:rPr>
              <a:t>   FROM txn</a:t>
            </a:r>
          </a:p>
          <a:p>
            <a:pPr>
              <a:lnSpc>
                <a:spcPct val="100000"/>
              </a:lnSpc>
              <a:spcBef>
                <a:spcPts val="0"/>
              </a:spcBef>
              <a:spcAft>
                <a:spcPts val="0"/>
              </a:spcAft>
            </a:pPr>
            <a:r>
              <a:rPr sz="1300" b="0" i="0">
                <a:solidFill>
                  <a:srgbClr val="F1EEE9"/>
                </a:solidFill>
                <a:latin typeface="Consolas"/>
              </a:rPr>
              <a:t>   GROUP BY user_id,</a:t>
            </a:r>
          </a:p>
          <a:p>
            <a:pPr>
              <a:lnSpc>
                <a:spcPct val="100000"/>
              </a:lnSpc>
              <a:spcBef>
                <a:spcPts val="0"/>
              </a:spcBef>
              <a:spcAft>
                <a:spcPts val="0"/>
              </a:spcAft>
            </a:pPr>
            <a:r>
              <a:rPr sz="1300" b="0" i="0">
                <a:solidFill>
                  <a:srgbClr val="F1EEE9"/>
                </a:solidFill>
                <a:latin typeface="Consolas"/>
              </a:rPr>
              <a:t>            TUMBLE(ts, INTERVAL '1' HOUR);</a:t>
            </a:r>
          </a:p>
        </p:txBody>
      </p:sp>
      <p:graphicFrame>
        <p:nvGraphicFramePr>
          <p:cNvPr id="15" name="Table 14"/>
          <p:cNvGraphicFramePr>
            <a:graphicFrameLocks noGrp="1"/>
          </p:cNvGraphicFramePr>
          <p:nvPr/>
        </p:nvGraphicFramePr>
        <p:xfrm>
          <a:off x="6278727" y="1378204"/>
          <a:ext cx="5135726" cy="3717237"/>
        </p:xfrm>
        <a:graphic>
          <a:graphicData uri="http://schemas.openxmlformats.org/drawingml/2006/table">
            <a:tbl>
              <a:tblPr firstRow="1">
                <a:tableStyleId>{5C22544A-7EE6-4342-B048-85BDC9FD1C3A}</a:tableStyleId>
              </a:tblPr>
              <a:tblGrid>
                <a:gridCol w="1185167"/>
                <a:gridCol w="3950559"/>
              </a:tblGrid>
              <a:tr h="322376">
                <a:tc>
                  <a:txBody>
                    <a:bodyPr wrap="square"/>
                    <a:lstStyle/>
                    <a:p>
                      <a:r>
                        <a:rPr sz="1300" b="1">
                          <a:solidFill>
                            <a:srgbClr val="FFFFFF"/>
                          </a:solidFill>
                          <a:latin typeface="Source Sans 3"/>
                        </a:rPr>
                        <a:t>Code</a:t>
                      </a:r>
                    </a:p>
                  </a:txBody>
                  <a:tcPr marL="82296" marR="64008" marT="32004" marB="32004" anchor="ctr">
                    <a:solidFill>
                      <a:srgbClr val="8A1626"/>
                    </a:solidFill>
                  </a:tcPr>
                </a:tc>
                <a:tc>
                  <a:txBody>
                    <a:bodyPr wrap="square"/>
                    <a:lstStyle/>
                    <a:p>
                      <a:r>
                        <a:rPr sz="1300" b="1">
                          <a:solidFill>
                            <a:srgbClr val="FFFFFF"/>
                          </a:solidFill>
                          <a:latin typeface="Source Sans 3"/>
                        </a:rPr>
                        <a:t>Refused</a:t>
                      </a:r>
                    </a:p>
                  </a:txBody>
                  <a:tcPr marL="82296" marR="64008" marT="32004" marB="32004" anchor="ctr">
                    <a:solidFill>
                      <a:srgbClr val="8A1626"/>
                    </a:solidFill>
                  </a:tcPr>
                </a:tc>
              </a:tr>
              <a:tr h="1295654">
                <a:tc>
                  <a:txBody>
                    <a:bodyPr wrap="square"/>
                    <a:lstStyle/>
                    <a:p>
                      <a:r>
                        <a:rPr sz="1450" b="1">
                          <a:solidFill>
                            <a:srgbClr val="8A1626"/>
                          </a:solidFill>
                          <a:latin typeface="Source Sans 3"/>
                        </a:rPr>
                        <a:t>PRV-4018</a:t>
                      </a:r>
                    </a:p>
                  </a:txBody>
                  <a:tcPr marL="82296" marR="64008" marT="32004" marB="32004" anchor="ctr">
                    <a:solidFill>
                      <a:srgbClr val="FFFFFF"/>
                    </a:solidFill>
                  </a:tcPr>
                </a:tc>
                <a:tc>
                  <a:txBody>
                    <a:bodyPr wrap="square"/>
                    <a:lstStyle/>
                    <a:p>
                      <a:r>
                        <a:rPr sz="1450" b="0">
                          <a:solidFill>
                            <a:srgbClr val="1A1A1A"/>
                          </a:solidFill>
                          <a:latin typeface="Source Sans 3"/>
                        </a:rPr>
                        <a:t>A source that cannot be replayed; an option not built (backfill.adaptive); a rate above the ceiling; a changed sink or retention</a:t>
                      </a:r>
                    </a:p>
                  </a:txBody>
                  <a:tcPr marL="82296" marR="64008" marT="32004" marB="32004" anchor="ctr">
                    <a:solidFill>
                      <a:srgbClr val="FFFFFF"/>
                    </a:solidFill>
                  </a:tcPr>
                </a:tc>
              </a:tr>
              <a:tr h="584098">
                <a:tc>
                  <a:txBody>
                    <a:bodyPr wrap="square"/>
                    <a:lstStyle/>
                    <a:p>
                      <a:r>
                        <a:rPr sz="1450" b="1">
                          <a:solidFill>
                            <a:srgbClr val="8A1626"/>
                          </a:solidFill>
                          <a:latin typeface="Source Sans 3"/>
                        </a:rPr>
                        <a:t>PRV-4017</a:t>
                      </a:r>
                    </a:p>
                  </a:txBody>
                  <a:tcPr marL="82296" marR="64008" marT="32004" marB="32004" anchor="ctr">
                    <a:solidFill>
                      <a:srgbClr val="F7F5F2"/>
                    </a:solidFill>
                  </a:tcPr>
                </a:tc>
                <a:tc>
                  <a:txBody>
                    <a:bodyPr wrap="square"/>
                    <a:lstStyle/>
                    <a:p>
                      <a:r>
                        <a:rPr sz="1450" b="0">
                          <a:solidFill>
                            <a:srgbClr val="1A1A1A"/>
                          </a:solidFill>
                          <a:latin typeface="Source Sans 3"/>
                        </a:rPr>
                        <a:t>A second replacement of one name; a drop while a candidate runs</a:t>
                      </a:r>
                    </a:p>
                  </a:txBody>
                  <a:tcPr marL="82296" marR="64008" marT="32004" marB="32004" anchor="ctr">
                    <a:solidFill>
                      <a:srgbClr val="F7F5F2"/>
                    </a:solidFill>
                  </a:tcPr>
                </a:tc>
              </a:tr>
              <a:tr h="584098">
                <a:tc>
                  <a:txBody>
                    <a:bodyPr wrap="square"/>
                    <a:lstStyle/>
                    <a:p>
                      <a:r>
                        <a:rPr sz="1450" b="1">
                          <a:solidFill>
                            <a:srgbClr val="8A1626"/>
                          </a:solidFill>
                          <a:latin typeface="Source Sans 3"/>
                        </a:rPr>
                        <a:t>PRV-8003</a:t>
                      </a:r>
                    </a:p>
                  </a:txBody>
                  <a:tcPr marL="82296" marR="64008" marT="32004" marB="32004" anchor="ctr">
                    <a:solidFill>
                      <a:srgbClr val="FFFFFF"/>
                    </a:solidFill>
                  </a:tcPr>
                </a:tc>
                <a:tc>
                  <a:txBody>
                    <a:bodyPr wrap="square"/>
                    <a:lstStyle/>
                    <a:p>
                      <a:r>
                        <a:rPr sz="1450" b="0">
                          <a:solidFill>
                            <a:srgbClr val="1A1A1A"/>
                          </a:solidFill>
                          <a:latin typeface="Source Sans 3"/>
                        </a:rPr>
                        <a:t>A computation shared with another name</a:t>
                      </a:r>
                    </a:p>
                  </a:txBody>
                  <a:tcPr marL="82296" marR="64008" marT="32004" marB="32004" anchor="ctr">
                    <a:solidFill>
                      <a:srgbClr val="FFFFFF"/>
                    </a:solidFill>
                  </a:tcPr>
                </a:tc>
              </a:tr>
              <a:tr h="346913">
                <a:tc>
                  <a:txBody>
                    <a:bodyPr wrap="square"/>
                    <a:lstStyle/>
                    <a:p>
                      <a:r>
                        <a:rPr sz="1450" b="1">
                          <a:solidFill>
                            <a:srgbClr val="8A1626"/>
                          </a:solidFill>
                          <a:latin typeface="Source Sans 3"/>
                        </a:rPr>
                        <a:t>PRV-8022</a:t>
                      </a:r>
                    </a:p>
                  </a:txBody>
                  <a:tcPr marL="82296" marR="64008" marT="32004" marB="32004" anchor="ctr">
                    <a:solidFill>
                      <a:srgbClr val="F7F5F2"/>
                    </a:solidFill>
                  </a:tcPr>
                </a:tc>
                <a:tc>
                  <a:txBody>
                    <a:bodyPr wrap="square"/>
                    <a:lstStyle/>
                    <a:p>
                      <a:r>
                        <a:rPr sz="1450" b="0">
                          <a:solidFill>
                            <a:srgbClr val="1A1A1A"/>
                          </a:solidFill>
                          <a:latin typeface="Source Sans 3"/>
                        </a:rPr>
                        <a:t>A principal from another tenant</a:t>
                      </a:r>
                    </a:p>
                  </a:txBody>
                  <a:tcPr marL="82296" marR="64008" marT="32004" marB="32004" anchor="ctr">
                    <a:solidFill>
                      <a:srgbClr val="F7F5F2"/>
                    </a:solidFill>
                  </a:tcPr>
                </a:tc>
              </a:tr>
              <a:tr h="584098">
                <a:tc>
                  <a:txBody>
                    <a:bodyPr wrap="square"/>
                    <a:lstStyle/>
                    <a:p>
                      <a:r>
                        <a:rPr sz="1450" b="1">
                          <a:solidFill>
                            <a:srgbClr val="8A1626"/>
                          </a:solidFill>
                          <a:latin typeface="Source Sans 3"/>
                        </a:rPr>
                        <a:t>PRV-7002</a:t>
                      </a:r>
                    </a:p>
                  </a:txBody>
                  <a:tcPr marL="82296" marR="64008" marT="32004" marB="32004" anchor="ctr">
                    <a:solidFill>
                      <a:srgbClr val="FFFFFF"/>
                    </a:solidFill>
                  </a:tcPr>
                </a:tc>
                <a:tc>
                  <a:txBody>
                    <a:bodyPr wrap="square"/>
                    <a:lstStyle/>
                    <a:p>
                      <a:r>
                        <a:rPr sz="1450" b="0">
                          <a:solidFill>
                            <a:srgbClr val="1A1A1A"/>
                          </a:solidFill>
                          <a:latin typeface="Source Sans 3"/>
                        </a:rPr>
                        <a:t>Anyone without administer on the name</a:t>
                      </a:r>
                    </a:p>
                  </a:txBody>
                  <a:tcPr marL="82296" marR="64008" marT="32004" marB="32004"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7</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Answers built on answers</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 query can read another query's view and follow its answer, exactly, across restarts. An alert follows a view's answer and says when a row enters it and when it leaves.</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Queries on queries (ADR-056)</a:t>
            </a:r>
          </a:p>
          <a:p>
            <a:pPr>
              <a:lnSpc>
                <a:spcPct val="115000"/>
              </a:lnSpc>
              <a:spcBef>
                <a:spcPts val="0"/>
              </a:spcBef>
              <a:spcAft>
                <a:spcPts val="600"/>
              </a:spcAft>
            </a:pPr>
            <a:r>
              <a:rPr sz="1250" b="0" i="0">
                <a:solidFill>
                  <a:srgbClr val="F6E6E9"/>
                </a:solidFill>
                <a:latin typeface="Source Sans 3"/>
              </a:rPr>
              <a:t>A seam with no position: the consumed answer</a:t>
            </a:r>
          </a:p>
          <a:p>
            <a:pPr>
              <a:lnSpc>
                <a:spcPct val="115000"/>
              </a:lnSpc>
              <a:spcBef>
                <a:spcPts val="0"/>
              </a:spcBef>
              <a:spcAft>
                <a:spcPts val="600"/>
              </a:spcAft>
            </a:pPr>
            <a:r>
              <a:rPr sz="1250" b="0" i="0">
                <a:solidFill>
                  <a:srgbClr val="F6E6E9"/>
                </a:solidFill>
                <a:latin typeface="Source Sans 3"/>
              </a:rPr>
              <a:t>Alerts that fire and clear (ADR-057)</a:t>
            </a:r>
          </a:p>
          <a:p>
            <a:pPr>
              <a:lnSpc>
                <a:spcPct val="115000"/>
              </a:lnSpc>
              <a:spcBef>
                <a:spcPts val="0"/>
              </a:spcBef>
              <a:spcAft>
                <a:spcPts val="600"/>
              </a:spcAft>
            </a:pPr>
            <a:r>
              <a:rPr sz="1250" b="0" i="0">
                <a:solidFill>
                  <a:srgbClr val="F6E6E9"/>
                </a:solidFill>
                <a:latin typeface="Source Sans 3"/>
              </a:rPr>
              <a:t>Exactly-once state, at-least-once delivery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QUERIES ON QUERIES · ADR-056</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 query over a view follows its answer, not its changelog</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7 · Answers built on answers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44</a:t>
            </a:r>
          </a:p>
        </p:txBody>
      </p:sp>
      <p:sp>
        <p:nvSpPr>
          <p:cNvPr id="10" name="Rectangle 9"/>
          <p:cNvSpPr/>
          <p:nvPr/>
        </p:nvSpPr>
        <p:spPr>
          <a:xfrm>
            <a:off x="777240" y="1361846"/>
            <a:ext cx="5348471" cy="334670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61846"/>
            <a:ext cx="45720" cy="33467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63014"/>
            <a:ext cx="4946135" cy="2944368"/>
          </a:xfrm>
          <a:prstGeom prst="rect">
            <a:avLst/>
          </a:prstGeom>
          <a:noFill/>
        </p:spPr>
        <p:txBody>
          <a:bodyPr wrap="square" lIns="0" rIns="0" tIns="0" bIns="0" anchor="t">
            <a:spAutoFit/>
          </a:bodyPr>
          <a:lstStyle/>
          <a:p>
            <a:pPr algn="l">
              <a:lnSpc>
                <a:spcPct val="100000"/>
              </a:lnSpc>
              <a:spcBef>
                <a:spcPts val="0"/>
              </a:spcBef>
              <a:spcAft>
                <a:spcPts val="0"/>
              </a:spcAft>
            </a:pPr>
            <a:r>
              <a:rPr sz="1200" b="0" i="0">
                <a:solidFill>
                  <a:srgbClr val="F1EEE9"/>
                </a:solidFill>
                <a:latin typeface="Consolas"/>
              </a:rPr>
              <a:t>CREATE CONTINUOUS QUERY cleaned</a:t>
            </a:r>
          </a:p>
          <a:p>
            <a:pPr>
              <a:lnSpc>
                <a:spcPct val="100000"/>
              </a:lnSpc>
              <a:spcBef>
                <a:spcPts val="0"/>
              </a:spcBef>
              <a:spcAft>
                <a:spcPts val="0"/>
              </a:spcAft>
            </a:pPr>
            <a:r>
              <a:rPr sz="1200" b="0" i="0">
                <a:solidFill>
                  <a:srgbClr val="F1EEE9"/>
                </a:solidFill>
                <a:latin typeface="Consolas"/>
              </a:rPr>
              <a:t>  KEYED BY (user_id)</a:t>
            </a:r>
          </a:p>
          <a:p>
            <a:pPr>
              <a:lnSpc>
                <a:spcPct val="100000"/>
              </a:lnSpc>
              <a:spcBef>
                <a:spcPts val="0"/>
              </a:spcBef>
              <a:spcAft>
                <a:spcPts val="0"/>
              </a:spcAft>
            </a:pPr>
            <a:r>
              <a:rPr sz="1200" b="0" i="0">
                <a:solidFill>
                  <a:srgbClr val="F1EEE9"/>
                </a:solidFill>
                <a:latin typeface="Consolas"/>
              </a:rPr>
              <a:t>AS SELECT user_id, region, amount</a:t>
            </a:r>
          </a:p>
          <a:p>
            <a:pPr>
              <a:lnSpc>
                <a:spcPct val="100000"/>
              </a:lnSpc>
              <a:spcBef>
                <a:spcPts val="0"/>
              </a:spcBef>
              <a:spcAft>
                <a:spcPts val="0"/>
              </a:spcAft>
            </a:pPr>
            <a:r>
              <a:rPr sz="1200" b="0" i="0">
                <a:solidFill>
                  <a:srgbClr val="F1EEE9"/>
                </a:solidFill>
                <a:latin typeface="Consolas"/>
              </a:rPr>
              <a:t>   FROM txn WHERE amount &gt; 0;</a:t>
            </a:r>
          </a:p>
          <a:p>
            <a:pPr>
              <a:lnSpc>
                <a:spcPct val="100000"/>
              </a:lnSpc>
              <a:spcBef>
                <a:spcPts val="0"/>
              </a:spcBef>
              <a:spcAft>
                <a:spcPts val="0"/>
              </a:spcAft>
            </a:pPr>
            <a:r>
              <a:rPr sz="1200" b="0" i="0">
                <a:solidFill>
                  <a:srgbClr val="F1EEE9"/>
                </a:solidFill>
                <a:latin typeface="Consolas"/>
              </a:rPr>
              <a:t> </a:t>
            </a:r>
          </a:p>
          <a:p>
            <a:pPr>
              <a:lnSpc>
                <a:spcPct val="100000"/>
              </a:lnSpc>
              <a:spcBef>
                <a:spcPts val="0"/>
              </a:spcBef>
              <a:spcAft>
                <a:spcPts val="0"/>
              </a:spcAft>
            </a:pPr>
            <a:r>
              <a:rPr sz="1200" b="0" i="0">
                <a:solidFill>
                  <a:srgbClr val="F1EEE9"/>
                </a:solidFill>
                <a:latin typeface="Consolas"/>
              </a:rPr>
              <a:t>CREATE CONTINUOUS QUERY by_region</a:t>
            </a:r>
          </a:p>
          <a:p>
            <a:pPr>
              <a:lnSpc>
                <a:spcPct val="100000"/>
              </a:lnSpc>
              <a:spcBef>
                <a:spcPts val="0"/>
              </a:spcBef>
              <a:spcAft>
                <a:spcPts val="0"/>
              </a:spcAft>
            </a:pPr>
            <a:r>
              <a:rPr sz="1200" b="0" i="0">
                <a:solidFill>
                  <a:srgbClr val="F1EEE9"/>
                </a:solidFill>
                <a:latin typeface="Consolas"/>
              </a:rPr>
              <a:t>  KEYED BY (region)</a:t>
            </a:r>
          </a:p>
          <a:p>
            <a:pPr>
              <a:lnSpc>
                <a:spcPct val="100000"/>
              </a:lnSpc>
              <a:spcBef>
                <a:spcPts val="0"/>
              </a:spcBef>
              <a:spcAft>
                <a:spcPts val="0"/>
              </a:spcAft>
            </a:pPr>
            <a:r>
              <a:rPr sz="1200" b="0" i="0">
                <a:solidFill>
                  <a:srgbClr val="F1EEE9"/>
                </a:solidFill>
                <a:latin typeface="Consolas"/>
              </a:rPr>
              <a:t>AS SELECT region, SUM(amount) AS total,</a:t>
            </a:r>
          </a:p>
          <a:p>
            <a:pPr>
              <a:lnSpc>
                <a:spcPct val="100000"/>
              </a:lnSpc>
              <a:spcBef>
                <a:spcPts val="0"/>
              </a:spcBef>
              <a:spcAft>
                <a:spcPts val="0"/>
              </a:spcAft>
            </a:pPr>
            <a:r>
              <a:rPr sz="1200" b="0" i="0">
                <a:solidFill>
                  <a:srgbClr val="F1EEE9"/>
                </a:solidFill>
                <a:latin typeface="Consolas"/>
              </a:rPr>
              <a:t>   COUNT(*) AS n</a:t>
            </a:r>
          </a:p>
          <a:p>
            <a:pPr>
              <a:lnSpc>
                <a:spcPct val="100000"/>
              </a:lnSpc>
              <a:spcBef>
                <a:spcPts val="0"/>
              </a:spcBef>
              <a:spcAft>
                <a:spcPts val="0"/>
              </a:spcAft>
            </a:pPr>
            <a:r>
              <a:rPr sz="1200" b="0" i="0">
                <a:solidFill>
                  <a:srgbClr val="F1EEE9"/>
                </a:solidFill>
                <a:latin typeface="Consolas"/>
              </a:rPr>
              <a:t>   FROM cleaned GROUP BY region;</a:t>
            </a:r>
          </a:p>
          <a:p>
            <a:pPr>
              <a:lnSpc>
                <a:spcPct val="100000"/>
              </a:lnSpc>
              <a:spcBef>
                <a:spcPts val="0"/>
              </a:spcBef>
              <a:spcAft>
                <a:spcPts val="0"/>
              </a:spcAft>
            </a:pPr>
            <a:r>
              <a:rPr sz="1200" b="0" i="0">
                <a:solidFill>
                  <a:srgbClr val="F1EEE9"/>
                </a:solidFill>
                <a:latin typeface="Consolas"/>
              </a:rPr>
              <a:t> </a:t>
            </a:r>
          </a:p>
          <a:p>
            <a:pPr>
              <a:lnSpc>
                <a:spcPct val="100000"/>
              </a:lnSpc>
              <a:spcBef>
                <a:spcPts val="0"/>
              </a:spcBef>
              <a:spcAft>
                <a:spcPts val="0"/>
              </a:spcAft>
            </a:pPr>
            <a:r>
              <a:rPr sz="1200" b="0" i="0">
                <a:solidFill>
                  <a:srgbClr val="F1EEE9"/>
                </a:solidFill>
                <a:latin typeface="Consolas"/>
              </a:rPr>
              <a:t>CREATE CONTINUOUS QUERY big_regions</a:t>
            </a:r>
          </a:p>
          <a:p>
            <a:pPr>
              <a:lnSpc>
                <a:spcPct val="100000"/>
              </a:lnSpc>
              <a:spcBef>
                <a:spcPts val="0"/>
              </a:spcBef>
              <a:spcAft>
                <a:spcPts val="0"/>
              </a:spcAft>
            </a:pPr>
            <a:r>
              <a:rPr sz="1200" b="0" i="0">
                <a:solidFill>
                  <a:srgbClr val="F1EEE9"/>
                </a:solidFill>
                <a:latin typeface="Consolas"/>
              </a:rPr>
              <a:t>  KEYED BY (region)</a:t>
            </a:r>
          </a:p>
          <a:p>
            <a:pPr>
              <a:lnSpc>
                <a:spcPct val="100000"/>
              </a:lnSpc>
              <a:spcBef>
                <a:spcPts val="0"/>
              </a:spcBef>
              <a:spcAft>
                <a:spcPts val="0"/>
              </a:spcAft>
            </a:pPr>
            <a:r>
              <a:rPr sz="1200" b="0" i="0">
                <a:solidFill>
                  <a:srgbClr val="F1EEE9"/>
                </a:solidFill>
                <a:latin typeface="Consolas"/>
              </a:rPr>
              <a:t>AS SELECT region, total</a:t>
            </a:r>
          </a:p>
          <a:p>
            <a:pPr>
              <a:lnSpc>
                <a:spcPct val="100000"/>
              </a:lnSpc>
              <a:spcBef>
                <a:spcPts val="0"/>
              </a:spcBef>
              <a:spcAft>
                <a:spcPts val="0"/>
              </a:spcAft>
            </a:pPr>
            <a:r>
              <a:rPr sz="1200" b="0" i="0">
                <a:solidFill>
                  <a:srgbClr val="F1EEE9"/>
                </a:solidFill>
                <a:latin typeface="Consolas"/>
              </a:rPr>
              <a:t>   FROM by_region WHERE total &gt; 100;</a:t>
            </a:r>
          </a:p>
        </p:txBody>
      </p:sp>
      <p:sp>
        <p:nvSpPr>
          <p:cNvPr id="13" name="TextBox 12"/>
          <p:cNvSpPr txBox="1"/>
          <p:nvPr/>
        </p:nvSpPr>
        <p:spPr>
          <a:xfrm>
            <a:off x="6491471" y="1361846"/>
            <a:ext cx="4922983" cy="4883505"/>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Fed the answer's changes</a:t>
            </a:r>
          </a:p>
          <a:p>
            <a:pPr lvl="1">
              <a:lnSpc>
                <a:spcPct val="120000"/>
              </a:lnSpc>
              <a:spcBef>
                <a:spcPts val="0"/>
              </a:spcBef>
              <a:spcAft>
                <a:spcPts val="0"/>
              </a:spcAft>
            </a:pPr>
            <a:r>
              <a:rPr sz="1350" b="0">
                <a:solidFill>
                  <a:srgbClr val="4A5058"/>
                </a:solidFill>
                <a:latin typeface="Source Sans 3"/>
              </a:rPr>
              <a:t>Its snapshot, then per commit the row that left the answer at −1 and the one that entered at +1 — so an upsert upstream is an update downstream, not a second row.</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What can be maintained exactly</a:t>
            </a:r>
          </a:p>
          <a:p>
            <a:pPr lvl="1">
              <a:lnSpc>
                <a:spcPct val="120000"/>
              </a:lnSpc>
              <a:spcBef>
                <a:spcPts val="0"/>
              </a:spcBef>
              <a:spcAft>
                <a:spcPts val="0"/>
              </a:spcAft>
            </a:pPr>
            <a:r>
              <a:rPr sz="1350" b="0">
                <a:solidFill>
                  <a:srgbClr val="4A5058"/>
                </a:solidFill>
                <a:latin typeface="Source Sans 3"/>
              </a:rPr>
              <a:t>Filters, projections and unwindowed COUNT, SUM and AVG, with GROUP BY; windows, joins, top-N, MIN/MAX and COUNT(DISTINCT) are refused (PRV-2075).</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Named refusals</a:t>
            </a:r>
          </a:p>
          <a:p>
            <a:pPr lvl="1">
              <a:lnSpc>
                <a:spcPct val="120000"/>
              </a:lnSpc>
              <a:spcBef>
                <a:spcPts val="0"/>
              </a:spcBef>
              <a:spcAft>
                <a:spcPts val="0"/>
              </a:spcAft>
            </a:pPr>
            <a:r>
              <a:rPr sz="1350" b="0">
                <a:solidFill>
                  <a:srgbClr val="4A5058"/>
                </a:solidFill>
                <a:latin typeface="Source Sans 3"/>
              </a:rPr>
              <a:t>Dropping a view others read (PRV-8024, no cascade), a cycle (PRV-8025), replacing a chain member (PRV-8026), deeper than eight (PRV-8027).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EXACTLY ONCE ACROSS A CHAIN</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No position to meet at, so the seam is the answer consumed</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7 · Answers built on answers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45</a:t>
            </a:r>
          </a:p>
        </p:txBody>
      </p:sp>
      <p:sp>
        <p:nvSpPr>
          <p:cNvPr id="10" name="Rectangle 9"/>
          <p:cNvSpPr/>
          <p:nvPr/>
        </p:nvSpPr>
        <p:spPr>
          <a:xfrm>
            <a:off x="777240" y="1345488"/>
            <a:ext cx="3362858" cy="187451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10080"/>
            <a:ext cx="2997098"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 view has no position</a:t>
            </a:r>
          </a:p>
        </p:txBody>
      </p:sp>
      <p:sp>
        <p:nvSpPr>
          <p:cNvPr id="13" name="TextBox 12"/>
          <p:cNvSpPr txBox="1"/>
          <p:nvPr/>
        </p:nvSpPr>
        <p:spPr>
          <a:xfrm>
            <a:off x="960120" y="1871421"/>
            <a:ext cx="2997098" cy="122057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Commits follow a timer; after a restart the upstream's commit n is a different set of changes. A sequence number cannot be resumed from.</a:t>
            </a:r>
          </a:p>
        </p:txBody>
      </p:sp>
      <p:sp>
        <p:nvSpPr>
          <p:cNvPr id="14" name="Rectangle 13"/>
          <p:cNvSpPr/>
          <p:nvPr/>
        </p:nvSpPr>
        <p:spPr>
          <a:xfrm>
            <a:off x="4414418" y="1345488"/>
            <a:ext cx="3362858" cy="187451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14418" y="1345488"/>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7298" y="1510080"/>
            <a:ext cx="2997098"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Record the answer seen</a:t>
            </a:r>
          </a:p>
        </p:txBody>
      </p:sp>
      <p:sp>
        <p:nvSpPr>
          <p:cNvPr id="17" name="TextBox 16"/>
          <p:cNvSpPr txBox="1"/>
          <p:nvPr/>
        </p:nvSpPr>
        <p:spPr>
          <a:xfrm>
            <a:off x="4597298" y="1871421"/>
            <a:ext cx="2997098" cy="122057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The downstream keeps an image of the upstream rows it was handed, and its checkpoint stores it, cut under the same freeze as its state.</a:t>
            </a:r>
          </a:p>
        </p:txBody>
      </p:sp>
      <p:cxnSp>
        <p:nvCxnSpPr>
          <p:cNvPr id="18" name="Connector 17"/>
          <p:cNvCxnSpPr/>
          <p:nvPr/>
        </p:nvCxnSpPr>
        <p:spPr>
          <a:xfrm>
            <a:off x="4176674" y="228274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8051596" y="1345488"/>
            <a:ext cx="3362858" cy="187451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1596" y="1345488"/>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4476" y="1510080"/>
            <a:ext cx="2997098"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Restore by difference</a:t>
            </a:r>
          </a:p>
        </p:txBody>
      </p:sp>
      <p:sp>
        <p:nvSpPr>
          <p:cNvPr id="22" name="TextBox 21"/>
          <p:cNvSpPr txBox="1"/>
          <p:nvPr/>
        </p:nvSpPr>
        <p:spPr>
          <a:xfrm>
            <a:off x="8234476" y="1871421"/>
            <a:ext cx="2997098" cy="1220571"/>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Follow the upstream again, and feed its snapshot minus the image first — retractions and insertions — then every change.</a:t>
            </a:r>
          </a:p>
        </p:txBody>
      </p:sp>
      <p:cxnSp>
        <p:nvCxnSpPr>
          <p:cNvPr id="23" name="Connector 22"/>
          <p:cNvCxnSpPr/>
          <p:nvPr/>
        </p:nvCxnSpPr>
        <p:spPr>
          <a:xfrm>
            <a:off x="7813852" y="2282748"/>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3430320"/>
            <a:ext cx="10637215" cy="281503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Exact whichever side checkpointed later</a:t>
            </a:r>
          </a:p>
          <a:p>
            <a:pPr lvl="1">
              <a:lnSpc>
                <a:spcPct val="120000"/>
              </a:lnSpc>
              <a:spcBef>
                <a:spcPts val="0"/>
              </a:spcBef>
              <a:spcAft>
                <a:spcPts val="0"/>
              </a:spcAft>
            </a:pPr>
            <a:r>
              <a:rPr sz="1350" b="0">
                <a:solidFill>
                  <a:srgbClr val="4A5058"/>
                </a:solidFill>
                <a:latin typeface="Source Sans 3"/>
              </a:rPr>
              <a:t>The difference is between two answers, not two positions. It works because every operator allowed over a view depends only on what its input adds up to.</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reader that falls 65,536 changes behind</a:t>
            </a:r>
          </a:p>
          <a:p>
            <a:pPr lvl="1">
              <a:lnSpc>
                <a:spcPct val="120000"/>
              </a:lnSpc>
              <a:spcBef>
                <a:spcPts val="0"/>
              </a:spcBef>
              <a:spcAft>
                <a:spcPts val="0"/>
              </a:spcAft>
            </a:pPr>
            <a:r>
              <a:rPr sz="1350" b="0">
                <a:solidFill>
                  <a:srgbClr val="4A5058"/>
                </a:solidFill>
                <a:latin typeface="Source Sans 3"/>
              </a:rPr>
              <a:t>Drops its queue, re-snapshots and is fed the difference: conflation without loss.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ALERTS · ADR-057</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Told when a row enters the answer, and when it leaves</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7 · Answers built on answers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46</a:t>
            </a:r>
          </a:p>
        </p:txBody>
      </p:sp>
      <p:sp>
        <p:nvSpPr>
          <p:cNvPr id="10" name="Rectangle 9"/>
          <p:cNvSpPr/>
          <p:nvPr/>
        </p:nvSpPr>
        <p:spPr>
          <a:xfrm>
            <a:off x="777240" y="1378204"/>
            <a:ext cx="5135727" cy="295412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78204"/>
            <a:ext cx="45720" cy="2954121"/>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79372"/>
            <a:ext cx="4733391" cy="2551785"/>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F1EEE9"/>
                </a:solidFill>
                <a:latin typeface="Consolas"/>
              </a:rPr>
              <a:t>CREATE ALERT low_stock_alert</a:t>
            </a:r>
          </a:p>
          <a:p>
            <a:pPr>
              <a:lnSpc>
                <a:spcPct val="100000"/>
              </a:lnSpc>
              <a:spcBef>
                <a:spcPts val="0"/>
              </a:spcBef>
              <a:spcAft>
                <a:spcPts val="0"/>
              </a:spcAft>
            </a:pPr>
            <a:r>
              <a:rPr sz="1300" b="0" i="0">
                <a:solidFill>
                  <a:srgbClr val="F1EEE9"/>
                </a:solidFill>
                <a:latin typeface="Consolas"/>
              </a:rPr>
              <a:t>  ON low_stock</a:t>
            </a:r>
          </a:p>
          <a:p>
            <a:pPr>
              <a:lnSpc>
                <a:spcPct val="100000"/>
              </a:lnSpc>
              <a:spcBef>
                <a:spcPts val="0"/>
              </a:spcBef>
              <a:spcAft>
                <a:spcPts val="0"/>
              </a:spcAft>
            </a:pPr>
            <a:r>
              <a:rPr sz="1300" b="0" i="0">
                <a:solidFill>
                  <a:srgbClr val="F1EEE9"/>
                </a:solidFill>
                <a:latin typeface="Consolas"/>
              </a:rPr>
              <a:t>  WHERE warehouse = 'LDN'</a:t>
            </a:r>
          </a:p>
          <a:p>
            <a:pPr>
              <a:lnSpc>
                <a:spcPct val="100000"/>
              </a:lnSpc>
              <a:spcBef>
                <a:spcPts val="0"/>
              </a:spcBef>
              <a:spcAft>
                <a:spcPts val="0"/>
              </a:spcAft>
            </a:pPr>
            <a:r>
              <a:rPr sz="1300" b="0" i="0">
                <a:solidFill>
                  <a:srgbClr val="F1EEE9"/>
                </a:solidFill>
                <a:latin typeface="Consolas"/>
              </a:rPr>
              <a:t>  NOTIFY buyers</a:t>
            </a:r>
          </a:p>
          <a:p>
            <a:pPr>
              <a:lnSpc>
                <a:spcPct val="100000"/>
              </a:lnSpc>
              <a:spcBef>
                <a:spcPts val="0"/>
              </a:spcBef>
              <a:spcAft>
                <a:spcPts val="0"/>
              </a:spcAft>
            </a:pPr>
            <a:r>
              <a:rPr sz="1300" b="0" i="0">
                <a:solidFill>
                  <a:srgbClr val="F1EEE9"/>
                </a:solidFill>
                <a:latin typeface="Consolas"/>
              </a:rPr>
              <a:t>  WITH (severity = 'warning',</a:t>
            </a:r>
          </a:p>
          <a:p>
            <a:pPr>
              <a:lnSpc>
                <a:spcPct val="100000"/>
              </a:lnSpc>
              <a:spcBef>
                <a:spcPts val="0"/>
              </a:spcBef>
              <a:spcAft>
                <a:spcPts val="0"/>
              </a:spcAft>
            </a:pPr>
            <a:r>
              <a:rPr sz="1300" b="0" i="0">
                <a:solidFill>
                  <a:srgbClr val="F1EEE9"/>
                </a:solidFill>
                <a:latin typeface="Consolas"/>
              </a:rPr>
              <a:t>        fire_after = '1m',</a:t>
            </a:r>
          </a:p>
          <a:p>
            <a:pPr>
              <a:lnSpc>
                <a:spcPct val="100000"/>
              </a:lnSpc>
              <a:spcBef>
                <a:spcPts val="0"/>
              </a:spcBef>
              <a:spcAft>
                <a:spcPts val="0"/>
              </a:spcAft>
            </a:pPr>
            <a:r>
              <a:rPr sz="1300" b="0" i="0">
                <a:solidFill>
                  <a:srgbClr val="F1EEE9"/>
                </a:solidFill>
                <a:latin typeface="Consolas"/>
              </a:rPr>
              <a:t>        clear_after = '5m',</a:t>
            </a:r>
          </a:p>
          <a:p>
            <a:pPr>
              <a:lnSpc>
                <a:spcPct val="100000"/>
              </a:lnSpc>
              <a:spcBef>
                <a:spcPts val="0"/>
              </a:spcBef>
              <a:spcAft>
                <a:spcPts val="0"/>
              </a:spcAft>
            </a:pPr>
            <a:r>
              <a:rPr sz="1300" b="0" i="0">
                <a:solidFill>
                  <a:srgbClr val="F1EEE9"/>
                </a:solidFill>
                <a:latin typeface="Consolas"/>
              </a:rPr>
              <a:t>        dedupe = '10m',</a:t>
            </a:r>
          </a:p>
          <a:p>
            <a:pPr>
              <a:lnSpc>
                <a:spcPct val="100000"/>
              </a:lnSpc>
              <a:spcBef>
                <a:spcPts val="0"/>
              </a:spcBef>
              <a:spcAft>
                <a:spcPts val="0"/>
              </a:spcAft>
            </a:pPr>
            <a:r>
              <a:rPr sz="1300" b="0" i="0">
                <a:solidFill>
                  <a:srgbClr val="F1EEE9"/>
                </a:solidFill>
                <a:latin typeface="Consolas"/>
              </a:rPr>
              <a:t>        resend_every = '1h')</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F1EEE9"/>
                </a:solidFill>
                <a:latin typeface="Consolas"/>
              </a:rPr>
              <a:t>SNOOZE ALERT low_stock_alert FOR '2h'</a:t>
            </a:r>
          </a:p>
          <a:p>
            <a:pPr>
              <a:lnSpc>
                <a:spcPct val="100000"/>
              </a:lnSpc>
              <a:spcBef>
                <a:spcPts val="0"/>
              </a:spcBef>
              <a:spcAft>
                <a:spcPts val="0"/>
              </a:spcAft>
            </a:pPr>
            <a:r>
              <a:rPr sz="1300" b="0" i="0">
                <a:solidFill>
                  <a:srgbClr val="F1EEE9"/>
                </a:solidFill>
                <a:latin typeface="Consolas"/>
              </a:rPr>
              <a:t>ACK    ALERT low_stock_alert</a:t>
            </a:r>
          </a:p>
        </p:txBody>
      </p:sp>
      <p:sp>
        <p:nvSpPr>
          <p:cNvPr id="13" name="TextBox 12"/>
          <p:cNvSpPr txBox="1"/>
          <p:nvPr/>
        </p:nvSpPr>
        <p:spPr>
          <a:xfrm>
            <a:off x="6278727" y="1378204"/>
            <a:ext cx="5135727" cy="4867148"/>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A clear is a retraction, not a guess</a:t>
            </a:r>
          </a:p>
          <a:p>
            <a:pPr lvl="1">
              <a:lnSpc>
                <a:spcPct val="120000"/>
              </a:lnSpc>
              <a:spcBef>
                <a:spcPts val="0"/>
              </a:spcBef>
              <a:spcAft>
                <a:spcPts val="0"/>
              </a:spcAft>
            </a:pPr>
            <a:r>
              <a:rPr sz="1350" b="0">
                <a:solidFill>
                  <a:srgbClr val="4A5058"/>
                </a:solidFill>
                <a:latin typeface="Source Sans 3"/>
              </a:rPr>
              <a:t>A delivery arrives from mysql-cdc as −1 old, +1 new; the filter passes neither half, the row leaves low_stock, and the alert is told.</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What is true, and what is said</a:t>
            </a:r>
          </a:p>
          <a:p>
            <a:pPr lvl="1">
              <a:lnSpc>
                <a:spcPct val="120000"/>
              </a:lnSpc>
              <a:spcBef>
                <a:spcPts val="0"/>
              </a:spcBef>
              <a:spcAft>
                <a:spcPts val="0"/>
              </a:spcAft>
            </a:pPr>
            <a:r>
              <a:rPr sz="1350" b="0">
                <a:solidFill>
                  <a:srgbClr val="4A5058"/>
                </a:solidFill>
                <a:latin typeface="Source Sans 3"/>
              </a:rPr>
              <a:t>fire_after and clear_after decide the first; dedupe, pause, snooze and reminders only hold the second back — a flap folds into its end state.</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Channels are plugins</a:t>
            </a:r>
          </a:p>
          <a:p>
            <a:pPr lvl="1">
              <a:lnSpc>
                <a:spcPct val="120000"/>
              </a:lnSpc>
              <a:spcBef>
                <a:spcPts val="0"/>
              </a:spcBef>
              <a:spcAft>
                <a:spcPts val="0"/>
              </a:spcAft>
            </a:pPr>
            <a:r>
              <a:rPr sz="1350" b="0">
                <a:solidFill>
                  <a:srgbClr val="4A5058"/>
                </a:solidFill>
                <a:latin typeface="Source Sans 3"/>
              </a:rPr>
              <a:t>A webhook signed with HMAC-SHA256 (a Slack format too) and a log channel; email, Teams and PagerDuty are designed, not built.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GUARANTEES, PLAINLY</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Exactly-once alert state, at-least-once delivery</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7 · Answers built on answers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47</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Tested end to end: the retail study's low-stock alert on a real node with a signed webhook and a restart (RetailLowStockAlertEndToEndTest).</a:t>
            </a:r>
          </a:p>
        </p:txBody>
      </p:sp>
      <p:graphicFrame>
        <p:nvGraphicFramePr>
          <p:cNvPr id="12" name="Table 11"/>
          <p:cNvGraphicFramePr>
            <a:graphicFrameLocks noGrp="1"/>
          </p:cNvGraphicFramePr>
          <p:nvPr/>
        </p:nvGraphicFramePr>
        <p:xfrm>
          <a:off x="777240" y="1410919"/>
          <a:ext cx="10637214" cy="3352594"/>
        </p:xfrm>
        <a:graphic>
          <a:graphicData uri="http://schemas.openxmlformats.org/drawingml/2006/table">
            <a:tbl>
              <a:tblPr firstRow="1">
                <a:tableStyleId>{5C22544A-7EE6-4342-B048-85BDC9FD1C3A}</a:tableStyleId>
              </a:tblPr>
              <a:tblGrid>
                <a:gridCol w="3900312"/>
                <a:gridCol w="6736902"/>
              </a:tblGrid>
              <a:tr h="322376">
                <a:tc>
                  <a:txBody>
                    <a:bodyPr wrap="square"/>
                    <a:lstStyle/>
                    <a:p>
                      <a:r>
                        <a:rPr sz="1300" b="1">
                          <a:solidFill>
                            <a:srgbClr val="FFFFFF"/>
                          </a:solidFill>
                          <a:latin typeface="Source Sans 3"/>
                        </a:rPr>
                        <a:t>Situation</a:t>
                      </a:r>
                    </a:p>
                  </a:txBody>
                  <a:tcPr marL="82296" marR="64008" marT="32004" marB="32004" anchor="ctr">
                    <a:solidFill>
                      <a:srgbClr val="8A1626"/>
                    </a:solidFill>
                  </a:tcPr>
                </a:tc>
                <a:tc>
                  <a:txBody>
                    <a:bodyPr wrap="square"/>
                    <a:lstStyle/>
                    <a:p>
                      <a:r>
                        <a:rPr sz="1300" b="1">
                          <a:solidFill>
                            <a:srgbClr val="FFFFFF"/>
                          </a:solidFill>
                          <a:latin typeface="Source Sans 3"/>
                        </a:rPr>
                        <a:t>What happens</a:t>
                      </a:r>
                    </a:p>
                  </a:txBody>
                  <a:tcPr marL="82296" marR="64008" marT="32004" marB="32004" anchor="ctr">
                    <a:solidFill>
                      <a:srgbClr val="8A1626"/>
                    </a:solidFill>
                  </a:tcPr>
                </a:tc>
              </a:tr>
              <a:tr h="584098">
                <a:tc>
                  <a:txBody>
                    <a:bodyPr wrap="square"/>
                    <a:lstStyle/>
                    <a:p>
                      <a:r>
                        <a:rPr sz="1450" b="1">
                          <a:solidFill>
                            <a:srgbClr val="8A1626"/>
                          </a:solidFill>
                          <a:latin typeface="Source Sans 3"/>
                        </a:rPr>
                        <a:t>Any decision</a:t>
                      </a:r>
                    </a:p>
                  </a:txBody>
                  <a:tcPr marL="82296" marR="64008" marT="32004" marB="32004" anchor="ctr">
                    <a:solidFill>
                      <a:srgbClr val="FFFFFF"/>
                    </a:solidFill>
                  </a:tcPr>
                </a:tc>
                <a:tc>
                  <a:txBody>
                    <a:bodyPr wrap="square"/>
                    <a:lstStyle/>
                    <a:p>
                      <a:r>
                        <a:rPr sz="1450" b="0">
                          <a:solidFill>
                            <a:srgbClr val="1A1A1A"/>
                          </a:solidFill>
                          <a:latin typeface="Source Sans 3"/>
                        </a:rPr>
                        <a:t>Fired, cleared, told, acknowledged — journalled and forced to disk before anything is sent</a:t>
                      </a:r>
                    </a:p>
                  </a:txBody>
                  <a:tcPr marL="82296" marR="64008" marT="32004" marB="32004" anchor="ctr">
                    <a:solidFill>
                      <a:srgbClr val="FFFFFF"/>
                    </a:solidFill>
                  </a:tcPr>
                </a:tc>
              </a:tr>
              <a:tr h="346913">
                <a:tc>
                  <a:txBody>
                    <a:bodyPr wrap="square"/>
                    <a:lstStyle/>
                    <a:p>
                      <a:r>
                        <a:rPr sz="1450" b="1">
                          <a:solidFill>
                            <a:srgbClr val="8A1626"/>
                          </a:solidFill>
                          <a:latin typeface="Source Sans 3"/>
                        </a:rPr>
                        <a:t>Restart, key still in the answer</a:t>
                      </a:r>
                    </a:p>
                  </a:txBody>
                  <a:tcPr marL="82296" marR="64008" marT="32004" marB="32004" anchor="ctr">
                    <a:solidFill>
                      <a:srgbClr val="F7F5F2"/>
                    </a:solidFill>
                  </a:tcPr>
                </a:tc>
                <a:tc>
                  <a:txBody>
                    <a:bodyPr wrap="square"/>
                    <a:lstStyle/>
                    <a:p>
                      <a:r>
                        <a:rPr sz="1450" b="0">
                          <a:solidFill>
                            <a:srgbClr val="1A1A1A"/>
                          </a:solidFill>
                          <a:latin typeface="Source Sans 3"/>
                        </a:rPr>
                        <a:t>Not fired again</a:t>
                      </a:r>
                    </a:p>
                  </a:txBody>
                  <a:tcPr marL="82296" marR="64008" marT="32004" marB="32004" anchor="ctr">
                    <a:solidFill>
                      <a:srgbClr val="F7F5F2"/>
                    </a:solidFill>
                  </a:tcPr>
                </a:tc>
              </a:tr>
              <a:tr h="584098">
                <a:tc>
                  <a:txBody>
                    <a:bodyPr wrap="square"/>
                    <a:lstStyle/>
                    <a:p>
                      <a:r>
                        <a:rPr sz="1450" b="1">
                          <a:solidFill>
                            <a:srgbClr val="8A1626"/>
                          </a:solidFill>
                          <a:latin typeface="Source Sans 3"/>
                        </a:rPr>
                        <a:t>Restart, a clear decided but not delivered</a:t>
                      </a:r>
                    </a:p>
                  </a:txBody>
                  <a:tcPr marL="82296" marR="64008" marT="32004" marB="32004" anchor="ctr">
                    <a:solidFill>
                      <a:srgbClr val="FFFFFF"/>
                    </a:solidFill>
                  </a:tcPr>
                </a:tc>
                <a:tc>
                  <a:txBody>
                    <a:bodyPr wrap="square"/>
                    <a:lstStyle/>
                    <a:p>
                      <a:r>
                        <a:rPr sz="1450" b="0">
                          <a:solidFill>
                            <a:srgbClr val="1A1A1A"/>
                          </a:solidFill>
                          <a:latin typeface="Source Sans 3"/>
                        </a:rPr>
                        <a:t>Delivered: it is owed, and the journal says so</a:t>
                      </a:r>
                    </a:p>
                  </a:txBody>
                  <a:tcPr marL="82296" marR="64008" marT="32004" marB="32004" anchor="ctr">
                    <a:solidFill>
                      <a:srgbClr val="FFFFFF"/>
                    </a:solidFill>
                  </a:tcPr>
                </a:tc>
              </a:tr>
              <a:tr h="584098">
                <a:tc>
                  <a:txBody>
                    <a:bodyPr wrap="square"/>
                    <a:lstStyle/>
                    <a:p>
                      <a:r>
                        <a:rPr sz="1450" b="1">
                          <a:solidFill>
                            <a:srgbClr val="8A1626"/>
                          </a:solidFill>
                          <a:latin typeface="Source Sans 3"/>
                        </a:rPr>
                        <a:t>A channel refuses or times out</a:t>
                      </a:r>
                    </a:p>
                  </a:txBody>
                  <a:tcPr marL="82296" marR="64008" marT="32004" marB="32004" anchor="ctr">
                    <a:solidFill>
                      <a:srgbClr val="F7F5F2"/>
                    </a:solidFill>
                  </a:tcPr>
                </a:tc>
                <a:tc>
                  <a:txBody>
                    <a:bodyPr wrap="square"/>
                    <a:lstStyle/>
                    <a:p>
                      <a:r>
                        <a:rPr sz="1450" b="0">
                          <a:solidFill>
                            <a:srgbClr val="1A1A1A"/>
                          </a:solidFill>
                          <a:latin typeface="Source Sans 3"/>
                        </a:rPr>
                        <a:t>Retried with backoff, then re-sent every minute until accepted; the failure is on the alert (PRV-8045)</a:t>
                      </a:r>
                    </a:p>
                  </a:txBody>
                  <a:tcPr marL="82296" marR="64008" marT="32004" marB="32004" anchor="ctr">
                    <a:solidFill>
                      <a:srgbClr val="F7F5F2"/>
                    </a:solidFill>
                  </a:tcPr>
                </a:tc>
              </a:tr>
              <a:tr h="584098">
                <a:tc>
                  <a:txBody>
                    <a:bodyPr wrap="square"/>
                    <a:lstStyle/>
                    <a:p>
                      <a:r>
                        <a:rPr sz="1450" b="1">
                          <a:solidFill>
                            <a:srgbClr val="8A1626"/>
                          </a:solidFill>
                          <a:latin typeface="Source Sans 3"/>
                        </a:rPr>
                        <a:t>A receiver sees one twice</a:t>
                      </a:r>
                    </a:p>
                  </a:txBody>
                  <a:tcPr marL="82296" marR="64008" marT="32004" marB="32004" anchor="ctr">
                    <a:solidFill>
                      <a:srgbClr val="FFFFFF"/>
                    </a:solidFill>
                  </a:tcPr>
                </a:tc>
                <a:tc>
                  <a:txBody>
                    <a:bodyPr wrap="square"/>
                    <a:lstStyle/>
                    <a:p>
                      <a:r>
                        <a:rPr sz="1450" b="0">
                          <a:solidFill>
                            <a:srgbClr val="1A1A1A"/>
                          </a:solidFill>
                          <a:latin typeface="Source Sans 3"/>
                        </a:rPr>
                        <a:t>Every attempt carries the same Idempotency-Key, across retries and restarts</a:t>
                      </a:r>
                    </a:p>
                  </a:txBody>
                  <a:tcPr marL="82296" marR="64008" marT="32004" marB="32004" anchor="ctr">
                    <a:solidFill>
                      <a:srgbClr val="FFFFFF"/>
                    </a:solidFill>
                  </a:tcPr>
                </a:tc>
              </a:tr>
              <a:tr h="346913">
                <a:tc>
                  <a:txBody>
                    <a:bodyPr wrap="square"/>
                    <a:lstStyle/>
                    <a:p>
                      <a:r>
                        <a:rPr sz="1450" b="1">
                          <a:solidFill>
                            <a:srgbClr val="8A1626"/>
                          </a:solidFill>
                          <a:latin typeface="Source Sans 3"/>
                        </a:rPr>
                        <a:t>The view it follows is dropped</a:t>
                      </a:r>
                    </a:p>
                  </a:txBody>
                  <a:tcPr marL="82296" marR="64008" marT="32004" marB="32004" anchor="ctr">
                    <a:solidFill>
                      <a:srgbClr val="F7F5F2"/>
                    </a:solidFill>
                  </a:tcPr>
                </a:tc>
                <a:tc>
                  <a:txBody>
                    <a:bodyPr wrap="square"/>
                    <a:lstStyle/>
                    <a:p>
                      <a:r>
                        <a:rPr sz="1450" b="0">
                          <a:solidFill>
                            <a:srgbClr val="1A1A1A"/>
                          </a:solidFill>
                          <a:latin typeface="Source Sans 3"/>
                        </a:rPr>
                        <a:t>Refused while the alert exists (PRV-8024)</a:t>
                      </a:r>
                    </a:p>
                  </a:txBody>
                  <a:tcPr marL="82296" marR="64008" marT="32004" marB="32004" anchor="ctr">
                    <a:solidFill>
                      <a:srgbClr val="F7F5F2"/>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8</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Connectors</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Ten connector plugins, each a jar with a service declaration. Every source says what it can promise — ordered or not, exactly once or at least once — and the registry holds a query to that promise.</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Sources, and what each promises</a:t>
            </a:r>
          </a:p>
          <a:p>
            <a:pPr>
              <a:lnSpc>
                <a:spcPct val="115000"/>
              </a:lnSpc>
              <a:spcBef>
                <a:spcPts val="0"/>
              </a:spcBef>
              <a:spcAft>
                <a:spcPts val="600"/>
              </a:spcAft>
            </a:pPr>
            <a:r>
              <a:rPr sz="1250" b="0" i="0">
                <a:solidFill>
                  <a:srgbClr val="F6E6E9"/>
                </a:solidFill>
                <a:latin typeface="Source Sans 3"/>
              </a:rPr>
              <a:t>Sinks, and what each delivers</a:t>
            </a:r>
          </a:p>
          <a:p>
            <a:pPr>
              <a:lnSpc>
                <a:spcPct val="115000"/>
              </a:lnSpc>
              <a:spcBef>
                <a:spcPts val="0"/>
              </a:spcBef>
              <a:spcAft>
                <a:spcPts val="600"/>
              </a:spcAft>
            </a:pPr>
            <a:r>
              <a:rPr sz="1250" b="0" i="0">
                <a:solidFill>
                  <a:srgbClr val="F6E6E9"/>
                </a:solidFill>
                <a:latin typeface="Source Sans 3"/>
              </a:rPr>
              <a:t>Change data capture without Debezium</a:t>
            </a:r>
          </a:p>
          <a:p>
            <a:pPr>
              <a:lnSpc>
                <a:spcPct val="115000"/>
              </a:lnSpc>
              <a:spcBef>
                <a:spcPts val="0"/>
              </a:spcBef>
              <a:spcAft>
                <a:spcPts val="600"/>
              </a:spcAft>
            </a:pPr>
            <a:r>
              <a:rPr sz="1250" b="0" i="0">
                <a:solidFill>
                  <a:srgbClr val="F6E6E9"/>
                </a:solidFill>
                <a:latin typeface="Source Sans 3"/>
              </a:rPr>
              <a:t>What a connector must earn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SOURCES · PLUGINS/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Nine sources, two lookups</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Connectors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49</a:t>
            </a:r>
          </a:p>
        </p:txBody>
      </p:sp>
      <p:graphicFrame>
        <p:nvGraphicFramePr>
          <p:cNvPr id="10" name="Table 9"/>
          <p:cNvGraphicFramePr>
            <a:graphicFrameLocks noGrp="1"/>
          </p:cNvGraphicFramePr>
          <p:nvPr/>
        </p:nvGraphicFramePr>
        <p:xfrm>
          <a:off x="777240" y="1410919"/>
          <a:ext cx="10637215" cy="4740246"/>
        </p:xfrm>
        <a:graphic>
          <a:graphicData uri="http://schemas.openxmlformats.org/drawingml/2006/table">
            <a:tbl>
              <a:tblPr firstRow="1">
                <a:tableStyleId>{5C22544A-7EE6-4342-B048-85BDC9FD1C3A}</a:tableStyleId>
              </a:tblPr>
              <a:tblGrid>
                <a:gridCol w="2200803"/>
                <a:gridCol w="4218206"/>
                <a:gridCol w="4218206"/>
              </a:tblGrid>
              <a:tr h="306019">
                <a:tc>
                  <a:txBody>
                    <a:bodyPr wrap="square"/>
                    <a:lstStyle/>
                    <a:p>
                      <a:r>
                        <a:rPr sz="1200" b="1">
                          <a:solidFill>
                            <a:srgbClr val="FFFFFF"/>
                          </a:solidFill>
                          <a:latin typeface="Source Sans 3"/>
                        </a:rPr>
                        <a:t>Plugin</a:t>
                      </a:r>
                    </a:p>
                  </a:txBody>
                  <a:tcPr marL="82296" marR="64008" marT="32004" marB="32004" anchor="ctr">
                    <a:solidFill>
                      <a:srgbClr val="8A1626"/>
                    </a:solidFill>
                  </a:tcPr>
                </a:tc>
                <a:tc>
                  <a:txBody>
                    <a:bodyPr wrap="square"/>
                    <a:lstStyle/>
                    <a:p>
                      <a:r>
                        <a:rPr sz="1200" b="1">
                          <a:solidFill>
                            <a:srgbClr val="FFFFFF"/>
                          </a:solidFill>
                          <a:latin typeface="Source Sans 3"/>
                        </a:rPr>
                        <a:t>Reads</a:t>
                      </a:r>
                    </a:p>
                  </a:txBody>
                  <a:tcPr marL="82296" marR="64008" marT="32004" marB="32004" anchor="ctr">
                    <a:solidFill>
                      <a:srgbClr val="8A1626"/>
                    </a:solidFill>
                  </a:tcPr>
                </a:tc>
                <a:tc>
                  <a:txBody>
                    <a:bodyPr wrap="square"/>
                    <a:lstStyle/>
                    <a:p>
                      <a:r>
                        <a:rPr sz="1200" b="1">
                          <a:solidFill>
                            <a:srgbClr val="FFFFFF"/>
                          </a:solidFill>
                          <a:latin typeface="Source Sans 3"/>
                        </a:rPr>
                        <a:t>Promise and pushdown</a:t>
                      </a:r>
                    </a:p>
                  </a:txBody>
                  <a:tcPr marL="82296" marR="64008" marT="32004" marB="32004" anchor="ctr">
                    <a:solidFill>
                      <a:srgbClr val="8A1626"/>
                    </a:solidFill>
                  </a:tcPr>
                </a:tc>
              </a:tr>
              <a:tr h="306019">
                <a:tc>
                  <a:txBody>
                    <a:bodyPr wrap="square"/>
                    <a:lstStyle/>
                    <a:p>
                      <a:r>
                        <a:rPr sz="1200" b="1">
                          <a:solidFill>
                            <a:srgbClr val="8A1626"/>
                          </a:solidFill>
                          <a:latin typeface="Source Sans 3"/>
                        </a:rPr>
                        <a:t>filesystem</a:t>
                      </a:r>
                    </a:p>
                  </a:txBody>
                  <a:tcPr marL="82296" marR="64008" marT="32004" marB="32004" anchor="ctr">
                    <a:solidFill>
                      <a:srgbClr val="FFFFFF"/>
                    </a:solidFill>
                  </a:tcPr>
                </a:tc>
                <a:tc>
                  <a:txBody>
                    <a:bodyPr wrap="square"/>
                    <a:lstStyle/>
                    <a:p>
                      <a:r>
                        <a:rPr sz="1200" b="0">
                          <a:solidFill>
                            <a:srgbClr val="1A1A1A"/>
                          </a:solidFill>
                          <a:latin typeface="Source Sans 3"/>
                        </a:rPr>
                        <a:t>One file, bounded or followed like tail -f</a:t>
                      </a:r>
                    </a:p>
                  </a:txBody>
                  <a:tcPr marL="82296" marR="64008" marT="32004" marB="32004" anchor="ctr">
                    <a:solidFill>
                      <a:srgbClr val="FFFFFF"/>
                    </a:solidFill>
                  </a:tcPr>
                </a:tc>
                <a:tc>
                  <a:txBody>
                    <a:bodyPr wrap="square"/>
                    <a:lstStyle/>
                    <a:p>
                      <a:r>
                        <a:rPr sz="1200" b="0">
                          <a:solidFill>
                            <a:srgbClr val="1A1A1A"/>
                          </a:solidFill>
                          <a:latin typeface="Source Sans 3"/>
                        </a:rPr>
                        <a:t>Ordered; shared exactly (ADR-054)</a:t>
                      </a:r>
                    </a:p>
                  </a:txBody>
                  <a:tcPr marL="82296" marR="64008" marT="32004" marB="32004" anchor="ctr">
                    <a:solidFill>
                      <a:srgbClr val="FFFFFF"/>
                    </a:solidFill>
                  </a:tcPr>
                </a:tc>
              </a:tr>
              <a:tr h="502310">
                <a:tc>
                  <a:txBody>
                    <a:bodyPr wrap="square"/>
                    <a:lstStyle/>
                    <a:p>
                      <a:r>
                        <a:rPr sz="1200" b="1">
                          <a:solidFill>
                            <a:srgbClr val="8A1626"/>
                          </a:solidFill>
                          <a:latin typeface="Source Sans 3"/>
                        </a:rPr>
                        <a:t>feedfile</a:t>
                      </a:r>
                    </a:p>
                  </a:txBody>
                  <a:tcPr marL="82296" marR="64008" marT="32004" marB="32004" anchor="ctr">
                    <a:solidFill>
                      <a:srgbClr val="F7F5F2"/>
                    </a:solidFill>
                  </a:tcPr>
                </a:tc>
                <a:tc>
                  <a:txBody>
                    <a:bodyPr wrap="square"/>
                    <a:lstStyle/>
                    <a:p>
                      <a:r>
                        <a:rPr sz="1200" b="0">
                          <a:solidFill>
                            <a:srgbClr val="1A1A1A"/>
                          </a:solidFill>
                          <a:latin typeface="Source Sans 3"/>
                        </a:rPr>
                        <a:t>A directory of CSV or Parquet files arriving over time</a:t>
                      </a:r>
                    </a:p>
                  </a:txBody>
                  <a:tcPr marL="82296" marR="64008" marT="32004" marB="32004" anchor="ctr">
                    <a:solidFill>
                      <a:srgbClr val="F7F5F2"/>
                    </a:solidFill>
                  </a:tcPr>
                </a:tc>
                <a:tc>
                  <a:txBody>
                    <a:bodyPr wrap="square"/>
                    <a:lstStyle/>
                    <a:p>
                      <a:r>
                        <a:rPr sz="1200" b="0">
                          <a:solidFill>
                            <a:srgbClr val="1A1A1A"/>
                          </a:solidFill>
                          <a:latin typeface="Source Sans 3"/>
                        </a:rPr>
                        <a:t>—</a:t>
                      </a:r>
                    </a:p>
                  </a:txBody>
                  <a:tcPr marL="82296" marR="64008" marT="32004" marB="32004" anchor="ctr">
                    <a:solidFill>
                      <a:srgbClr val="F7F5F2"/>
                    </a:solidFill>
                  </a:tcPr>
                </a:tc>
              </a:tr>
              <a:tr h="306019">
                <a:tc>
                  <a:txBody>
                    <a:bodyPr wrap="square"/>
                    <a:lstStyle/>
                    <a:p>
                      <a:r>
                        <a:rPr sz="1200" b="1">
                          <a:solidFill>
                            <a:srgbClr val="8A1626"/>
                          </a:solidFill>
                          <a:latin typeface="Source Sans 3"/>
                        </a:rPr>
                        <a:t>delta</a:t>
                      </a:r>
                    </a:p>
                  </a:txBody>
                  <a:tcPr marL="82296" marR="64008" marT="32004" marB="32004" anchor="ctr">
                    <a:solidFill>
                      <a:srgbClr val="FFFFFF"/>
                    </a:solidFill>
                  </a:tcPr>
                </a:tc>
                <a:tc>
                  <a:txBody>
                    <a:bodyPr wrap="square"/>
                    <a:lstStyle/>
                    <a:p>
                      <a:r>
                        <a:rPr sz="1200" b="0">
                          <a:solidFill>
                            <a:srgbClr val="1A1A1A"/>
                          </a:solidFill>
                          <a:latin typeface="Source Sans 3"/>
                        </a:rPr>
                        <a:t>A Delta Lake table, deletion vectors included</a:t>
                      </a:r>
                    </a:p>
                  </a:txBody>
                  <a:tcPr marL="82296" marR="64008" marT="32004" marB="32004" anchor="ctr">
                    <a:solidFill>
                      <a:srgbClr val="FFFFFF"/>
                    </a:solidFill>
                  </a:tcPr>
                </a:tc>
                <a:tc>
                  <a:txBody>
                    <a:bodyPr wrap="square"/>
                    <a:lstStyle/>
                    <a:p>
                      <a:r>
                        <a:rPr sz="1200" b="0">
                          <a:solidFill>
                            <a:srgbClr val="1A1A1A"/>
                          </a:solidFill>
                          <a:latin typeface="Source Sans 3"/>
                        </a:rPr>
                        <a:t>Reader per query for now</a:t>
                      </a:r>
                    </a:p>
                  </a:txBody>
                  <a:tcPr marL="82296" marR="64008" marT="32004" marB="32004" anchor="ctr">
                    <a:solidFill>
                      <a:srgbClr val="FFFFFF"/>
                    </a:solidFill>
                  </a:tcPr>
                </a:tc>
              </a:tr>
              <a:tr h="502310">
                <a:tc>
                  <a:txBody>
                    <a:bodyPr wrap="square"/>
                    <a:lstStyle/>
                    <a:p>
                      <a:r>
                        <a:rPr sz="1200" b="1">
                          <a:solidFill>
                            <a:srgbClr val="8A1626"/>
                          </a:solidFill>
                          <a:latin typeface="Source Sans 3"/>
                        </a:rPr>
                        <a:t>jdbc</a:t>
                      </a:r>
                    </a:p>
                  </a:txBody>
                  <a:tcPr marL="82296" marR="64008" marT="32004" marB="32004" anchor="ctr">
                    <a:solidFill>
                      <a:srgbClr val="F7F5F2"/>
                    </a:solidFill>
                  </a:tcPr>
                </a:tc>
                <a:tc>
                  <a:txBody>
                    <a:bodyPr wrap="square"/>
                    <a:lstStyle/>
                    <a:p>
                      <a:r>
                        <a:rPr sz="1200" b="0">
                          <a:solidFill>
                            <a:srgbClr val="1A1A1A"/>
                          </a:solidFill>
                          <a:latin typeface="Source Sans 3"/>
                        </a:rPr>
                        <a:t>A table or any SELECT, polled by a watermark column</a:t>
                      </a:r>
                    </a:p>
                  </a:txBody>
                  <a:tcPr marL="82296" marR="64008" marT="32004" marB="32004" anchor="ctr">
                    <a:solidFill>
                      <a:srgbClr val="F7F5F2"/>
                    </a:solidFill>
                  </a:tcPr>
                </a:tc>
                <a:tc>
                  <a:txBody>
                    <a:bodyPr wrap="square"/>
                    <a:lstStyle/>
                    <a:p>
                      <a:r>
                        <a:rPr sz="1200" b="0">
                          <a:solidFill>
                            <a:srgbClr val="1A1A1A"/>
                          </a:solidFill>
                          <a:latin typeface="Source Sans 3"/>
                        </a:rPr>
                        <a:t>Filters, projections, and COUNT/SUM as one partial per page pushed in</a:t>
                      </a:r>
                    </a:p>
                  </a:txBody>
                  <a:tcPr marL="82296" marR="64008" marT="32004" marB="32004" anchor="ctr">
                    <a:solidFill>
                      <a:srgbClr val="F7F5F2"/>
                    </a:solidFill>
                  </a:tcPr>
                </a:tc>
              </a:tr>
              <a:tr h="502310">
                <a:tc>
                  <a:txBody>
                    <a:bodyPr wrap="square"/>
                    <a:lstStyle/>
                    <a:p>
                      <a:r>
                        <a:rPr sz="1200" b="1">
                          <a:solidFill>
                            <a:srgbClr val="8A1626"/>
                          </a:solidFill>
                          <a:latin typeface="Source Sans 3"/>
                        </a:rPr>
                        <a:t>aerospike</a:t>
                      </a:r>
                    </a:p>
                  </a:txBody>
                  <a:tcPr marL="82296" marR="64008" marT="32004" marB="32004" anchor="ctr">
                    <a:solidFill>
                      <a:srgbClr val="FFFFFF"/>
                    </a:solidFill>
                  </a:tcPr>
                </a:tc>
                <a:tc>
                  <a:txBody>
                    <a:bodyPr wrap="square"/>
                    <a:lstStyle/>
                    <a:p>
                      <a:r>
                        <a:rPr sz="1200" b="0">
                          <a:solidFill>
                            <a:srgbClr val="1A1A1A"/>
                          </a:solidFill>
                          <a:latin typeface="Source Sans 3"/>
                        </a:rPr>
                        <a:t>A set, scanned by last-update time</a:t>
                      </a:r>
                    </a:p>
                  </a:txBody>
                  <a:tcPr marL="82296" marR="64008" marT="32004" marB="32004" anchor="ctr">
                    <a:solidFill>
                      <a:srgbClr val="FFFFFF"/>
                    </a:solidFill>
                  </a:tcPr>
                </a:tc>
                <a:tc>
                  <a:txBody>
                    <a:bodyPr wrap="square"/>
                    <a:lstStyle/>
                    <a:p>
                      <a:r>
                        <a:rPr sz="1200" b="0">
                          <a:solidFill>
                            <a:srgbClr val="1A1A1A"/>
                          </a:solidFill>
                          <a:latin typeface="Source Sans 3"/>
                        </a:rPr>
                        <a:t>Filters and projections pushed in; deletes: detect</a:t>
                      </a:r>
                    </a:p>
                  </a:txBody>
                  <a:tcPr marL="82296" marR="64008" marT="32004" marB="32004" anchor="ctr">
                    <a:solidFill>
                      <a:srgbClr val="FFFFFF"/>
                    </a:solidFill>
                  </a:tcPr>
                </a:tc>
              </a:tr>
              <a:tr h="306019">
                <a:tc>
                  <a:txBody>
                    <a:bodyPr wrap="square"/>
                    <a:lstStyle/>
                    <a:p>
                      <a:r>
                        <a:rPr sz="1200" b="1">
                          <a:solidFill>
                            <a:srgbClr val="8A1626"/>
                          </a:solidFill>
                          <a:latin typeface="Source Sans 3"/>
                        </a:rPr>
                        <a:t>cassandra</a:t>
                      </a:r>
                    </a:p>
                  </a:txBody>
                  <a:tcPr marL="82296" marR="64008" marT="32004" marB="32004" anchor="ctr">
                    <a:solidFill>
                      <a:srgbClr val="F7F5F2"/>
                    </a:solidFill>
                  </a:tcPr>
                </a:tc>
                <a:tc>
                  <a:txBody>
                    <a:bodyPr wrap="square"/>
                    <a:lstStyle/>
                    <a:p>
                      <a:r>
                        <a:rPr sz="1200" b="0">
                          <a:solidFill>
                            <a:srgbClr val="1A1A1A"/>
                          </a:solidFill>
                          <a:latin typeface="Source Sans 3"/>
                        </a:rPr>
                        <a:t>A table, by token() range</a:t>
                      </a:r>
                    </a:p>
                  </a:txBody>
                  <a:tcPr marL="82296" marR="64008" marT="32004" marB="32004" anchor="ctr">
                    <a:solidFill>
                      <a:srgbClr val="F7F5F2"/>
                    </a:solidFill>
                  </a:tcPr>
                </a:tc>
                <a:tc>
                  <a:txBody>
                    <a:bodyPr wrap="square"/>
                    <a:lstStyle/>
                    <a:p>
                      <a:r>
                        <a:rPr sz="1200" b="0">
                          <a:solidFill>
                            <a:srgbClr val="1A1A1A"/>
                          </a:solidFill>
                          <a:latin typeface="Source Sans 3"/>
                        </a:rPr>
                        <a:t>Key restrictions pushed in; deletes: detect</a:t>
                      </a:r>
                    </a:p>
                  </a:txBody>
                  <a:tcPr marL="82296" marR="64008" marT="32004" marB="32004" anchor="ctr">
                    <a:solidFill>
                      <a:srgbClr val="F7F5F2"/>
                    </a:solidFill>
                  </a:tcPr>
                </a:tc>
              </a:tr>
              <a:tr h="502310">
                <a:tc>
                  <a:txBody>
                    <a:bodyPr wrap="square"/>
                    <a:lstStyle/>
                    <a:p>
                      <a:r>
                        <a:rPr sz="1200" b="1">
                          <a:solidFill>
                            <a:srgbClr val="8A1626"/>
                          </a:solidFill>
                          <a:latin typeface="Source Sans 3"/>
                        </a:rPr>
                        <a:t>postgres-cdc</a:t>
                      </a:r>
                    </a:p>
                  </a:txBody>
                  <a:tcPr marL="82296" marR="64008" marT="32004" marB="32004" anchor="ctr">
                    <a:solidFill>
                      <a:srgbClr val="FFFFFF"/>
                    </a:solidFill>
                  </a:tcPr>
                </a:tc>
                <a:tc>
                  <a:txBody>
                    <a:bodyPr wrap="square"/>
                    <a:lstStyle/>
                    <a:p>
                      <a:r>
                        <a:rPr sz="1200" b="0">
                          <a:solidFill>
                            <a:srgbClr val="1A1A1A"/>
                          </a:solidFill>
                          <a:latin typeface="Source Sans 3"/>
                        </a:rPr>
                        <a:t>Logical replication; initial snapshot available</a:t>
                      </a:r>
                    </a:p>
                  </a:txBody>
                  <a:tcPr marL="82296" marR="64008" marT="32004" marB="32004" anchor="ctr">
                    <a:solidFill>
                      <a:srgbClr val="FFFFFF"/>
                    </a:solidFill>
                  </a:tcPr>
                </a:tc>
                <a:tc>
                  <a:txBody>
                    <a:bodyPr wrap="square"/>
                    <a:lstStyle/>
                    <a:p>
                      <a:r>
                        <a:rPr sz="1200" b="0">
                          <a:solidFill>
                            <a:srgbClr val="1A1A1A"/>
                          </a:solidFill>
                          <a:latin typeface="Source Sans 3"/>
                        </a:rPr>
                        <a:t>Exactly once; slot confirmed only at checkpoints</a:t>
                      </a:r>
                    </a:p>
                  </a:txBody>
                  <a:tcPr marL="82296" marR="64008" marT="32004" marB="32004" anchor="ctr">
                    <a:solidFill>
                      <a:srgbClr val="FFFFFF"/>
                    </a:solidFill>
                  </a:tcPr>
                </a:tc>
              </a:tr>
              <a:tr h="502310">
                <a:tc>
                  <a:txBody>
                    <a:bodyPr wrap="square"/>
                    <a:lstStyle/>
                    <a:p>
                      <a:r>
                        <a:rPr sz="1200" b="1">
                          <a:solidFill>
                            <a:srgbClr val="8A1626"/>
                          </a:solidFill>
                          <a:latin typeface="Source Sans 3"/>
                        </a:rPr>
                        <a:t>mysql-cdc</a:t>
                      </a:r>
                    </a:p>
                  </a:txBody>
                  <a:tcPr marL="82296" marR="64008" marT="32004" marB="32004" anchor="ctr">
                    <a:solidFill>
                      <a:srgbClr val="F7F5F2"/>
                    </a:solidFill>
                  </a:tcPr>
                </a:tc>
                <a:tc>
                  <a:txBody>
                    <a:bodyPr wrap="square"/>
                    <a:lstStyle/>
                    <a:p>
                      <a:r>
                        <a:rPr sz="1200" b="0">
                          <a:solidFill>
                            <a:srgbClr val="1A1A1A"/>
                          </a:solidFill>
                          <a:latin typeface="Source Sans 3"/>
                        </a:rPr>
                        <a:t>The row-based binlog, read as a replica</a:t>
                      </a:r>
                    </a:p>
                  </a:txBody>
                  <a:tcPr marL="82296" marR="64008" marT="32004" marB="32004" anchor="ctr">
                    <a:solidFill>
                      <a:srgbClr val="F7F5F2"/>
                    </a:solidFill>
                  </a:tcPr>
                </a:tc>
                <a:tc>
                  <a:txBody>
                    <a:bodyPr wrap="square"/>
                    <a:lstStyle/>
                    <a:p>
                      <a:r>
                        <a:rPr sz="1200" b="0">
                          <a:solidFill>
                            <a:srgbClr val="1A1A1A"/>
                          </a:solidFill>
                          <a:latin typeface="Source Sans 3"/>
                        </a:rPr>
                        <a:t>Exactly once from file and offset; changes only</a:t>
                      </a:r>
                    </a:p>
                  </a:txBody>
                  <a:tcPr marL="82296" marR="64008" marT="32004" marB="32004" anchor="ctr">
                    <a:solidFill>
                      <a:srgbClr val="F7F5F2"/>
                    </a:solidFill>
                  </a:tcPr>
                </a:tc>
              </a:tr>
              <a:tr h="502310">
                <a:tc>
                  <a:txBody>
                    <a:bodyPr wrap="square"/>
                    <a:lstStyle/>
                    <a:p>
                      <a:r>
                        <a:rPr sz="1200" b="1">
                          <a:solidFill>
                            <a:srgbClr val="8A1626"/>
                          </a:solidFill>
                          <a:latin typeface="Source Sans 3"/>
                        </a:rPr>
                        <a:t>kafka</a:t>
                      </a:r>
                    </a:p>
                  </a:txBody>
                  <a:tcPr marL="82296" marR="64008" marT="32004" marB="32004" anchor="ctr">
                    <a:solidFill>
                      <a:srgbClr val="FFFFFF"/>
                    </a:solidFill>
                  </a:tcPr>
                </a:tc>
                <a:tc>
                  <a:txBody>
                    <a:bodyPr wrap="square"/>
                    <a:lstStyle/>
                    <a:p>
                      <a:r>
                        <a:rPr sz="1200" b="0">
                          <a:solidFill>
                            <a:srgbClr val="1A1A1A"/>
                          </a:solidFill>
                          <a:latin typeface="Source Sans 3"/>
                        </a:rPr>
                        <a:t>A topic, one reader per partition, read_committed</a:t>
                      </a:r>
                    </a:p>
                  </a:txBody>
                  <a:tcPr marL="82296" marR="64008" marT="32004" marB="32004" anchor="ctr">
                    <a:solidFill>
                      <a:srgbClr val="FFFFFF"/>
                    </a:solidFill>
                  </a:tcPr>
                </a:tc>
                <a:tc>
                  <a:txBody>
                    <a:bodyPr wrap="square"/>
                    <a:lstStyle/>
                    <a:p>
                      <a:r>
                        <a:rPr sz="1200" b="0">
                          <a:solidFill>
                            <a:srgbClr val="1A1A1A"/>
                          </a:solidFill>
                          <a:latin typeface="Source Sans 3"/>
                        </a:rPr>
                        <a:t>Exactly once from checkpoint offsets; shared exactly</a:t>
                      </a:r>
                    </a:p>
                  </a:txBody>
                  <a:tcPr marL="82296" marR="64008" marT="32004" marB="32004" anchor="ctr">
                    <a:solidFill>
                      <a:srgbClr val="FFFFFF"/>
                    </a:solidFill>
                  </a:tcPr>
                </a:tc>
              </a:tr>
              <a:tr h="502310">
                <a:tc>
                  <a:txBody>
                    <a:bodyPr wrap="square"/>
                    <a:lstStyle/>
                    <a:p>
                      <a:r>
                        <a:rPr sz="1200" b="1">
                          <a:solidFill>
                            <a:srgbClr val="8A1626"/>
                          </a:solidFill>
                          <a:latin typeface="Source Sans 3"/>
                        </a:rPr>
                        <a:t>jdbc-lookup · aerospike-lookup</a:t>
                      </a:r>
                    </a:p>
                  </a:txBody>
                  <a:tcPr marL="82296" marR="64008" marT="32004" marB="32004" anchor="ctr">
                    <a:solidFill>
                      <a:srgbClr val="F7F5F2"/>
                    </a:solidFill>
                  </a:tcPr>
                </a:tc>
                <a:tc>
                  <a:txBody>
                    <a:bodyPr wrap="square"/>
                    <a:lstStyle/>
                    <a:p>
                      <a:r>
                        <a:rPr sz="1200" b="0">
                          <a:solidFill>
                            <a:srgbClr val="1A1A1A"/>
                          </a:solidFill>
                          <a:latin typeface="Source Sans 3"/>
                        </a:rPr>
                        <a:t>A dimension table for a temporal join</a:t>
                      </a:r>
                    </a:p>
                  </a:txBody>
                  <a:tcPr marL="82296" marR="64008" marT="32004" marB="32004" anchor="ctr">
                    <a:solidFill>
                      <a:srgbClr val="F7F5F2"/>
                    </a:solidFill>
                  </a:tcPr>
                </a:tc>
                <a:tc>
                  <a:txBody>
                    <a:bodyPr wrap="square"/>
                    <a:lstStyle/>
                    <a:p>
                      <a:r>
                        <a:rPr sz="1200" b="0">
                          <a:solidFill>
                            <a:srgbClr val="1A1A1A"/>
                          </a:solidFill>
                          <a:latin typeface="Source Sans 3"/>
                        </a:rPr>
                        <a:t>Asked, not consumed</a:t>
                      </a:r>
                    </a:p>
                  </a:txBody>
                  <a:tcPr marL="82296" marR="64008" marT="32004" marB="32004" anchor="ctr">
                    <a:solidFill>
                      <a:srgbClr val="F7F5F2"/>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SINKS · PLUGINS/</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Six sinks, each with its delivery said at registration</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Connectors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50</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sink with a configured schema or key reports it, and a registration that does not match is refused before the sink opens (PRV-8010).</a:t>
            </a:r>
          </a:p>
        </p:txBody>
      </p:sp>
      <p:graphicFrame>
        <p:nvGraphicFramePr>
          <p:cNvPr id="12" name="Table 11"/>
          <p:cNvGraphicFramePr>
            <a:graphicFrameLocks noGrp="1"/>
          </p:cNvGraphicFramePr>
          <p:nvPr/>
        </p:nvGraphicFramePr>
        <p:xfrm>
          <a:off x="777240" y="1378204"/>
          <a:ext cx="10637214" cy="3826964"/>
        </p:xfrm>
        <a:graphic>
          <a:graphicData uri="http://schemas.openxmlformats.org/drawingml/2006/table">
            <a:tbl>
              <a:tblPr firstRow="1">
                <a:tableStyleId>{5C22544A-7EE6-4342-B048-85BDC9FD1C3A}</a:tableStyleId>
              </a:tblPr>
              <a:tblGrid>
                <a:gridCol w="1983209"/>
                <a:gridCol w="5589045"/>
                <a:gridCol w="3064960"/>
              </a:tblGrid>
              <a:tr h="322376">
                <a:tc>
                  <a:txBody>
                    <a:bodyPr wrap="square"/>
                    <a:lstStyle/>
                    <a:p>
                      <a:r>
                        <a:rPr sz="1300" b="1">
                          <a:solidFill>
                            <a:srgbClr val="FFFFFF"/>
                          </a:solidFill>
                          <a:latin typeface="Source Sans 3"/>
                        </a:rPr>
                        <a:t>Sink</a:t>
                      </a:r>
                    </a:p>
                  </a:txBody>
                  <a:tcPr marL="82296" marR="64008" marT="32004" marB="32004" anchor="ctr">
                    <a:solidFill>
                      <a:srgbClr val="8A1626"/>
                    </a:solidFill>
                  </a:tcPr>
                </a:tc>
                <a:tc>
                  <a:txBody>
                    <a:bodyPr wrap="square"/>
                    <a:lstStyle/>
                    <a:p>
                      <a:r>
                        <a:rPr sz="1300" b="1">
                          <a:solidFill>
                            <a:srgbClr val="FFFFFF"/>
                          </a:solidFill>
                          <a:latin typeface="Source Sans 3"/>
                        </a:rPr>
                        <a:t>Writes</a:t>
                      </a:r>
                    </a:p>
                  </a:txBody>
                  <a:tcPr marL="82296" marR="64008" marT="32004" marB="32004" anchor="ctr">
                    <a:solidFill>
                      <a:srgbClr val="8A1626"/>
                    </a:solidFill>
                  </a:tcPr>
                </a:tc>
                <a:tc>
                  <a:txBody>
                    <a:bodyPr wrap="square"/>
                    <a:lstStyle/>
                    <a:p>
                      <a:r>
                        <a:rPr sz="1300" b="1">
                          <a:solidFill>
                            <a:srgbClr val="FFFFFF"/>
                          </a:solidFill>
                          <a:latin typeface="Source Sans 3"/>
                        </a:rPr>
                        <a:t>Delivery</a:t>
                      </a:r>
                    </a:p>
                  </a:txBody>
                  <a:tcPr marL="82296" marR="64008" marT="32004" marB="32004" anchor="ctr">
                    <a:solidFill>
                      <a:srgbClr val="8A1626"/>
                    </a:solidFill>
                  </a:tcPr>
                </a:tc>
              </a:tr>
              <a:tr h="346913">
                <a:tc>
                  <a:txBody>
                    <a:bodyPr wrap="square"/>
                    <a:lstStyle/>
                    <a:p>
                      <a:r>
                        <a:rPr sz="1450" b="1">
                          <a:solidFill>
                            <a:srgbClr val="8A1626"/>
                          </a:solidFill>
                          <a:latin typeface="Source Sans 3"/>
                        </a:rPr>
                        <a:t>filesystem</a:t>
                      </a:r>
                    </a:p>
                  </a:txBody>
                  <a:tcPr marL="82296" marR="64008" marT="32004" marB="32004" anchor="ctr">
                    <a:solidFill>
                      <a:srgbClr val="FFFFFF"/>
                    </a:solidFill>
                  </a:tcPr>
                </a:tc>
                <a:tc>
                  <a:txBody>
                    <a:bodyPr wrap="square"/>
                    <a:lstStyle/>
                    <a:p>
                      <a:r>
                        <a:rPr sz="1450" b="0">
                          <a:solidFill>
                            <a:srgbClr val="1A1A1A"/>
                          </a:solidFill>
                          <a:latin typeface="Source Sans 3"/>
                        </a:rPr>
                        <a:t>Append-only files</a:t>
                      </a:r>
                    </a:p>
                  </a:txBody>
                  <a:tcPr marL="82296" marR="64008" marT="32004" marB="32004" anchor="ctr">
                    <a:solidFill>
                      <a:srgbClr val="FFFFFF"/>
                    </a:solidFill>
                  </a:tcPr>
                </a:tc>
                <a:tc>
                  <a:txBody>
                    <a:bodyPr wrap="square"/>
                    <a:lstStyle/>
                    <a:p>
                      <a:r>
                        <a:rPr sz="1450" b="0">
                          <a:solidFill>
                            <a:srgbClr val="1A1A1A"/>
                          </a:solidFill>
                          <a:latin typeface="Source Sans 3"/>
                        </a:rPr>
                        <a:t>At least once</a:t>
                      </a:r>
                    </a:p>
                  </a:txBody>
                  <a:tcPr marL="82296" marR="64008" marT="32004" marB="32004" anchor="ctr">
                    <a:solidFill>
                      <a:srgbClr val="FFFFFF"/>
                    </a:solidFill>
                  </a:tcPr>
                </a:tc>
              </a:tr>
              <a:tr h="346913">
                <a:tc>
                  <a:txBody>
                    <a:bodyPr wrap="square"/>
                    <a:lstStyle/>
                    <a:p>
                      <a:r>
                        <a:rPr sz="1450" b="1">
                          <a:solidFill>
                            <a:srgbClr val="8A1626"/>
                          </a:solidFill>
                          <a:latin typeface="Source Sans 3"/>
                        </a:rPr>
                        <a:t>aerospike-sink</a:t>
                      </a:r>
                    </a:p>
                  </a:txBody>
                  <a:tcPr marL="82296" marR="64008" marT="32004" marB="32004" anchor="ctr">
                    <a:solidFill>
                      <a:srgbClr val="F7F5F2"/>
                    </a:solidFill>
                  </a:tcPr>
                </a:tc>
                <a:tc>
                  <a:txBody>
                    <a:bodyPr wrap="square"/>
                    <a:lstStyle/>
                    <a:p>
                      <a:r>
                        <a:rPr sz="1450" b="0">
                          <a:solidFill>
                            <a:srgbClr val="1A1A1A"/>
                          </a:solidFill>
                          <a:latin typeface="Source Sans 3"/>
                        </a:rPr>
                        <a:t>Upsert and delete by key, composite keys</a:t>
                      </a:r>
                    </a:p>
                  </a:txBody>
                  <a:tcPr marL="82296" marR="64008" marT="32004" marB="32004" anchor="ctr">
                    <a:solidFill>
                      <a:srgbClr val="F7F5F2"/>
                    </a:solidFill>
                  </a:tcPr>
                </a:tc>
                <a:tc>
                  <a:txBody>
                    <a:bodyPr wrap="square"/>
                    <a:lstStyle/>
                    <a:p>
                      <a:r>
                        <a:rPr sz="1450" b="0">
                          <a:solidFill>
                            <a:srgbClr val="1A1A1A"/>
                          </a:solidFill>
                          <a:latin typeface="Source Sans 3"/>
                        </a:rPr>
                        <a:t>Effectively once</a:t>
                      </a:r>
                    </a:p>
                  </a:txBody>
                  <a:tcPr marL="82296" marR="64008" marT="32004" marB="32004" anchor="ctr">
                    <a:solidFill>
                      <a:srgbClr val="F7F5F2"/>
                    </a:solidFill>
                  </a:tcPr>
                </a:tc>
              </a:tr>
              <a:tr h="821283">
                <a:tc>
                  <a:txBody>
                    <a:bodyPr wrap="square"/>
                    <a:lstStyle/>
                    <a:p>
                      <a:r>
                        <a:rPr sz="1450" b="1">
                          <a:solidFill>
                            <a:srgbClr val="8A1626"/>
                          </a:solidFill>
                          <a:latin typeface="Source Sans 3"/>
                        </a:rPr>
                        <a:t>jdbc-sink</a:t>
                      </a:r>
                    </a:p>
                  </a:txBody>
                  <a:tcPr marL="82296" marR="64008" marT="32004" marB="32004" anchor="ctr">
                    <a:solidFill>
                      <a:srgbClr val="FFFFFF"/>
                    </a:solidFill>
                  </a:tcPr>
                </a:tc>
                <a:tc>
                  <a:txBody>
                    <a:bodyPr wrap="square"/>
                    <a:lstStyle/>
                    <a:p>
                      <a:r>
                        <a:rPr sz="1450" b="0">
                          <a:solidFill>
                            <a:srgbClr val="1A1A1A"/>
                          </a:solidFill>
                          <a:latin typeface="Source Sans 3"/>
                        </a:rPr>
                        <a:t>A table you create: upsert and delete by key, or append; staging table or PostgreSQL's PREPARE TRANSACTION</a:t>
                      </a:r>
                    </a:p>
                  </a:txBody>
                  <a:tcPr marL="82296" marR="64008" marT="32004" marB="32004" anchor="ctr">
                    <a:solidFill>
                      <a:srgbClr val="FFFFFF"/>
                    </a:solidFill>
                  </a:tcPr>
                </a:tc>
                <a:tc>
                  <a:txBody>
                    <a:bodyPr wrap="square"/>
                    <a:lstStyle/>
                    <a:p>
                      <a:r>
                        <a:rPr sz="1450" b="0">
                          <a:solidFill>
                            <a:srgbClr val="1A1A1A"/>
                          </a:solidFill>
                          <a:latin typeface="Source Sans 3"/>
                        </a:rPr>
                        <a:t>Exactly once on a checkpointed node</a:t>
                      </a:r>
                    </a:p>
                  </a:txBody>
                  <a:tcPr marL="82296" marR="64008" marT="32004" marB="32004" anchor="ctr">
                    <a:solidFill>
                      <a:srgbClr val="FFFFFF"/>
                    </a:solidFill>
                  </a:tcPr>
                </a:tc>
              </a:tr>
              <a:tr h="584098">
                <a:tc>
                  <a:txBody>
                    <a:bodyPr wrap="square"/>
                    <a:lstStyle/>
                    <a:p>
                      <a:r>
                        <a:rPr sz="1450" b="1">
                          <a:solidFill>
                            <a:srgbClr val="8A1626"/>
                          </a:solidFill>
                          <a:latin typeface="Source Sans 3"/>
                        </a:rPr>
                        <a:t>kafka-sink</a:t>
                      </a:r>
                    </a:p>
                  </a:txBody>
                  <a:tcPr marL="82296" marR="64008" marT="32004" marB="32004" anchor="ctr">
                    <a:solidFill>
                      <a:srgbClr val="F7F5F2"/>
                    </a:solidFill>
                  </a:tcPr>
                </a:tc>
                <a:tc>
                  <a:txBody>
                    <a:bodyPr wrap="square"/>
                    <a:lstStyle/>
                    <a:p>
                      <a:r>
                        <a:rPr sz="1450" b="0">
                          <a:solidFill>
                            <a:srgbClr val="1A1A1A"/>
                          </a:solidFill>
                          <a:latin typeface="Source Sans 3"/>
                        </a:rPr>
                        <a:t>Keyed upserts with a tombstone per retraction (JSON, Avro or Protobuf), or a JSON changelog</a:t>
                      </a:r>
                    </a:p>
                  </a:txBody>
                  <a:tcPr marL="82296" marR="64008" marT="32004" marB="32004" anchor="ctr">
                    <a:solidFill>
                      <a:srgbClr val="F7F5F2"/>
                    </a:solidFill>
                  </a:tcPr>
                </a:tc>
                <a:tc>
                  <a:txBody>
                    <a:bodyPr wrap="square"/>
                    <a:lstStyle/>
                    <a:p>
                      <a:r>
                        <a:rPr sz="1450" b="0">
                          <a:solidFill>
                            <a:srgbClr val="1A1A1A"/>
                          </a:solidFill>
                          <a:latin typeface="Source Sans 3"/>
                        </a:rPr>
                        <a:t>Exactly once to a read_committed consumer</a:t>
                      </a:r>
                    </a:p>
                  </a:txBody>
                  <a:tcPr marL="82296" marR="64008" marT="32004" marB="32004" anchor="ctr">
                    <a:solidFill>
                      <a:srgbClr val="F7F5F2"/>
                    </a:solidFill>
                  </a:tcPr>
                </a:tc>
              </a:tr>
              <a:tr h="584098">
                <a:tc>
                  <a:txBody>
                    <a:bodyPr wrap="square"/>
                    <a:lstStyle/>
                    <a:p>
                      <a:r>
                        <a:rPr sz="1450" b="1">
                          <a:solidFill>
                            <a:srgbClr val="8A1626"/>
                          </a:solidFill>
                          <a:latin typeface="Source Sans 3"/>
                        </a:rPr>
                        <a:t>delta-sink</a:t>
                      </a:r>
                    </a:p>
                  </a:txBody>
                  <a:tcPr marL="82296" marR="64008" marT="32004" marB="32004" anchor="ctr">
                    <a:solidFill>
                      <a:srgbClr val="FFFFFF"/>
                    </a:solidFill>
                  </a:tcPr>
                </a:tc>
                <a:tc>
                  <a:txBody>
                    <a:bodyPr wrap="square"/>
                    <a:lstStyle/>
                    <a:p>
                      <a:r>
                        <a:rPr sz="1450" b="0">
                          <a:solidFill>
                            <a:srgbClr val="1A1A1A"/>
                          </a:solidFill>
                          <a:latin typeface="Source Sans 3"/>
                        </a:rPr>
                        <a:t>A Delta table kept equal to the view, or a changelog; on Delta Kernel, not Spark</a:t>
                      </a:r>
                    </a:p>
                  </a:txBody>
                  <a:tcPr marL="82296" marR="64008" marT="32004" marB="32004" anchor="ctr">
                    <a:solidFill>
                      <a:srgbClr val="FFFFFF"/>
                    </a:solidFill>
                  </a:tcPr>
                </a:tc>
                <a:tc>
                  <a:txBody>
                    <a:bodyPr wrap="square"/>
                    <a:lstStyle/>
                    <a:p>
                      <a:r>
                        <a:rPr sz="1450" b="0">
                          <a:solidFill>
                            <a:srgbClr val="1A1A1A"/>
                          </a:solidFill>
                          <a:latin typeface="Source Sans 3"/>
                        </a:rPr>
                        <a:t>Exactly once: one Delta commit per checkpoint</a:t>
                      </a:r>
                    </a:p>
                  </a:txBody>
                  <a:tcPr marL="82296" marR="64008" marT="32004" marB="32004" anchor="ctr">
                    <a:solidFill>
                      <a:srgbClr val="FFFFFF"/>
                    </a:solidFill>
                  </a:tcPr>
                </a:tc>
              </a:tr>
              <a:tr h="821283">
                <a:tc>
                  <a:txBody>
                    <a:bodyPr wrap="square"/>
                    <a:lstStyle/>
                    <a:p>
                      <a:r>
                        <a:rPr sz="1450" b="1">
                          <a:solidFill>
                            <a:srgbClr val="8A1626"/>
                          </a:solidFill>
                          <a:latin typeface="Source Sans 3"/>
                        </a:rPr>
                        <a:t>iceberg-sink</a:t>
                      </a:r>
                    </a:p>
                  </a:txBody>
                  <a:tcPr marL="82296" marR="64008" marT="32004" marB="32004" anchor="ctr">
                    <a:solidFill>
                      <a:srgbClr val="F7F5F2"/>
                    </a:solidFill>
                  </a:tcPr>
                </a:tc>
                <a:tc>
                  <a:txBody>
                    <a:bodyPr wrap="square"/>
                    <a:lstStyle/>
                    <a:p>
                      <a:r>
                        <a:rPr sz="1450" b="0">
                          <a:solidFill>
                            <a:srgbClr val="1A1A1A"/>
                          </a:solidFill>
                          <a:latin typeface="Source Sans 3"/>
                        </a:rPr>
                        <a:t>A local-filesystem Iceberg table, upsert by equality deletes or changelog; on iceberg-core, not Spark</a:t>
                      </a:r>
                    </a:p>
                  </a:txBody>
                  <a:tcPr marL="82296" marR="64008" marT="32004" marB="32004" anchor="ctr">
                    <a:solidFill>
                      <a:srgbClr val="F7F5F2"/>
                    </a:solidFill>
                  </a:tcPr>
                </a:tc>
                <a:tc>
                  <a:txBody>
                    <a:bodyPr wrap="square"/>
                    <a:lstStyle/>
                    <a:p>
                      <a:r>
                        <a:rPr sz="1450" b="0">
                          <a:solidFill>
                            <a:srgbClr val="1A1A1A"/>
                          </a:solidFill>
                          <a:latin typeface="Source Sans 3"/>
                        </a:rPr>
                        <a:t>Exactly once: one snapshot per checkpoint</a:t>
                      </a:r>
                    </a:p>
                  </a:txBody>
                  <a:tcPr marL="82296" marR="64008" marT="32004" marB="32004" anchor="ctr">
                    <a:solidFill>
                      <a:srgbClr val="F7F5F2"/>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CHANGE DATA CAPTURE · ADR-041</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Change data capture on the database's own protocol</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Connectors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51</a:t>
            </a:r>
          </a:p>
        </p:txBody>
      </p:sp>
      <p:sp>
        <p:nvSpPr>
          <p:cNvPr id="10" name="Rectangle 9"/>
          <p:cNvSpPr/>
          <p:nvPr/>
        </p:nvSpPr>
        <p:spPr>
          <a:xfrm>
            <a:off x="777240" y="141091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8407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Why not Debezium, at least first</a:t>
            </a:r>
          </a:p>
        </p:txBody>
      </p:sp>
      <p:sp>
        <p:nvSpPr>
          <p:cNvPr id="13" name="TextBox 12"/>
          <p:cNvSpPr txBox="1"/>
          <p:nvPr/>
        </p:nvSpPr>
        <p:spPr>
          <a:xfrm>
            <a:off x="777240" y="1922983"/>
            <a:ext cx="5135727" cy="4322368"/>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A second framework in the process</a:t>
            </a:r>
          </a:p>
          <a:p>
            <a:pPr lvl="1">
              <a:lnSpc>
                <a:spcPct val="120000"/>
              </a:lnSpc>
              <a:spcBef>
                <a:spcPts val="0"/>
              </a:spcBef>
              <a:spcAft>
                <a:spcPts val="0"/>
              </a:spcAft>
            </a:pPr>
            <a:r>
              <a:rPr sz="1450" b="0">
                <a:solidFill>
                  <a:srgbClr val="4A5058"/>
                </a:solidFill>
                <a:latin typeface="Source Sans 3"/>
              </a:rPr>
              <a:t>Embedded Debezium brings the Kafka Connect API and client: its own lifecycle, threading, offset storage and configuration, and tens of megabytes.</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The driver already does it</a:t>
            </a:r>
          </a:p>
          <a:p>
            <a:pPr lvl="1">
              <a:lnSpc>
                <a:spcPct val="120000"/>
              </a:lnSpc>
              <a:spcBef>
                <a:spcPts val="0"/>
              </a:spcBef>
              <a:spcAft>
                <a:spcPts val="0"/>
              </a:spcAft>
            </a:pPr>
            <a:r>
              <a:rPr sz="1450" b="0">
                <a:solidFill>
                  <a:srgbClr val="4A5058"/>
                </a:solidFill>
                <a:latin typeface="Source Sans 3"/>
              </a:rPr>
              <a:t>postgres-cdc is a logical-replication reader on the PostgreSQL JDBC driver; mysql-cdc reads the binlog as a registered replica.</a:t>
            </a:r>
          </a:p>
        </p:txBody>
      </p:sp>
      <p:sp>
        <p:nvSpPr>
          <p:cNvPr id="14" name="Rectangle 13"/>
          <p:cNvSpPr/>
          <p:nvPr/>
        </p:nvSpPr>
        <p:spPr>
          <a:xfrm>
            <a:off x="6278727" y="141091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41091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8407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arrives, in weights</a:t>
            </a:r>
          </a:p>
        </p:txBody>
      </p:sp>
      <p:sp>
        <p:nvSpPr>
          <p:cNvPr id="17" name="TextBox 16"/>
          <p:cNvSpPr txBox="1"/>
          <p:nvPr/>
        </p:nvSpPr>
        <p:spPr>
          <a:xfrm>
            <a:off x="6278727" y="1922983"/>
            <a:ext cx="5135727" cy="4322368"/>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Insert +1, delete −1, update both</a:t>
            </a:r>
          </a:p>
          <a:p>
            <a:pPr lvl="1">
              <a:lnSpc>
                <a:spcPct val="120000"/>
              </a:lnSpc>
              <a:spcBef>
                <a:spcPts val="0"/>
              </a:spcBef>
              <a:spcAft>
                <a:spcPts val="0"/>
              </a:spcAft>
            </a:pPr>
            <a:r>
              <a:rPr sz="1450" b="0">
                <a:solidFill>
                  <a:srgbClr val="4A5058"/>
                </a:solidFill>
                <a:latin typeface="Source Sans 3"/>
              </a:rPr>
              <a:t>The delete carries the whole old row. Whole transactions, exactly once.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Confirmed only at checkpoints</a:t>
            </a:r>
          </a:p>
          <a:p>
            <a:pPr lvl="1">
              <a:lnSpc>
                <a:spcPct val="120000"/>
              </a:lnSpc>
              <a:spcBef>
                <a:spcPts val="0"/>
              </a:spcBef>
              <a:spcAft>
                <a:spcPts val="0"/>
              </a:spcAft>
            </a:pPr>
            <a:r>
              <a:rPr sz="1450" b="0">
                <a:solidFill>
                  <a:srgbClr val="4A5058"/>
                </a:solidFill>
                <a:latin typeface="Source Sans 3"/>
              </a:rPr>
              <a:t>The PostgreSQL slot advances when a checkpoint is durable.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Misconfiguration refused by name</a:t>
            </a:r>
          </a:p>
          <a:p>
            <a:pPr lvl="1">
              <a:lnSpc>
                <a:spcPct val="120000"/>
              </a:lnSpc>
              <a:spcBef>
                <a:spcPts val="0"/>
              </a:spcBef>
              <a:spcAft>
                <a:spcPts val="0"/>
              </a:spcAft>
            </a:pPr>
            <a:r>
              <a:rPr sz="1450" b="0">
                <a:solidFill>
                  <a:srgbClr val="4A5058"/>
                </a:solidFill>
                <a:latin typeface="Source Sans 3"/>
              </a:rPr>
              <a:t>binlog_format other than ROW, or a user without replication grants: PRV-5152.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WHAT A CONNECTOR MUST EARN · ADR-028</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A connector declares what it can promise, and is held to it</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8 · Connectors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52</a:t>
            </a:r>
          </a:p>
        </p:txBody>
      </p:sp>
      <p:sp>
        <p:nvSpPr>
          <p:cNvPr id="10" name="TextBox 9"/>
          <p:cNvSpPr txBox="1"/>
          <p:nvPr/>
        </p:nvSpPr>
        <p:spPr>
          <a:xfrm>
            <a:off x="777240" y="1345488"/>
            <a:ext cx="10637215" cy="4899863"/>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A jar with a service declaration</a:t>
            </a:r>
          </a:p>
          <a:p>
            <a:pPr lvl="1">
              <a:lnSpc>
                <a:spcPct val="120000"/>
              </a:lnSpc>
              <a:spcBef>
                <a:spcPts val="0"/>
              </a:spcBef>
              <a:spcAft>
                <a:spcPts val="0"/>
              </a:spcAft>
            </a:pPr>
            <a:r>
              <a:rPr sz="1550" b="0">
                <a:solidFill>
                  <a:srgbClr val="4A5058"/>
                </a:solidFill>
                <a:latin typeface="Source Sans 3"/>
              </a:rPr>
              <a:t>Nothing in the engine is edited or rebuilt. The server jar carries filesystem alone; every other plugin goes on the node's classpath, and naming one that is not there is refused at startup (PRV-5090).</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It earns its place by a capability, not by breadth</a:t>
            </a:r>
          </a:p>
          <a:p>
            <a:pPr lvl="1">
              <a:lnSpc>
                <a:spcPct val="120000"/>
              </a:lnSpc>
              <a:spcBef>
                <a:spcPts val="0"/>
              </a:spcBef>
              <a:spcAft>
                <a:spcPts val="0"/>
              </a:spcAft>
            </a:pPr>
            <a:r>
              <a:rPr sz="1550" b="0">
                <a:solidFill>
                  <a:srgbClr val="4A5058"/>
                </a:solidFill>
                <a:latin typeface="Source Sans 3"/>
              </a:rPr>
              <a:t>A shallow connector declaring capabilities it lacks causes silent data loss during recovery, months later.</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source that repeats rows must say so</a:t>
            </a:r>
          </a:p>
          <a:p>
            <a:pPr lvl="1">
              <a:lnSpc>
                <a:spcPct val="120000"/>
              </a:lnSpc>
              <a:spcBef>
                <a:spcPts val="0"/>
              </a:spcBef>
              <a:spcAft>
                <a:spcPts val="0"/>
              </a:spcAft>
            </a:pPr>
            <a:r>
              <a:rPr sz="1550" b="0">
                <a:solidFill>
                  <a:srgbClr val="4A5058"/>
                </a:solidFill>
                <a:latin typeface="Source Sans 3"/>
              </a:rPr>
              <a:t>An aggregate or join over it is refused (PRV-2042) until deletes: detect lets a scan retract what changed.</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Connections can be encrypted</a:t>
            </a:r>
          </a:p>
          <a:p>
            <a:pPr lvl="1">
              <a:lnSpc>
                <a:spcPct val="120000"/>
              </a:lnSpc>
              <a:spcBef>
                <a:spcPts val="0"/>
              </a:spcBef>
              <a:spcAft>
                <a:spcPts val="0"/>
              </a:spcAft>
            </a:pPr>
            <a:r>
              <a:rPr sz="1550" b="0">
                <a:solidFill>
                  <a:srgbClr val="4A5058"/>
                </a:solidFill>
                <a:latin typeface="Source Sans 3"/>
              </a:rPr>
              <a:t>JDBC, PostgreSQL CDC, Aerospike, Cassandra and Kafka (CONNECTOR_TLS.md). Kafka's lz4 is refused: it needs native code the build refuses (ADR-053).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9</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Security, identity and governance</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Authorization is enforced by Pravaha on every read, at the layer that produces the row. Grants, row filters and masks live in the engine as a governed catalogue of live answers; the engine keeps its own users, keys and sessions; a tenant shares only with itself.</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Why not delegate to the store (ADR-031)</a:t>
            </a:r>
          </a:p>
          <a:p>
            <a:pPr>
              <a:lnSpc>
                <a:spcPct val="115000"/>
              </a:lnSpc>
              <a:spcBef>
                <a:spcPts val="0"/>
              </a:spcBef>
              <a:spcAft>
                <a:spcPts val="600"/>
              </a:spcAft>
            </a:pPr>
            <a:r>
              <a:rPr sz="1250" b="0" i="0">
                <a:solidFill>
                  <a:srgbClr val="F6E6E9"/>
                </a:solidFill>
                <a:latin typeface="Source Sans 3"/>
              </a:rPr>
              <a:t>Three seams and one rule</a:t>
            </a:r>
          </a:p>
          <a:p>
            <a:pPr>
              <a:lnSpc>
                <a:spcPct val="115000"/>
              </a:lnSpc>
              <a:spcBef>
                <a:spcPts val="0"/>
              </a:spcBef>
              <a:spcAft>
                <a:spcPts val="600"/>
              </a:spcAft>
            </a:pPr>
            <a:r>
              <a:rPr sz="1250" b="0" i="0">
                <a:solidFill>
                  <a:srgbClr val="F6E6E9"/>
                </a:solidFill>
                <a:latin typeface="Source Sans 3"/>
              </a:rPr>
              <a:t>The governed catalogue (ADR-059)</a:t>
            </a:r>
          </a:p>
          <a:p>
            <a:pPr>
              <a:lnSpc>
                <a:spcPct val="115000"/>
              </a:lnSpc>
              <a:spcBef>
                <a:spcPts val="0"/>
              </a:spcBef>
              <a:spcAft>
                <a:spcPts val="600"/>
              </a:spcAft>
            </a:pPr>
            <a:r>
              <a:rPr sz="1250" b="0" i="0">
                <a:solidFill>
                  <a:srgbClr val="F6E6E9"/>
                </a:solidFill>
                <a:latin typeface="Source Sans 3"/>
              </a:rPr>
              <a:t>Row filters and masks as policies</a:t>
            </a:r>
          </a:p>
          <a:p>
            <a:pPr>
              <a:lnSpc>
                <a:spcPct val="115000"/>
              </a:lnSpc>
              <a:spcBef>
                <a:spcPts val="0"/>
              </a:spcBef>
              <a:spcAft>
                <a:spcPts val="600"/>
              </a:spcAft>
            </a:pPr>
            <a:r>
              <a:rPr sz="1250" b="0" i="0">
                <a:solidFill>
                  <a:srgbClr val="F6E6E9"/>
                </a:solidFill>
                <a:latin typeface="Source Sans 3"/>
              </a:rPr>
              <a:t>The engine is the identity authority (ADR-052)</a:t>
            </a:r>
          </a:p>
          <a:p>
            <a:pPr>
              <a:lnSpc>
                <a:spcPct val="115000"/>
              </a:lnSpc>
              <a:spcBef>
                <a:spcPts val="0"/>
              </a:spcBef>
              <a:spcAft>
                <a:spcPts val="600"/>
              </a:spcAft>
            </a:pPr>
            <a:r>
              <a:rPr sz="1250" b="0" i="0">
                <a:solidFill>
                  <a:srgbClr val="F6E6E9"/>
                </a:solidFill>
                <a:latin typeface="Source Sans 3"/>
              </a:rPr>
              <a:t>Tenancy and ownership (ADR-050, ADR-060)</a:t>
            </a:r>
          </a:p>
          <a:p>
            <a:pPr>
              <a:lnSpc>
                <a:spcPct val="115000"/>
              </a:lnSpc>
              <a:spcBef>
                <a:spcPts val="0"/>
              </a:spcBef>
              <a:spcAft>
                <a:spcPts val="600"/>
              </a:spcAft>
            </a:pPr>
            <a:r>
              <a:rPr sz="1250" b="0" i="0">
                <a:solidFill>
                  <a:srgbClr val="F6E6E9"/>
                </a:solidFill>
                <a:latin typeface="Source Sans 3"/>
              </a:rPr>
              <a:t>What is not built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ADR-031</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The store is structurally unable to authorize a view</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Security, identity and governance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54</a:t>
            </a:r>
          </a:p>
        </p:txBody>
      </p:sp>
      <p:sp>
        <p:nvSpPr>
          <p:cNvPr id="10" name="Rectangle 9"/>
          <p:cNvSpPr/>
          <p:nvPr/>
        </p:nvSpPr>
        <p:spPr>
          <a:xfrm>
            <a:off x="777240" y="1394561"/>
            <a:ext cx="5236311" cy="234309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94561"/>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559153"/>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1</a:t>
            </a:r>
          </a:p>
        </p:txBody>
      </p:sp>
      <p:sp>
        <p:nvSpPr>
          <p:cNvPr id="13" name="TextBox 12"/>
          <p:cNvSpPr txBox="1"/>
          <p:nvPr/>
        </p:nvSpPr>
        <p:spPr>
          <a:xfrm>
            <a:off x="960120" y="1815185"/>
            <a:ext cx="4870551"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 view is derived data the store has never seen</a:t>
            </a:r>
          </a:p>
        </p:txBody>
      </p:sp>
      <p:sp>
        <p:nvSpPr>
          <p:cNvPr id="14" name="TextBox 13"/>
          <p:cNvSpPr txBox="1"/>
          <p:nvPr/>
        </p:nvSpPr>
        <p:spPr>
          <a:xfrm>
            <a:off x="960120" y="2446426"/>
            <a:ext cx="4870551" cy="11632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No record in the store has permissions matching “u4's gold-tier total for the window ending at 12:05”.</a:t>
            </a:r>
          </a:p>
        </p:txBody>
      </p:sp>
      <p:sp>
        <p:nvSpPr>
          <p:cNvPr id="15" name="Rectangle 14"/>
          <p:cNvSpPr/>
          <p:nvPr/>
        </p:nvSpPr>
        <p:spPr>
          <a:xfrm>
            <a:off x="6178143" y="1394561"/>
            <a:ext cx="5236311" cy="234309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8143" y="1394561"/>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1023" y="1559153"/>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2</a:t>
            </a:r>
          </a:p>
        </p:txBody>
      </p:sp>
      <p:sp>
        <p:nvSpPr>
          <p:cNvPr id="18" name="TextBox 17"/>
          <p:cNvSpPr txBox="1"/>
          <p:nvPr/>
        </p:nvSpPr>
        <p:spPr>
          <a:xfrm>
            <a:off x="6361023" y="1815185"/>
            <a:ext cx="4870551"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 change feed is read once and shared</a:t>
            </a:r>
          </a:p>
        </p:txBody>
      </p:sp>
      <p:sp>
        <p:nvSpPr>
          <p:cNvPr id="19" name="TextBox 18"/>
          <p:cNvSpPr txBox="1"/>
          <p:nvPr/>
        </p:nvSpPr>
        <p:spPr>
          <a:xfrm>
            <a:off x="6361023" y="2176526"/>
            <a:ext cx="4870551" cy="14331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Authorizing at the source means a read per principal — the amplification the design removes — or a superuser read, which enforces nothing.</a:t>
            </a:r>
          </a:p>
        </p:txBody>
      </p:sp>
      <p:sp>
        <p:nvSpPr>
          <p:cNvPr id="20" name="Rectangle 19"/>
          <p:cNvSpPr/>
          <p:nvPr/>
        </p:nvSpPr>
        <p:spPr>
          <a:xfrm>
            <a:off x="777240" y="3902252"/>
            <a:ext cx="5236311" cy="234309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902252"/>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066844"/>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3</a:t>
            </a:r>
          </a:p>
        </p:txBody>
      </p:sp>
      <p:sp>
        <p:nvSpPr>
          <p:cNvPr id="23" name="TextBox 22"/>
          <p:cNvSpPr txBox="1"/>
          <p:nvPr/>
        </p:nvSpPr>
        <p:spPr>
          <a:xfrm>
            <a:off x="960120" y="4322876"/>
            <a:ext cx="4870551"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The store may have nothing to enforce with</a:t>
            </a:r>
          </a:p>
        </p:txBody>
      </p:sp>
      <p:sp>
        <p:nvSpPr>
          <p:cNvPr id="24" name="TextBox 23"/>
          <p:cNvSpPr txBox="1"/>
          <p:nvPr/>
        </p:nvSpPr>
        <p:spPr>
          <a:xfrm>
            <a:off x="960120" y="4954117"/>
            <a:ext cx="4870551" cy="11632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Aerospike Community Edition has no row-level security at all.</a:t>
            </a:r>
          </a:p>
        </p:txBody>
      </p:sp>
      <p:sp>
        <p:nvSpPr>
          <p:cNvPr id="25" name="Rectangle 24"/>
          <p:cNvSpPr/>
          <p:nvPr/>
        </p:nvSpPr>
        <p:spPr>
          <a:xfrm>
            <a:off x="6178143" y="3902252"/>
            <a:ext cx="5236311" cy="234309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8143" y="3902252"/>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61023" y="4066844"/>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4</a:t>
            </a:r>
          </a:p>
        </p:txBody>
      </p:sp>
      <p:sp>
        <p:nvSpPr>
          <p:cNvPr id="28" name="TextBox 27"/>
          <p:cNvSpPr txBox="1"/>
          <p:nvPr/>
        </p:nvSpPr>
        <p:spPr>
          <a:xfrm>
            <a:off x="6361023" y="4322876"/>
            <a:ext cx="4870551"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 continuous query has no caller</a:t>
            </a:r>
          </a:p>
        </p:txBody>
      </p:sp>
      <p:sp>
        <p:nvSpPr>
          <p:cNvPr id="29" name="TextBox 28"/>
          <p:cNvSpPr txBox="1"/>
          <p:nvPr/>
        </p:nvSpPr>
        <p:spPr>
          <a:xfrm>
            <a:off x="6361023" y="4684217"/>
            <a:ext cx="4870551" cy="143311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It runs for months while nobody is connected; there is no session to carry down.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THREE SEAMS, ONE RULE</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Who is this, what may they read, and what were they told</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Security, identity and governance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55</a:t>
            </a:r>
          </a:p>
        </p:txBody>
      </p:sp>
      <p:sp>
        <p:nvSpPr>
          <p:cNvPr id="10" name="Rectangle 9"/>
          <p:cNvSpPr/>
          <p:nvPr/>
        </p:nvSpPr>
        <p:spPr>
          <a:xfrm>
            <a:off x="777240"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The seams</a:t>
            </a:r>
          </a:p>
        </p:txBody>
      </p:sp>
      <p:graphicFrame>
        <p:nvGraphicFramePr>
          <p:cNvPr id="13" name="Table 12"/>
          <p:cNvGraphicFramePr>
            <a:graphicFrameLocks noGrp="1"/>
          </p:cNvGraphicFramePr>
          <p:nvPr/>
        </p:nvGraphicFramePr>
        <p:xfrm>
          <a:off x="777240" y="1873910"/>
          <a:ext cx="5135726" cy="2549040"/>
        </p:xfrm>
        <a:graphic>
          <a:graphicData uri="http://schemas.openxmlformats.org/drawingml/2006/table">
            <a:tbl>
              <a:tblPr firstRow="1">
                <a:tableStyleId>{5C22544A-7EE6-4342-B048-85BDC9FD1C3A}</a:tableStyleId>
              </a:tblPr>
              <a:tblGrid>
                <a:gridCol w="1621808"/>
                <a:gridCol w="3513918"/>
              </a:tblGrid>
              <a:tr h="322376">
                <a:tc>
                  <a:txBody>
                    <a:bodyPr wrap="square"/>
                    <a:lstStyle/>
                    <a:p>
                      <a:r>
                        <a:rPr sz="1300" b="1">
                          <a:solidFill>
                            <a:srgbClr val="FFFFFF"/>
                          </a:solidFill>
                          <a:latin typeface="Source Sans 3"/>
                        </a:rPr>
                        <a:t>Seam</a:t>
                      </a:r>
                    </a:p>
                  </a:txBody>
                  <a:tcPr marL="82296" marR="64008" marT="32004" marB="32004" anchor="ctr">
                    <a:solidFill>
                      <a:srgbClr val="8A1626"/>
                    </a:solidFill>
                  </a:tcPr>
                </a:tc>
                <a:tc>
                  <a:txBody>
                    <a:bodyPr wrap="square"/>
                    <a:lstStyle/>
                    <a:p>
                      <a:r>
                        <a:rPr sz="1300" b="1">
                          <a:solidFill>
                            <a:srgbClr val="FFFFFF"/>
                          </a:solidFill>
                          <a:latin typeface="Source Sans 3"/>
                        </a:rPr>
                        <a:t>Answers</a:t>
                      </a:r>
                    </a:p>
                  </a:txBody>
                  <a:tcPr marL="82296" marR="64008" marT="32004" marB="32004" anchor="ctr">
                    <a:solidFill>
                      <a:srgbClr val="8A1626"/>
                    </a:solidFill>
                  </a:tcPr>
                </a:tc>
              </a:tr>
              <a:tr h="821283">
                <a:tc>
                  <a:txBody>
                    <a:bodyPr wrap="square"/>
                    <a:lstStyle/>
                    <a:p>
                      <a:r>
                        <a:rPr sz="1450" b="1">
                          <a:solidFill>
                            <a:srgbClr val="8A1626"/>
                          </a:solidFill>
                          <a:latin typeface="Source Sans 3"/>
                        </a:rPr>
                        <a:t>TokenVerifier</a:t>
                      </a:r>
                    </a:p>
                  </a:txBody>
                  <a:tcPr marL="82296" marR="64008" marT="32004" marB="32004" anchor="ctr">
                    <a:solidFill>
                      <a:srgbClr val="FFFFFF"/>
                    </a:solidFill>
                  </a:tcPr>
                </a:tc>
                <a:tc>
                  <a:txBody>
                    <a:bodyPr wrap="square"/>
                    <a:lstStyle/>
                    <a:p>
                      <a:r>
                        <a:rPr sz="1450" b="0">
                          <a:solidFill>
                            <a:srgbClr val="1A1A1A"/>
                          </a:solidFill>
                          <a:latin typeface="Source Sans 3"/>
                        </a:rPr>
                        <a:t>Credential in, Principal (id, tenant, roles) out</a:t>
                      </a:r>
                    </a:p>
                  </a:txBody>
                  <a:tcPr marL="82296" marR="64008" marT="32004" marB="32004" anchor="ctr">
                    <a:solidFill>
                      <a:srgbClr val="FFFFFF"/>
                    </a:solidFill>
                  </a:tcPr>
                </a:tc>
              </a:tr>
              <a:tr h="821283">
                <a:tc>
                  <a:txBody>
                    <a:bodyPr wrap="square"/>
                    <a:lstStyle/>
                    <a:p>
                      <a:r>
                        <a:rPr sz="1450" b="1">
                          <a:solidFill>
                            <a:srgbClr val="8A1626"/>
                          </a:solidFill>
                          <a:latin typeface="Source Sans 3"/>
                        </a:rPr>
                        <a:t>SecurityPolicy</a:t>
                      </a:r>
                    </a:p>
                  </a:txBody>
                  <a:tcPr marL="82296" marR="64008" marT="32004" marB="32004" anchor="ctr">
                    <a:solidFill>
                      <a:srgbClr val="F7F5F2"/>
                    </a:solidFill>
                  </a:tcPr>
                </a:tc>
                <a:tc>
                  <a:txBody>
                    <a:bodyPr wrap="square"/>
                    <a:lstStyle/>
                    <a:p>
                      <a:r>
                        <a:rPr sz="1450" b="0">
                          <a:solidFill>
                            <a:srgbClr val="1A1A1A"/>
                          </a:solidFill>
                          <a:latin typeface="Source Sans 3"/>
                        </a:rPr>
                        <a:t>May this principal read this view — allow, allow with a row filter, deny</a:t>
                      </a:r>
                    </a:p>
                  </a:txBody>
                  <a:tcPr marL="82296" marR="64008" marT="32004" marB="32004" anchor="ctr">
                    <a:solidFill>
                      <a:srgbClr val="F7F5F2"/>
                    </a:solidFill>
                  </a:tcPr>
                </a:tc>
              </a:tr>
              <a:tr h="584098">
                <a:tc>
                  <a:txBody>
                    <a:bodyPr wrap="square"/>
                    <a:lstStyle/>
                    <a:p>
                      <a:r>
                        <a:rPr sz="1450" b="1">
                          <a:solidFill>
                            <a:srgbClr val="8A1626"/>
                          </a:solidFill>
                          <a:latin typeface="Source Sans 3"/>
                        </a:rPr>
                        <a:t>AuditSink</a:t>
                      </a:r>
                    </a:p>
                  </a:txBody>
                  <a:tcPr marL="82296" marR="64008" marT="32004" marB="32004" anchor="ctr">
                    <a:solidFill>
                      <a:srgbClr val="FFFFFF"/>
                    </a:solidFill>
                  </a:tcPr>
                </a:tc>
                <a:tc>
                  <a:txBody>
                    <a:bodyPr wrap="square"/>
                    <a:lstStyle/>
                    <a:p>
                      <a:r>
                        <a:rPr sz="1450" b="0">
                          <a:solidFill>
                            <a:srgbClr val="1A1A1A"/>
                          </a:solidFill>
                          <a:latin typeface="Source Sans 3"/>
                        </a:rPr>
                        <a:t>Every decision, allow and deny alike</a:t>
                      </a:r>
                    </a:p>
                  </a:txBody>
                  <a:tcPr marL="82296" marR="64008" marT="32004" marB="32004" anchor="ctr">
                    <a:solidFill>
                      <a:srgbClr val="FFFFFF"/>
                    </a:solidFill>
                  </a:tcPr>
                </a:tc>
              </a:tr>
            </a:tbl>
          </a:graphicData>
        </a:graphic>
      </p:graphicFrame>
      <p:sp>
        <p:nvSpPr>
          <p:cNvPr id="14" name="Rectangle 13"/>
          <p:cNvSpPr/>
          <p:nvPr/>
        </p:nvSpPr>
        <p:spPr>
          <a:xfrm>
            <a:off x="6278727"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follows</a:t>
            </a:r>
          </a:p>
        </p:txBody>
      </p:sp>
      <p:sp>
        <p:nvSpPr>
          <p:cNvPr id="17" name="TextBox 16"/>
          <p:cNvSpPr txBox="1"/>
          <p:nvPr/>
        </p:nvSpPr>
        <p:spPr>
          <a:xfrm>
            <a:off x="6278727" y="1873910"/>
            <a:ext cx="5135727" cy="4371441"/>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The soundness rule</a:t>
            </a:r>
          </a:p>
          <a:p>
            <a:pPr lvl="1">
              <a:lnSpc>
                <a:spcPct val="120000"/>
              </a:lnSpc>
              <a:spcBef>
                <a:spcPts val="0"/>
              </a:spcBef>
              <a:spcAft>
                <a:spcPts val="0"/>
              </a:spcAft>
            </a:pPr>
            <a:r>
              <a:rPr sz="1350" b="0">
                <a:solidFill>
                  <a:srgbClr val="4A5058"/>
                </a:solidFill>
                <a:latin typeface="Source Sans 3"/>
              </a:rPr>
              <a:t>A row filter applies at read time iff the view carries every column it names; otherwise the read is refused (PRV-7003).</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Filters are part of the fingerprint</a:t>
            </a:r>
          </a:p>
          <a:p>
            <a:pPr lvl="1">
              <a:lnSpc>
                <a:spcPct val="120000"/>
              </a:lnSpc>
              <a:spcBef>
                <a:spcPts val="0"/>
              </a:spcBef>
              <a:spcAft>
                <a:spcPts val="0"/>
              </a:spcAft>
            </a:pPr>
            <a:r>
              <a:rPr sz="1350" b="0">
                <a:solidFill>
                  <a:srgbClr val="4A5058"/>
                </a:solidFill>
                <a:latin typeface="Source Sans 3"/>
              </a:rPr>
              <a:t>Different entitlements never share a computation.</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registration is a standing read</a:t>
            </a:r>
          </a:p>
          <a:p>
            <a:pPr lvl="1">
              <a:lnSpc>
                <a:spcPct val="120000"/>
              </a:lnSpc>
              <a:spcBef>
                <a:spcPts val="0"/>
              </a:spcBef>
              <a:spcAft>
                <a:spcPts val="0"/>
              </a:spcAft>
            </a:pPr>
            <a:r>
              <a:rPr sz="1350" b="0">
                <a:solidFill>
                  <a:srgbClr val="4A5058"/>
                </a:solidFill>
                <a:latin typeface="Source Sans 3"/>
              </a:rPr>
              <a:t>mayRead is asked for every stream in the plan; a sink is a standing write (mayWriteTo), audited by name.</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Catalogue filters reach subscriptions</a:t>
            </a:r>
          </a:p>
          <a:p>
            <a:pPr lvl="1">
              <a:lnSpc>
                <a:spcPct val="120000"/>
              </a:lnSpc>
              <a:spcBef>
                <a:spcPts val="0"/>
              </a:spcBef>
              <a:spcAft>
                <a:spcPts val="0"/>
              </a:spcAft>
            </a:pPr>
            <a:r>
              <a:rPr sz="1350" b="0">
                <a:solidFill>
                  <a:srgbClr val="4A5058"/>
                </a:solidFill>
                <a:latin typeface="Source Sans 3"/>
              </a:rPr>
              <a:t>A catalogue row filter is enforced per change; a programmatic policy's filter still refuses subscribe (STRM-13) — read the view instead.</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PRAVAHA CATALOG · ADR-059</a:t>
            </a:r>
          </a:p>
        </p:txBody>
      </p:sp>
      <p:sp>
        <p:nvSpPr>
          <p:cNvPr id="5" name="TextBox 4"/>
          <p:cNvSpPr txBox="1"/>
          <p:nvPr/>
        </p:nvSpPr>
        <p:spPr>
          <a:xfrm>
            <a:off x="777240" y="749808"/>
            <a:ext cx="10637215" cy="363728"/>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Grants live in the engine, and govern answers still being computed</a:t>
            </a:r>
          </a:p>
        </p:txBody>
      </p:sp>
      <p:sp>
        <p:nvSpPr>
          <p:cNvPr id="6" name="Rectangle 5"/>
          <p:cNvSpPr/>
          <p:nvPr/>
        </p:nvSpPr>
        <p:spPr>
          <a:xfrm>
            <a:off x="777240" y="116840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Security, identity and governance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56</a:t>
            </a:r>
          </a:p>
        </p:txBody>
      </p:sp>
      <p:sp>
        <p:nvSpPr>
          <p:cNvPr id="10" name="TextBox 9"/>
          <p:cNvSpPr txBox="1"/>
          <p:nvPr/>
        </p:nvSpPr>
        <p:spPr>
          <a:xfrm>
            <a:off x="777240" y="1296416"/>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tenant.namespace.object names, each with an owner, description, tags and version. Grants are allow-only, to roles and users, inherited down namespaces; tenants are walls.</a:t>
            </a:r>
          </a:p>
        </p:txBody>
      </p:sp>
      <p:sp>
        <p:nvSpPr>
          <p:cNvPr id="11" name="Rectangle 10"/>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GRANT, REVOKE, SHOW EFFECTIVE ACCESS run wherever CREATE CONTINUOUS QUERY does; pravaha grant | revoke | access why; the console's Catalog and Admin → Grants.</a:t>
            </a:r>
          </a:p>
        </p:txBody>
      </p:sp>
      <p:graphicFrame>
        <p:nvGraphicFramePr>
          <p:cNvPr id="13" name="Table 12"/>
          <p:cNvGraphicFramePr>
            <a:graphicFrameLocks noGrp="1"/>
          </p:cNvGraphicFramePr>
          <p:nvPr/>
        </p:nvGraphicFramePr>
        <p:xfrm>
          <a:off x="777240" y="1958848"/>
          <a:ext cx="10637214" cy="2531311"/>
        </p:xfrm>
        <a:graphic>
          <a:graphicData uri="http://schemas.openxmlformats.org/drawingml/2006/table">
            <a:tbl>
              <a:tblPr firstRow="1">
                <a:tableStyleId>{5C22544A-7EE6-4342-B048-85BDC9FD1C3A}</a:tableStyleId>
              </a:tblPr>
              <a:tblGrid>
                <a:gridCol w="2836590"/>
                <a:gridCol w="7800624"/>
              </a:tblGrid>
              <a:tr h="322376">
                <a:tc>
                  <a:txBody>
                    <a:bodyPr wrap="square"/>
                    <a:lstStyle/>
                    <a:p>
                      <a:r>
                        <a:rPr sz="1300" b="1">
                          <a:solidFill>
                            <a:srgbClr val="FFFFFF"/>
                          </a:solidFill>
                          <a:latin typeface="Source Sans 3"/>
                        </a:rPr>
                        <a:t>Privilege</a:t>
                      </a:r>
                    </a:p>
                  </a:txBody>
                  <a:tcPr marL="82296" marR="64008" marT="32004" marB="32004" anchor="ctr">
                    <a:solidFill>
                      <a:srgbClr val="8A1626"/>
                    </a:solidFill>
                  </a:tcPr>
                </a:tc>
                <a:tc>
                  <a:txBody>
                    <a:bodyPr wrap="square"/>
                    <a:lstStyle/>
                    <a:p>
                      <a:r>
                        <a:rPr sz="1300" b="1">
                          <a:solidFill>
                            <a:srgbClr val="FFFFFF"/>
                          </a:solidFill>
                          <a:latin typeface="Source Sans 3"/>
                        </a:rPr>
                        <a:t>What it allows — and why a live answer needs it</a:t>
                      </a:r>
                    </a:p>
                  </a:txBody>
                  <a:tcPr marL="82296" marR="64008" marT="32004" marB="32004" anchor="ctr">
                    <a:solidFill>
                      <a:srgbClr val="8A1626"/>
                    </a:solidFill>
                  </a:tcPr>
                </a:tc>
              </a:tr>
              <a:tr h="346913">
                <a:tc>
                  <a:txBody>
                    <a:bodyPr wrap="square"/>
                    <a:lstStyle/>
                    <a:p>
                      <a:r>
                        <a:rPr sz="1450" b="1">
                          <a:solidFill>
                            <a:srgbClr val="8A1626"/>
                          </a:solidFill>
                          <a:latin typeface="Source Sans 3"/>
                        </a:rPr>
                        <a:t>USE · SELECT</a:t>
                      </a:r>
                    </a:p>
                  </a:txBody>
                  <a:tcPr marL="82296" marR="64008" marT="32004" marB="32004" anchor="ctr">
                    <a:solidFill>
                      <a:srgbClr val="FFFFFF"/>
                    </a:solidFill>
                  </a:tcPr>
                </a:tc>
                <a:tc>
                  <a:txBody>
                    <a:bodyPr wrap="square"/>
                    <a:lstStyle/>
                    <a:p>
                      <a:r>
                        <a:rPr sz="1450" b="0">
                          <a:solidFill>
                            <a:srgbClr val="1A1A1A"/>
                          </a:solidFill>
                          <a:latin typeface="Source Sans 3"/>
                        </a:rPr>
                        <a:t>Enter a namespace; read an object's rows</a:t>
                      </a:r>
                    </a:p>
                  </a:txBody>
                  <a:tcPr marL="82296" marR="64008" marT="32004" marB="32004" anchor="ctr">
                    <a:solidFill>
                      <a:srgbClr val="FFFFFF"/>
                    </a:solidFill>
                  </a:tcPr>
                </a:tc>
              </a:tr>
              <a:tr h="584098">
                <a:tc>
                  <a:txBody>
                    <a:bodyPr wrap="square"/>
                    <a:lstStyle/>
                    <a:p>
                      <a:r>
                        <a:rPr sz="1450" b="1">
                          <a:solidFill>
                            <a:srgbClr val="8A1626"/>
                          </a:solidFill>
                          <a:latin typeface="Source Sans 3"/>
                        </a:rPr>
                        <a:t>SUBSCRIBE</a:t>
                      </a:r>
                    </a:p>
                  </a:txBody>
                  <a:tcPr marL="82296" marR="64008" marT="32004" marB="32004" anchor="ctr">
                    <a:solidFill>
                      <a:srgbClr val="F7F5F2"/>
                    </a:solidFill>
                  </a:tcPr>
                </a:tc>
                <a:tc>
                  <a:txBody>
                    <a:bodyPr wrap="square"/>
                    <a:lstStyle/>
                    <a:p>
                      <a:r>
                        <a:rPr sz="1450" b="0">
                          <a:solidFill>
                            <a:srgbClr val="1A1A1A"/>
                          </a:solidFill>
                          <a:latin typeface="Source Sans 3"/>
                        </a:rPr>
                        <a:t>Follow a view's changes; re-asked every two seconds, so a REVOKE ends an open stream</a:t>
                      </a:r>
                    </a:p>
                  </a:txBody>
                  <a:tcPr marL="82296" marR="64008" marT="32004" marB="32004" anchor="ctr">
                    <a:solidFill>
                      <a:srgbClr val="F7F5F2"/>
                    </a:solidFill>
                  </a:tcPr>
                </a:tc>
              </a:tr>
              <a:tr h="584098">
                <a:tc>
                  <a:txBody>
                    <a:bodyPr wrap="square"/>
                    <a:lstStyle/>
                    <a:p>
                      <a:r>
                        <a:rPr sz="1450" b="1">
                          <a:solidFill>
                            <a:srgbClr val="8A1626"/>
                          </a:solidFill>
                          <a:latin typeface="Source Sans 3"/>
                        </a:rPr>
                        <a:t>BUILD_ON</a:t>
                      </a:r>
                    </a:p>
                  </a:txBody>
                  <a:tcPr marL="82296" marR="64008" marT="32004" marB="32004" anchor="ctr">
                    <a:solidFill>
                      <a:srgbClr val="FFFFFF"/>
                    </a:solidFill>
                  </a:tcPr>
                </a:tc>
                <a:tc>
                  <a:txBody>
                    <a:bodyPr wrap="square"/>
                    <a:lstStyle/>
                    <a:p>
                      <a:r>
                        <a:rPr sz="1450" b="0">
                          <a:solidFill>
                            <a:srgbClr val="1A1A1A"/>
                          </a:solidFill>
                          <a:latin typeface="Source Sans 3"/>
                        </a:rPr>
                        <a:t>Name an object as a registration's input: a registration is a standing read</a:t>
                      </a:r>
                    </a:p>
                  </a:txBody>
                  <a:tcPr marL="82296" marR="64008" marT="32004" marB="32004" anchor="ctr">
                    <a:solidFill>
                      <a:srgbClr val="FFFFFF"/>
                    </a:solidFill>
                  </a:tcPr>
                </a:tc>
              </a:tr>
              <a:tr h="346913">
                <a:tc>
                  <a:txBody>
                    <a:bodyPr wrap="square"/>
                    <a:lstStyle/>
                    <a:p>
                      <a:r>
                        <a:rPr sz="1450" b="1">
                          <a:solidFill>
                            <a:srgbClr val="8A1626"/>
                          </a:solidFill>
                          <a:latin typeface="Source Sans 3"/>
                        </a:rPr>
                        <a:t>CREATE · WRITE</a:t>
                      </a:r>
                    </a:p>
                  </a:txBody>
                  <a:tcPr marL="82296" marR="64008" marT="32004" marB="32004" anchor="ctr">
                    <a:solidFill>
                      <a:srgbClr val="F7F5F2"/>
                    </a:solidFill>
                  </a:tcPr>
                </a:tc>
                <a:tc>
                  <a:txBody>
                    <a:bodyPr wrap="square"/>
                    <a:lstStyle/>
                    <a:p>
                      <a:r>
                        <a:rPr sz="1450" b="0">
                          <a:solidFill>
                            <a:srgbClr val="1A1A1A"/>
                          </a:solidFill>
                          <a:latin typeface="Source Sans 3"/>
                        </a:rPr>
                        <a:t>Create in a namespace; write to a sink or notify a channel</a:t>
                      </a:r>
                    </a:p>
                  </a:txBody>
                  <a:tcPr marL="82296" marR="64008" marT="32004" marB="32004" anchor="ctr">
                    <a:solidFill>
                      <a:srgbClr val="F7F5F2"/>
                    </a:solidFill>
                  </a:tcPr>
                </a:tc>
              </a:tr>
              <a:tr h="346913">
                <a:tc>
                  <a:txBody>
                    <a:bodyPr wrap="square"/>
                    <a:lstStyle/>
                    <a:p>
                      <a:r>
                        <a:rPr sz="1450" b="1">
                          <a:solidFill>
                            <a:srgbClr val="8A1626"/>
                          </a:solidFill>
                          <a:latin typeface="Source Sans 3"/>
                        </a:rPr>
                        <a:t>MODIFY · MANAGE · OWN</a:t>
                      </a:r>
                    </a:p>
                  </a:txBody>
                  <a:tcPr marL="82296" marR="64008" marT="32004" marB="32004" anchor="ctr">
                    <a:solidFill>
                      <a:srgbClr val="FFFFFF"/>
                    </a:solidFill>
                  </a:tcPr>
                </a:tc>
                <a:tc>
                  <a:txBody>
                    <a:bodyPr wrap="square"/>
                    <a:lstStyle/>
                    <a:p>
                      <a:r>
                        <a:rPr sz="1450" b="0">
                          <a:solidFill>
                            <a:srgbClr val="1A1A1A"/>
                          </a:solidFill>
                          <a:latin typeface="Source Sans 3"/>
                        </a:rPr>
                        <a:t>Administer: drop, pause, replace; change grants; own it</a:t>
                      </a:r>
                    </a:p>
                  </a:txBody>
                  <a:tcPr marL="82296" marR="64008" marT="32004" marB="32004" anchor="ctr">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POLICIES · ADR-059 PHASE 2</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Row filters and masks are policies, applied where rows leave an object</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Security, identity and governance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57</a:t>
            </a:r>
          </a:p>
        </p:txBody>
      </p:sp>
      <p:sp>
        <p:nvSpPr>
          <p:cNvPr id="10" name="Rectangle 9"/>
          <p:cNvSpPr/>
          <p:nvPr/>
        </p:nvSpPr>
        <p:spPr>
          <a:xfrm>
            <a:off x="777240" y="1623568"/>
            <a:ext cx="5135727" cy="295412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623568"/>
            <a:ext cx="45720" cy="2954121"/>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824736"/>
            <a:ext cx="4733391" cy="2551785"/>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F1EEE9"/>
                </a:solidFill>
                <a:latin typeface="Consolas"/>
              </a:rPr>
              <a:t>CREATE ROW FILTER sales.region_scope</a:t>
            </a:r>
          </a:p>
          <a:p>
            <a:pPr>
              <a:lnSpc>
                <a:spcPct val="100000"/>
              </a:lnSpc>
              <a:spcBef>
                <a:spcPts val="0"/>
              </a:spcBef>
              <a:spcAft>
                <a:spcPts val="0"/>
              </a:spcAft>
            </a:pPr>
            <a:r>
              <a:rPr sz="1300" b="0" i="0">
                <a:solidFill>
                  <a:srgbClr val="F1EEE9"/>
                </a:solidFill>
                <a:latin typeface="Consolas"/>
              </a:rPr>
              <a:t>  AS region = session_attribute('region')</a:t>
            </a:r>
          </a:p>
          <a:p>
            <a:pPr>
              <a:lnSpc>
                <a:spcPct val="100000"/>
              </a:lnSpc>
              <a:spcBef>
                <a:spcPts val="0"/>
              </a:spcBef>
              <a:spcAft>
                <a:spcPts val="0"/>
              </a:spcAft>
            </a:pPr>
            <a:r>
              <a:rPr sz="1300" b="0" i="0">
                <a:solidFill>
                  <a:srgbClr val="F1EEE9"/>
                </a:solidFill>
                <a:latin typeface="Consolas"/>
              </a:rPr>
              <a:t>  EXCEPT ROLE finance_admin;</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F1EEE9"/>
                </a:solidFill>
                <a:latin typeface="Consolas"/>
              </a:rPr>
              <a:t>CREATE MASK sales.card_last4 ON COLUMN card</a:t>
            </a:r>
          </a:p>
          <a:p>
            <a:pPr>
              <a:lnSpc>
                <a:spcPct val="100000"/>
              </a:lnSpc>
              <a:spcBef>
                <a:spcPts val="0"/>
              </a:spcBef>
              <a:spcAft>
                <a:spcPts val="0"/>
              </a:spcAft>
            </a:pPr>
            <a:r>
              <a:rPr sz="1300" b="0" i="0">
                <a:solidFill>
                  <a:srgbClr val="F1EEE9"/>
                </a:solidFill>
                <a:latin typeface="Consolas"/>
              </a:rPr>
              <a:t>  AS 'XXXX-' || RIGHT(card, 4)</a:t>
            </a:r>
          </a:p>
          <a:p>
            <a:pPr>
              <a:lnSpc>
                <a:spcPct val="100000"/>
              </a:lnSpc>
              <a:spcBef>
                <a:spcPts val="0"/>
              </a:spcBef>
              <a:spcAft>
                <a:spcPts val="0"/>
              </a:spcAft>
            </a:pPr>
            <a:r>
              <a:rPr sz="1300" b="0" i="0">
                <a:solidFill>
                  <a:srgbClr val="F1EEE9"/>
                </a:solidFill>
                <a:latin typeface="Consolas"/>
              </a:rPr>
              <a:t>  EXCEPT ROLE payments_ops;</a:t>
            </a:r>
          </a:p>
          <a:p>
            <a:pPr>
              <a:lnSpc>
                <a:spcPct val="100000"/>
              </a:lnSpc>
              <a:spcBef>
                <a:spcPts val="0"/>
              </a:spcBef>
              <a:spcAft>
                <a:spcPts val="0"/>
              </a:spcAft>
            </a:pPr>
            <a:r>
              <a:rPr sz="1300" b="0" i="0">
                <a:solidFill>
                  <a:srgbClr val="F1EEE9"/>
                </a:solidFill>
                <a:latin typeface="Consolas"/>
              </a:rPr>
              <a:t> </a:t>
            </a:r>
          </a:p>
          <a:p>
            <a:pPr>
              <a:lnSpc>
                <a:spcPct val="100000"/>
              </a:lnSpc>
              <a:spcBef>
                <a:spcPts val="0"/>
              </a:spcBef>
              <a:spcAft>
                <a:spcPts val="0"/>
              </a:spcAft>
            </a:pPr>
            <a:r>
              <a:rPr sz="1300" b="0" i="0">
                <a:solidFill>
                  <a:srgbClr val="F1EEE9"/>
                </a:solidFill>
                <a:latin typeface="Consolas"/>
              </a:rPr>
              <a:t>ALTER STREAM orders</a:t>
            </a:r>
          </a:p>
          <a:p>
            <a:pPr>
              <a:lnSpc>
                <a:spcPct val="100000"/>
              </a:lnSpc>
              <a:spcBef>
                <a:spcPts val="0"/>
              </a:spcBef>
              <a:spcAft>
                <a:spcPts val="0"/>
              </a:spcAft>
            </a:pPr>
            <a:r>
              <a:rPr sz="1300" b="0" i="0">
                <a:solidFill>
                  <a:srgbClr val="F1EEE9"/>
                </a:solidFill>
                <a:latin typeface="Consolas"/>
              </a:rPr>
              <a:t>  SET POLICY sales.region_scope;</a:t>
            </a:r>
          </a:p>
          <a:p>
            <a:pPr>
              <a:lnSpc>
                <a:spcPct val="100000"/>
              </a:lnSpc>
              <a:spcBef>
                <a:spcPts val="0"/>
              </a:spcBef>
              <a:spcAft>
                <a:spcPts val="0"/>
              </a:spcAft>
            </a:pPr>
            <a:r>
              <a:rPr sz="1300" b="0" i="0">
                <a:solidFill>
                  <a:srgbClr val="F1EEE9"/>
                </a:solidFill>
                <a:latin typeface="Consolas"/>
              </a:rPr>
              <a:t>ALTER TAG 'pii'</a:t>
            </a:r>
          </a:p>
          <a:p>
            <a:pPr>
              <a:lnSpc>
                <a:spcPct val="100000"/>
              </a:lnSpc>
              <a:spcBef>
                <a:spcPts val="0"/>
              </a:spcBef>
              <a:spcAft>
                <a:spcPts val="0"/>
              </a:spcAft>
            </a:pPr>
            <a:r>
              <a:rPr sz="1300" b="0" i="0">
                <a:solidFill>
                  <a:srgbClr val="F1EEE9"/>
                </a:solidFill>
                <a:latin typeface="Consolas"/>
              </a:rPr>
              <a:t>  SET POLICY sales.card_last4;</a:t>
            </a:r>
          </a:p>
        </p:txBody>
      </p:sp>
      <p:sp>
        <p:nvSpPr>
          <p:cNvPr id="13" name="TextBox 12"/>
          <p:cNvSpPr txBox="1"/>
          <p:nvPr/>
        </p:nvSpPr>
        <p:spPr>
          <a:xfrm>
            <a:off x="6278727" y="1623568"/>
            <a:ext cx="5135727" cy="4621784"/>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One place covers every path</a:t>
            </a:r>
          </a:p>
          <a:p>
            <a:pPr lvl="1">
              <a:lnSpc>
                <a:spcPct val="120000"/>
              </a:lnSpc>
              <a:spcBef>
                <a:spcPts val="0"/>
              </a:spcBef>
              <a:spcAft>
                <a:spcPts val="0"/>
              </a:spcAft>
            </a:pPr>
            <a:r>
              <a:rPr sz="1350" b="0">
                <a:solidFill>
                  <a:srgbClr val="4A5058"/>
                </a:solidFill>
                <a:latin typeface="Source Sans 3"/>
              </a:rPr>
              <a:t>Flight and point reads, pgwire text and binary, subscriptions, registrations built on the view, and alerts evaluated as their owner.</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masked column is never an operand</a:t>
            </a:r>
          </a:p>
          <a:p>
            <a:pPr lvl="1">
              <a:lnSpc>
                <a:spcPct val="120000"/>
              </a:lnSpc>
              <a:spcBef>
                <a:spcPts val="0"/>
              </a:spcBef>
              <a:spcAft>
                <a:spcPts val="0"/>
              </a:spcAft>
            </a:pPr>
            <a:r>
              <a:rPr sz="1350" b="0">
                <a:solidFill>
                  <a:srgbClr val="4A5058"/>
                </a:solidFill>
                <a:latin typeface="Source Sans 3"/>
              </a:rPr>
              <a:t>As a filter, group, join or sort key, aggregate argument or view key it would leak the true value — refused, PRV-7006.</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In the fingerprint</a:t>
            </a:r>
          </a:p>
          <a:p>
            <a:pPr lvl="1">
              <a:lnSpc>
                <a:spcPct val="120000"/>
              </a:lnSpc>
              <a:spcBef>
                <a:spcPts val="0"/>
              </a:spcBef>
              <a:spcAft>
                <a:spcPts val="0"/>
              </a:spcAft>
            </a:pPr>
            <a:r>
              <a:rPr sz="1350" b="0">
                <a:solidFill>
                  <a:srgbClr val="4A5058"/>
                </a:solidFill>
                <a:latin typeface="Source Sans 3"/>
              </a:rPr>
              <a:t>Registrants narrowed differently get different computations; a query over a masked view carries the mask into its own answer.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VACUITY · TAUTOFILTER-1, VACUITYGAP-1</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 filter that restricts nothing is refused, not enforced</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Security, identity and governance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58</a:t>
            </a:r>
          </a:p>
        </p:txBody>
      </p:sp>
      <p:sp>
        <p:nvSpPr>
          <p:cNvPr id="10" name="Rectangle 9"/>
          <p:cNvSpPr/>
          <p:nvPr/>
        </p:nvSpPr>
        <p:spPr>
          <a:xfrm>
            <a:off x="777240"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Refused</a:t>
            </a:r>
          </a:p>
        </p:txBody>
      </p:sp>
      <p:graphicFrame>
        <p:nvGraphicFramePr>
          <p:cNvPr id="13" name="Table 12"/>
          <p:cNvGraphicFramePr>
            <a:graphicFrameLocks noGrp="1"/>
          </p:cNvGraphicFramePr>
          <p:nvPr/>
        </p:nvGraphicFramePr>
        <p:xfrm>
          <a:off x="777240" y="1873910"/>
          <a:ext cx="5135727" cy="2416807"/>
        </p:xfrm>
        <a:graphic>
          <a:graphicData uri="http://schemas.openxmlformats.org/drawingml/2006/table">
            <a:tbl>
              <a:tblPr firstRow="1">
                <a:tableStyleId>{5C22544A-7EE6-4342-B048-85BDC9FD1C3A}</a:tableStyleId>
              </a:tblPr>
              <a:tblGrid>
                <a:gridCol w="2838165"/>
                <a:gridCol w="2297562"/>
              </a:tblGrid>
              <a:tr h="322376">
                <a:tc>
                  <a:txBody>
                    <a:bodyPr wrap="square"/>
                    <a:lstStyle/>
                    <a:p>
                      <a:r>
                        <a:rPr sz="1300" b="1">
                          <a:solidFill>
                            <a:srgbClr val="FFFFFF"/>
                          </a:solidFill>
                          <a:latin typeface="Source Sans 3"/>
                        </a:rPr>
                        <a:t>Filter</a:t>
                      </a:r>
                    </a:p>
                  </a:txBody>
                  <a:tcPr marL="82296" marR="64008" marT="32004" marB="32004" anchor="ctr">
                    <a:solidFill>
                      <a:srgbClr val="8A1626"/>
                    </a:solidFill>
                  </a:tcPr>
                </a:tc>
                <a:tc>
                  <a:txBody>
                    <a:bodyPr wrap="square"/>
                    <a:lstStyle/>
                    <a:p>
                      <a:r>
                        <a:rPr sz="1300" b="1">
                          <a:solidFill>
                            <a:srgbClr val="FFFFFF"/>
                          </a:solidFill>
                          <a:latin typeface="Source Sans 3"/>
                        </a:rPr>
                        <a:t>Why</a:t>
                      </a:r>
                    </a:p>
                  </a:txBody>
                  <a:tcPr marL="82296" marR="64008" marT="32004" marB="32004" anchor="ctr">
                    <a:solidFill>
                      <a:srgbClr val="8A1626"/>
                    </a:solidFill>
                  </a:tcPr>
                </a:tc>
              </a:tr>
              <a:tr h="330555">
                <a:tc>
                  <a:txBody>
                    <a:bodyPr wrap="square"/>
                    <a:lstStyle/>
                    <a:p>
                      <a:r>
                        <a:rPr sz="1350" b="1">
                          <a:solidFill>
                            <a:srgbClr val="8A1626"/>
                          </a:solidFill>
                          <a:latin typeface="Source Sans 3"/>
                        </a:rPr>
                        <a:t>region = region</a:t>
                      </a:r>
                    </a:p>
                  </a:txBody>
                  <a:tcPr marL="82296" marR="64008" marT="32004" marB="32004" anchor="ctr">
                    <a:solidFill>
                      <a:srgbClr val="FFFFFF"/>
                    </a:solidFill>
                  </a:tcPr>
                </a:tc>
                <a:tc>
                  <a:txBody>
                    <a:bodyPr wrap="square"/>
                    <a:lstStyle/>
                    <a:p>
                      <a:r>
                        <a:rPr sz="1350" b="0">
                          <a:solidFill>
                            <a:srgbClr val="1A1A1A"/>
                          </a:solidFill>
                          <a:latin typeface="Source Sans 3"/>
                        </a:rPr>
                        <a:t>true for every row</a:t>
                      </a:r>
                    </a:p>
                  </a:txBody>
                  <a:tcPr marL="82296" marR="64008" marT="32004" marB="32004" anchor="ctr">
                    <a:solidFill>
                      <a:srgbClr val="FFFFFF"/>
                    </a:solidFill>
                  </a:tcPr>
                </a:tc>
              </a:tr>
              <a:tr h="330555">
                <a:tc>
                  <a:txBody>
                    <a:bodyPr wrap="square"/>
                    <a:lstStyle/>
                    <a:p>
                      <a:r>
                        <a:rPr sz="1350" b="1">
                          <a:solidFill>
                            <a:srgbClr val="8A1626"/>
                          </a:solidFill>
                          <a:latin typeface="Source Sans 3"/>
                        </a:rPr>
                        <a:t>1 = 1 OR region = 'x'</a:t>
                      </a:r>
                    </a:p>
                  </a:txBody>
                  <a:tcPr marL="82296" marR="64008" marT="32004" marB="32004" anchor="ctr">
                    <a:solidFill>
                      <a:srgbClr val="F7F5F2"/>
                    </a:solidFill>
                  </a:tcPr>
                </a:tc>
                <a:tc>
                  <a:txBody>
                    <a:bodyPr wrap="square"/>
                    <a:lstStyle/>
                    <a:p>
                      <a:r>
                        <a:rPr sz="1350" b="0">
                          <a:solidFill>
                            <a:srgbClr val="1A1A1A"/>
                          </a:solidFill>
                          <a:latin typeface="Source Sans 3"/>
                        </a:rPr>
                        <a:t>folds to TRUE</a:t>
                      </a:r>
                    </a:p>
                  </a:txBody>
                  <a:tcPr marL="82296" marR="64008" marT="32004" marB="32004" anchor="ctr">
                    <a:solidFill>
                      <a:srgbClr val="F7F5F2"/>
                    </a:solidFill>
                  </a:tcPr>
                </a:tc>
              </a:tr>
              <a:tr h="330555">
                <a:tc>
                  <a:txBody>
                    <a:bodyPr wrap="square"/>
                    <a:lstStyle/>
                    <a:p>
                      <a:r>
                        <a:rPr sz="1350" b="1">
                          <a:solidFill>
                            <a:srgbClr val="8A1626"/>
                          </a:solidFill>
                          <a:latin typeface="Source Sans 3"/>
                        </a:rPr>
                        <a:t>a &lt; 5 OR a &gt; 2</a:t>
                      </a:r>
                    </a:p>
                  </a:txBody>
                  <a:tcPr marL="82296" marR="64008" marT="32004" marB="32004" anchor="ctr">
                    <a:solidFill>
                      <a:srgbClr val="FFFFFF"/>
                    </a:solidFill>
                  </a:tcPr>
                </a:tc>
                <a:tc>
                  <a:txBody>
                    <a:bodyPr wrap="square"/>
                    <a:lstStyle/>
                    <a:p>
                      <a:r>
                        <a:rPr sz="1350" b="0">
                          <a:solidFill>
                            <a:srgbClr val="1A1A1A"/>
                          </a:solidFill>
                          <a:latin typeface="Source Sans 3"/>
                        </a:rPr>
                        <a:t>covers every integer</a:t>
                      </a:r>
                    </a:p>
                  </a:txBody>
                  <a:tcPr marL="82296" marR="64008" marT="32004" marB="32004" anchor="ctr">
                    <a:solidFill>
                      <a:srgbClr val="FFFFFF"/>
                    </a:solidFill>
                  </a:tcPr>
                </a:tc>
              </a:tr>
              <a:tr h="551383">
                <a:tc>
                  <a:txBody>
                    <a:bodyPr wrap="square"/>
                    <a:lstStyle/>
                    <a:p>
                      <a:r>
                        <a:rPr sz="1350" b="1">
                          <a:solidFill>
                            <a:srgbClr val="8A1626"/>
                          </a:solidFill>
                          <a:latin typeface="Source Sans 3"/>
                        </a:rPr>
                        <a:t>x IS NULL OR x IS NOT NULL</a:t>
                      </a:r>
                    </a:p>
                  </a:txBody>
                  <a:tcPr marL="82296" marR="64008" marT="32004" marB="32004" anchor="ctr">
                    <a:solidFill>
                      <a:srgbClr val="F7F5F2"/>
                    </a:solidFill>
                  </a:tcPr>
                </a:tc>
                <a:tc>
                  <a:txBody>
                    <a:bodyPr wrap="square"/>
                    <a:lstStyle/>
                    <a:p>
                      <a:r>
                        <a:rPr sz="1350" b="0">
                          <a:solidFill>
                            <a:srgbClr val="1A1A1A"/>
                          </a:solidFill>
                          <a:latin typeface="Source Sans 3"/>
                        </a:rPr>
                        <a:t>true for every row</a:t>
                      </a:r>
                    </a:p>
                  </a:txBody>
                  <a:tcPr marL="82296" marR="64008" marT="32004" marB="32004" anchor="ctr">
                    <a:solidFill>
                      <a:srgbClr val="F7F5F2"/>
                    </a:solidFill>
                  </a:tcPr>
                </a:tc>
              </a:tr>
              <a:tr h="551383">
                <a:tc>
                  <a:txBody>
                    <a:bodyPr wrap="square"/>
                    <a:lstStyle/>
                    <a:p>
                      <a:r>
                        <a:rPr sz="1350" b="1">
                          <a:solidFill>
                            <a:srgbClr val="8A1626"/>
                          </a:solidFill>
                          <a:latin typeface="Source Sans 3"/>
                        </a:rPr>
                        <a:t>a &gt;= a</a:t>
                      </a:r>
                    </a:p>
                  </a:txBody>
                  <a:tcPr marL="82296" marR="64008" marT="32004" marB="32004" anchor="ctr">
                    <a:solidFill>
                      <a:srgbClr val="FFFFFF"/>
                    </a:solidFill>
                  </a:tcPr>
                </a:tc>
                <a:tc>
                  <a:txBody>
                    <a:bodyPr wrap="square"/>
                    <a:lstStyle/>
                    <a:p>
                      <a:r>
                        <a:rPr sz="1350" b="0">
                          <a:solidFill>
                            <a:srgbClr val="1A1A1A"/>
                          </a:solidFill>
                          <a:latin typeface="Source Sans 3"/>
                        </a:rPr>
                        <a:t>drops only NULLs, unsaid</a:t>
                      </a:r>
                    </a:p>
                  </a:txBody>
                  <a:tcPr marL="82296" marR="64008" marT="32004" marB="32004" anchor="ctr">
                    <a:solidFill>
                      <a:srgbClr val="FFFFFF"/>
                    </a:solidFill>
                  </a:tcPr>
                </a:tc>
              </a:tr>
            </a:tbl>
          </a:graphicData>
        </a:graphic>
      </p:graphicFrame>
      <p:sp>
        <p:nvSpPr>
          <p:cNvPr id="14" name="Rectangle 13"/>
          <p:cNvSpPr/>
          <p:nvPr/>
        </p:nvSpPr>
        <p:spPr>
          <a:xfrm>
            <a:off x="6278727"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Sound, not complete</a:t>
            </a:r>
          </a:p>
        </p:txBody>
      </p:sp>
      <p:sp>
        <p:nvSpPr>
          <p:cNvPr id="17" name="TextBox 16"/>
          <p:cNvSpPr txBox="1"/>
          <p:nvPr/>
        </p:nvSpPr>
        <p:spPr>
          <a:xfrm>
            <a:off x="6278727" y="1873910"/>
            <a:ext cx="5135727" cy="4371441"/>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Source Sans 3"/>
              </a:rPr>
              <a:t>▪  </a:t>
            </a:r>
            <a:r>
              <a:rPr sz="1450" b="1">
                <a:solidFill>
                  <a:srgbClr val="1A1A1A"/>
                </a:solidFill>
                <a:latin typeface="Source Sans 3"/>
              </a:rPr>
              <a:t>Never refuses a real restriction</a:t>
            </a:r>
          </a:p>
          <a:p>
            <a:pPr lvl="1">
              <a:lnSpc>
                <a:spcPct val="120000"/>
              </a:lnSpc>
              <a:spcBef>
                <a:spcPts val="0"/>
              </a:spcBef>
              <a:spcAft>
                <a:spcPts val="0"/>
              </a:spcAft>
            </a:pPr>
            <a:r>
              <a:rPr sz="1300" b="0">
                <a:solidFill>
                  <a:srgbClr val="4A5058"/>
                </a:solidFill>
                <a:latin typeface="Source Sans 3"/>
              </a:rPr>
              <a:t>Constants cut a column's values into regions; each comparison is decided region by region. A property test checks every verdict against every region.</a:t>
            </a:r>
          </a:p>
          <a:p>
            <a:pPr>
              <a:lnSpc>
                <a:spcPct val="120000"/>
              </a:lnSpc>
              <a:spcBef>
                <a:spcPts val="500"/>
              </a:spcBef>
              <a:spcAft>
                <a:spcPts val="100"/>
              </a:spcAft>
            </a:pPr>
            <a:r>
              <a:rPr sz="1450" b="1">
                <a:solidFill>
                  <a:srgbClr val="A51C30"/>
                </a:solidFill>
                <a:latin typeface="Source Sans 3"/>
              </a:rPr>
              <a:t>▪  </a:t>
            </a:r>
            <a:r>
              <a:rPr sz="1450" b="1">
                <a:solidFill>
                  <a:srgbClr val="1A1A1A"/>
                </a:solidFill>
                <a:latin typeface="Source Sans 3"/>
              </a:rPr>
              <a:t>Decided where it can be</a:t>
            </a:r>
          </a:p>
          <a:p>
            <a:pPr lvl="1">
              <a:lnSpc>
                <a:spcPct val="120000"/>
              </a:lnSpc>
              <a:spcBef>
                <a:spcPts val="0"/>
              </a:spcBef>
              <a:spcAft>
                <a:spcPts val="0"/>
              </a:spcAft>
            </a:pPr>
            <a:r>
              <a:rPr sz="1300" b="0">
                <a:solidFill>
                  <a:srgbClr val="4A5058"/>
                </a:solidFill>
                <a:latin typeface="Source Sans 3"/>
              </a:rPr>
              <a:t>A session-free policy at binding (PRV-7038); one reading the session per reader, at each read and registration (PRV-7003).</a:t>
            </a:r>
          </a:p>
          <a:p>
            <a:pPr>
              <a:lnSpc>
                <a:spcPct val="120000"/>
              </a:lnSpc>
              <a:spcBef>
                <a:spcPts val="500"/>
              </a:spcBef>
              <a:spcAft>
                <a:spcPts val="100"/>
              </a:spcAft>
            </a:pPr>
            <a:r>
              <a:rPr sz="1450" b="1">
                <a:solidFill>
                  <a:srgbClr val="A51C30"/>
                </a:solidFill>
                <a:latin typeface="Source Sans 3"/>
              </a:rPr>
              <a:t>▪  </a:t>
            </a:r>
            <a:r>
              <a:rPr sz="1450" b="1">
                <a:solidFill>
                  <a:srgbClr val="1A1A1A"/>
                </a:solidFill>
                <a:latin typeface="Source Sans 3"/>
              </a:rPr>
              <a:t>Too large to decide</a:t>
            </a:r>
          </a:p>
          <a:p>
            <a:pPr lvl="1">
              <a:lnSpc>
                <a:spcPct val="120000"/>
              </a:lnSpc>
              <a:spcBef>
                <a:spcPts val="0"/>
              </a:spcBef>
              <a:spcAft>
                <a:spcPts val="0"/>
              </a:spcAft>
            </a:pPr>
            <a:r>
              <a:rPr sz="1300" b="0">
                <a:solidFill>
                  <a:srgbClr val="4A5058"/>
                </a:solidFill>
                <a:latin typeface="Source Sans 3"/>
              </a:rPr>
              <a:t>Assumed to restrict.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IDENTITY · ADR-052</a:t>
            </a:r>
          </a:p>
        </p:txBody>
      </p:sp>
      <p:sp>
        <p:nvSpPr>
          <p:cNvPr id="5" name="TextBox 4"/>
          <p:cNvSpPr txBox="1"/>
          <p:nvPr/>
        </p:nvSpPr>
        <p:spPr>
          <a:xfrm>
            <a:off x="777240" y="749808"/>
            <a:ext cx="10637215" cy="380085"/>
          </a:xfrm>
          <a:prstGeom prst="rect">
            <a:avLst/>
          </a:prstGeom>
          <a:noFill/>
        </p:spPr>
        <p:txBody>
          <a:bodyPr wrap="square" lIns="0" rIns="0" tIns="0" bIns="0" anchor="t">
            <a:spAutoFit/>
          </a:bodyPr>
          <a:lstStyle/>
          <a:p>
            <a:pPr algn="l">
              <a:lnSpc>
                <a:spcPct val="115000"/>
              </a:lnSpc>
              <a:spcBef>
                <a:spcPts val="0"/>
              </a:spcBef>
              <a:spcAft>
                <a:spcPts val="0"/>
              </a:spcAft>
            </a:pPr>
            <a:r>
              <a:rPr sz="2100" b="1" i="0">
                <a:solidFill>
                  <a:srgbClr val="1A1A1A"/>
                </a:solidFill>
                <a:latin typeface="Source Sans 3"/>
              </a:rPr>
              <a:t>The engine keeps users, keys and sessions, and nothing reversible</a:t>
            </a:r>
          </a:p>
        </p:txBody>
      </p:sp>
      <p:sp>
        <p:nvSpPr>
          <p:cNvPr id="6" name="Rectangle 5"/>
          <p:cNvSpPr/>
          <p:nvPr/>
        </p:nvSpPr>
        <p:spPr>
          <a:xfrm>
            <a:off x="777240" y="1184757"/>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Security, identity and governance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59</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An append-only, fsync'd journal holds it — no database to run. The console signs each person in against the engine and acts as them. MFA and SSO were dropped by the owner.</a:t>
            </a:r>
          </a:p>
        </p:txBody>
      </p:sp>
      <p:graphicFrame>
        <p:nvGraphicFramePr>
          <p:cNvPr id="12" name="Table 11"/>
          <p:cNvGraphicFramePr>
            <a:graphicFrameLocks noGrp="1"/>
          </p:cNvGraphicFramePr>
          <p:nvPr/>
        </p:nvGraphicFramePr>
        <p:xfrm>
          <a:off x="777240" y="1312773"/>
          <a:ext cx="10637214" cy="3133138"/>
        </p:xfrm>
        <a:graphic>
          <a:graphicData uri="http://schemas.openxmlformats.org/drawingml/2006/table">
            <a:tbl>
              <a:tblPr firstRow="1">
                <a:tableStyleId>{5C22544A-7EE6-4342-B048-85BDC9FD1C3A}</a:tableStyleId>
              </a:tblPr>
              <a:tblGrid>
                <a:gridCol w="1772869"/>
                <a:gridCol w="3723025"/>
                <a:gridCol w="5141320"/>
              </a:tblGrid>
              <a:tr h="322376">
                <a:tc>
                  <a:txBody>
                    <a:bodyPr wrap="square"/>
                    <a:lstStyle/>
                    <a:p>
                      <a:r>
                        <a:rPr sz="1300" b="1">
                          <a:solidFill>
                            <a:srgbClr val="FFFFFF"/>
                          </a:solidFill>
                          <a:latin typeface="Source Sans 3"/>
                        </a:rPr>
                        <a:t>Secret</a:t>
                      </a:r>
                    </a:p>
                  </a:txBody>
                  <a:tcPr marL="82296" marR="64008" marT="32004" marB="32004" anchor="ctr">
                    <a:solidFill>
                      <a:srgbClr val="8A1626"/>
                    </a:solidFill>
                  </a:tcPr>
                </a:tc>
                <a:tc>
                  <a:txBody>
                    <a:bodyPr wrap="square"/>
                    <a:lstStyle/>
                    <a:p>
                      <a:r>
                        <a:rPr sz="1300" b="1">
                          <a:solidFill>
                            <a:srgbClr val="FFFFFF"/>
                          </a:solidFill>
                          <a:latin typeface="Source Sans 3"/>
                        </a:rPr>
                        <a:t>Stored as</a:t>
                      </a:r>
                    </a:p>
                  </a:txBody>
                  <a:tcPr marL="82296" marR="64008" marT="32004" marB="32004" anchor="ctr">
                    <a:solidFill>
                      <a:srgbClr val="8A1626"/>
                    </a:solidFill>
                  </a:tcPr>
                </a:tc>
                <a:tc>
                  <a:txBody>
                    <a:bodyPr wrap="square"/>
                    <a:lstStyle/>
                    <a:p>
                      <a:r>
                        <a:rPr sz="1300" b="1">
                          <a:solidFill>
                            <a:srgbClr val="FFFFFF"/>
                          </a:solidFill>
                          <a:latin typeface="Source Sans 3"/>
                        </a:rPr>
                        <a:t>Rules</a:t>
                      </a:r>
                    </a:p>
                  </a:txBody>
                  <a:tcPr marL="82296" marR="64008" marT="32004" marB="32004" anchor="ctr">
                    <a:solidFill>
                      <a:srgbClr val="8A1626"/>
                    </a:solidFill>
                  </a:tcPr>
                </a:tc>
              </a:tr>
              <a:tr h="821283">
                <a:tc>
                  <a:txBody>
                    <a:bodyPr wrap="square"/>
                    <a:lstStyle/>
                    <a:p>
                      <a:r>
                        <a:rPr sz="1450" b="1">
                          <a:solidFill>
                            <a:srgbClr val="8A1626"/>
                          </a:solidFill>
                          <a:latin typeface="Source Sans 3"/>
                        </a:rPr>
                        <a:t>Password</a:t>
                      </a:r>
                    </a:p>
                  </a:txBody>
                  <a:tcPr marL="82296" marR="64008" marT="32004" marB="32004" anchor="ctr">
                    <a:solidFill>
                      <a:srgbClr val="FFFFFF"/>
                    </a:solidFill>
                  </a:tcPr>
                </a:tc>
                <a:tc>
                  <a:txBody>
                    <a:bodyPr wrap="square"/>
                    <a:lstStyle/>
                    <a:p>
                      <a:r>
                        <a:rPr sz="1450" b="0">
                          <a:solidFill>
                            <a:srgbClr val="1A1A1A"/>
                          </a:solidFill>
                          <a:latin typeface="Source Sans 3"/>
                        </a:rPr>
                        <a:t>Argon2id (64 MiB, t=3, p=4); PBKDF2 where Argon2 is unavailable</a:t>
                      </a:r>
                    </a:p>
                  </a:txBody>
                  <a:tcPr marL="82296" marR="64008" marT="32004" marB="32004" anchor="ctr">
                    <a:solidFill>
                      <a:srgbClr val="FFFFFF"/>
                    </a:solidFill>
                  </a:tcPr>
                </a:tc>
                <a:tc>
                  <a:txBody>
                    <a:bodyPr wrap="square"/>
                    <a:lstStyle/>
                    <a:p>
                      <a:r>
                        <a:rPr sz="1450" b="0">
                          <a:solidFill>
                            <a:srgbClr val="1A1A1A"/>
                          </a:solidFill>
                          <a:latin typeface="Source Sans 3"/>
                        </a:rPr>
                        <a:t>12+ characters from 3 of 4 classes; not one of the last 5; 90-day maximum age</a:t>
                      </a:r>
                    </a:p>
                  </a:txBody>
                  <a:tcPr marL="82296" marR="64008" marT="32004" marB="32004" anchor="ctr">
                    <a:solidFill>
                      <a:srgbClr val="FFFFFF"/>
                    </a:solidFill>
                  </a:tcPr>
                </a:tc>
              </a:tr>
              <a:tr h="821283">
                <a:tc>
                  <a:txBody>
                    <a:bodyPr wrap="square"/>
                    <a:lstStyle/>
                    <a:p>
                      <a:r>
                        <a:rPr sz="1450" b="1">
                          <a:solidFill>
                            <a:srgbClr val="8A1626"/>
                          </a:solidFill>
                          <a:latin typeface="Source Sans 3"/>
                        </a:rPr>
                        <a:t>API key</a:t>
                      </a:r>
                    </a:p>
                  </a:txBody>
                  <a:tcPr marL="82296" marR="64008" marT="32004" marB="32004" anchor="ctr">
                    <a:solidFill>
                      <a:srgbClr val="F7F5F2"/>
                    </a:solidFill>
                  </a:tcPr>
                </a:tc>
                <a:tc>
                  <a:txBody>
                    <a:bodyPr wrap="square"/>
                    <a:lstStyle/>
                    <a:p>
                      <a:r>
                        <a:rPr sz="1450" b="0">
                          <a:solidFill>
                            <a:srgbClr val="1A1A1A"/>
                          </a:solidFill>
                          <a:latin typeface="Source Sans 3"/>
                        </a:rPr>
                        <a:t>The same KDF; secret shown once</a:t>
                      </a:r>
                    </a:p>
                  </a:txBody>
                  <a:tcPr marL="82296" marR="64008" marT="32004" marB="32004" anchor="ctr">
                    <a:solidFill>
                      <a:srgbClr val="F7F5F2"/>
                    </a:solidFill>
                  </a:tcPr>
                </a:tc>
                <a:tc>
                  <a:txBody>
                    <a:bodyPr wrap="square"/>
                    <a:lstStyle/>
                    <a:p>
                      <a:r>
                        <a:rPr sz="1450" b="0">
                          <a:solidFill>
                            <a:srgbClr val="1A1A1A"/>
                          </a:solidFill>
                          <a:latin typeface="Source Sans 3"/>
                        </a:rPr>
                        <a:t>prv_&lt;env&gt;_&lt;keyid&gt;_&lt;secret&gt;; roles a subset of the holder's; expiry mandatory, 90 days default, 365 at most; 7-day rotation overlap</a:t>
                      </a:r>
                    </a:p>
                  </a:txBody>
                  <a:tcPr marL="82296" marR="64008" marT="32004" marB="32004" anchor="ctr">
                    <a:solidFill>
                      <a:srgbClr val="F7F5F2"/>
                    </a:solidFill>
                  </a:tcPr>
                </a:tc>
              </a:tr>
              <a:tr h="584098">
                <a:tc>
                  <a:txBody>
                    <a:bodyPr wrap="square"/>
                    <a:lstStyle/>
                    <a:p>
                      <a:r>
                        <a:rPr sz="1450" b="1">
                          <a:solidFill>
                            <a:srgbClr val="8A1626"/>
                          </a:solidFill>
                          <a:latin typeface="Source Sans 3"/>
                        </a:rPr>
                        <a:t>Session token</a:t>
                      </a:r>
                    </a:p>
                  </a:txBody>
                  <a:tcPr marL="82296" marR="64008" marT="32004" marB="32004" anchor="ctr">
                    <a:solidFill>
                      <a:srgbClr val="FFFFFF"/>
                    </a:solidFill>
                  </a:tcPr>
                </a:tc>
                <a:tc>
                  <a:txBody>
                    <a:bodyPr wrap="square"/>
                    <a:lstStyle/>
                    <a:p>
                      <a:r>
                        <a:rPr sz="1450" b="0">
                          <a:solidFill>
                            <a:srgbClr val="1A1A1A"/>
                          </a:solidFill>
                          <a:latin typeface="Source Sans 3"/>
                        </a:rPr>
                        <a:t>SHA-256 of 256 random bits</a:t>
                      </a:r>
                    </a:p>
                  </a:txBody>
                  <a:tcPr marL="82296" marR="64008" marT="32004" marB="32004" anchor="ctr">
                    <a:solidFill>
                      <a:srgbClr val="FFFFFF"/>
                    </a:solidFill>
                  </a:tcPr>
                </a:tc>
                <a:tc>
                  <a:txBody>
                    <a:bodyPr wrap="square"/>
                    <a:lstStyle/>
                    <a:p>
                      <a:r>
                        <a:rPr sz="1450" b="0">
                          <a:solidFill>
                            <a:srgbClr val="1A1A1A"/>
                          </a:solidFill>
                          <a:latin typeface="Source Sans 3"/>
                        </a:rPr>
                        <a:t>30 minutes idle, 12 hours absolute, at most 3 per person</a:t>
                      </a:r>
                    </a:p>
                  </a:txBody>
                  <a:tcPr marL="82296" marR="64008" marT="32004" marB="32004" anchor="ctr">
                    <a:solidFill>
                      <a:srgbClr val="FFFFFF"/>
                    </a:solidFill>
                  </a:tcPr>
                </a:tc>
              </a:tr>
              <a:tr h="584098">
                <a:tc>
                  <a:txBody>
                    <a:bodyPr wrap="square"/>
                    <a:lstStyle/>
                    <a:p>
                      <a:r>
                        <a:rPr sz="1450" b="1">
                          <a:solidFill>
                            <a:srgbClr val="8A1626"/>
                          </a:solidFill>
                          <a:latin typeface="Source Sans 3"/>
                        </a:rPr>
                        <a:t>Login failures</a:t>
                      </a:r>
                    </a:p>
                  </a:txBody>
                  <a:tcPr marL="82296" marR="64008" marT="32004" marB="32004" anchor="ctr">
                    <a:solidFill>
                      <a:srgbClr val="F7F5F2"/>
                    </a:solidFill>
                  </a:tcPr>
                </a:tc>
                <a:tc>
                  <a:txBody>
                    <a:bodyPr wrap="square"/>
                    <a:lstStyle/>
                    <a:p>
                      <a:r>
                        <a:rPr sz="1450" b="0">
                          <a:solidFill>
                            <a:srgbClr val="1A1A1A"/>
                          </a:solidFill>
                          <a:latin typeface="Source Sans 3"/>
                        </a:rPr>
                        <a:t>Recorded before the refusal is answered</a:t>
                      </a:r>
                    </a:p>
                  </a:txBody>
                  <a:tcPr marL="82296" marR="64008" marT="32004" marB="32004" anchor="ctr">
                    <a:solidFill>
                      <a:srgbClr val="F7F5F2"/>
                    </a:solidFill>
                  </a:tcPr>
                </a:tc>
                <a:tc>
                  <a:txBody>
                    <a:bodyPr wrap="square"/>
                    <a:lstStyle/>
                    <a:p>
                      <a:r>
                        <a:rPr sz="1450" b="0">
                          <a:solidFill>
                            <a:srgbClr val="1A1A1A"/>
                          </a:solidFill>
                          <a:latin typeface="Source Sans 3"/>
                        </a:rPr>
                        <a:t>5 inside 15 minutes lock the account for 30</a:t>
                      </a:r>
                    </a:p>
                  </a:txBody>
                  <a:tcPr marL="82296" marR="64008" marT="32004" marB="32004" anchor="ctr">
                    <a:solidFill>
                      <a:srgbClr val="F7F5F2"/>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TENANCY · ADR-050, ADR-060</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A tenant owns names and state, and shares only with itself</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Security, identity and governance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60</a:t>
            </a:r>
          </a:p>
        </p:txBody>
      </p:sp>
      <p:sp>
        <p:nvSpPr>
          <p:cNvPr id="10" name="Rectangle 9"/>
          <p:cNvSpPr/>
          <p:nvPr/>
        </p:nvSpPr>
        <p:spPr>
          <a:xfrm>
            <a:off x="777240"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A tenant owns</a:t>
            </a:r>
          </a:p>
        </p:txBody>
      </p:sp>
      <p:sp>
        <p:nvSpPr>
          <p:cNvPr id="13" name="TextBox 12"/>
          <p:cNvSpPr txBox="1"/>
          <p:nvPr/>
        </p:nvSpPr>
        <p:spPr>
          <a:xfrm>
            <a:off x="777240" y="1857552"/>
            <a:ext cx="5135727" cy="4387799"/>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Its names, and the computations behind them</a:t>
            </a:r>
          </a:p>
          <a:p>
            <a:pPr lvl="1">
              <a:lnSpc>
                <a:spcPct val="120000"/>
              </a:lnSpc>
              <a:spcBef>
                <a:spcPts val="0"/>
              </a:spcBef>
              <a:spcAft>
                <a:spcPts val="0"/>
              </a:spcAft>
            </a:pPr>
            <a:r>
              <a:rPr sz="1400" b="0">
                <a:solidFill>
                  <a:srgbClr val="4A5058"/>
                </a:solidFill>
                <a:latin typeface="Source Sans 3"/>
              </a:rPr>
              <a:t>A view or alert name is unique within its tenant; another tenant's is, to the caller, a name nothing holds. The same SQL from two tenants is two computations.</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The keys those views hold</a:t>
            </a:r>
          </a:p>
          <a:p>
            <a:pPr lvl="1">
              <a:lnSpc>
                <a:spcPct val="120000"/>
              </a:lnSpc>
              <a:spcBef>
                <a:spcPts val="0"/>
              </a:spcBef>
              <a:spcAft>
                <a:spcPts val="0"/>
              </a:spcAft>
            </a:pPr>
            <a:r>
              <a:rPr sz="1400" b="0">
                <a:solidFill>
                  <a:srgbClr val="4A5058"/>
                </a:solidFill>
                <a:latin typeface="Source Sans 3"/>
              </a:rPr>
              <a:t>What max-state-keys counts; max-queries counts names.</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Refused by name at registration</a:t>
            </a:r>
          </a:p>
          <a:p>
            <a:pPr lvl="1">
              <a:lnSpc>
                <a:spcPct val="120000"/>
              </a:lnSpc>
              <a:spcBef>
                <a:spcPts val="0"/>
              </a:spcBef>
              <a:spcAft>
                <a:spcPts val="0"/>
              </a:spcAft>
            </a:pPr>
            <a:r>
              <a:rPr sz="1400" b="0">
                <a:solidFill>
                  <a:srgbClr val="4A5058"/>
                </a:solidFill>
                <a:latin typeface="Source Sans 3"/>
              </a:rPr>
              <a:t>PRV-8020 or PRV-8021, before a sink opens; audited as DENY; a running query is never stopped by a quota. Only its own tenant may replace a name (PRV-8022).</a:t>
            </a:r>
          </a:p>
        </p:txBody>
      </p:sp>
      <p:sp>
        <p:nvSpPr>
          <p:cNvPr id="14" name="Rectangle 13"/>
          <p:cNvSpPr/>
          <p:nvPr/>
        </p:nvSpPr>
        <p:spPr>
          <a:xfrm>
            <a:off x="6278727"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Who may administer a view</a:t>
            </a:r>
          </a:p>
        </p:txBody>
      </p:sp>
      <p:sp>
        <p:nvSpPr>
          <p:cNvPr id="17" name="TextBox 16"/>
          <p:cNvSpPr txBox="1"/>
          <p:nvPr/>
        </p:nvSpPr>
        <p:spPr>
          <a:xfrm>
            <a:off x="6278727" y="1857552"/>
            <a:ext cx="5135727" cy="4387799"/>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Its owner, a grantee, or an admin</a:t>
            </a:r>
          </a:p>
          <a:p>
            <a:pPr lvl="1">
              <a:lnSpc>
                <a:spcPct val="120000"/>
              </a:lnSpc>
              <a:spcBef>
                <a:spcPts val="0"/>
              </a:spcBef>
              <a:spcAft>
                <a:spcPts val="0"/>
              </a:spcAft>
            </a:pPr>
            <a:r>
              <a:rPr sz="1350" b="0">
                <a:solidFill>
                  <a:srgbClr val="4A5058"/>
                </a:solidFill>
                <a:latin typeface="Source Sans 3"/>
              </a:rPr>
              <a:t>Drop, pause, replace, debug: the registrant, MODIFY or MANAGE, or the admin role. Reading a view no longer lets you destroy it (PRV-7002).</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tenant does not scope lanes or CPU</a:t>
            </a:r>
          </a:p>
          <a:p>
            <a:pPr lvl="1">
              <a:lnSpc>
                <a:spcPct val="120000"/>
              </a:lnSpc>
              <a:spcBef>
                <a:spcPts val="0"/>
              </a:spcBef>
              <a:spcAft>
                <a:spcPts val="0"/>
              </a:spcAft>
            </a:pPr>
            <a:r>
              <a:rPr sz="1350" b="0">
                <a:solidFill>
                  <a:srgbClr val="4A5058"/>
                </a:solidFill>
                <a:latin typeface="Source Sans 3"/>
              </a:rPr>
              <a:t>Shared by decision; per-tenant CPU scheduling is not built.</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Upgrading from 0.2 is one-way</a:t>
            </a:r>
          </a:p>
          <a:p>
            <a:pPr lvl="1">
              <a:lnSpc>
                <a:spcPct val="120000"/>
              </a:lnSpc>
              <a:spcBef>
                <a:spcPts val="0"/>
              </a:spcBef>
              <a:spcAft>
                <a:spcPts val="0"/>
              </a:spcAft>
            </a:pPr>
            <a:r>
              <a:rPr sz="1350" b="0">
                <a:solidFill>
                  <a:srgbClr val="4A5058"/>
                </a:solidFill>
                <a:latin typeface="Source Sans 3"/>
              </a:rPr>
              <a:t>Once a view outside the default tenant is recovered under per-tenant names.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STATED PLAINLY</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What the security model does not do yet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9 · Security, identity and governance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61</a:t>
            </a:r>
          </a:p>
        </p:txBody>
      </p:sp>
      <p:sp>
        <p:nvSpPr>
          <p:cNvPr id="10" name="TextBox 9"/>
          <p:cNvSpPr txBox="1"/>
          <p:nvPr/>
        </p:nvSpPr>
        <p:spPr>
          <a:xfrm>
            <a:off x="777240" y="1410919"/>
            <a:ext cx="10637215" cy="4834432"/>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The HTTP API's TLS is Spring Boot's</a:t>
            </a:r>
          </a:p>
          <a:p>
            <a:pPr lvl="1">
              <a:lnSpc>
                <a:spcPct val="120000"/>
              </a:lnSpc>
              <a:spcBef>
                <a:spcPts val="0"/>
              </a:spcBef>
              <a:spcAft>
                <a:spcPts val="0"/>
              </a:spcAft>
            </a:pPr>
            <a:r>
              <a:rPr sz="1550" b="0">
                <a:solidFill>
                  <a:srgbClr val="4A5058"/>
                </a:solidFill>
                <a:latin typeface="Source Sans 3"/>
              </a:rPr>
              <a:t>Flight carries TLS by default; /api/v1 is reached over HTTPS only through server.ssl.*.</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No mTLS between nodes, no OIDC or JWT verifier out of the box</a:t>
            </a:r>
          </a:p>
          <a:p>
            <a:pPr lvl="1">
              <a:lnSpc>
                <a:spcPct val="120000"/>
              </a:lnSpc>
              <a:spcBef>
                <a:spcPts val="0"/>
              </a:spcBef>
              <a:spcAft>
                <a:spcPts val="0"/>
              </a:spcAft>
            </a:pPr>
            <a:r>
              <a:rPr sz="1550" b="0">
                <a:solidFill>
                  <a:srgbClr val="4A5058"/>
                </a:solidFill>
                <a:latin typeface="Source Sans 3"/>
              </a:rPr>
              <a:t>There are no nodes yet; TokenVerifier is the seam for a verifier.</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The catalogue's phases 3 and 4</a:t>
            </a:r>
          </a:p>
          <a:p>
            <a:pPr lvl="1">
              <a:lnSpc>
                <a:spcPct val="120000"/>
              </a:lnSpc>
              <a:spcBef>
                <a:spcPts val="0"/>
              </a:spcBef>
              <a:spcAft>
                <a:spcPts val="0"/>
              </a:spcAft>
            </a:pPr>
            <a:r>
              <a:rPr sz="1550" b="0">
                <a:solidFill>
                  <a:srgbClr val="4A5058"/>
                </a:solidFill>
                <a:latin typeface="Source Sans 3"/>
              </a:rPr>
              <a:t>Column tags, lineage and labels that follow it, contracts, sharing and access history are not built.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MFA and single sign-on</a:t>
            </a:r>
          </a:p>
          <a:p>
            <a:pPr lvl="1">
              <a:lnSpc>
                <a:spcPct val="120000"/>
              </a:lnSpc>
              <a:spcBef>
                <a:spcPts val="0"/>
              </a:spcBef>
              <a:spcAft>
                <a:spcPts val="0"/>
              </a:spcAft>
            </a:pPr>
            <a:r>
              <a:rPr sz="1550" b="0">
                <a:solidFill>
                  <a:srgbClr val="4A5058"/>
                </a:solidFill>
                <a:latin typeface="Source Sans 3"/>
              </a:rPr>
              <a:t>Dropped by the owner: users, passwords, API keys and sessions are what Pravaha keeps.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10</a:t>
            </a:r>
          </a:p>
        </p:txBody>
      </p:sp>
      <p:sp>
        <p:nvSpPr>
          <p:cNvPr id="8" name="TextBox 7"/>
          <p:cNvSpPr txBox="1"/>
          <p:nvPr/>
        </p:nvSpPr>
        <p:spPr>
          <a:xfrm>
            <a:off x="1005840" y="2240280"/>
            <a:ext cx="6169584" cy="700024"/>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Operating it</a:t>
            </a:r>
          </a:p>
        </p:txBody>
      </p:sp>
      <p:sp>
        <p:nvSpPr>
          <p:cNvPr id="9" name="Rectangle 8"/>
          <p:cNvSpPr/>
          <p:nvPr/>
        </p:nvSpPr>
        <p:spPr>
          <a:xfrm>
            <a:off x="1005840" y="3123184"/>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351784"/>
            <a:ext cx="6169584" cy="2408935"/>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Three ways to run one engine, one directory it lives in with or without Docker, a console that is a product and not a dashboard, two command lines, SDKs that ship on their own and survive a restart, BI tools over the PostgreSQL protocol, and metrics that say what is not measured rather than reporting zero.</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Three ways to run it; one /opt/pravaha</a:t>
            </a:r>
          </a:p>
          <a:p>
            <a:pPr>
              <a:lnSpc>
                <a:spcPct val="115000"/>
              </a:lnSpc>
              <a:spcBef>
                <a:spcPts val="0"/>
              </a:spcBef>
              <a:spcAft>
                <a:spcPts val="600"/>
              </a:spcAft>
            </a:pPr>
            <a:r>
              <a:rPr sz="1250" b="0" i="0">
                <a:solidFill>
                  <a:srgbClr val="F6E6E9"/>
                </a:solidFill>
                <a:latin typeface="Source Sans 3"/>
              </a:rPr>
              <a:t>The console</a:t>
            </a:r>
          </a:p>
          <a:p>
            <a:pPr>
              <a:lnSpc>
                <a:spcPct val="115000"/>
              </a:lnSpc>
              <a:spcBef>
                <a:spcPts val="0"/>
              </a:spcBef>
              <a:spcAft>
                <a:spcPts val="600"/>
              </a:spcAft>
            </a:pPr>
            <a:r>
              <a:rPr sz="1250" b="0" i="0">
                <a:solidFill>
                  <a:srgbClr val="F6E6E9"/>
                </a:solidFill>
                <a:latin typeface="Source Sans 3"/>
              </a:rPr>
              <a:t>pravaha and pravaha-engine</a:t>
            </a:r>
          </a:p>
          <a:p>
            <a:pPr>
              <a:lnSpc>
                <a:spcPct val="115000"/>
              </a:lnSpc>
              <a:spcBef>
                <a:spcPts val="0"/>
              </a:spcBef>
              <a:spcAft>
                <a:spcPts val="600"/>
              </a:spcAft>
            </a:pPr>
            <a:r>
              <a:rPr sz="1250" b="0" i="0">
                <a:solidFill>
                  <a:srgbClr val="F6E6E9"/>
                </a:solidFill>
                <a:latin typeface="Source Sans 3"/>
              </a:rPr>
              <a:t>SDKs, on their own, and reconnecting</a:t>
            </a:r>
          </a:p>
          <a:p>
            <a:pPr>
              <a:lnSpc>
                <a:spcPct val="115000"/>
              </a:lnSpc>
              <a:spcBef>
                <a:spcPts val="0"/>
              </a:spcBef>
              <a:spcAft>
                <a:spcPts val="600"/>
              </a:spcAft>
            </a:pPr>
            <a:r>
              <a:rPr sz="1250" b="0" i="0">
                <a:solidFill>
                  <a:srgbClr val="F6E6E9"/>
                </a:solidFill>
                <a:latin typeface="Source Sans 3"/>
              </a:rPr>
              <a:t>BI tools over the PostgreSQL protocol</a:t>
            </a:r>
          </a:p>
          <a:p>
            <a:pPr>
              <a:lnSpc>
                <a:spcPct val="115000"/>
              </a:lnSpc>
              <a:spcBef>
                <a:spcPts val="0"/>
              </a:spcBef>
              <a:spcAft>
                <a:spcPts val="600"/>
              </a:spcAft>
            </a:pPr>
            <a:r>
              <a:rPr sz="1250" b="0" i="0">
                <a:solidFill>
                  <a:srgbClr val="F6E6E9"/>
                </a:solidFill>
                <a:latin typeface="Source Sans 3"/>
              </a:rPr>
              <a:t>What to watch</a:t>
            </a:r>
          </a:p>
          <a:p>
            <a:pPr>
              <a:lnSpc>
                <a:spcPct val="115000"/>
              </a:lnSpc>
              <a:spcBef>
                <a:spcPts val="0"/>
              </a:spcBef>
              <a:spcAft>
                <a:spcPts val="600"/>
              </a:spcAft>
            </a:pPr>
            <a:r>
              <a:rPr sz="1250" b="0" i="0">
                <a:solidFill>
                  <a:srgbClr val="F6E6E9"/>
                </a:solidFill>
                <a:latin typeface="Source Sans 3"/>
              </a:rPr>
              <a:t>The assistant (experimental)</a:t>
            </a:r>
          </a:p>
          <a:p>
            <a:pPr>
              <a:lnSpc>
                <a:spcPct val="115000"/>
              </a:lnSpc>
              <a:spcBef>
                <a:spcPts val="0"/>
              </a:spcBef>
              <a:spcAft>
                <a:spcPts val="600"/>
              </a:spcAft>
            </a:pPr>
            <a:r>
              <a:rPr sz="1250" b="0" i="0">
                <a:solidFill>
                  <a:srgbClr val="F6E6E9"/>
                </a:solidFill>
                <a:latin typeface="Source Sans 3"/>
              </a:rPr>
              <a:t>The time-travel debugger</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DEPLOYMENT</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Three ways to run one engine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63</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The engine core contains no Spring, enforced by the build (ADR-019). The console is a separate process on the published SDK, so it cannot reach past the public API (ADR-024).</a:t>
            </a:r>
          </a:p>
        </p:txBody>
      </p:sp>
      <p:sp>
        <p:nvSpPr>
          <p:cNvPr id="12" name="Rectangle 11"/>
          <p:cNvSpPr/>
          <p:nvPr/>
        </p:nvSpPr>
        <p:spPr>
          <a:xfrm>
            <a:off x="777240" y="1410919"/>
            <a:ext cx="3436010" cy="426018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IN PROCESS</a:t>
            </a:r>
          </a:p>
        </p:txBody>
      </p:sp>
      <p:sp>
        <p:nvSpPr>
          <p:cNvPr id="15" name="TextBox 14"/>
          <p:cNvSpPr txBox="1"/>
          <p:nvPr/>
        </p:nvSpPr>
        <p:spPr>
          <a:xfrm>
            <a:off x="960120"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pravaha-embedded</a:t>
            </a:r>
          </a:p>
        </p:txBody>
      </p:sp>
      <p:sp>
        <p:nvSpPr>
          <p:cNvPr id="16" name="TextBox 15"/>
          <p:cNvSpPr txBox="1"/>
          <p:nvPr/>
        </p:nvSpPr>
        <p:spPr>
          <a:xfrm>
            <a:off x="960120" y="2192883"/>
            <a:ext cx="3070250" cy="3350209"/>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PravahaEngine runs the whole loop inside an application — streams, bindings, queries, pushed rows, SQL reads, subscriptions, journal and checkpoints — with no Spring and no network.</a:t>
            </a:r>
          </a:p>
        </p:txBody>
      </p:sp>
      <p:sp>
        <p:nvSpPr>
          <p:cNvPr id="17" name="Rectangle 16"/>
          <p:cNvSpPr/>
          <p:nvPr/>
        </p:nvSpPr>
        <p:spPr>
          <a:xfrm>
            <a:off x="4377842" y="1410919"/>
            <a:ext cx="3436010" cy="426018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7842"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0722"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IN YOUR SPRING APP</a:t>
            </a:r>
          </a:p>
        </p:txBody>
      </p:sp>
      <p:sp>
        <p:nvSpPr>
          <p:cNvPr id="20" name="TextBox 19"/>
          <p:cNvSpPr txBox="1"/>
          <p:nvPr/>
        </p:nvSpPr>
        <p:spPr>
          <a:xfrm>
            <a:off x="4560722"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450" b="1" i="0">
                <a:solidFill>
                  <a:srgbClr val="1A1A1A"/>
                </a:solidFill>
                <a:latin typeface="Source Sans 3"/>
              </a:rPr>
              <a:t>pravaha-spring-boot-starter</a:t>
            </a:r>
          </a:p>
        </p:txBody>
      </p:sp>
      <p:sp>
        <p:nvSpPr>
          <p:cNvPr id="21" name="TextBox 20"/>
          <p:cNvSpPr txBox="1"/>
          <p:nvPr/>
        </p:nvSpPr>
        <p:spPr>
          <a:xfrm>
            <a:off x="4560722" y="2160168"/>
            <a:ext cx="3070250" cy="3382924"/>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An engine bean from pravaha.*, PravahaTemplate, @PravahaListener delivering committed changes to a method, and a @PravahaTest slice.</a:t>
            </a:r>
          </a:p>
        </p:txBody>
      </p:sp>
      <p:sp>
        <p:nvSpPr>
          <p:cNvPr id="22" name="Rectangle 21"/>
          <p:cNvSpPr/>
          <p:nvPr/>
        </p:nvSpPr>
        <p:spPr>
          <a:xfrm>
            <a:off x="7978444" y="1410919"/>
            <a:ext cx="3436010" cy="426018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78444" y="1410919"/>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1324" y="1575511"/>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AS A SERVER</a:t>
            </a:r>
          </a:p>
        </p:txBody>
      </p:sp>
      <p:sp>
        <p:nvSpPr>
          <p:cNvPr id="25" name="TextBox 24"/>
          <p:cNvSpPr txBox="1"/>
          <p:nvPr/>
        </p:nvSpPr>
        <p:spPr>
          <a:xfrm>
            <a:off x="8161324" y="1831543"/>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pravaha-server</a:t>
            </a:r>
          </a:p>
        </p:txBody>
      </p:sp>
      <p:sp>
        <p:nvSpPr>
          <p:cNvPr id="26" name="TextBox 25"/>
          <p:cNvSpPr txBox="1"/>
          <p:nvPr/>
        </p:nvSpPr>
        <p:spPr>
          <a:xfrm>
            <a:off x="8161324" y="2192883"/>
            <a:ext cx="3070250" cy="3350209"/>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The engine, Flight SQL, the PostgreSQL gateway and /status. A non-root image on a JDK 21 glibc base, and a Helm chart that installs one node as a StatefulSet.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DOCKER AND OUT OF IT · RUNNING_IN_DOCKER.MD</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One directory, /opt/pravaha, owned by whoever runs it</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64</a:t>
            </a:r>
          </a:p>
        </p:txBody>
      </p:sp>
      <p:sp>
        <p:nvSpPr>
          <p:cNvPr id="10" name="Rectangle 9"/>
          <p:cNvSpPr/>
          <p:nvPr/>
        </p:nvSpPr>
        <p:spPr>
          <a:xfrm>
            <a:off x="777240" y="1378204"/>
            <a:ext cx="5667588" cy="2954121"/>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78204"/>
            <a:ext cx="45720" cy="2954121"/>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79372"/>
            <a:ext cx="5265252" cy="2551785"/>
          </a:xfrm>
          <a:prstGeom prst="rect">
            <a:avLst/>
          </a:prstGeom>
          <a:noFill/>
        </p:spPr>
        <p:txBody>
          <a:bodyPr wrap="square" lIns="0" rIns="0" tIns="0" bIns="0" anchor="t">
            <a:spAutoFit/>
          </a:bodyPr>
          <a:lstStyle/>
          <a:p>
            <a:pPr algn="l">
              <a:lnSpc>
                <a:spcPct val="100000"/>
              </a:lnSpc>
              <a:spcBef>
                <a:spcPts val="0"/>
              </a:spcBef>
              <a:spcAft>
                <a:spcPts val="0"/>
              </a:spcAft>
            </a:pPr>
            <a:r>
              <a:rPr sz="1200" b="0" i="0">
                <a:solidFill>
                  <a:srgbClr val="F1EEE9"/>
                </a:solidFill>
                <a:latin typeface="Consolas"/>
              </a:rPr>
              <a:t>deploy/docker/build.sh \</a:t>
            </a:r>
          </a:p>
          <a:p>
            <a:pPr>
              <a:lnSpc>
                <a:spcPct val="100000"/>
              </a:lnSpc>
              <a:spcBef>
                <a:spcPts val="0"/>
              </a:spcBef>
              <a:spcAft>
                <a:spcPts val="0"/>
              </a:spcAft>
            </a:pPr>
            <a:r>
              <a:rPr sz="1200" b="0" i="0">
                <a:solidFill>
                  <a:srgbClr val="E8B8C0"/>
                </a:solidFill>
                <a:latin typeface="Consolas"/>
              </a:rPr>
              <a:t>  --tag pravaha/pravaha-server:local</a:t>
            </a:r>
          </a:p>
          <a:p>
            <a:pPr>
              <a:lnSpc>
                <a:spcPct val="100000"/>
              </a:lnSpc>
              <a:spcBef>
                <a:spcPts val="0"/>
              </a:spcBef>
              <a:spcAft>
                <a:spcPts val="0"/>
              </a:spcAft>
            </a:pPr>
            <a:r>
              <a:rPr sz="1200" b="0" i="0">
                <a:solidFill>
                  <a:srgbClr val="F1EEE9"/>
                </a:solidFill>
                <a:latin typeface="Consolas"/>
              </a:rPr>
              <a:t>deploy/docker/console/build.sh \</a:t>
            </a:r>
          </a:p>
          <a:p>
            <a:pPr>
              <a:lnSpc>
                <a:spcPct val="100000"/>
              </a:lnSpc>
              <a:spcBef>
                <a:spcPts val="0"/>
              </a:spcBef>
              <a:spcAft>
                <a:spcPts val="0"/>
              </a:spcAft>
            </a:pPr>
            <a:r>
              <a:rPr sz="1200" b="0" i="0">
                <a:solidFill>
                  <a:srgbClr val="E8B8C0"/>
                </a:solidFill>
                <a:latin typeface="Consolas"/>
              </a:rPr>
              <a:t>  --tag pravaha/pravaha-console:local</a:t>
            </a:r>
          </a:p>
          <a:p>
            <a:pPr>
              <a:lnSpc>
                <a:spcPct val="100000"/>
              </a:lnSpc>
              <a:spcBef>
                <a:spcPts val="0"/>
              </a:spcBef>
              <a:spcAft>
                <a:spcPts val="0"/>
              </a:spcAft>
            </a:pPr>
            <a:r>
              <a:rPr sz="1200" b="0" i="0">
                <a:solidFill>
                  <a:srgbClr val="F1EEE9"/>
                </a:solidFill>
                <a:latin typeface="Consolas"/>
              </a:rPr>
              <a:t>tools/docker-env.sh   # .env + pravaha-home/</a:t>
            </a:r>
          </a:p>
          <a:p>
            <a:pPr>
              <a:lnSpc>
                <a:spcPct val="100000"/>
              </a:lnSpc>
              <a:spcBef>
                <a:spcPts val="0"/>
              </a:spcBef>
              <a:spcAft>
                <a:spcPts val="0"/>
              </a:spcAft>
            </a:pPr>
            <a:r>
              <a:rPr sz="1200" b="0" i="0">
                <a:solidFill>
                  <a:srgbClr val="F1EEE9"/>
                </a:solidFill>
                <a:latin typeface="Consolas"/>
              </a:rPr>
              <a:t>docker compose \</a:t>
            </a:r>
          </a:p>
          <a:p>
            <a:pPr>
              <a:lnSpc>
                <a:spcPct val="100000"/>
              </a:lnSpc>
              <a:spcBef>
                <a:spcPts val="0"/>
              </a:spcBef>
              <a:spcAft>
                <a:spcPts val="0"/>
              </a:spcAft>
            </a:pPr>
            <a:r>
              <a:rPr sz="1200" b="0" i="0">
                <a:solidFill>
                  <a:srgbClr val="F1EEE9"/>
                </a:solidFill>
                <a:latin typeface="Consolas"/>
              </a:rPr>
              <a:t>  -f deploy/docker/compose/docker-compose.yml \</a:t>
            </a:r>
          </a:p>
          <a:p>
            <a:pPr>
              <a:lnSpc>
                <a:spcPct val="100000"/>
              </a:lnSpc>
              <a:spcBef>
                <a:spcPts val="0"/>
              </a:spcBef>
              <a:spcAft>
                <a:spcPts val="0"/>
              </a:spcAft>
            </a:pPr>
            <a:r>
              <a:rPr sz="1200" b="0" i="0">
                <a:solidFill>
                  <a:srgbClr val="E8B8C0"/>
                </a:solidFill>
                <a:latin typeface="Consolas"/>
              </a:rPr>
              <a:t>  --profile seed up -d</a:t>
            </a:r>
          </a:p>
          <a:p>
            <a:pPr>
              <a:lnSpc>
                <a:spcPct val="100000"/>
              </a:lnSpc>
              <a:spcBef>
                <a:spcPts val="0"/>
              </a:spcBef>
              <a:spcAft>
                <a:spcPts val="0"/>
              </a:spcAft>
            </a:pPr>
            <a:r>
              <a:rPr sz="1200" b="0" i="0">
                <a:solidFill>
                  <a:srgbClr val="F1EEE9"/>
                </a:solidFill>
                <a:latin typeface="Consolas"/>
              </a:rPr>
              <a:t> </a:t>
            </a:r>
          </a:p>
          <a:p>
            <a:pPr>
              <a:lnSpc>
                <a:spcPct val="100000"/>
              </a:lnSpc>
              <a:spcBef>
                <a:spcPts val="0"/>
              </a:spcBef>
              <a:spcAft>
                <a:spcPts val="0"/>
              </a:spcAft>
            </a:pPr>
            <a:r>
              <a:rPr sz="1200" b="0" i="0">
                <a:solidFill>
                  <a:srgbClr val="E8B8C0"/>
                </a:solidFill>
                <a:latin typeface="Consolas"/>
              </a:rPr>
              <a:t># console  http://localhost:17070</a:t>
            </a:r>
          </a:p>
          <a:p>
            <a:pPr>
              <a:lnSpc>
                <a:spcPct val="100000"/>
              </a:lnSpc>
              <a:spcBef>
                <a:spcPts val="0"/>
              </a:spcBef>
              <a:spcAft>
                <a:spcPts val="0"/>
              </a:spcAft>
            </a:pPr>
            <a:r>
              <a:rPr sz="1200" b="0" i="0">
                <a:solidFill>
                  <a:srgbClr val="E8B8C0"/>
                </a:solidFill>
                <a:latin typeface="Consolas"/>
              </a:rPr>
              <a:t># Flight   grpc://localhost:19090</a:t>
            </a:r>
          </a:p>
          <a:p>
            <a:pPr>
              <a:lnSpc>
                <a:spcPct val="100000"/>
              </a:lnSpc>
              <a:spcBef>
                <a:spcPts val="0"/>
              </a:spcBef>
              <a:spcAft>
                <a:spcPts val="0"/>
              </a:spcAft>
            </a:pPr>
            <a:r>
              <a:rPr sz="1200" b="0" i="0">
                <a:solidFill>
                  <a:srgbClr val="E8B8C0"/>
                </a:solidFill>
                <a:latin typeface="Consolas"/>
              </a:rPr>
              <a:t># REST     http://localhost:18080</a:t>
            </a:r>
          </a:p>
          <a:p>
            <a:pPr>
              <a:lnSpc>
                <a:spcPct val="100000"/>
              </a:lnSpc>
              <a:spcBef>
                <a:spcPts val="0"/>
              </a:spcBef>
              <a:spcAft>
                <a:spcPts val="0"/>
              </a:spcAft>
            </a:pPr>
            <a:r>
              <a:rPr sz="1200" b="0" i="0">
                <a:solidFill>
                  <a:srgbClr val="E8B8C0"/>
                </a:solidFill>
                <a:latin typeface="Consolas"/>
              </a:rPr>
              <a:t># psql     localhost:15432</a:t>
            </a:r>
          </a:p>
        </p:txBody>
      </p:sp>
      <p:sp>
        <p:nvSpPr>
          <p:cNvPr id="13" name="TextBox 12"/>
          <p:cNvSpPr txBox="1"/>
          <p:nvPr/>
        </p:nvSpPr>
        <p:spPr>
          <a:xfrm>
            <a:off x="6810588" y="1378204"/>
            <a:ext cx="4603866" cy="4867148"/>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Source Sans 3"/>
              </a:rPr>
              <a:t>▪  </a:t>
            </a:r>
            <a:r>
              <a:rPr sz="1400" b="1">
                <a:solidFill>
                  <a:srgbClr val="1A1A1A"/>
                </a:solidFill>
                <a:latin typeface="Source Sans 3"/>
              </a:rPr>
              <a:t>PRAVAHA_HOME</a:t>
            </a:r>
          </a:p>
          <a:p>
            <a:pPr lvl="1">
              <a:lnSpc>
                <a:spcPct val="120000"/>
              </a:lnSpc>
              <a:spcBef>
                <a:spcPts val="0"/>
              </a:spcBef>
              <a:spcAft>
                <a:spcPts val="0"/>
              </a:spcAft>
            </a:pPr>
            <a:r>
              <a:rPr sz="1250" b="0">
                <a:solidFill>
                  <a:srgbClr val="4A5058"/>
                </a:solidFill>
                <a:latin typeface="Source Sans 3"/>
              </a:rPr>
              <a:t>conf/, secrets/, plugins/, data/, logs/, tmp/ — the same layout in a container and in an unpacked distribution; relative paths mean the same in both.</a:t>
            </a:r>
          </a:p>
          <a:p>
            <a:pPr>
              <a:lnSpc>
                <a:spcPct val="120000"/>
              </a:lnSpc>
              <a:spcBef>
                <a:spcPts val="500"/>
              </a:spcBef>
              <a:spcAft>
                <a:spcPts val="100"/>
              </a:spcAft>
            </a:pPr>
            <a:r>
              <a:rPr sz="1400" b="1">
                <a:solidFill>
                  <a:srgbClr val="A51C30"/>
                </a:solidFill>
                <a:latin typeface="Source Sans 3"/>
              </a:rPr>
              <a:t>▪  </a:t>
            </a:r>
            <a:r>
              <a:rPr sz="1400" b="1">
                <a:solidFill>
                  <a:srgbClr val="1A1A1A"/>
                </a:solidFill>
                <a:latin typeface="Source Sans 3"/>
              </a:rPr>
              <a:t>As you, read-only root</a:t>
            </a:r>
          </a:p>
          <a:p>
            <a:pPr lvl="1">
              <a:lnSpc>
                <a:spcPct val="120000"/>
              </a:lnSpc>
              <a:spcBef>
                <a:spcPts val="0"/>
              </a:spcBef>
              <a:spcAft>
                <a:spcPts val="0"/>
              </a:spcAft>
            </a:pPr>
            <a:r>
              <a:rPr sz="1250" b="0">
                <a:solidFill>
                  <a:srgbClr val="4A5058"/>
                </a:solidFill>
                <a:latin typeface="Source Sans 3"/>
              </a:rPr>
              <a:t>Engine and console run as the invoking uid:gid; nothing is written outside the home.</a:t>
            </a:r>
          </a:p>
          <a:p>
            <a:pPr>
              <a:lnSpc>
                <a:spcPct val="120000"/>
              </a:lnSpc>
              <a:spcBef>
                <a:spcPts val="500"/>
              </a:spcBef>
              <a:spcAft>
                <a:spcPts val="100"/>
              </a:spcAft>
            </a:pPr>
            <a:r>
              <a:rPr sz="1400" b="1">
                <a:solidFill>
                  <a:srgbClr val="A51C30"/>
                </a:solidFill>
                <a:latin typeface="Source Sans 3"/>
              </a:rPr>
              <a:t>▪  </a:t>
            </a:r>
            <a:r>
              <a:rPr sz="1400" b="1">
                <a:solidFill>
                  <a:srgbClr val="1A1A1A"/>
                </a:solidFill>
                <a:latin typeface="Source Sans 3"/>
              </a:rPr>
              <a:t>Profiles</a:t>
            </a:r>
          </a:p>
          <a:p>
            <a:pPr lvl="1">
              <a:lnSpc>
                <a:spcPct val="120000"/>
              </a:lnSpc>
              <a:spcBef>
                <a:spcPts val="0"/>
              </a:spcBef>
              <a:spcAft>
                <a:spcPts val="0"/>
              </a:spcAft>
            </a:pPr>
            <a:r>
              <a:rPr sz="1250" b="0">
                <a:solidFill>
                  <a:srgbClr val="4A5058"/>
                </a:solidFill>
                <a:latin typeface="Source Sans 3"/>
              </a:rPr>
              <a:t>seed, cdc (PostgreSQL, MySQL), stores (Aerospike, Cassandra), observability (Prometheus, Grafana), tools.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CONSOLE</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Each persona lands on its own screen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65</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FastAPI, server-rendered, every asset vendored so it runs air-gapped; four themes, crimson by default. 1,937 console tests pass with the browser suites, zero axe violations in every theme; the manual WCAG 2.2 AA audit is not done.</a:t>
            </a:r>
          </a:p>
        </p:txBody>
      </p:sp>
      <p:sp>
        <p:nvSpPr>
          <p:cNvPr id="12" name="TextBox 11"/>
          <p:cNvSpPr txBox="1"/>
          <p:nvPr/>
        </p:nvSpPr>
        <p:spPr>
          <a:xfrm>
            <a:off x="777240" y="1410919"/>
            <a:ext cx="10637215" cy="4260189"/>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Analyst: the SQL Workbench</a:t>
            </a:r>
          </a:p>
          <a:p>
            <a:pPr lvl="1">
              <a:lnSpc>
                <a:spcPct val="120000"/>
              </a:lnSpc>
              <a:spcBef>
                <a:spcPts val="0"/>
              </a:spcBef>
              <a:spcAft>
                <a:spcPts val="0"/>
              </a:spcAft>
            </a:pPr>
            <a:r>
              <a:rPr sz="1550" b="0">
                <a:solidFill>
                  <a:srgbClr val="4A5058"/>
                </a:solidFill>
                <a:latin typeface="Source Sans 3"/>
              </a:rPr>
              <a:t>Monaco with catalog-aware completion, validation as you type with one-click fixes, the plan drawn as a graph, and registration with keys picked by name.</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Developer: Views</a:t>
            </a:r>
          </a:p>
          <a:p>
            <a:pPr lvl="1">
              <a:lnSpc>
                <a:spcPct val="120000"/>
              </a:lnSpc>
              <a:spcBef>
                <a:spcPts val="0"/>
              </a:spcBef>
              <a:spcAft>
                <a:spcPts val="0"/>
              </a:spcAft>
            </a:pPr>
            <a:r>
              <a:rPr sz="1550" b="0">
                <a:solidFill>
                  <a:srgbClr val="4A5058"/>
                </a:solidFill>
                <a:latin typeface="Source Sans 3"/>
              </a:rPr>
              <a:t>Point queries and copy-paste client code for both SDKs, psql and the CLI.</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Operator: Operations</a:t>
            </a:r>
          </a:p>
          <a:p>
            <a:pPr lvl="1">
              <a:lnSpc>
                <a:spcPct val="120000"/>
              </a:lnSpc>
              <a:spcBef>
                <a:spcPts val="0"/>
              </a:spcBef>
              <a:spcAft>
                <a:spcPts val="0"/>
              </a:spcAft>
            </a:pPr>
            <a:r>
              <a:rPr sz="1550" b="0">
                <a:solidFill>
                  <a:srgbClr val="4A5058"/>
                </a:solidFill>
                <a:latin typeface="Source Sans 3"/>
              </a:rPr>
              <a:t>The engine's metrics read into a verdict — healthy, and if not, where — with backfill and cutover, and any view watched live with its +1/−1 weights.</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Administrator: Admin</a:t>
            </a:r>
          </a:p>
          <a:p>
            <a:pPr lvl="1">
              <a:lnSpc>
                <a:spcPct val="120000"/>
              </a:lnSpc>
              <a:spcBef>
                <a:spcPts val="0"/>
              </a:spcBef>
              <a:spcAft>
                <a:spcPts val="0"/>
              </a:spcAft>
            </a:pPr>
            <a:r>
              <a:rPr sz="1550" b="0">
                <a:solidFill>
                  <a:srgbClr val="4A5058"/>
                </a:solidFill>
                <a:latin typeface="Source Sans 3"/>
              </a:rPr>
              <a:t>Users, keys and sessions; grants and policies; AI models; the audit trail; Lanes.</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Everyone: Catalog and Alerts</a:t>
            </a:r>
          </a:p>
          <a:p>
            <a:pPr lvl="1">
              <a:lnSpc>
                <a:spcPct val="120000"/>
              </a:lnSpc>
              <a:spcBef>
                <a:spcPts val="0"/>
              </a:spcBef>
              <a:spcAft>
                <a:spcPts val="0"/>
              </a:spcAft>
            </a:pPr>
            <a:r>
              <a:rPr sz="1550" b="0">
                <a:solidFill>
                  <a:srgbClr val="4A5058"/>
                </a:solidFill>
                <a:latin typeface="Source Sans 3"/>
              </a:rPr>
              <a:t>Objects with owners, tags and grants; alerts firing, snoozed and acknowledged.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TWO COMMAND LINES</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pravaha talks to a node; pravaha-engine runs one in process</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66</a:t>
            </a:r>
          </a:p>
        </p:txBody>
      </p:sp>
      <p:sp>
        <p:nvSpPr>
          <p:cNvPr id="10" name="Rectangle 9"/>
          <p:cNvSpPr/>
          <p:nvPr/>
        </p:nvSpPr>
        <p:spPr>
          <a:xfrm>
            <a:off x="777240"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pravaha — Python, with the Python SDK</a:t>
            </a:r>
          </a:p>
        </p:txBody>
      </p:sp>
      <p:sp>
        <p:nvSpPr>
          <p:cNvPr id="13" name="TextBox 12"/>
          <p:cNvSpPr txBox="1"/>
          <p:nvPr/>
        </p:nvSpPr>
        <p:spPr>
          <a:xfrm>
            <a:off x="777240" y="1857552"/>
            <a:ext cx="5135727" cy="4387799"/>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Every command that talks to a running engine</a:t>
            </a:r>
          </a:p>
          <a:p>
            <a:pPr lvl="1">
              <a:lnSpc>
                <a:spcPct val="120000"/>
              </a:lnSpc>
              <a:spcBef>
                <a:spcPts val="0"/>
              </a:spcBef>
              <a:spcAft>
                <a:spcPts val="0"/>
              </a:spcAft>
            </a:pPr>
            <a:r>
              <a:rPr sz="1450" b="0">
                <a:solidFill>
                  <a:srgbClr val="4A5058"/>
                </a:solidFill>
                <a:latin typeface="Source Sans 3"/>
              </a:rPr>
              <a:t>query, register, queries, pause, resume, drop; replace, cutover, rollback, throttle and the rest of a replacement; subscribe, dlq, debug; login, user, key, session; lanes.</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Installed with the SDK</a:t>
            </a:r>
          </a:p>
          <a:p>
            <a:pPr lvl="1">
              <a:lnSpc>
                <a:spcPct val="120000"/>
              </a:lnSpc>
              <a:spcBef>
                <a:spcPts val="0"/>
              </a:spcBef>
              <a:spcAft>
                <a:spcPts val="0"/>
              </a:spcAft>
            </a:pPr>
            <a:r>
              <a:rPr sz="1450" b="0">
                <a:solidFill>
                  <a:srgbClr val="4A5058"/>
                </a:solidFill>
                <a:latin typeface="Source Sans 3"/>
              </a:rPr>
              <a:t>pip install './sdk/python[flight]'.</a:t>
            </a:r>
          </a:p>
        </p:txBody>
      </p:sp>
      <p:sp>
        <p:nvSpPr>
          <p:cNvPr id="14" name="Rectangle 13"/>
          <p:cNvSpPr/>
          <p:nvPr/>
        </p:nvSpPr>
        <p:spPr>
          <a:xfrm>
            <a:off x="6278727"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pravaha-engine — Java, no server</a:t>
            </a:r>
          </a:p>
        </p:txBody>
      </p:sp>
      <p:sp>
        <p:nvSpPr>
          <p:cNvPr id="17" name="TextBox 16"/>
          <p:cNvSpPr txBox="1"/>
          <p:nvPr/>
        </p:nvSpPr>
        <p:spPr>
          <a:xfrm>
            <a:off x="6278727" y="1857552"/>
            <a:ext cx="5135727" cy="4387799"/>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validate, explain, run, version</a:t>
            </a:r>
          </a:p>
          <a:p>
            <a:pPr lvl="1">
              <a:lnSpc>
                <a:spcPct val="120000"/>
              </a:lnSpc>
              <a:spcBef>
                <a:spcPts val="0"/>
              </a:spcBef>
              <a:spcAft>
                <a:spcPts val="0"/>
              </a:spcAft>
            </a:pPr>
            <a:r>
              <a:rPr sz="1450" b="0">
                <a:solidFill>
                  <a:srgbClr val="4A5058"/>
                </a:solidFill>
                <a:latin typeface="Source Sans 3"/>
              </a:rPr>
              <a:t>What needs the engine in-process, and carries no token.</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A moved command says where it went</a:t>
            </a:r>
          </a:p>
          <a:p>
            <a:pPr lvl="1">
              <a:lnSpc>
                <a:spcPct val="120000"/>
              </a:lnSpc>
              <a:spcBef>
                <a:spcPts val="0"/>
              </a:spcBef>
              <a:spcAft>
                <a:spcPts val="0"/>
              </a:spcAft>
            </a:pPr>
            <a:r>
              <a:rPr sz="1450" b="0">
                <a:solidFill>
                  <a:srgbClr val="4A5058"/>
                </a:solidFill>
                <a:latin typeface="Source Sans 3"/>
              </a:rPr>
              <a:t>Typing one of the server commands prints where it lives now and exits 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SDKS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subscription that survives a server restart</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67</a:t>
            </a:r>
          </a:p>
        </p:txBody>
      </p:sp>
      <p:sp>
        <p:nvSpPr>
          <p:cNvPr id="10" name="Rectangle 9"/>
          <p:cNvSpPr/>
          <p:nvPr/>
        </p:nvSpPr>
        <p:spPr>
          <a:xfrm>
            <a:off x="777240" y="1410919"/>
            <a:ext cx="5667588" cy="3264916"/>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5720" cy="3264916"/>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612087"/>
            <a:ext cx="5265252" cy="2862580"/>
          </a:xfrm>
          <a:prstGeom prst="rect">
            <a:avLst/>
          </a:prstGeom>
          <a:noFill/>
        </p:spPr>
        <p:txBody>
          <a:bodyPr wrap="square" lIns="0" rIns="0" tIns="0" bIns="0" anchor="t">
            <a:spAutoFit/>
          </a:bodyPr>
          <a:lstStyle/>
          <a:p>
            <a:pPr algn="l">
              <a:lnSpc>
                <a:spcPct val="100000"/>
              </a:lnSpc>
              <a:spcBef>
                <a:spcPts val="0"/>
              </a:spcBef>
              <a:spcAft>
                <a:spcPts val="0"/>
              </a:spcAft>
            </a:pPr>
            <a:r>
              <a:rPr sz="1250" b="0" i="0">
                <a:solidFill>
                  <a:srgbClr val="E8B8C0"/>
                </a:solidFill>
                <a:latin typeface="Consolas"/>
              </a:rPr>
              <a:t># Python</a:t>
            </a:r>
          </a:p>
          <a:p>
            <a:pPr>
              <a:lnSpc>
                <a:spcPct val="100000"/>
              </a:lnSpc>
              <a:spcBef>
                <a:spcPts val="0"/>
              </a:spcBef>
              <a:spcAft>
                <a:spcPts val="0"/>
              </a:spcAft>
            </a:pPr>
            <a:r>
              <a:rPr sz="1250" b="0" i="0">
                <a:solidFill>
                  <a:srgbClr val="F1EEE9"/>
                </a:solidFill>
                <a:latin typeface="Consolas"/>
              </a:rPr>
              <a:t>for batch in client.subscribe("large_payments",</a:t>
            </a:r>
          </a:p>
          <a:p>
            <a:pPr>
              <a:lnSpc>
                <a:spcPct val="100000"/>
              </a:lnSpc>
              <a:spcBef>
                <a:spcPts val="0"/>
              </a:spcBef>
              <a:spcAft>
                <a:spcPts val="0"/>
              </a:spcAft>
            </a:pPr>
            <a:r>
              <a:rPr sz="1250" b="0" i="0">
                <a:solidFill>
                  <a:srgbClr val="F1EEE9"/>
                </a:solidFill>
                <a:latin typeface="Consolas"/>
              </a:rPr>
              <a:t>        snapshot=True, reconnect=True):</a:t>
            </a:r>
          </a:p>
          <a:p>
            <a:pPr>
              <a:lnSpc>
                <a:spcPct val="100000"/>
              </a:lnSpc>
              <a:spcBef>
                <a:spcPts val="0"/>
              </a:spcBef>
              <a:spcAft>
                <a:spcPts val="0"/>
              </a:spcAft>
            </a:pPr>
            <a:r>
              <a:rPr sz="1250" b="0" i="0">
                <a:solidFill>
                  <a:srgbClr val="F1EEE9"/>
                </a:solidFill>
                <a:latin typeface="Consolas"/>
              </a:rPr>
              <a:t>    if batch.snapshot:</a:t>
            </a:r>
          </a:p>
          <a:p>
            <a:pPr>
              <a:lnSpc>
                <a:spcPct val="100000"/>
              </a:lnSpc>
              <a:spcBef>
                <a:spcPts val="0"/>
              </a:spcBef>
              <a:spcAft>
                <a:spcPts val="0"/>
              </a:spcAft>
            </a:pPr>
            <a:r>
              <a:rPr sz="1250" b="0" i="0">
                <a:solidFill>
                  <a:srgbClr val="F1EEE9"/>
                </a:solidFill>
                <a:latin typeface="Consolas"/>
              </a:rPr>
              <a:t>        copy = {}   # a fresh snapshot: replace</a:t>
            </a:r>
          </a:p>
          <a:p>
            <a:pPr>
              <a:lnSpc>
                <a:spcPct val="100000"/>
              </a:lnSpc>
              <a:spcBef>
                <a:spcPts val="0"/>
              </a:spcBef>
              <a:spcAft>
                <a:spcPts val="0"/>
              </a:spcAft>
            </a:pPr>
            <a:r>
              <a:rPr sz="1250" b="0" i="0">
                <a:solidFill>
                  <a:srgbClr val="F1EEE9"/>
                </a:solidFill>
                <a:latin typeface="Consolas"/>
              </a:rPr>
              <a:t>    apply(copy, batch)</a:t>
            </a:r>
          </a:p>
          <a:p>
            <a:pPr>
              <a:lnSpc>
                <a:spcPct val="100000"/>
              </a:lnSpc>
              <a:spcBef>
                <a:spcPts val="0"/>
              </a:spcBef>
              <a:spcAft>
                <a:spcPts val="0"/>
              </a:spcAft>
            </a:pPr>
            <a:r>
              <a:rPr sz="1250" b="0" i="0">
                <a:solidFill>
                  <a:srgbClr val="F1EEE9"/>
                </a:solidFill>
                <a:latin typeface="Consolas"/>
              </a:rPr>
              <a:t> </a:t>
            </a:r>
          </a:p>
          <a:p>
            <a:pPr>
              <a:lnSpc>
                <a:spcPct val="100000"/>
              </a:lnSpc>
              <a:spcBef>
                <a:spcPts val="0"/>
              </a:spcBef>
              <a:spcAft>
                <a:spcPts val="0"/>
              </a:spcAft>
            </a:pPr>
            <a:r>
              <a:rPr sz="1250" b="0" i="0">
                <a:solidFill>
                  <a:srgbClr val="E8B8C0"/>
                </a:solidFill>
                <a:latin typeface="Consolas"/>
              </a:rPr>
              <a:t>// Java</a:t>
            </a:r>
          </a:p>
          <a:p>
            <a:pPr>
              <a:lnSpc>
                <a:spcPct val="100000"/>
              </a:lnSpc>
              <a:spcBef>
                <a:spcPts val="0"/>
              </a:spcBef>
              <a:spcAft>
                <a:spcPts val="0"/>
              </a:spcAft>
            </a:pPr>
            <a:r>
              <a:rPr sz="1250" b="0" i="0">
                <a:solidFill>
                  <a:srgbClr val="F1EEE9"/>
                </a:solidFill>
                <a:latin typeface="Consolas"/>
              </a:rPr>
              <a:t>ReconnectingSubscription s =</a:t>
            </a:r>
          </a:p>
          <a:p>
            <a:pPr>
              <a:lnSpc>
                <a:spcPct val="100000"/>
              </a:lnSpc>
              <a:spcBef>
                <a:spcPts val="0"/>
              </a:spcBef>
              <a:spcAft>
                <a:spcPts val="0"/>
              </a:spcAft>
            </a:pPr>
            <a:r>
              <a:rPr sz="1250" b="0" i="0">
                <a:solidFill>
                  <a:srgbClr val="F1EEE9"/>
                </a:solidFill>
                <a:latin typeface="Consolas"/>
              </a:rPr>
              <a:t>  client.subscribeFromSnapshot("large_payments",</a:t>
            </a:r>
          </a:p>
          <a:p>
            <a:pPr>
              <a:lnSpc>
                <a:spcPct val="100000"/>
              </a:lnSpc>
              <a:spcBef>
                <a:spcPts val="0"/>
              </a:spcBef>
              <a:spcAft>
                <a:spcPts val="0"/>
              </a:spcAft>
            </a:pPr>
            <a:r>
              <a:rPr sz="1250" b="0" i="0">
                <a:solidFill>
                  <a:srgbClr val="F1EEE9"/>
                </a:solidFill>
                <a:latin typeface="Consolas"/>
              </a:rPr>
              <a:t>    Map.of(),</a:t>
            </a:r>
          </a:p>
          <a:p>
            <a:pPr>
              <a:lnSpc>
                <a:spcPct val="100000"/>
              </a:lnSpc>
              <a:spcBef>
                <a:spcPts val="0"/>
              </a:spcBef>
              <a:spcAft>
                <a:spcPts val="0"/>
              </a:spcAft>
            </a:pPr>
            <a:r>
              <a:rPr sz="1250" b="0" i="0">
                <a:solidFill>
                  <a:srgbClr val="F1EEE9"/>
                </a:solidFill>
                <a:latin typeface="Consolas"/>
              </a:rPr>
              <a:t>    ReconnectingSubscription.Reconnect.defaults()</a:t>
            </a:r>
          </a:p>
          <a:p>
            <a:pPr>
              <a:lnSpc>
                <a:spcPct val="100000"/>
              </a:lnSpc>
              <a:spcBef>
                <a:spcPts val="0"/>
              </a:spcBef>
              <a:spcAft>
                <a:spcPts val="0"/>
              </a:spcAft>
            </a:pPr>
            <a:r>
              <a:rPr sz="1250" b="0" i="0">
                <a:solidFill>
                  <a:srgbClr val="F1EEE9"/>
                </a:solidFill>
                <a:latin typeface="Consolas"/>
              </a:rPr>
              <a:t>        .onReconnected(copy::clear), copy::apply);</a:t>
            </a:r>
          </a:p>
          <a:p>
            <a:pPr>
              <a:lnSpc>
                <a:spcPct val="100000"/>
              </a:lnSpc>
              <a:spcBef>
                <a:spcPts val="0"/>
              </a:spcBef>
              <a:spcAft>
                <a:spcPts val="0"/>
              </a:spcAft>
            </a:pPr>
            <a:r>
              <a:rPr sz="1250" b="0" i="0">
                <a:solidFill>
                  <a:srgbClr val="F1EEE9"/>
                </a:solidFill>
                <a:latin typeface="Consolas"/>
              </a:rPr>
              <a:t>s.run();</a:t>
            </a:r>
          </a:p>
        </p:txBody>
      </p:sp>
      <p:sp>
        <p:nvSpPr>
          <p:cNvPr id="13" name="TextBox 12"/>
          <p:cNvSpPr txBox="1"/>
          <p:nvPr/>
        </p:nvSpPr>
        <p:spPr>
          <a:xfrm>
            <a:off x="6810588" y="1410919"/>
            <a:ext cx="4603866" cy="4834432"/>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Source Sans 3"/>
              </a:rPr>
              <a:t>▪  </a:t>
            </a:r>
            <a:r>
              <a:rPr sz="1600" b="1">
                <a:solidFill>
                  <a:srgbClr val="1A1A1A"/>
                </a:solidFill>
                <a:latin typeface="Source Sans 3"/>
              </a:rPr>
              <a:t>Reopened with backoff</a:t>
            </a:r>
          </a:p>
          <a:p>
            <a:pPr lvl="1">
              <a:lnSpc>
                <a:spcPct val="120000"/>
              </a:lnSpc>
              <a:spcBef>
                <a:spcPts val="0"/>
              </a:spcBef>
              <a:spcAft>
                <a:spcPts val="0"/>
              </a:spcAft>
            </a:pPr>
            <a:r>
              <a:rPr sz="1450" b="0">
                <a:solidFill>
                  <a:srgbClr val="4A5058"/>
                </a:solidFill>
                <a:latin typeface="Source Sans 3"/>
              </a:rPr>
              <a:t>A stream ended by a restart, a broken connection or PRV-6105 is reopened from 250 ms to 10 s apart, for up to five minutes by default.</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Pair it with a snapshot</a:t>
            </a:r>
          </a:p>
          <a:p>
            <a:pPr lvl="1">
              <a:lnSpc>
                <a:spcPct val="120000"/>
              </a:lnSpc>
              <a:spcBef>
                <a:spcPts val="0"/>
              </a:spcBef>
              <a:spcAft>
                <a:spcPts val="0"/>
              </a:spcAft>
            </a:pPr>
            <a:r>
              <a:rPr sz="1450" b="0">
                <a:solidFill>
                  <a:srgbClr val="4A5058"/>
                </a:solidFill>
                <a:latin typeface="Source Sans 3"/>
              </a:rPr>
              <a:t>The first batch after reopening is a fresh snapshot, so nothing committed while the node was down is lost or counted twice.</a:t>
            </a:r>
          </a:p>
          <a:p>
            <a:pPr>
              <a:lnSpc>
                <a:spcPct val="120000"/>
              </a:lnSpc>
              <a:spcBef>
                <a:spcPts val="500"/>
              </a:spcBef>
              <a:spcAft>
                <a:spcPts val="100"/>
              </a:spcAft>
            </a:pPr>
            <a:r>
              <a:rPr sz="1600" b="1">
                <a:solidFill>
                  <a:srgbClr val="A51C30"/>
                </a:solidFill>
                <a:latin typeface="Source Sans 3"/>
              </a:rPr>
              <a:t>▪  </a:t>
            </a:r>
            <a:r>
              <a:rPr sz="1600" b="1">
                <a:solidFill>
                  <a:srgbClr val="1A1A1A"/>
                </a:solidFill>
                <a:latin typeface="Source Sans 3"/>
              </a:rPr>
              <a:t>A permanent refusal is raised at once</a:t>
            </a:r>
          </a:p>
          <a:p>
            <a:pPr lvl="1">
              <a:lnSpc>
                <a:spcPct val="120000"/>
              </a:lnSpc>
              <a:spcBef>
                <a:spcPts val="0"/>
              </a:spcBef>
              <a:spcAft>
                <a:spcPts val="0"/>
              </a:spcAft>
            </a:pPr>
            <a:r>
              <a:rPr sz="1450" b="0">
                <a:solidFill>
                  <a:srgbClr val="4A5058"/>
                </a:solidFill>
                <a:latin typeface="Source Sans 3"/>
              </a:rPr>
              <a:t>Other calls fail with PRV-1040, retryable, and work as soon as the node is back.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SDKS · SDKSTANDALONE-1</a:t>
            </a:r>
          </a:p>
        </p:txBody>
      </p:sp>
      <p:sp>
        <p:nvSpPr>
          <p:cNvPr id="5" name="TextBox 4"/>
          <p:cNvSpPr txBox="1"/>
          <p:nvPr/>
        </p:nvSpPr>
        <p:spPr>
          <a:xfrm>
            <a:off x="777240" y="749808"/>
            <a:ext cx="10637215" cy="445515"/>
          </a:xfrm>
          <a:prstGeom prst="rect">
            <a:avLst/>
          </a:prstGeom>
          <a:noFill/>
        </p:spPr>
        <p:txBody>
          <a:bodyPr wrap="square" lIns="0" rIns="0" tIns="0" bIns="0" anchor="t">
            <a:spAutoFit/>
          </a:bodyPr>
          <a:lstStyle/>
          <a:p>
            <a:pPr algn="l">
              <a:lnSpc>
                <a:spcPct val="115000"/>
              </a:lnSpc>
              <a:spcBef>
                <a:spcPts val="0"/>
              </a:spcBef>
              <a:spcAft>
                <a:spcPts val="0"/>
              </a:spcAft>
            </a:pPr>
            <a:r>
              <a:rPr sz="2500" b="1" i="0">
                <a:solidFill>
                  <a:srgbClr val="1A1A1A"/>
                </a:solidFill>
                <a:latin typeface="Source Sans 3"/>
              </a:rPr>
              <a:t>The client SDKs build, ship and run without the server</a:t>
            </a:r>
          </a:p>
        </p:txBody>
      </p:sp>
      <p:sp>
        <p:nvSpPr>
          <p:cNvPr id="6" name="Rectangle 5"/>
          <p:cNvSpPr/>
          <p:nvPr/>
        </p:nvSpPr>
        <p:spPr>
          <a:xfrm>
            <a:off x="777240" y="125018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68</a:t>
            </a:r>
          </a:p>
        </p:txBody>
      </p:sp>
      <p:sp>
        <p:nvSpPr>
          <p:cNvPr id="10" name="Rectangle 9"/>
          <p:cNvSpPr/>
          <p:nvPr/>
        </p:nvSpPr>
        <p:spPr>
          <a:xfrm>
            <a:off x="777240" y="5630875"/>
            <a:ext cx="41148" cy="6144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30875"/>
            <a:ext cx="10362895" cy="63276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SdkIndependenceTest fails the build if an SDK reaches a server module or the server's jar carries SDK classes. The standalone check found SDKNETTYMIX-1: a Maven client resolved two Netty lines and failed on its first call — invisible to tests inside the build.</a:t>
            </a:r>
          </a:p>
        </p:txBody>
      </p:sp>
      <p:sp>
        <p:nvSpPr>
          <p:cNvPr id="12" name="Rectangle 11"/>
          <p:cNvSpPr/>
          <p:nvPr/>
        </p:nvSpPr>
        <p:spPr>
          <a:xfrm>
            <a:off x="777240" y="1378204"/>
            <a:ext cx="3436010" cy="408807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78204"/>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1542796"/>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JAVA</a:t>
            </a:r>
          </a:p>
        </p:txBody>
      </p:sp>
      <p:sp>
        <p:nvSpPr>
          <p:cNvPr id="15" name="TextBox 14"/>
          <p:cNvSpPr txBox="1"/>
          <p:nvPr/>
        </p:nvSpPr>
        <p:spPr>
          <a:xfrm>
            <a:off x="960120" y="1798828"/>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pravaha-sdk-java-flight</a:t>
            </a:r>
          </a:p>
        </p:txBody>
      </p:sp>
      <p:sp>
        <p:nvSpPr>
          <p:cNvPr id="16" name="TextBox 15"/>
          <p:cNvSpPr txBox="1"/>
          <p:nvPr/>
        </p:nvSpPr>
        <p:spPr>
          <a:xfrm>
            <a:off x="960120" y="2160168"/>
            <a:ext cx="3070250" cy="317809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The thin jar through Maven or Gradle — the default — or a 19 MB -all jar with every runtime dependency, for a client with no build tool. Sources and javadoc jars attached.</a:t>
            </a:r>
          </a:p>
        </p:txBody>
      </p:sp>
      <p:sp>
        <p:nvSpPr>
          <p:cNvPr id="17" name="Rectangle 16"/>
          <p:cNvSpPr/>
          <p:nvPr/>
        </p:nvSpPr>
        <p:spPr>
          <a:xfrm>
            <a:off x="4377842" y="1378204"/>
            <a:ext cx="3436010" cy="408807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77842" y="1378204"/>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60722" y="1542796"/>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PYTHON</a:t>
            </a:r>
          </a:p>
        </p:txBody>
      </p:sp>
      <p:sp>
        <p:nvSpPr>
          <p:cNvPr id="20" name="TextBox 19"/>
          <p:cNvSpPr txBox="1"/>
          <p:nvPr/>
        </p:nvSpPr>
        <p:spPr>
          <a:xfrm>
            <a:off x="4560722" y="1798828"/>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the pravaha wheel</a:t>
            </a:r>
          </a:p>
        </p:txBody>
      </p:sp>
      <p:sp>
        <p:nvSpPr>
          <p:cNvPr id="21" name="TextBox 20"/>
          <p:cNvSpPr txBox="1"/>
          <p:nvPr/>
        </p:nvSpPr>
        <p:spPr>
          <a:xfrm>
            <a:off x="4560722" y="2160168"/>
            <a:ext cx="3070250" cy="317809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Imports with the standard library alone; pip install "pravaha[flight]" adds Flight. The pravaha CLI and the assistant ship in it.</a:t>
            </a:r>
          </a:p>
        </p:txBody>
      </p:sp>
      <p:sp>
        <p:nvSpPr>
          <p:cNvPr id="22" name="Rectangle 21"/>
          <p:cNvSpPr/>
          <p:nvPr/>
        </p:nvSpPr>
        <p:spPr>
          <a:xfrm>
            <a:off x="7978444" y="1378204"/>
            <a:ext cx="3436010" cy="4088079"/>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78444" y="1378204"/>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1324" y="1542796"/>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Source Sans 3"/>
              </a:rPr>
              <a:t>PROVED OUTSIDE</a:t>
            </a:r>
          </a:p>
        </p:txBody>
      </p:sp>
      <p:sp>
        <p:nvSpPr>
          <p:cNvPr id="25" name="TextBox 24"/>
          <p:cNvSpPr txBox="1"/>
          <p:nvPr/>
        </p:nvSpPr>
        <p:spPr>
          <a:xfrm>
            <a:off x="8161324" y="1798828"/>
            <a:ext cx="3070250"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sdk-standalone-check.sh</a:t>
            </a:r>
          </a:p>
        </p:txBody>
      </p:sp>
      <p:sp>
        <p:nvSpPr>
          <p:cNvPr id="26" name="TextBox 25"/>
          <p:cNvSpPr txBox="1"/>
          <p:nvPr/>
        </p:nvSpPr>
        <p:spPr>
          <a:xfrm>
            <a:off x="8161324" y="2160168"/>
            <a:ext cx="3070250" cy="3178098"/>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4A5058"/>
                </a:solidFill>
                <a:latin typeface="Source Sans 3"/>
              </a:rPr>
              <a:t>Four clients outside the repository against a throwaway node: Maven, the -all jar with plain java, the wheel with and without [flight].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BI TOOLS · THE POSTGRESQL GATEWAY</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Power BI, psql and psycopg read views as if from PostgreSQL</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69</a:t>
            </a:r>
          </a:p>
        </p:txBody>
      </p:sp>
      <p:sp>
        <p:nvSpPr>
          <p:cNvPr id="10" name="Rectangle 9"/>
          <p:cNvSpPr/>
          <p:nvPr/>
        </p:nvSpPr>
        <p:spPr>
          <a:xfrm>
            <a:off x="777240" y="6040526"/>
            <a:ext cx="41148" cy="204825"/>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6040526"/>
            <a:ext cx="10362895" cy="223113"/>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Tested with the real Npgsql 4.0.17, pgjdbc, psycopg 3 and psql. Power BI Desktop itself was not run.</a:t>
            </a:r>
          </a:p>
        </p:txBody>
      </p:sp>
      <p:sp>
        <p:nvSpPr>
          <p:cNvPr id="12" name="Rectangle 11"/>
          <p:cNvSpPr/>
          <p:nvPr/>
        </p:nvSpPr>
        <p:spPr>
          <a:xfrm>
            <a:off x="777240"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was needed</a:t>
            </a:r>
          </a:p>
        </p:txBody>
      </p:sp>
      <p:sp>
        <p:nvSpPr>
          <p:cNvPr id="15" name="TextBox 14"/>
          <p:cNvSpPr txBox="1"/>
          <p:nvPr/>
        </p:nvSpPr>
        <p:spPr>
          <a:xfrm>
            <a:off x="777240" y="1857552"/>
            <a:ext cx="5135727" cy="4018381"/>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Source Sans 3"/>
              </a:rPr>
              <a:t>▪  </a:t>
            </a:r>
            <a:r>
              <a:rPr sz="1450" b="1">
                <a:solidFill>
                  <a:srgbClr val="1A1A1A"/>
                </a:solidFill>
                <a:latin typeface="Source Sans 3"/>
              </a:rPr>
              <a:t>Npgsql 4.0.17, Power BI's own driver</a:t>
            </a:r>
          </a:p>
          <a:p>
            <a:pPr lvl="1">
              <a:lnSpc>
                <a:spcPct val="120000"/>
              </a:lnSpc>
              <a:spcBef>
                <a:spcPts val="0"/>
              </a:spcBef>
              <a:spcAft>
                <a:spcPts val="0"/>
              </a:spcAft>
            </a:pPr>
            <a:r>
              <a:rPr sz="1300" b="0">
                <a:solidFill>
                  <a:srgbClr val="4A5058"/>
                </a:solidFill>
                <a:latin typeface="Source Sans 3"/>
              </a:rPr>
              <a:t>Its type-loading queries, binary results for every type, the navigator's INFORMATION_SCHEMA queries, DirectQuery's LIMIT 1000001.</a:t>
            </a:r>
          </a:p>
          <a:p>
            <a:pPr>
              <a:lnSpc>
                <a:spcPct val="120000"/>
              </a:lnSpc>
              <a:spcBef>
                <a:spcPts val="500"/>
              </a:spcBef>
              <a:spcAft>
                <a:spcPts val="100"/>
              </a:spcAft>
            </a:pPr>
            <a:r>
              <a:rPr sz="1450" b="1">
                <a:solidFill>
                  <a:srgbClr val="A51C30"/>
                </a:solidFill>
                <a:latin typeface="Source Sans 3"/>
              </a:rPr>
              <a:t>▪  </a:t>
            </a:r>
            <a:r>
              <a:rPr sz="1450" b="1">
                <a:solidFill>
                  <a:srgbClr val="1A1A1A"/>
                </a:solidFill>
                <a:latin typeface="Source Sans 3"/>
              </a:rPr>
              <a:t>Transactions, as no-ops</a:t>
            </a:r>
          </a:p>
          <a:p>
            <a:pPr lvl="1">
              <a:lnSpc>
                <a:spcPct val="120000"/>
              </a:lnSpc>
              <a:spcBef>
                <a:spcPts val="0"/>
              </a:spcBef>
              <a:spcAft>
                <a:spcPts val="0"/>
              </a:spcAft>
            </a:pPr>
            <a:r>
              <a:rPr sz="1300" b="0">
                <a:solidFill>
                  <a:srgbClr val="4A5058"/>
                </a:solidFill>
                <a:latin typeface="Source Sans 3"/>
              </a:rPr>
              <a:t>BEGIN … COMMIT with PostgreSQL's tags and status: psycopg's default mode, pgjdbc without auto-commit, most ORMs (PGWIRE-TX-1).</a:t>
            </a:r>
          </a:p>
          <a:p>
            <a:pPr>
              <a:lnSpc>
                <a:spcPct val="120000"/>
              </a:lnSpc>
              <a:spcBef>
                <a:spcPts val="500"/>
              </a:spcBef>
              <a:spcAft>
                <a:spcPts val="100"/>
              </a:spcAft>
            </a:pPr>
            <a:r>
              <a:rPr sz="1450" b="1">
                <a:solidFill>
                  <a:srgbClr val="A51C30"/>
                </a:solidFill>
                <a:latin typeface="Source Sans 3"/>
              </a:rPr>
              <a:t>▪  </a:t>
            </a:r>
            <a:r>
              <a:rPr sz="1450" b="1">
                <a:solidFill>
                  <a:srgbClr val="1A1A1A"/>
                </a:solidFill>
                <a:latin typeface="Source Sans 3"/>
              </a:rPr>
              <a:t>psql 18</a:t>
            </a:r>
          </a:p>
          <a:p>
            <a:pPr lvl="1">
              <a:lnSpc>
                <a:spcPct val="120000"/>
              </a:lnSpc>
              <a:spcBef>
                <a:spcPts val="0"/>
              </a:spcBef>
              <a:spcAft>
                <a:spcPts val="0"/>
              </a:spcAft>
            </a:pPr>
            <a:r>
              <a:rPr sz="1300" b="0">
                <a:solidFill>
                  <a:srgbClr val="4A5058"/>
                </a:solidFill>
                <a:latin typeface="Source Sans 3"/>
              </a:rPr>
              <a:t>\d answered.</a:t>
            </a:r>
          </a:p>
        </p:txBody>
      </p:sp>
      <p:sp>
        <p:nvSpPr>
          <p:cNvPr id="16" name="Rectangle 15"/>
          <p:cNvSpPr/>
          <p:nvPr/>
        </p:nvSpPr>
        <p:spPr>
          <a:xfrm>
            <a:off x="6278727" y="1345488"/>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78727" y="1345488"/>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3319" y="1418640"/>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is stated, not implied</a:t>
            </a:r>
          </a:p>
        </p:txBody>
      </p:sp>
      <p:sp>
        <p:nvSpPr>
          <p:cNvPr id="19" name="TextBox 18"/>
          <p:cNvSpPr txBox="1"/>
          <p:nvPr/>
        </p:nvSpPr>
        <p:spPr>
          <a:xfrm>
            <a:off x="6278727" y="1857552"/>
            <a:ext cx="5135727" cy="4018381"/>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Source Sans 3"/>
              </a:rPr>
              <a:t>▪  </a:t>
            </a:r>
            <a:r>
              <a:rPr sz="1450" b="1">
                <a:solidFill>
                  <a:srgbClr val="1A1A1A"/>
                </a:solidFill>
                <a:latin typeface="Source Sans 3"/>
              </a:rPr>
              <a:t>READ COMMITTED, always</a:t>
            </a:r>
          </a:p>
          <a:p>
            <a:pPr lvl="1">
              <a:lnSpc>
                <a:spcPct val="120000"/>
              </a:lnSpc>
              <a:spcBef>
                <a:spcPts val="0"/>
              </a:spcBef>
              <a:spcAft>
                <a:spcPts val="0"/>
              </a:spcAft>
            </a:pPr>
            <a:r>
              <a:rPr sz="1300" b="0">
                <a:solidFill>
                  <a:srgbClr val="4A5058"/>
                </a:solidFill>
                <a:latin typeface="Source Sans 3"/>
              </a:rPr>
              <a:t>Each read sees the view as its last commit left it; REPEATABLE READ is accepted with a NOTICE saying so. Writes are refused.</a:t>
            </a:r>
          </a:p>
          <a:p>
            <a:pPr>
              <a:lnSpc>
                <a:spcPct val="120000"/>
              </a:lnSpc>
              <a:spcBef>
                <a:spcPts val="500"/>
              </a:spcBef>
              <a:spcAft>
                <a:spcPts val="100"/>
              </a:spcAft>
            </a:pPr>
            <a:r>
              <a:rPr sz="1450" b="1">
                <a:solidFill>
                  <a:srgbClr val="A51C30"/>
                </a:solidFill>
                <a:latin typeface="Source Sans 3"/>
              </a:rPr>
              <a:t>▪  </a:t>
            </a:r>
            <a:r>
              <a:rPr sz="1450" b="1">
                <a:solidFill>
                  <a:srgbClr val="1A1A1A"/>
                </a:solidFill>
                <a:latin typeface="Source Sans 3"/>
              </a:rPr>
              <a:t>AVG of an integer is numeric here only</a:t>
            </a:r>
          </a:p>
          <a:p>
            <a:pPr lvl="1">
              <a:lnSpc>
                <a:spcPct val="120000"/>
              </a:lnSpc>
              <a:spcBef>
                <a:spcPts val="0"/>
              </a:spcBef>
              <a:spcAft>
                <a:spcPts val="0"/>
              </a:spcAft>
            </a:pPr>
            <a:r>
              <a:rPr sz="1300" b="0">
                <a:solidFill>
                  <a:srgbClr val="4A5058"/>
                </a:solidFill>
                <a:latin typeface="Source Sans 3"/>
              </a:rPr>
              <a:t>As PostgreSQL clients expect; every other surface keeps the engine's integer AVG.</a:t>
            </a:r>
          </a:p>
          <a:p>
            <a:pPr>
              <a:lnSpc>
                <a:spcPct val="120000"/>
              </a:lnSpc>
              <a:spcBef>
                <a:spcPts val="500"/>
              </a:spcBef>
              <a:spcAft>
                <a:spcPts val="100"/>
              </a:spcAft>
            </a:pPr>
            <a:r>
              <a:rPr sz="1450" b="1">
                <a:solidFill>
                  <a:srgbClr val="A51C30"/>
                </a:solidFill>
                <a:latin typeface="Source Sans 3"/>
              </a:rPr>
              <a:t>▪  </a:t>
            </a:r>
            <a:r>
              <a:rPr sz="1450" b="1">
                <a:solidFill>
                  <a:srgbClr val="1A1A1A"/>
                </a:solidFill>
                <a:latin typeface="Source Sans 3"/>
              </a:rPr>
              <a:t>Same grants, filters and masks</a:t>
            </a:r>
          </a:p>
          <a:p>
            <a:pPr lvl="1">
              <a:lnSpc>
                <a:spcPct val="120000"/>
              </a:lnSpc>
              <a:spcBef>
                <a:spcPts val="0"/>
              </a:spcBef>
              <a:spcAft>
                <a:spcPts val="0"/>
              </a:spcAft>
            </a:pPr>
            <a:r>
              <a:rPr sz="1300" b="0">
                <a:solidFill>
                  <a:srgbClr val="4A5058"/>
                </a:solidFill>
                <a:latin typeface="Source Sans 3"/>
              </a:rPr>
              <a:t>Signed in with an API key or session token.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WHAT TO WATCH</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Per-query metrics, and the ones to alert on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70</a:t>
            </a:r>
          </a:p>
        </p:txBody>
      </p:sp>
      <p:sp>
        <p:nvSpPr>
          <p:cNvPr id="10" name="Rectangle 9"/>
          <p:cNvSpPr/>
          <p:nvPr/>
        </p:nvSpPr>
        <p:spPr>
          <a:xfrm>
            <a:off x="777240" y="5630875"/>
            <a:ext cx="41148" cy="6144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630875"/>
            <a:ext cx="10362895" cy="63276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Shipped beside them: four Grafana dashboards, Prometheus rules (and a Helm PrometheusRule), JSON logs with correlation and trace ids, OpenTelemetry tracing (off by default). Per-operator metrics cost about 12 % of throughput, so they are off by default.</a:t>
            </a:r>
          </a:p>
        </p:txBody>
      </p:sp>
      <p:graphicFrame>
        <p:nvGraphicFramePr>
          <p:cNvPr id="12" name="Table 11"/>
          <p:cNvGraphicFramePr>
            <a:graphicFrameLocks noGrp="1"/>
          </p:cNvGraphicFramePr>
          <p:nvPr/>
        </p:nvGraphicFramePr>
        <p:xfrm>
          <a:off x="777240" y="1410919"/>
          <a:ext cx="10637214" cy="3961229"/>
        </p:xfrm>
        <a:graphic>
          <a:graphicData uri="http://schemas.openxmlformats.org/drawingml/2006/table">
            <a:tbl>
              <a:tblPr firstRow="1">
                <a:tableStyleId>{5C22544A-7EE6-4342-B048-85BDC9FD1C3A}</a:tableStyleId>
              </a:tblPr>
              <a:tblGrid>
                <a:gridCol w="6052208"/>
                <a:gridCol w="4585006"/>
              </a:tblGrid>
              <a:tr h="322376">
                <a:tc>
                  <a:txBody>
                    <a:bodyPr wrap="square"/>
                    <a:lstStyle/>
                    <a:p>
                      <a:r>
                        <a:rPr sz="1300" b="1">
                          <a:solidFill>
                            <a:srgbClr val="FFFFFF"/>
                          </a:solidFill>
                          <a:latin typeface="Source Sans 3"/>
                        </a:rPr>
                        <a:t>Metric</a:t>
                      </a:r>
                    </a:p>
                  </a:txBody>
                  <a:tcPr marL="82296" marR="64008" marT="32004" marB="32004" anchor="ctr">
                    <a:solidFill>
                      <a:srgbClr val="8A1626"/>
                    </a:solidFill>
                  </a:tcPr>
                </a:tc>
                <a:tc>
                  <a:txBody>
                    <a:bodyPr wrap="square"/>
                    <a:lstStyle/>
                    <a:p>
                      <a:r>
                        <a:rPr sz="1300" b="1">
                          <a:solidFill>
                            <a:srgbClr val="FFFFFF"/>
                          </a:solidFill>
                          <a:latin typeface="Source Sans 3"/>
                        </a:rPr>
                        <a:t>Answers</a:t>
                      </a:r>
                    </a:p>
                  </a:txBody>
                  <a:tcPr marL="82296" marR="64008" marT="32004" marB="32004" anchor="ctr">
                    <a:solidFill>
                      <a:srgbClr val="8A1626"/>
                    </a:solidFill>
                  </a:tcPr>
                </a:tc>
              </a:tr>
              <a:tr h="551383">
                <a:tc>
                  <a:txBody>
                    <a:bodyPr wrap="square"/>
                    <a:lstStyle/>
                    <a:p>
                      <a:r>
                        <a:rPr sz="1350" b="1">
                          <a:solidFill>
                            <a:srgbClr val="8A1626"/>
                          </a:solidFill>
                          <a:latin typeface="Source Sans 3"/>
                        </a:rPr>
                        <a:t>pravaha_query_feed_stopped</a:t>
                      </a:r>
                    </a:p>
                  </a:txBody>
                  <a:tcPr marL="82296" marR="64008" marT="32004" marB="32004" anchor="ctr">
                    <a:solidFill>
                      <a:srgbClr val="FFFFFF"/>
                    </a:solidFill>
                  </a:tcPr>
                </a:tc>
                <a:tc>
                  <a:txBody>
                    <a:bodyPr wrap="square"/>
                    <a:lstStyle/>
                    <a:p>
                      <a:r>
                        <a:rPr sz="1350" b="0">
                          <a:solidFill>
                            <a:srgbClr val="1A1A1A"/>
                          </a:solidFill>
                          <a:latin typeface="Source Sans 3"/>
                        </a:rPr>
                        <a:t>A source stopped mid-read while the query still says RUNNING</a:t>
                      </a:r>
                    </a:p>
                  </a:txBody>
                  <a:tcPr marL="82296" marR="64008" marT="32004" marB="32004" anchor="ctr">
                    <a:solidFill>
                      <a:srgbClr val="FFFFFF"/>
                    </a:solidFill>
                  </a:tcPr>
                </a:tc>
              </a:tr>
              <a:tr h="551383">
                <a:tc>
                  <a:txBody>
                    <a:bodyPr wrap="square"/>
                    <a:lstStyle/>
                    <a:p>
                      <a:r>
                        <a:rPr sz="1350" b="1">
                          <a:solidFill>
                            <a:srgbClr val="8A1626"/>
                          </a:solidFill>
                          <a:latin typeface="Source Sans 3"/>
                        </a:rPr>
                        <a:t>pravaha_query_state_fraction</a:t>
                      </a:r>
                    </a:p>
                  </a:txBody>
                  <a:tcPr marL="82296" marR="64008" marT="32004" marB="32004" anchor="ctr">
                    <a:solidFill>
                      <a:srgbClr val="F7F5F2"/>
                    </a:solidFill>
                  </a:tcPr>
                </a:tc>
                <a:tc>
                  <a:txBody>
                    <a:bodyPr wrap="square"/>
                    <a:lstStyle/>
                    <a:p>
                      <a:r>
                        <a:rPr sz="1350" b="0">
                          <a:solidFill>
                            <a:srgbClr val="1A1A1A"/>
                          </a:solidFill>
                          <a:latin typeface="Source Sans 3"/>
                        </a:rPr>
                        <a:t>State held against its ceiling, 0 to 1 — before PRV-4001</a:t>
                      </a:r>
                    </a:p>
                  </a:txBody>
                  <a:tcPr marL="82296" marR="64008" marT="32004" marB="32004" anchor="ctr">
                    <a:solidFill>
                      <a:srgbClr val="F7F5F2"/>
                    </a:solidFill>
                  </a:tcPr>
                </a:tc>
              </a:tr>
              <a:tr h="551383">
                <a:tc>
                  <a:txBody>
                    <a:bodyPr wrap="square"/>
                    <a:lstStyle/>
                    <a:p>
                      <a:r>
                        <a:rPr sz="1350" b="1">
                          <a:solidFill>
                            <a:srgbClr val="8A1626"/>
                          </a:solidFill>
                          <a:latin typeface="Source Sans 3"/>
                        </a:rPr>
                        <a:t>pravaha_query_watermark_lag_seconds</a:t>
                      </a:r>
                    </a:p>
                  </a:txBody>
                  <a:tcPr marL="82296" marR="64008" marT="32004" marB="32004" anchor="ctr">
                    <a:solidFill>
                      <a:srgbClr val="FFFFFF"/>
                    </a:solidFill>
                  </a:tcPr>
                </a:tc>
                <a:tc>
                  <a:txBody>
                    <a:bodyPr wrap="square"/>
                    <a:lstStyle/>
                    <a:p>
                      <a:r>
                        <a:rPr sz="1350" b="0">
                          <a:solidFill>
                            <a:srgbClr val="1A1A1A"/>
                          </a:solidFill>
                          <a:latin typeface="Source Sans 3"/>
                        </a:rPr>
                        <a:t>How far behind event time it is (NaN before a row)</a:t>
                      </a:r>
                    </a:p>
                  </a:txBody>
                  <a:tcPr marL="82296" marR="64008" marT="32004" marB="32004" anchor="ctr">
                    <a:solidFill>
                      <a:srgbClr val="FFFFFF"/>
                    </a:solidFill>
                  </a:tcPr>
                </a:tc>
              </a:tr>
              <a:tr h="551383">
                <a:tc>
                  <a:txBody>
                    <a:bodyPr wrap="square"/>
                    <a:lstStyle/>
                    <a:p>
                      <a:r>
                        <a:rPr sz="1350" b="1">
                          <a:solidFill>
                            <a:srgbClr val="8A1626"/>
                          </a:solidFill>
                          <a:latin typeface="Source Sans 3"/>
                        </a:rPr>
                        <a:t>pravaha_query_backpressure_blocked_fraction</a:t>
                      </a:r>
                    </a:p>
                  </a:txBody>
                  <a:tcPr marL="82296" marR="64008" marT="32004" marB="32004" anchor="ctr">
                    <a:solidFill>
                      <a:srgbClr val="F7F5F2"/>
                    </a:solidFill>
                  </a:tcPr>
                </a:tc>
                <a:tc>
                  <a:txBody>
                    <a:bodyPr wrap="square"/>
                    <a:lstStyle/>
                    <a:p>
                      <a:r>
                        <a:rPr sz="1350" b="0">
                          <a:solidFill>
                            <a:srgbClr val="1A1A1A"/>
                          </a:solidFill>
                          <a:latin typeface="Source Sans 3"/>
                        </a:rPr>
                        <a:t>Is this query the limit, or blocked by a neighbour</a:t>
                      </a:r>
                    </a:p>
                  </a:txBody>
                  <a:tcPr marL="82296" marR="64008" marT="32004" marB="32004" anchor="ctr">
                    <a:solidFill>
                      <a:srgbClr val="F7F5F2"/>
                    </a:solidFill>
                  </a:tcPr>
                </a:tc>
              </a:tr>
              <a:tr h="330555">
                <a:tc>
                  <a:txBody>
                    <a:bodyPr wrap="square"/>
                    <a:lstStyle/>
                    <a:p>
                      <a:r>
                        <a:rPr sz="1350" b="1">
                          <a:solidFill>
                            <a:srgbClr val="8A1626"/>
                          </a:solidFill>
                          <a:latin typeface="Source Sans 3"/>
                        </a:rPr>
                        <a:t>pravaha_query_checkpoint_last_success_timestamp_seconds</a:t>
                      </a:r>
                    </a:p>
                  </a:txBody>
                  <a:tcPr marL="82296" marR="64008" marT="32004" marB="32004" anchor="ctr">
                    <a:solidFill>
                      <a:srgbClr val="FFFFFF"/>
                    </a:solidFill>
                  </a:tcPr>
                </a:tc>
                <a:tc>
                  <a:txBody>
                    <a:bodyPr wrap="square"/>
                    <a:lstStyle/>
                    <a:p>
                      <a:r>
                        <a:rPr sz="1350" b="0">
                          <a:solidFill>
                            <a:srgbClr val="1A1A1A"/>
                          </a:solidFill>
                          <a:latin typeface="Source Sans 3"/>
                        </a:rPr>
                        <a:t>How much recovery would replay now</a:t>
                      </a:r>
                    </a:p>
                  </a:txBody>
                  <a:tcPr marL="82296" marR="64008" marT="32004" marB="32004" anchor="ctr">
                    <a:solidFill>
                      <a:srgbClr val="FFFFFF"/>
                    </a:solidFill>
                  </a:tcPr>
                </a:tc>
              </a:tr>
              <a:tr h="551383">
                <a:tc>
                  <a:txBody>
                    <a:bodyPr wrap="square"/>
                    <a:lstStyle/>
                    <a:p>
                      <a:r>
                        <a:rPr sz="1350" b="1">
                          <a:solidFill>
                            <a:srgbClr val="8A1626"/>
                          </a:solidFill>
                          <a:latin typeface="Source Sans 3"/>
                        </a:rPr>
                        <a:t>pravaha_query_commit_latency_seconds (count, sum)</a:t>
                      </a:r>
                    </a:p>
                  </a:txBody>
                  <a:tcPr marL="82296" marR="64008" marT="32004" marB="32004" anchor="ctr">
                    <a:solidFill>
                      <a:srgbClr val="F7F5F2"/>
                    </a:solidFill>
                  </a:tcPr>
                </a:tc>
                <a:tc>
                  <a:txBody>
                    <a:bodyPr wrap="square"/>
                    <a:lstStyle/>
                    <a:p>
                      <a:r>
                        <a:rPr sz="1350" b="0">
                          <a:solidFill>
                            <a:srgbClr val="1A1A1A"/>
                          </a:solidFill>
                          <a:latin typeface="Source Sans 3"/>
                        </a:rPr>
                        <a:t>An exact mean; no percentiles are published, because none is measured</a:t>
                      </a:r>
                    </a:p>
                  </a:txBody>
                  <a:tcPr marL="82296" marR="64008" marT="32004" marB="32004" anchor="ctr">
                    <a:solidFill>
                      <a:srgbClr val="F7F5F2"/>
                    </a:solidFill>
                  </a:tcPr>
                </a:tc>
              </a:tr>
              <a:tr h="551383">
                <a:tc>
                  <a:txBody>
                    <a:bodyPr wrap="square"/>
                    <a:lstStyle/>
                    <a:p>
                      <a:r>
                        <a:rPr sz="1350" b="1">
                          <a:solidFill>
                            <a:srgbClr val="8A1626"/>
                          </a:solidFill>
                          <a:latin typeface="Source Sans 3"/>
                        </a:rPr>
                        <a:t>pravaha_lane_own_queries</a:t>
                      </a:r>
                    </a:p>
                  </a:txBody>
                  <a:tcPr marL="82296" marR="64008" marT="32004" marB="32004" anchor="ctr">
                    <a:solidFill>
                      <a:srgbClr val="FFFFFF"/>
                    </a:solidFill>
                  </a:tcPr>
                </a:tc>
                <a:tc>
                  <a:txBody>
                    <a:bodyPr wrap="square"/>
                    <a:lstStyle/>
                    <a:p>
                      <a:r>
                        <a:rPr sz="1350" b="0">
                          <a:solidFill>
                            <a:srgbClr val="1A1A1A"/>
                          </a:solidFill>
                          <a:latin typeface="Source Sans 3"/>
                        </a:rPr>
                        <a:t>Rising with sharing on: the shared lanes are full</a:t>
                      </a:r>
                    </a:p>
                  </a:txBody>
                  <a:tcPr marL="82296" marR="64008" marT="32004" marB="32004" anchor="ctr">
                    <a:solidFill>
                      <a:srgbClr val="FFFF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ASSISTANT · ADR-058 · EXPERIMENTAL IN 1.0</a:t>
            </a:r>
          </a:p>
        </p:txBody>
      </p:sp>
      <p:sp>
        <p:nvSpPr>
          <p:cNvPr id="5" name="TextBox 4"/>
          <p:cNvSpPr txBox="1"/>
          <p:nvPr/>
        </p:nvSpPr>
        <p:spPr>
          <a:xfrm>
            <a:off x="777240" y="749808"/>
            <a:ext cx="10637215" cy="396443"/>
          </a:xfrm>
          <a:prstGeom prst="rect">
            <a:avLst/>
          </a:prstGeom>
          <a:noFill/>
        </p:spPr>
        <p:txBody>
          <a:bodyPr wrap="square" lIns="0" rIns="0" tIns="0" bIns="0" anchor="t">
            <a:spAutoFit/>
          </a:bodyPr>
          <a:lstStyle/>
          <a:p>
            <a:pPr algn="l">
              <a:lnSpc>
                <a:spcPct val="115000"/>
              </a:lnSpc>
              <a:spcBef>
                <a:spcPts val="0"/>
              </a:spcBef>
              <a:spcAft>
                <a:spcPts val="0"/>
              </a:spcAft>
            </a:pPr>
            <a:r>
              <a:rPr sz="2200" b="1" i="0">
                <a:solidFill>
                  <a:srgbClr val="1A1A1A"/>
                </a:solidFill>
                <a:latin typeface="Source Sans 3"/>
              </a:rPr>
              <a:t>Plain English to continuous SQL, with the engine as the judge</a:t>
            </a:r>
          </a:p>
        </p:txBody>
      </p:sp>
      <p:sp>
        <p:nvSpPr>
          <p:cNvPr id="6" name="Rectangle 5"/>
          <p:cNvSpPr/>
          <p:nvPr/>
        </p:nvSpPr>
        <p:spPr>
          <a:xfrm>
            <a:off x="777240" y="120111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71</a:t>
            </a:r>
          </a:p>
        </p:txBody>
      </p:sp>
      <p:sp>
        <p:nvSpPr>
          <p:cNvPr id="10" name="Rectangle 9"/>
          <p:cNvSpPr/>
          <p:nvPr/>
        </p:nvSpPr>
        <p:spPr>
          <a:xfrm>
            <a:off x="777240" y="1329131"/>
            <a:ext cx="2453563" cy="19659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29131"/>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493723"/>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Context, as you</a:t>
            </a:r>
          </a:p>
        </p:txBody>
      </p:sp>
      <p:sp>
        <p:nvSpPr>
          <p:cNvPr id="13" name="TextBox 12"/>
          <p:cNvSpPr txBox="1"/>
          <p:nvPr/>
        </p:nvSpPr>
        <p:spPr>
          <a:xfrm>
            <a:off x="960120" y="1855063"/>
            <a:ext cx="2087803" cy="1312011"/>
          </a:xfrm>
          <a:prstGeom prst="rect">
            <a:avLst/>
          </a:prstGeom>
          <a:noFill/>
        </p:spPr>
        <p:txBody>
          <a:bodyPr wrap="square" lIns="0" rIns="0" tIns="0" bIns="0" anchor="t">
            <a:spAutoFit/>
          </a:bodyPr>
          <a:lstStyle/>
          <a:p>
            <a:pPr algn="l">
              <a:lnSpc>
                <a:spcPct val="120000"/>
              </a:lnSpc>
              <a:spcBef>
                <a:spcPts val="0"/>
              </a:spcBef>
              <a:spcAft>
                <a:spcPts val="0"/>
              </a:spcAft>
            </a:pPr>
            <a:r>
              <a:rPr sz="1250" b="0" i="0">
                <a:solidFill>
                  <a:srgbClr val="4A5058"/>
                </a:solidFill>
                <a:latin typeface="Source Sans 3"/>
              </a:rPr>
              <a:t>Streams and views you may read, sinks you may write to, the dialect's rules, a few worked examples. No row is ever sent.</a:t>
            </a:r>
          </a:p>
        </p:txBody>
      </p:sp>
      <p:sp>
        <p:nvSpPr>
          <p:cNvPr id="14" name="Rectangle 13"/>
          <p:cNvSpPr/>
          <p:nvPr/>
        </p:nvSpPr>
        <p:spPr>
          <a:xfrm>
            <a:off x="3505123" y="1329131"/>
            <a:ext cx="2453563" cy="19659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05123" y="1329131"/>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88003" y="1493723"/>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Any model drafts</a:t>
            </a:r>
          </a:p>
        </p:txBody>
      </p:sp>
      <p:sp>
        <p:nvSpPr>
          <p:cNvPr id="17" name="TextBox 16"/>
          <p:cNvSpPr txBox="1"/>
          <p:nvPr/>
        </p:nvSpPr>
        <p:spPr>
          <a:xfrm>
            <a:off x="3688003" y="1855063"/>
            <a:ext cx="2087803" cy="1312011"/>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4A5058"/>
                </a:solidFill>
                <a:latin typeface="Source Sans 3"/>
              </a:rPr>
              <a:t>Hosted or local — built-in providers, any OpenAI-compatible server, Ollama, or a plugin — with fallback chains and budgets; switched at runtime.</a:t>
            </a:r>
          </a:p>
        </p:txBody>
      </p:sp>
      <p:cxnSp>
        <p:nvCxnSpPr>
          <p:cNvPr id="18" name="Connector 17"/>
          <p:cNvCxnSpPr/>
          <p:nvPr/>
        </p:nvCxnSpPr>
        <p:spPr>
          <a:xfrm>
            <a:off x="3267379" y="2312111"/>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33007" y="1329131"/>
            <a:ext cx="2453563" cy="19659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3007" y="1329131"/>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5887" y="1493723"/>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The engine judges</a:t>
            </a:r>
          </a:p>
        </p:txBody>
      </p:sp>
      <p:sp>
        <p:nvSpPr>
          <p:cNvPr id="22" name="TextBox 21"/>
          <p:cNvSpPr txBox="1"/>
          <p:nvPr/>
        </p:nvSpPr>
        <p:spPr>
          <a:xfrm>
            <a:off x="6415887" y="2124964"/>
            <a:ext cx="2087803" cy="1042111"/>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4A5058"/>
                </a:solidFill>
                <a:latin typeface="Source Sans 3"/>
              </a:rPr>
              <a:t>Validates and explains the draft; up to three repair turns, none allowed to change what the query reads.</a:t>
            </a:r>
          </a:p>
        </p:txBody>
      </p:sp>
      <p:cxnSp>
        <p:nvCxnSpPr>
          <p:cNvPr id="23" name="Connector 22"/>
          <p:cNvCxnSpPr/>
          <p:nvPr/>
        </p:nvCxnSpPr>
        <p:spPr>
          <a:xfrm>
            <a:off x="5995263" y="2312111"/>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960891" y="1329131"/>
            <a:ext cx="2453563" cy="196596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60891" y="1329131"/>
            <a:ext cx="2453563"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3771" y="1493723"/>
            <a:ext cx="2087803" cy="713232"/>
          </a:xfrm>
          <a:prstGeom prst="rect">
            <a:avLst/>
          </a:prstGeom>
          <a:noFill/>
        </p:spPr>
        <p:txBody>
          <a:bodyPr wrap="square" lIns="0" rIns="0" tIns="0" bIns="0" anchor="t">
            <a:spAutoFit/>
          </a:bodyPr>
          <a:lstStyle/>
          <a:p>
            <a:pPr algn="l">
              <a:lnSpc>
                <a:spcPct val="110000"/>
              </a:lnSpc>
              <a:spcBef>
                <a:spcPts val="0"/>
              </a:spcBef>
              <a:spcAft>
                <a:spcPts val="0"/>
              </a:spcAft>
            </a:pPr>
            <a:r>
              <a:rPr sz="1650" b="1" i="0">
                <a:solidFill>
                  <a:srgbClr val="1A1A1A"/>
                </a:solidFill>
                <a:latin typeface="Source Sans 3"/>
              </a:rPr>
              <a:t>A person registers</a:t>
            </a:r>
          </a:p>
        </p:txBody>
      </p:sp>
      <p:sp>
        <p:nvSpPr>
          <p:cNvPr id="27" name="TextBox 26"/>
          <p:cNvSpPr txBox="1"/>
          <p:nvPr/>
        </p:nvSpPr>
        <p:spPr>
          <a:xfrm>
            <a:off x="9143771" y="2124964"/>
            <a:ext cx="2087803" cy="1042111"/>
          </a:xfrm>
          <a:prstGeom prst="rect">
            <a:avLst/>
          </a:prstGeom>
          <a:noFill/>
        </p:spPr>
        <p:txBody>
          <a:bodyPr wrap="square" lIns="0" rIns="0" tIns="0" bIns="0" anchor="t">
            <a:spAutoFit/>
          </a:bodyPr>
          <a:lstStyle/>
          <a:p>
            <a:pPr algn="l">
              <a:lnSpc>
                <a:spcPct val="120000"/>
              </a:lnSpc>
              <a:spcBef>
                <a:spcPts val="0"/>
              </a:spcBef>
              <a:spcAft>
                <a:spcPts val="0"/>
              </a:spcAft>
            </a:pPr>
            <a:r>
              <a:rPr sz="1150" b="0" i="0">
                <a:solidFill>
                  <a:srgbClr val="4A5058"/>
                </a:solidFill>
                <a:latin typeface="Source Sans 3"/>
              </a:rPr>
              <a:t>Only an accepted draft, only after confirmation; a running query with the same plan is offered for reuse.</a:t>
            </a:r>
          </a:p>
        </p:txBody>
      </p:sp>
      <p:cxnSp>
        <p:nvCxnSpPr>
          <p:cNvPr id="28" name="Connector 27"/>
          <p:cNvCxnSpPr/>
          <p:nvPr/>
        </p:nvCxnSpPr>
        <p:spPr>
          <a:xfrm>
            <a:off x="8723147" y="2312111"/>
            <a:ext cx="20116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3505403"/>
            <a:ext cx="10637215" cy="2739948"/>
          </a:xfrm>
          <a:prstGeom prst="rect">
            <a:avLst/>
          </a:prstGeom>
          <a:noFill/>
        </p:spPr>
        <p:txBody>
          <a:bodyPr wrap="square" lIns="0" rIns="0" tIns="0" bIns="0" anchor="t">
            <a:spAutoFit/>
          </a:bodyPr>
          <a:lstStyle/>
          <a:p>
            <a:pPr algn="l">
              <a:lnSpc>
                <a:spcPct val="120000"/>
              </a:lnSpc>
              <a:spcBef>
                <a:spcPts val="0"/>
              </a:spcBef>
              <a:spcAft>
                <a:spcPts val="100"/>
              </a:spcAft>
            </a:pPr>
            <a:r>
              <a:rPr sz="1450" b="1">
                <a:solidFill>
                  <a:srgbClr val="A51C30"/>
                </a:solidFill>
                <a:latin typeface="Source Sans 3"/>
              </a:rPr>
              <a:t>▪  </a:t>
            </a:r>
            <a:r>
              <a:rPr sz="1450" b="1">
                <a:solidFill>
                  <a:srgbClr val="1A1A1A"/>
                </a:solidFill>
                <a:latin typeface="Source Sans 3"/>
              </a:rPr>
              <a:t>Where</a:t>
            </a:r>
          </a:p>
          <a:p>
            <a:pPr lvl="1">
              <a:lnSpc>
                <a:spcPct val="120000"/>
              </a:lnSpc>
              <a:spcBef>
                <a:spcPts val="0"/>
              </a:spcBef>
              <a:spcAft>
                <a:spcPts val="0"/>
              </a:spcAft>
            </a:pPr>
            <a:r>
              <a:rPr sz="1300" b="0">
                <a:solidFill>
                  <a:srgbClr val="4A5058"/>
                </a:solidFill>
                <a:latin typeface="Source Sans 3"/>
              </a:rPr>
              <a:t>pravaha ask, explain-sql and why; the console's Describe it and Explain; Admin · AI models.</a:t>
            </a:r>
          </a:p>
          <a:p>
            <a:pPr>
              <a:lnSpc>
                <a:spcPct val="120000"/>
              </a:lnSpc>
              <a:spcBef>
                <a:spcPts val="500"/>
              </a:spcBef>
              <a:spcAft>
                <a:spcPts val="100"/>
              </a:spcAft>
            </a:pPr>
            <a:r>
              <a:rPr sz="1450" b="1">
                <a:solidFill>
                  <a:srgbClr val="A51C30"/>
                </a:solidFill>
                <a:latin typeface="Source Sans 3"/>
              </a:rPr>
              <a:t>▪  </a:t>
            </a:r>
            <a:r>
              <a:rPr sz="1450" b="1">
                <a:solidFill>
                  <a:srgbClr val="1A1A1A"/>
                </a:solidFill>
                <a:latin typeface="Source Sans 3"/>
              </a:rPr>
              <a:t>Measured how</a:t>
            </a:r>
          </a:p>
          <a:p>
            <a:pPr lvl="1">
              <a:lnSpc>
                <a:spcPct val="120000"/>
              </a:lnSpc>
              <a:spcBef>
                <a:spcPts val="0"/>
              </a:spcBef>
              <a:spcAft>
                <a:spcPts val="0"/>
              </a:spcAft>
            </a:pPr>
            <a:r>
              <a:rPr sz="1300" b="0">
                <a:solidFill>
                  <a:srgbClr val="4A5058"/>
                </a:solidFill>
                <a:latin typeface="Source Sans 3"/>
              </a:rPr>
              <a:t>pravaha assist eval scores a model on a golden set generated from the case studies: 27 cases that must be accepted, 3 that must be refused or asked about. No score is claimed here.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TIME-TRAVEL DEBUGGER · ADR-048</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An incident, stepped by hand and exported as a test</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10 · Operating it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72</a:t>
            </a:r>
          </a:p>
        </p:txBody>
      </p:sp>
      <p:sp>
        <p:nvSpPr>
          <p:cNvPr id="10" name="TextBox 9"/>
          <p:cNvSpPr txBox="1"/>
          <p:nvPr/>
        </p:nvSpPr>
        <p:spPr>
          <a:xfrm>
            <a:off x="777240" y="1394561"/>
            <a:ext cx="10637215" cy="4850790"/>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A second computation nothing can read</a:t>
            </a:r>
          </a:p>
          <a:p>
            <a:pPr lvl="1">
              <a:lnSpc>
                <a:spcPct val="120000"/>
              </a:lnSpc>
              <a:spcBef>
                <a:spcPts val="0"/>
              </a:spcBef>
              <a:spcAft>
                <a:spcPts val="0"/>
              </a:spcAft>
            </a:pPr>
            <a:r>
              <a:rPr sz="1550" b="0">
                <a:solidFill>
                  <a:srgbClr val="4A5058"/>
                </a:solidFill>
                <a:latin typeface="Source Sans 3"/>
              </a:rPr>
              <a:t>A query is forked from one of its retained checkpoints, reading the same sources from that checkpoint's offsets — every sink disabled, its view in no catalogue, its lanes its own.</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Stepped one row, N rows, to a commit, a watermark or a value</a:t>
            </a:r>
          </a:p>
          <a:p>
            <a:pPr lvl="1">
              <a:lnSpc>
                <a:spcPct val="120000"/>
              </a:lnSpc>
              <a:spcBef>
                <a:spcPts val="0"/>
              </a:spcBef>
              <a:spcAft>
                <a:spcPts val="0"/>
              </a:spcAft>
            </a:pPr>
            <a:r>
              <a:rPr sz="1550" b="0">
                <a:solidFill>
                  <a:srgbClr val="4A5058"/>
                </a:solidFill>
                <a:latin typeface="Source Sans 3"/>
              </a:rPr>
              <a:t>Each step reports the rows that entered with their weights, every operator's rows in and out, and the view's changes: a filter that rejected the row is told apart from an aggregate that produced a zero delta.</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Deterministic, then a regression test</a:t>
            </a:r>
          </a:p>
          <a:p>
            <a:pPr lvl="1">
              <a:lnSpc>
                <a:spcPct val="120000"/>
              </a:lnSpc>
              <a:spcBef>
                <a:spcPts val="0"/>
              </a:spcBef>
              <a:spcAft>
                <a:spcPts val="0"/>
              </a:spcAft>
            </a:pPr>
            <a:r>
              <a:rPr sz="1550" b="0">
                <a:solidFill>
                  <a:srgbClr val="4A5058"/>
                </a:solidFill>
                <a:latin typeface="Source Sans 3"/>
              </a:rPr>
              <a:t>Two sessions over one checkpoint given the same steps report identically; the session exports as a self-contained JUnit test that compiles and passes.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11</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Thirteen worked systems</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Each study is a business problem, a data model, the data, the continuous queries and the client code in Java and Python — and every one is run by the build against answers worked out by hand.</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The thirteen, and what each shows</a:t>
            </a:r>
          </a:p>
          <a:p>
            <a:pPr>
              <a:lnSpc>
                <a:spcPct val="115000"/>
              </a:lnSpc>
              <a:spcBef>
                <a:spcPts val="0"/>
              </a:spcBef>
              <a:spcAft>
                <a:spcPts val="600"/>
              </a:spcAft>
            </a:pPr>
            <a:r>
              <a:rPr sz="1250" b="0" i="0">
                <a:solidFill>
                  <a:srgbClr val="F6E6E9"/>
                </a:solidFill>
                <a:latin typeface="Source Sans 3"/>
              </a:rPr>
              <a:t>How the build checks them</a:t>
            </a:r>
          </a:p>
          <a:p>
            <a:pPr>
              <a:lnSpc>
                <a:spcPct val="115000"/>
              </a:lnSpc>
              <a:spcBef>
                <a:spcPts val="0"/>
              </a:spcBef>
              <a:spcAft>
                <a:spcPts val="600"/>
              </a:spcAft>
            </a:pPr>
            <a:r>
              <a:rPr sz="1250" b="0" i="0">
                <a:solidFill>
                  <a:srgbClr val="F6E6E9"/>
                </a:solidFill>
                <a:latin typeface="Source Sans 3"/>
              </a:rPr>
              <a:t>Late data, corrected in place</a:t>
            </a:r>
          </a:p>
          <a:p>
            <a:pPr>
              <a:lnSpc>
                <a:spcPct val="115000"/>
              </a:lnSpc>
              <a:spcBef>
                <a:spcPts val="0"/>
              </a:spcBef>
              <a:spcAft>
                <a:spcPts val="600"/>
              </a:spcAft>
            </a:pPr>
            <a:r>
              <a:rPr sz="1250" b="0" i="0">
                <a:solidFill>
                  <a:srgbClr val="F6E6E9"/>
                </a:solidFill>
                <a:latin typeface="Source Sans 3"/>
              </a:rPr>
              <a:t>Change data capture from MySQL</a:t>
            </a:r>
          </a:p>
          <a:p>
            <a:pPr>
              <a:lnSpc>
                <a:spcPct val="115000"/>
              </a:lnSpc>
              <a:spcBef>
                <a:spcPts val="0"/>
              </a:spcBef>
              <a:spcAft>
                <a:spcPts val="600"/>
              </a:spcAft>
            </a:pPr>
            <a:r>
              <a:rPr sz="1250" b="0" i="0">
                <a:solidFill>
                  <a:srgbClr val="F6E6E9"/>
                </a:solidFill>
                <a:latin typeface="Source Sans 3"/>
              </a:rPr>
              <a:t>A continuous aggregate in Iceberg</a:t>
            </a:r>
          </a:p>
          <a:p>
            <a:pPr>
              <a:lnSpc>
                <a:spcPct val="115000"/>
              </a:lnSpc>
              <a:spcBef>
                <a:spcPts val="0"/>
              </a:spcBef>
              <a:spcAft>
                <a:spcPts val="600"/>
              </a:spcAft>
            </a:pPr>
            <a:r>
              <a:rPr sz="1250" b="0" i="0">
                <a:solidFill>
                  <a:srgbClr val="F6E6E9"/>
                </a:solidFill>
                <a:latin typeface="Source Sans 3"/>
              </a:rPr>
              <a:t>Many desks, one Kafka topic</a:t>
            </a:r>
          </a:p>
          <a:p>
            <a:pPr>
              <a:lnSpc>
                <a:spcPct val="115000"/>
              </a:lnSpc>
              <a:spcBef>
                <a:spcPts val="0"/>
              </a:spcBef>
              <a:spcAft>
                <a:spcPts val="600"/>
              </a:spcAft>
            </a:pPr>
            <a:r>
              <a:rPr sz="1250" b="0" i="0">
                <a:solidFill>
                  <a:srgbClr val="F6E6E9"/>
                </a:solidFill>
                <a:latin typeface="Source Sans 3"/>
              </a:rPr>
              <a:t>Two joins: attribution and absence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CASE STUDIES</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Thirteen systems, from a pass-through feed to a lakehouse</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74</a:t>
            </a:r>
          </a:p>
        </p:txBody>
      </p:sp>
      <p:graphicFrame>
        <p:nvGraphicFramePr>
          <p:cNvPr id="10" name="Table 9"/>
          <p:cNvGraphicFramePr>
            <a:graphicFrameLocks noGrp="1"/>
          </p:cNvGraphicFramePr>
          <p:nvPr/>
        </p:nvGraphicFramePr>
        <p:xfrm>
          <a:off x="777240" y="1361846"/>
          <a:ext cx="10637214" cy="4807710"/>
        </p:xfrm>
        <a:graphic>
          <a:graphicData uri="http://schemas.openxmlformats.org/drawingml/2006/table">
            <a:tbl>
              <a:tblPr firstRow="1">
                <a:tableStyleId>{5C22544A-7EE6-4342-B048-85BDC9FD1C3A}</a:tableStyleId>
              </a:tblPr>
              <a:tblGrid>
                <a:gridCol w="2909323"/>
                <a:gridCol w="1727411"/>
                <a:gridCol w="6000480"/>
              </a:tblGrid>
              <a:tr h="314198">
                <a:tc>
                  <a:txBody>
                    <a:bodyPr wrap="square"/>
                    <a:lstStyle/>
                    <a:p>
                      <a:r>
                        <a:rPr sz="1250" b="1">
                          <a:solidFill>
                            <a:srgbClr val="FFFFFF"/>
                          </a:solidFill>
                          <a:latin typeface="Source Sans 3"/>
                        </a:rPr>
                        <a:t>Study</a:t>
                      </a:r>
                    </a:p>
                  </a:txBody>
                  <a:tcPr marL="82296" marR="64008" marT="32004" marB="32004" anchor="ctr">
                    <a:solidFill>
                      <a:srgbClr val="8A1626"/>
                    </a:solidFill>
                  </a:tcPr>
                </a:tc>
                <a:tc>
                  <a:txBody>
                    <a:bodyPr wrap="square"/>
                    <a:lstStyle/>
                    <a:p>
                      <a:r>
                        <a:rPr sz="1250" b="1">
                          <a:solidFill>
                            <a:srgbClr val="FFFFFF"/>
                          </a:solidFill>
                          <a:latin typeface="Source Sans 3"/>
                        </a:rPr>
                        <a:t>Store</a:t>
                      </a:r>
                    </a:p>
                  </a:txBody>
                  <a:tcPr marL="82296" marR="64008" marT="32004" marB="32004" anchor="ctr">
                    <a:solidFill>
                      <a:srgbClr val="8A1626"/>
                    </a:solidFill>
                  </a:tcPr>
                </a:tc>
                <a:tc>
                  <a:txBody>
                    <a:bodyPr wrap="square"/>
                    <a:lstStyle/>
                    <a:p>
                      <a:r>
                        <a:rPr sz="1250" b="1">
                          <a:solidFill>
                            <a:srgbClr val="FFFFFF"/>
                          </a:solidFill>
                          <a:latin typeface="Source Sans 3"/>
                        </a:rPr>
                        <a:t>Shows</a:t>
                      </a:r>
                    </a:p>
                  </a:txBody>
                  <a:tcPr marL="82296" marR="64008" marT="32004" marB="32004" anchor="ctr">
                    <a:solidFill>
                      <a:srgbClr val="8A1626"/>
                    </a:solidFill>
                  </a:tcPr>
                </a:tc>
              </a:tr>
              <a:tr h="518667">
                <a:tc>
                  <a:txBody>
                    <a:bodyPr wrap="square"/>
                    <a:lstStyle/>
                    <a:p>
                      <a:r>
                        <a:rPr sz="1250" b="1">
                          <a:solidFill>
                            <a:srgbClr val="8A1626"/>
                          </a:solidFill>
                          <a:latin typeface="Source Sans 3"/>
                        </a:rPr>
                        <a:t>Trade processing</a:t>
                      </a:r>
                    </a:p>
                  </a:txBody>
                  <a:tcPr marL="82296" marR="64008" marT="32004" marB="32004" anchor="ctr">
                    <a:solidFill>
                      <a:srgbClr val="FFFFFF"/>
                    </a:solidFill>
                  </a:tcPr>
                </a:tc>
                <a:tc>
                  <a:txBody>
                    <a:bodyPr wrap="square"/>
                    <a:lstStyle/>
                    <a:p>
                      <a:r>
                        <a:rPr sz="1250" b="0">
                          <a:solidFill>
                            <a:srgbClr val="1A1A1A"/>
                          </a:solidFill>
                          <a:latin typeface="Source Sans 3"/>
                        </a:rPr>
                        <a:t>Aerospike</a:t>
                      </a:r>
                    </a:p>
                  </a:txBody>
                  <a:tcPr marL="82296" marR="64008" marT="32004" marB="32004" anchor="ctr">
                    <a:solidFill>
                      <a:srgbClr val="FFFFFF"/>
                    </a:solidFill>
                  </a:tcPr>
                </a:tc>
                <a:tc>
                  <a:txBody>
                    <a:bodyPr wrap="square"/>
                    <a:lstStyle/>
                    <a:p>
                      <a:r>
                        <a:rPr sz="1250" b="0">
                          <a:solidFill>
                            <a:srgbClr val="1A1A1A"/>
                          </a:solidFill>
                          <a:latin typeface="Source Sans 3"/>
                        </a:rPr>
                        <a:t>Start here: a pass-through feed, many filtered subscribers on one computation</a:t>
                      </a:r>
                    </a:p>
                  </a:txBody>
                  <a:tcPr marL="82296" marR="64008" marT="32004" marB="32004" anchor="ctr">
                    <a:solidFill>
                      <a:srgbClr val="FFFFFF"/>
                    </a:solidFill>
                  </a:tcPr>
                </a:tc>
              </a:tr>
              <a:tr h="314198">
                <a:tc>
                  <a:txBody>
                    <a:bodyPr wrap="square"/>
                    <a:lstStyle/>
                    <a:p>
                      <a:r>
                        <a:rPr sz="1250" b="1">
                          <a:solidFill>
                            <a:srgbClr val="8A1626"/>
                          </a:solidFill>
                          <a:latin typeface="Source Sans 3"/>
                        </a:rPr>
                        <a:t>Card authorisation velocity</a:t>
                      </a:r>
                    </a:p>
                  </a:txBody>
                  <a:tcPr marL="82296" marR="64008" marT="32004" marB="32004" anchor="ctr">
                    <a:solidFill>
                      <a:srgbClr val="F7F5F2"/>
                    </a:solidFill>
                  </a:tcPr>
                </a:tc>
                <a:tc>
                  <a:txBody>
                    <a:bodyPr wrap="square"/>
                    <a:lstStyle/>
                    <a:p>
                      <a:r>
                        <a:rPr sz="1250" b="0">
                          <a:solidFill>
                            <a:srgbClr val="1A1A1A"/>
                          </a:solidFill>
                          <a:latin typeface="Source Sans 3"/>
                        </a:rPr>
                        <a:t>Aerospike</a:t>
                      </a:r>
                    </a:p>
                  </a:txBody>
                  <a:tcPr marL="82296" marR="64008" marT="32004" marB="32004" anchor="ctr">
                    <a:solidFill>
                      <a:srgbClr val="F7F5F2"/>
                    </a:solidFill>
                  </a:tcPr>
                </a:tc>
                <a:tc>
                  <a:txBody>
                    <a:bodyPr wrap="square"/>
                    <a:lstStyle/>
                    <a:p>
                      <a:r>
                        <a:rPr sz="1250" b="0">
                          <a:solidFill>
                            <a:srgbClr val="1A1A1A"/>
                          </a:solidFill>
                          <a:latin typeface="Source Sans 3"/>
                        </a:rPr>
                        <a:t>Tumbling windows, temporal lookup join, filter pushdown</a:t>
                      </a:r>
                    </a:p>
                  </a:txBody>
                  <a:tcPr marL="82296" marR="64008" marT="32004" marB="32004" anchor="ctr">
                    <a:solidFill>
                      <a:srgbClr val="F7F5F2"/>
                    </a:solidFill>
                  </a:tcPr>
                </a:tc>
              </a:tr>
              <a:tr h="518667">
                <a:tc>
                  <a:txBody>
                    <a:bodyPr wrap="square"/>
                    <a:lstStyle/>
                    <a:p>
                      <a:r>
                        <a:rPr sz="1250" b="1">
                          <a:solidFill>
                            <a:srgbClr val="8A1626"/>
                          </a:solidFill>
                          <a:latin typeface="Source Sans 3"/>
                        </a:rPr>
                        <a:t>Intraday counterparty exposure</a:t>
                      </a:r>
                    </a:p>
                  </a:txBody>
                  <a:tcPr marL="82296" marR="64008" marT="32004" marB="32004" anchor="ctr">
                    <a:solidFill>
                      <a:srgbClr val="FFFFFF"/>
                    </a:solidFill>
                  </a:tcPr>
                </a:tc>
                <a:tc>
                  <a:txBody>
                    <a:bodyPr wrap="square"/>
                    <a:lstStyle/>
                    <a:p>
                      <a:r>
                        <a:rPr sz="1250" b="0">
                          <a:solidFill>
                            <a:srgbClr val="1A1A1A"/>
                          </a:solidFill>
                          <a:latin typeface="Source Sans 3"/>
                        </a:rPr>
                        <a:t>PostgreSQL</a:t>
                      </a:r>
                    </a:p>
                  </a:txBody>
                  <a:tcPr marL="82296" marR="64008" marT="32004" marB="32004" anchor="ctr">
                    <a:solidFill>
                      <a:srgbClr val="FFFFFF"/>
                    </a:solidFill>
                  </a:tcPr>
                </a:tc>
                <a:tc>
                  <a:txBody>
                    <a:bodyPr wrap="square"/>
                    <a:lstStyle/>
                    <a:p>
                      <a:r>
                        <a:rPr sz="1250" b="0">
                          <a:solidFill>
                            <a:srgbClr val="1A1A1A"/>
                          </a:solidFill>
                          <a:latin typeface="Source Sans 3"/>
                        </a:rPr>
                        <a:t>Incremental polling, money as minor units, value time vs insert time</a:t>
                      </a:r>
                    </a:p>
                  </a:txBody>
                  <a:tcPr marL="82296" marR="64008" marT="32004" marB="32004" anchor="ctr">
                    <a:solidFill>
                      <a:srgbClr val="FFFFFF"/>
                    </a:solidFill>
                  </a:tcPr>
                </a:tc>
              </a:tr>
              <a:tr h="314198">
                <a:tc>
                  <a:txBody>
                    <a:bodyPr wrap="square"/>
                    <a:lstStyle/>
                    <a:p>
                      <a:r>
                        <a:rPr sz="1250" b="1">
                          <a:solidFill>
                            <a:srgbClr val="8A1626"/>
                          </a:solidFill>
                          <a:latin typeface="Source Sans 3"/>
                        </a:rPr>
                        <a:t>Order flow surveillance</a:t>
                      </a:r>
                    </a:p>
                  </a:txBody>
                  <a:tcPr marL="82296" marR="64008" marT="32004" marB="32004" anchor="ctr">
                    <a:solidFill>
                      <a:srgbClr val="F7F5F2"/>
                    </a:solidFill>
                  </a:tcPr>
                </a:tc>
                <a:tc>
                  <a:txBody>
                    <a:bodyPr wrap="square"/>
                    <a:lstStyle/>
                    <a:p>
                      <a:r>
                        <a:rPr sz="1250" b="0">
                          <a:solidFill>
                            <a:srgbClr val="1A1A1A"/>
                          </a:solidFill>
                          <a:latin typeface="Source Sans 3"/>
                        </a:rPr>
                        <a:t>Aerospike</a:t>
                      </a:r>
                    </a:p>
                  </a:txBody>
                  <a:tcPr marL="82296" marR="64008" marT="32004" marB="32004" anchor="ctr">
                    <a:solidFill>
                      <a:srgbClr val="F7F5F2"/>
                    </a:solidFill>
                  </a:tcPr>
                </a:tc>
                <a:tc>
                  <a:txBody>
                    <a:bodyPr wrap="square"/>
                    <a:lstStyle/>
                    <a:p>
                      <a:r>
                        <a:rPr sz="1250" b="0">
                          <a:solidFill>
                            <a:srgbClr val="1A1A1A"/>
                          </a:solidFill>
                          <a:latin typeface="Source Sans 3"/>
                        </a:rPr>
                        <a:t>Hopping windows, and what to do without CASE</a:t>
                      </a:r>
                    </a:p>
                  </a:txBody>
                  <a:tcPr marL="82296" marR="64008" marT="32004" marB="32004" anchor="ctr">
                    <a:solidFill>
                      <a:srgbClr val="F7F5F2"/>
                    </a:solidFill>
                  </a:tcPr>
                </a:tc>
              </a:tr>
              <a:tr h="314198">
                <a:tc>
                  <a:txBody>
                    <a:bodyPr wrap="square"/>
                    <a:lstStyle/>
                    <a:p>
                      <a:r>
                        <a:rPr sz="1250" b="1">
                          <a:solidFill>
                            <a:srgbClr val="8A1626"/>
                          </a:solidFill>
                          <a:latin typeface="Source Sans 3"/>
                        </a:rPr>
                        <a:t>Sequencing run QC</a:t>
                      </a:r>
                    </a:p>
                  </a:txBody>
                  <a:tcPr marL="82296" marR="64008" marT="32004" marB="32004" anchor="ctr">
                    <a:solidFill>
                      <a:srgbClr val="FFFFFF"/>
                    </a:solidFill>
                  </a:tcPr>
                </a:tc>
                <a:tc>
                  <a:txBody>
                    <a:bodyPr wrap="square"/>
                    <a:lstStyle/>
                    <a:p>
                      <a:r>
                        <a:rPr sz="1250" b="0">
                          <a:solidFill>
                            <a:srgbClr val="1A1A1A"/>
                          </a:solidFill>
                          <a:latin typeface="Source Sans 3"/>
                        </a:rPr>
                        <a:t>Aerospike</a:t>
                      </a:r>
                    </a:p>
                  </a:txBody>
                  <a:tcPr marL="82296" marR="64008" marT="32004" marB="32004" anchor="ctr">
                    <a:solidFill>
                      <a:srgbClr val="FFFFFF"/>
                    </a:solidFill>
                  </a:tcPr>
                </a:tc>
                <a:tc>
                  <a:txBody>
                    <a:bodyPr wrap="square"/>
                    <a:lstStyle/>
                    <a:p>
                      <a:r>
                        <a:rPr sz="1250" b="0">
                          <a:solidFill>
                            <a:srgbClr val="1A1A1A"/>
                          </a:solidFill>
                          <a:latin typeface="Source Sans 3"/>
                        </a:rPr>
                        <a:t>A non-financial domain; integer AVG; breadth as well as depth</a:t>
                      </a:r>
                    </a:p>
                  </a:txBody>
                  <a:tcPr marL="82296" marR="64008" marT="32004" marB="32004" anchor="ctr">
                    <a:solidFill>
                      <a:srgbClr val="FFFFFF"/>
                    </a:solidFill>
                  </a:tcPr>
                </a:tc>
              </a:tr>
              <a:tr h="314198">
                <a:tc>
                  <a:txBody>
                    <a:bodyPr wrap="square"/>
                    <a:lstStyle/>
                    <a:p>
                      <a:r>
                        <a:rPr sz="1250" b="1">
                          <a:solidFill>
                            <a:srgbClr val="8A1626"/>
                          </a:solidFill>
                          <a:latin typeface="Source Sans 3"/>
                        </a:rPr>
                        <a:t>Machine sensor anomalies</a:t>
                      </a:r>
                    </a:p>
                  </a:txBody>
                  <a:tcPr marL="82296" marR="64008" marT="32004" marB="32004" anchor="ctr">
                    <a:solidFill>
                      <a:srgbClr val="F7F5F2"/>
                    </a:solidFill>
                  </a:tcPr>
                </a:tc>
                <a:tc>
                  <a:txBody>
                    <a:bodyPr wrap="square"/>
                    <a:lstStyle/>
                    <a:p>
                      <a:r>
                        <a:rPr sz="1250" b="0">
                          <a:solidFill>
                            <a:srgbClr val="1A1A1A"/>
                          </a:solidFill>
                          <a:latin typeface="Source Sans 3"/>
                        </a:rPr>
                        <a:t>CSV</a:t>
                      </a:r>
                    </a:p>
                  </a:txBody>
                  <a:tcPr marL="82296" marR="64008" marT="32004" marB="32004" anchor="ctr">
                    <a:solidFill>
                      <a:srgbClr val="F7F5F2"/>
                    </a:solidFill>
                  </a:tcPr>
                </a:tc>
                <a:tc>
                  <a:txBody>
                    <a:bodyPr wrap="square"/>
                    <a:lstStyle/>
                    <a:p>
                      <a:r>
                        <a:rPr sz="1250" b="0">
                          <a:solidFill>
                            <a:srgbClr val="1A1A1A"/>
                          </a:solidFill>
                          <a:latin typeface="Source Sans 3"/>
                        </a:rPr>
                        <a:t>A filter writing to a sink; late data and its correction</a:t>
                      </a:r>
                    </a:p>
                  </a:txBody>
                  <a:tcPr marL="82296" marR="64008" marT="32004" marB="32004" anchor="ctr">
                    <a:solidFill>
                      <a:srgbClr val="F7F5F2"/>
                    </a:solidFill>
                  </a:tcPr>
                </a:tc>
              </a:tr>
              <a:tr h="314198">
                <a:tc>
                  <a:txBody>
                    <a:bodyPr wrap="square"/>
                    <a:lstStyle/>
                    <a:p>
                      <a:r>
                        <a:rPr sz="1250" b="1">
                          <a:solidFill>
                            <a:srgbClr val="8A1626"/>
                          </a:solidFill>
                          <a:latin typeface="Source Sans 3"/>
                        </a:rPr>
                        <a:t>Checkout funnel</a:t>
                      </a:r>
                    </a:p>
                  </a:txBody>
                  <a:tcPr marL="82296" marR="64008" marT="32004" marB="32004" anchor="ctr">
                    <a:solidFill>
                      <a:srgbClr val="FFFFFF"/>
                    </a:solidFill>
                  </a:tcPr>
                </a:tc>
                <a:tc>
                  <a:txBody>
                    <a:bodyPr wrap="square"/>
                    <a:lstStyle/>
                    <a:p>
                      <a:r>
                        <a:rPr sz="1250" b="0">
                          <a:solidFill>
                            <a:srgbClr val="1A1A1A"/>
                          </a:solidFill>
                          <a:latin typeface="Source Sans 3"/>
                        </a:rPr>
                        <a:t>CSV</a:t>
                      </a:r>
                    </a:p>
                  </a:txBody>
                  <a:tcPr marL="82296" marR="64008" marT="32004" marB="32004" anchor="ctr">
                    <a:solidFill>
                      <a:srgbClr val="FFFFFF"/>
                    </a:solidFill>
                  </a:tcPr>
                </a:tc>
                <a:tc>
                  <a:txBody>
                    <a:bodyPr wrap="square"/>
                    <a:lstStyle/>
                    <a:p>
                      <a:r>
                        <a:rPr sz="1250" b="0">
                          <a:solidFill>
                            <a:srgbClr val="1A1A1A"/>
                          </a:solidFill>
                          <a:latin typeface="Source Sans 3"/>
                        </a:rPr>
                        <a:t>Windows over several keys, COUNT(DISTINCT), HAVING as an alert</a:t>
                      </a:r>
                    </a:p>
                  </a:txBody>
                  <a:tcPr marL="82296" marR="64008" marT="32004" marB="32004" anchor="ctr">
                    <a:solidFill>
                      <a:srgbClr val="FFFFFF"/>
                    </a:solidFill>
                  </a:tcPr>
                </a:tc>
              </a:tr>
              <a:tr h="314198">
                <a:tc>
                  <a:txBody>
                    <a:bodyPr wrap="square"/>
                    <a:lstStyle/>
                    <a:p>
                      <a:r>
                        <a:rPr sz="1250" b="1">
                          <a:solidFill>
                            <a:srgbClr val="8A1626"/>
                          </a:solidFill>
                          <a:latin typeface="Source Sans 3"/>
                        </a:rPr>
                        <a:t>Click attribution</a:t>
                      </a:r>
                    </a:p>
                  </a:txBody>
                  <a:tcPr marL="82296" marR="64008" marT="32004" marB="32004" anchor="ctr">
                    <a:solidFill>
                      <a:srgbClr val="F7F5F2"/>
                    </a:solidFill>
                  </a:tcPr>
                </a:tc>
                <a:tc>
                  <a:txBody>
                    <a:bodyPr wrap="square"/>
                    <a:lstStyle/>
                    <a:p>
                      <a:r>
                        <a:rPr sz="1250" b="0">
                          <a:solidFill>
                            <a:srgbClr val="1A1A1A"/>
                          </a:solidFill>
                          <a:latin typeface="Source Sans 3"/>
                        </a:rPr>
                        <a:t>CSV</a:t>
                      </a:r>
                    </a:p>
                  </a:txBody>
                  <a:tcPr marL="82296" marR="64008" marT="32004" marB="32004" anchor="ctr">
                    <a:solidFill>
                      <a:srgbClr val="F7F5F2"/>
                    </a:solidFill>
                  </a:tcPr>
                </a:tc>
                <a:tc>
                  <a:txBody>
                    <a:bodyPr wrap="square"/>
                    <a:lstStyle/>
                    <a:p>
                      <a:r>
                        <a:rPr sz="1250" b="0">
                          <a:solidFill>
                            <a:srgbClr val="1A1A1A"/>
                          </a:solidFill>
                          <a:latin typeface="Source Sans 3"/>
                        </a:rPr>
                        <a:t>A time-bounded join between two streams; a window over a join</a:t>
                      </a:r>
                    </a:p>
                  </a:txBody>
                  <a:tcPr marL="82296" marR="64008" marT="32004" marB="32004" anchor="ctr">
                    <a:solidFill>
                      <a:srgbClr val="F7F5F2"/>
                    </a:solidFill>
                  </a:tcPr>
                </a:tc>
              </a:tr>
              <a:tr h="314198">
                <a:tc>
                  <a:txBody>
                    <a:bodyPr wrap="square"/>
                    <a:lstStyle/>
                    <a:p>
                      <a:r>
                        <a:rPr sz="1250" b="1">
                          <a:solidFill>
                            <a:srgbClr val="8A1626"/>
                          </a:solidFill>
                          <a:latin typeface="Source Sans 3"/>
                        </a:rPr>
                        <a:t>Call-detail-record fraud</a:t>
                      </a:r>
                    </a:p>
                  </a:txBody>
                  <a:tcPr marL="82296" marR="64008" marT="32004" marB="32004" anchor="ctr">
                    <a:solidFill>
                      <a:srgbClr val="FFFFFF"/>
                    </a:solidFill>
                  </a:tcPr>
                </a:tc>
                <a:tc>
                  <a:txBody>
                    <a:bodyPr wrap="square"/>
                    <a:lstStyle/>
                    <a:p>
                      <a:r>
                        <a:rPr sz="1250" b="0">
                          <a:solidFill>
                            <a:srgbClr val="1A1A1A"/>
                          </a:solidFill>
                          <a:latin typeface="Source Sans 3"/>
                        </a:rPr>
                        <a:t>CSV</a:t>
                      </a:r>
                    </a:p>
                  </a:txBody>
                  <a:tcPr marL="82296" marR="64008" marT="32004" marB="32004" anchor="ctr">
                    <a:solidFill>
                      <a:srgbClr val="FFFFFF"/>
                    </a:solidFill>
                  </a:tcPr>
                </a:tc>
                <a:tc>
                  <a:txBody>
                    <a:bodyPr wrap="square"/>
                    <a:lstStyle/>
                    <a:p>
                      <a:r>
                        <a:rPr sz="1250" b="0">
                          <a:solidFill>
                            <a:srgbClr val="1A1A1A"/>
                          </a:solidFill>
                          <a:latin typeface="Source Sans 3"/>
                        </a:rPr>
                        <a:t>Sliding windows, an IN filter, a maintained top-N</a:t>
                      </a:r>
                    </a:p>
                  </a:txBody>
                  <a:tcPr marL="82296" marR="64008" marT="32004" marB="32004" anchor="ctr">
                    <a:solidFill>
                      <a:srgbClr val="FFFFFF"/>
                    </a:solidFill>
                  </a:tcPr>
                </a:tc>
              </a:tr>
              <a:tr h="314198">
                <a:tc>
                  <a:txBody>
                    <a:bodyPr wrap="square"/>
                    <a:lstStyle/>
                    <a:p>
                      <a:r>
                        <a:rPr sz="1250" b="1">
                          <a:solidFill>
                            <a:srgbClr val="8A1626"/>
                          </a:solidFill>
                          <a:latin typeface="Source Sans 3"/>
                        </a:rPr>
                        <a:t>Delivery SLA breaches</a:t>
                      </a:r>
                    </a:p>
                  </a:txBody>
                  <a:tcPr marL="82296" marR="64008" marT="32004" marB="32004" anchor="ctr">
                    <a:solidFill>
                      <a:srgbClr val="F7F5F2"/>
                    </a:solidFill>
                  </a:tcPr>
                </a:tc>
                <a:tc>
                  <a:txBody>
                    <a:bodyPr wrap="square"/>
                    <a:lstStyle/>
                    <a:p>
                      <a:r>
                        <a:rPr sz="1250" b="0">
                          <a:solidFill>
                            <a:srgbClr val="1A1A1A"/>
                          </a:solidFill>
                          <a:latin typeface="Source Sans 3"/>
                        </a:rPr>
                        <a:t>CSV</a:t>
                      </a:r>
                    </a:p>
                  </a:txBody>
                  <a:tcPr marL="82296" marR="64008" marT="32004" marB="32004" anchor="ctr">
                    <a:solidFill>
                      <a:srgbClr val="F7F5F2"/>
                    </a:solidFill>
                  </a:tcPr>
                </a:tc>
                <a:tc>
                  <a:txBody>
                    <a:bodyPr wrap="square"/>
                    <a:lstStyle/>
                    <a:p>
                      <a:r>
                        <a:rPr sz="1250" b="0">
                          <a:solidFill>
                            <a:srgbClr val="1A1A1A"/>
                          </a:solidFill>
                          <a:latin typeface="Source Sans 3"/>
                        </a:rPr>
                        <a:t>An interval join to a sink; a LEFT JOIN that reports an absence</a:t>
                      </a:r>
                    </a:p>
                  </a:txBody>
                  <a:tcPr marL="82296" marR="64008" marT="32004" marB="32004" anchor="ctr">
                    <a:solidFill>
                      <a:srgbClr val="F7F5F2"/>
                    </a:solidFill>
                  </a:tcPr>
                </a:tc>
              </a:tr>
              <a:tr h="314198">
                <a:tc>
                  <a:txBody>
                    <a:bodyPr wrap="square"/>
                    <a:lstStyle/>
                    <a:p>
                      <a:r>
                        <a:rPr sz="1250" b="1">
                          <a:solidFill>
                            <a:srgbClr val="8A1626"/>
                          </a:solidFill>
                          <a:latin typeface="Source Sans 3"/>
                        </a:rPr>
                        <a:t>Stock levels from MySQL</a:t>
                      </a:r>
                    </a:p>
                  </a:txBody>
                  <a:tcPr marL="82296" marR="64008" marT="32004" marB="32004" anchor="ctr">
                    <a:solidFill>
                      <a:srgbClr val="FFFFFF"/>
                    </a:solidFill>
                  </a:tcPr>
                </a:tc>
                <a:tc>
                  <a:txBody>
                    <a:bodyPr wrap="square"/>
                    <a:lstStyle/>
                    <a:p>
                      <a:r>
                        <a:rPr sz="1250" b="0">
                          <a:solidFill>
                            <a:srgbClr val="1A1A1A"/>
                          </a:solidFill>
                          <a:latin typeface="Source Sans 3"/>
                        </a:rPr>
                        <a:t>MySQL binlog</a:t>
                      </a:r>
                    </a:p>
                  </a:txBody>
                  <a:tcPr marL="82296" marR="64008" marT="32004" marB="32004" anchor="ctr">
                    <a:solidFill>
                      <a:srgbClr val="FFFFFF"/>
                    </a:solidFill>
                  </a:tcPr>
                </a:tc>
                <a:tc>
                  <a:txBody>
                    <a:bodyPr wrap="square"/>
                    <a:lstStyle/>
                    <a:p>
                      <a:r>
                        <a:rPr sz="1250" b="0">
                          <a:solidFill>
                            <a:srgbClr val="1A1A1A"/>
                          </a:solidFill>
                          <a:latin typeface="Source Sans 3"/>
                        </a:rPr>
                        <a:t>mysql-cdc: an update is −1 old, +1 new; alerts clear themselves</a:t>
                      </a:r>
                    </a:p>
                  </a:txBody>
                  <a:tcPr marL="82296" marR="64008" marT="32004" marB="32004" anchor="ctr">
                    <a:solidFill>
                      <a:srgbClr val="FFFFFF"/>
                    </a:solidFill>
                  </a:tcPr>
                </a:tc>
              </a:tr>
              <a:tr h="314198">
                <a:tc>
                  <a:txBody>
                    <a:bodyPr wrap="square"/>
                    <a:lstStyle/>
                    <a:p>
                      <a:r>
                        <a:rPr sz="1250" b="1">
                          <a:solidFill>
                            <a:srgbClr val="8A1626"/>
                          </a:solidFill>
                          <a:latin typeface="Source Sans 3"/>
                        </a:rPr>
                        <a:t>Order revenue into Iceberg</a:t>
                      </a:r>
                    </a:p>
                  </a:txBody>
                  <a:tcPr marL="82296" marR="64008" marT="32004" marB="32004" anchor="ctr">
                    <a:solidFill>
                      <a:srgbClr val="F7F5F2"/>
                    </a:solidFill>
                  </a:tcPr>
                </a:tc>
                <a:tc>
                  <a:txBody>
                    <a:bodyPr wrap="square"/>
                    <a:lstStyle/>
                    <a:p>
                      <a:r>
                        <a:rPr sz="1250" b="0">
                          <a:solidFill>
                            <a:srgbClr val="1A1A1A"/>
                          </a:solidFill>
                          <a:latin typeface="Source Sans 3"/>
                        </a:rPr>
                        <a:t>CSV → Iceberg</a:t>
                      </a:r>
                    </a:p>
                  </a:txBody>
                  <a:tcPr marL="82296" marR="64008" marT="32004" marB="32004" anchor="ctr">
                    <a:solidFill>
                      <a:srgbClr val="F7F5F2"/>
                    </a:solidFill>
                  </a:tcPr>
                </a:tc>
                <a:tc>
                  <a:txBody>
                    <a:bodyPr wrap="square"/>
                    <a:lstStyle/>
                    <a:p>
                      <a:r>
                        <a:rPr sz="1250" b="0">
                          <a:solidFill>
                            <a:srgbClr val="1A1A1A"/>
                          </a:solidFill>
                          <a:latin typeface="Source Sans 3"/>
                        </a:rPr>
                        <a:t>iceberg-sink upsert; a late row corrects the table</a:t>
                      </a:r>
                    </a:p>
                  </a:txBody>
                  <a:tcPr marL="82296" marR="64008" marT="32004" marB="32004" anchor="ctr">
                    <a:solidFill>
                      <a:srgbClr val="F7F5F2"/>
                    </a:solidFill>
                  </a:tcPr>
                </a:tc>
              </a:tr>
              <a:tr h="314198">
                <a:tc>
                  <a:txBody>
                    <a:bodyPr wrap="square"/>
                    <a:lstStyle/>
                    <a:p>
                      <a:r>
                        <a:rPr sz="1250" b="1">
                          <a:solidFill>
                            <a:srgbClr val="8A1626"/>
                          </a:solidFill>
                          <a:latin typeface="Source Sans 3"/>
                        </a:rPr>
                        <a:t>Many desks, one topic</a:t>
                      </a:r>
                    </a:p>
                  </a:txBody>
                  <a:tcPr marL="82296" marR="64008" marT="32004" marB="32004" anchor="ctr">
                    <a:solidFill>
                      <a:srgbClr val="FFFFFF"/>
                    </a:solidFill>
                  </a:tcPr>
                </a:tc>
                <a:tc>
                  <a:txBody>
                    <a:bodyPr wrap="square"/>
                    <a:lstStyle/>
                    <a:p>
                      <a:r>
                        <a:rPr sz="1250" b="0">
                          <a:solidFill>
                            <a:srgbClr val="1A1A1A"/>
                          </a:solidFill>
                          <a:latin typeface="Source Sans 3"/>
                        </a:rPr>
                        <a:t>Kafka</a:t>
                      </a:r>
                    </a:p>
                  </a:txBody>
                  <a:tcPr marL="82296" marR="64008" marT="32004" marB="32004" anchor="ctr">
                    <a:solidFill>
                      <a:srgbClr val="FFFFFF"/>
                    </a:solidFill>
                  </a:tcPr>
                </a:tc>
                <a:tc>
                  <a:txBody>
                    <a:bodyPr wrap="square"/>
                    <a:lstStyle/>
                    <a:p>
                      <a:r>
                        <a:rPr sz="1250" b="0">
                          <a:solidFill>
                            <a:srgbClr val="1A1A1A"/>
                          </a:solidFill>
                          <a:latin typeface="Source Sans 3"/>
                        </a:rPr>
                        <a:t>Three queries on one reader, exactly once; INDEX (merchant)</a:t>
                      </a:r>
                    </a:p>
                  </a:txBody>
                  <a:tcPr marL="82296" marR="64008" marT="32004" marB="32004" anchor="ctr">
                    <a:solidFill>
                      <a:srgbClr val="FFFFF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CHECKED BY THE BUILD</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Every study is run, and every read compared with a hand-worked answer</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75</a:t>
            </a:r>
          </a:p>
        </p:txBody>
      </p:sp>
      <p:sp>
        <p:nvSpPr>
          <p:cNvPr id="10" name="TextBox 9"/>
          <p:cNvSpPr txBox="1"/>
          <p:nvPr/>
        </p:nvSpPr>
        <p:spPr>
          <a:xfrm>
            <a:off x="777240" y="1623568"/>
            <a:ext cx="10637215" cy="462178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CaseStudySqlTest plans every .sql file against the real engine</a:t>
            </a:r>
          </a:p>
          <a:p>
            <a:pPr lvl="1">
              <a:lnSpc>
                <a:spcPct val="120000"/>
              </a:lnSpc>
              <a:spcBef>
                <a:spcPts val="0"/>
              </a:spcBef>
              <a:spcAft>
                <a:spcPts val="0"/>
              </a:spcAft>
            </a:pPr>
            <a:r>
              <a:rPr sz="1550" b="0">
                <a:solidFill>
                  <a:srgbClr val="4A5058"/>
                </a:solidFill>
                <a:latin typeface="Source Sans 3"/>
              </a:rPr>
              <a:t>And asserts that each README quotes the file rather than a retyping of it; it fails if a study directory is not listed.</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CaseStudyRunTest runs every study in an embedded engine</a:t>
            </a:r>
          </a:p>
          <a:p>
            <a:pPr lvl="1">
              <a:lnSpc>
                <a:spcPct val="120000"/>
              </a:lnSpc>
              <a:spcBef>
                <a:spcPts val="0"/>
              </a:spcBef>
              <a:spcAft>
                <a:spcPts val="0"/>
              </a:spcAft>
            </a:pPr>
            <a:r>
              <a:rPr sz="1550" b="0">
                <a:solidFill>
                  <a:srgbClr val="4A5058"/>
                </a:solidFill>
                <a:latin typeface="Source Sans 3"/>
              </a:rPr>
              <a:t>No server, no store, no Docker: it registers each study's queries, pushes the rows of data/sample/ merged by event time, and compares every read with answers.txt.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Running them found real defects, now fixed</a:t>
            </a:r>
          </a:p>
          <a:p>
            <a:pPr lvl="1">
              <a:lnSpc>
                <a:spcPct val="120000"/>
              </a:lnSpc>
              <a:spcBef>
                <a:spcPts val="0"/>
              </a:spcBef>
              <a:spcAft>
                <a:spcPts val="0"/>
              </a:spcAft>
            </a:pPr>
            <a:r>
              <a:rPr sz="1550" b="0">
                <a:solidFill>
                  <a:srgbClr val="4A5058"/>
                </a:solidFill>
                <a:latin typeface="Source Sans 3"/>
              </a:rPr>
              <a:t>Wrong view keys in four studies — biology, finance, trading, trade processing — and a windowing defect a filtered windowed query would have met on its first row.</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Driven only through the published SDK or the CLI</a:t>
            </a:r>
          </a:p>
          <a:p>
            <a:pPr lvl="1">
              <a:lnSpc>
                <a:spcPct val="120000"/>
              </a:lnSpc>
              <a:spcBef>
                <a:spcPts val="0"/>
              </a:spcBef>
              <a:spcAft>
                <a:spcPts val="0"/>
              </a:spcAft>
            </a:pPr>
            <a:r>
              <a:rPr sz="1550" b="0">
                <a:solidFill>
                  <a:srgbClr val="4A5058"/>
                </a:solidFill>
                <a:latin typeface="Source Sans 3"/>
              </a:rPr>
              <a:t>None reaches into the engine, so copying one into an application drags no engine with it.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DEPTH · MACHINE SENSOR ANOMALIES</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A late reading corrects a closed minute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76</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A press runs hot before its seals fail. machine_health keeps each machine's minute; the stream allows 30 seconds of lateness. The gateway delivers a buffered reading late:</a:t>
            </a:r>
          </a:p>
        </p:txBody>
      </p:sp>
      <p:sp>
        <p:nvSpPr>
          <p:cNvPr id="11" name="Rectangle 10"/>
          <p:cNvSpPr/>
          <p:nvPr/>
        </p:nvSpPr>
        <p:spPr>
          <a:xfrm>
            <a:off x="777240" y="2073351"/>
            <a:ext cx="5348471" cy="1907235"/>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73351"/>
            <a:ext cx="45720" cy="1907235"/>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274519"/>
            <a:ext cx="4946135" cy="1504899"/>
          </a:xfrm>
          <a:prstGeom prst="rect">
            <a:avLst/>
          </a:prstGeom>
          <a:noFill/>
        </p:spPr>
        <p:txBody>
          <a:bodyPr wrap="square" lIns="0" rIns="0" tIns="0" bIns="0" anchor="t">
            <a:spAutoFit/>
          </a:bodyPr>
          <a:lstStyle/>
          <a:p>
            <a:pPr algn="l">
              <a:lnSpc>
                <a:spcPct val="100000"/>
              </a:lnSpc>
              <a:spcBef>
                <a:spcPts val="0"/>
              </a:spcBef>
              <a:spcAft>
                <a:spcPts val="0"/>
              </a:spcAft>
            </a:pPr>
            <a:r>
              <a:rPr sz="1150" b="0" i="0">
                <a:solidFill>
                  <a:srgbClr val="E8B8C0"/>
                </a:solidFill>
                <a:latin typeface="Consolas"/>
              </a:rPr>
              <a:t>-- snapshot</a:t>
            </a:r>
          </a:p>
          <a:p>
            <a:pPr>
              <a:lnSpc>
                <a:spcPct val="100000"/>
              </a:lnSpc>
              <a:spcBef>
                <a:spcPts val="0"/>
              </a:spcBef>
              <a:spcAft>
                <a:spcPts val="0"/>
              </a:spcAft>
            </a:pPr>
            <a:r>
              <a:rPr sz="1150" b="0" i="0">
                <a:solidFill>
                  <a:srgbClr val="F1EEE9"/>
                </a:solidFill>
                <a:latin typeface="Consolas"/>
              </a:rPr>
              <a:t>+1 {window_end 08:03, press-02, readings 6,</a:t>
            </a:r>
          </a:p>
          <a:p>
            <a:pPr>
              <a:lnSpc>
                <a:spcPct val="100000"/>
              </a:lnSpc>
              <a:spcBef>
                <a:spcPts val="0"/>
              </a:spcBef>
              <a:spcAft>
                <a:spcPts val="0"/>
              </a:spcAft>
            </a:pPr>
            <a:r>
              <a:rPr sz="1150" b="0" i="0">
                <a:solidFill>
                  <a:srgbClr val="F1EEE9"/>
                </a:solidFill>
                <a:latin typeface="Consolas"/>
              </a:rPr>
              <a:t>    min_temperature_dc 940, max_temperature_dc 980}</a:t>
            </a:r>
          </a:p>
          <a:p>
            <a:pPr>
              <a:lnSpc>
                <a:spcPct val="100000"/>
              </a:lnSpc>
              <a:spcBef>
                <a:spcPts val="0"/>
              </a:spcBef>
              <a:spcAft>
                <a:spcPts val="0"/>
              </a:spcAft>
            </a:pPr>
            <a:r>
              <a:rPr sz="1150" b="0" i="0">
                <a:solidFill>
                  <a:srgbClr val="E8B8C0"/>
                </a:solidFill>
                <a:latin typeface="Consolas"/>
              </a:rPr>
              <a:t>-- commit</a:t>
            </a:r>
          </a:p>
          <a:p>
            <a:pPr>
              <a:lnSpc>
                <a:spcPct val="100000"/>
              </a:lnSpc>
              <a:spcBef>
                <a:spcPts val="0"/>
              </a:spcBef>
              <a:spcAft>
                <a:spcPts val="0"/>
              </a:spcAft>
            </a:pPr>
            <a:r>
              <a:rPr sz="1150" b="0" i="0">
                <a:solidFill>
                  <a:srgbClr val="F1EEE9"/>
                </a:solidFill>
                <a:latin typeface="Consolas"/>
              </a:rPr>
              <a:t>-1 {window_end 08:03, press-02, readings 6,</a:t>
            </a:r>
          </a:p>
          <a:p>
            <a:pPr>
              <a:lnSpc>
                <a:spcPct val="100000"/>
              </a:lnSpc>
              <a:spcBef>
                <a:spcPts val="0"/>
              </a:spcBef>
              <a:spcAft>
                <a:spcPts val="0"/>
              </a:spcAft>
            </a:pPr>
            <a:r>
              <a:rPr sz="1150" b="0" i="0">
                <a:solidFill>
                  <a:srgbClr val="F1EEE9"/>
                </a:solidFill>
                <a:latin typeface="Consolas"/>
              </a:rPr>
              <a:t>    min_temperature_dc 940, max_temperature_dc 980}</a:t>
            </a:r>
          </a:p>
          <a:p>
            <a:pPr>
              <a:lnSpc>
                <a:spcPct val="100000"/>
              </a:lnSpc>
              <a:spcBef>
                <a:spcPts val="0"/>
              </a:spcBef>
              <a:spcAft>
                <a:spcPts val="0"/>
              </a:spcAft>
            </a:pPr>
            <a:r>
              <a:rPr sz="1150" b="0" i="0">
                <a:solidFill>
                  <a:srgbClr val="F1EEE9"/>
                </a:solidFill>
                <a:latin typeface="Consolas"/>
              </a:rPr>
              <a:t>+1 {window_end 08:03, press-02, readings 7,</a:t>
            </a:r>
          </a:p>
          <a:p>
            <a:pPr>
              <a:lnSpc>
                <a:spcPct val="100000"/>
              </a:lnSpc>
              <a:spcBef>
                <a:spcPts val="0"/>
              </a:spcBef>
              <a:spcAft>
                <a:spcPts val="0"/>
              </a:spcAft>
            </a:pPr>
            <a:r>
              <a:rPr sz="1150" b="0" i="0">
                <a:solidFill>
                  <a:srgbClr val="F1EEE9"/>
                </a:solidFill>
                <a:latin typeface="Consolas"/>
              </a:rPr>
              <a:t>    min_temperature_dc 940, max_temperature_dc 991}</a:t>
            </a:r>
          </a:p>
        </p:txBody>
      </p:sp>
      <p:sp>
        <p:nvSpPr>
          <p:cNvPr id="14" name="TextBox 13"/>
          <p:cNvSpPr txBox="1"/>
          <p:nvPr/>
        </p:nvSpPr>
        <p:spPr>
          <a:xfrm>
            <a:off x="6491471" y="2073351"/>
            <a:ext cx="4922983" cy="4172000"/>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Inside the lateness: corrected</a:t>
            </a:r>
          </a:p>
          <a:p>
            <a:pPr lvl="1">
              <a:lnSpc>
                <a:spcPct val="120000"/>
              </a:lnSpc>
              <a:spcBef>
                <a:spcPts val="0"/>
              </a:spcBef>
              <a:spcAft>
                <a:spcPts val="0"/>
              </a:spcAft>
            </a:pPr>
            <a:r>
              <a:rPr sz="1400" b="0">
                <a:solidFill>
                  <a:srgbClr val="4A5058"/>
                </a:solidFill>
                <a:latin typeface="Source Sans 3"/>
              </a:rPr>
              <a:t>The minute ending 08:03:00 was published at watermark 08:03:15 and stays correctable to 08:03:30, so press-02-late was applied — old row withdrawn, new inserted, one commit.</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Outside it: dropped</a:t>
            </a:r>
          </a:p>
          <a:p>
            <a:pPr lvl="1">
              <a:lnSpc>
                <a:spcPct val="120000"/>
              </a:lnSpc>
              <a:spcBef>
                <a:spcPts val="0"/>
              </a:spcBef>
              <a:spcAft>
                <a:spcPts val="0"/>
              </a:spcAft>
            </a:pPr>
            <a:r>
              <a:rPr sz="1400" b="0">
                <a:solidFill>
                  <a:srgbClr val="4A5058"/>
                </a:solidFill>
                <a:latin typeface="Source Sans 3"/>
              </a:rPr>
              <a:t>press-01-stale, for 08:00:45, arrived long after its lateness ran out at 08:01:30.</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Published when event time moves</a:t>
            </a:r>
          </a:p>
          <a:p>
            <a:pPr lvl="1">
              <a:lnSpc>
                <a:spcPct val="120000"/>
              </a:lnSpc>
              <a:spcBef>
                <a:spcPts val="0"/>
              </a:spcBef>
              <a:spcAft>
                <a:spcPts val="0"/>
              </a:spcAft>
            </a:pPr>
            <a:r>
              <a:rPr sz="1400" b="0">
                <a:solidFill>
                  <a:srgbClr val="4A5058"/>
                </a:solidFill>
                <a:latin typeface="Source Sans 3"/>
              </a:rPr>
              <a:t>The second heartbeat carried the correction out.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DEPTH · STOCK LEVELS FROM MYSQL</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Change data capture: an alert that clears itself</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77</a:t>
            </a:r>
          </a:p>
        </p:txBody>
      </p:sp>
      <p:sp>
        <p:nvSpPr>
          <p:cNvPr id="10" name="TextBox 9"/>
          <p:cNvSpPr txBox="1"/>
          <p:nvPr/>
        </p:nvSpPr>
        <p:spPr>
          <a:xfrm>
            <a:off x="777240" y="1410919"/>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stock_levels mirrors the inventory table from its binlog; low_stock is WHERE on_hand &lt;= reorder_point. One morning of changes, as the generator writes it:</a:t>
            </a:r>
          </a:p>
        </p:txBody>
      </p:sp>
      <p:sp>
        <p:nvSpPr>
          <p:cNvPr id="11" name="Rectangle 10"/>
          <p:cNvSpPr/>
          <p:nvPr/>
        </p:nvSpPr>
        <p:spPr>
          <a:xfrm>
            <a:off x="777240"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The morning</a:t>
            </a:r>
          </a:p>
        </p:txBody>
      </p:sp>
      <p:graphicFrame>
        <p:nvGraphicFramePr>
          <p:cNvPr id="14" name="Table 13"/>
          <p:cNvGraphicFramePr>
            <a:graphicFrameLocks noGrp="1"/>
          </p:cNvGraphicFramePr>
          <p:nvPr/>
        </p:nvGraphicFramePr>
        <p:xfrm>
          <a:off x="777240" y="2585415"/>
          <a:ext cx="5135726" cy="3509364"/>
        </p:xfrm>
        <a:graphic>
          <a:graphicData uri="http://schemas.openxmlformats.org/drawingml/2006/table">
            <a:tbl>
              <a:tblPr firstRow="1">
                <a:tableStyleId>{5C22544A-7EE6-4342-B048-85BDC9FD1C3A}</a:tableStyleId>
              </a:tblPr>
              <a:tblGrid>
                <a:gridCol w="700326"/>
                <a:gridCol w="2334421"/>
                <a:gridCol w="2100979"/>
              </a:tblGrid>
              <a:tr h="322376">
                <a:tc>
                  <a:txBody>
                    <a:bodyPr wrap="square"/>
                    <a:lstStyle/>
                    <a:p>
                      <a:r>
                        <a:rPr sz="1300" b="1">
                          <a:solidFill>
                            <a:srgbClr val="FFFFFF"/>
                          </a:solidFill>
                          <a:latin typeface="Source Sans 3"/>
                        </a:rPr>
                        <a:t>Time</a:t>
                      </a:r>
                    </a:p>
                  </a:txBody>
                  <a:tcPr marL="82296" marR="64008" marT="32004" marB="32004" anchor="ctr">
                    <a:solidFill>
                      <a:srgbClr val="8A1626"/>
                    </a:solidFill>
                  </a:tcPr>
                </a:tc>
                <a:tc>
                  <a:txBody>
                    <a:bodyPr wrap="square"/>
                    <a:lstStyle/>
                    <a:p>
                      <a:r>
                        <a:rPr sz="1300" b="1">
                          <a:solidFill>
                            <a:srgbClr val="FFFFFF"/>
                          </a:solidFill>
                          <a:latin typeface="Source Sans 3"/>
                        </a:rPr>
                        <a:t>Change</a:t>
                      </a:r>
                    </a:p>
                  </a:txBody>
                  <a:tcPr marL="82296" marR="64008" marT="32004" marB="32004" anchor="ctr">
                    <a:solidFill>
                      <a:srgbClr val="8A1626"/>
                    </a:solidFill>
                  </a:tcPr>
                </a:tc>
                <a:tc>
                  <a:txBody>
                    <a:bodyPr wrap="square"/>
                    <a:lstStyle/>
                    <a:p>
                      <a:r>
                        <a:rPr sz="1300" b="1">
                          <a:solidFill>
                            <a:srgbClr val="FFFFFF"/>
                          </a:solidFill>
                          <a:latin typeface="Source Sans 3"/>
                        </a:rPr>
                        <a:t>Effect</a:t>
                      </a:r>
                    </a:p>
                  </a:txBody>
                  <a:tcPr marL="82296" marR="64008" marT="32004" marB="32004" anchor="ctr">
                    <a:solidFill>
                      <a:srgbClr val="8A1626"/>
                    </a:solidFill>
                  </a:tcPr>
                </a:tc>
              </a:tr>
              <a:tr h="796747">
                <a:tc>
                  <a:txBody>
                    <a:bodyPr wrap="square"/>
                    <a:lstStyle/>
                    <a:p>
                      <a:r>
                        <a:rPr sz="1400" b="1">
                          <a:solidFill>
                            <a:srgbClr val="8A1626"/>
                          </a:solidFill>
                          <a:latin typeface="Source Sans 3"/>
                        </a:rPr>
                        <a:t>09:05</a:t>
                      </a:r>
                    </a:p>
                  </a:txBody>
                  <a:tcPr marL="82296" marR="64008" marT="32004" marB="32004" anchor="ctr">
                    <a:solidFill>
                      <a:srgbClr val="FFFFFF"/>
                    </a:solidFill>
                  </a:tcPr>
                </a:tc>
                <a:tc>
                  <a:txBody>
                    <a:bodyPr wrap="square"/>
                    <a:lstStyle/>
                    <a:p>
                      <a:r>
                        <a:rPr sz="1400" b="0">
                          <a:solidFill>
                            <a:srgbClr val="1A1A1A"/>
                          </a:solidFill>
                          <a:latin typeface="Source Sans 3"/>
                        </a:rPr>
                        <a:t>UPDATE sku-200 LDN 12 → 7</a:t>
                      </a:r>
                    </a:p>
                  </a:txBody>
                  <a:tcPr marL="82296" marR="64008" marT="32004" marB="32004" anchor="ctr">
                    <a:solidFill>
                      <a:srgbClr val="FFFFFF"/>
                    </a:solidFill>
                  </a:tcPr>
                </a:tc>
                <a:tc>
                  <a:txBody>
                    <a:bodyPr wrap="square"/>
                    <a:lstStyle/>
                    <a:p>
                      <a:r>
                        <a:rPr sz="1400" b="0">
                          <a:solidFill>
                            <a:srgbClr val="1A1A1A"/>
                          </a:solidFill>
                          <a:latin typeface="Source Sans 3"/>
                        </a:rPr>
                        <a:t>Under reorder point 8: alert</a:t>
                      </a:r>
                    </a:p>
                  </a:txBody>
                  <a:tcPr marL="82296" marR="64008" marT="32004" marB="32004" anchor="ctr">
                    <a:solidFill>
                      <a:srgbClr val="FFFFFF"/>
                    </a:solidFill>
                  </a:tcPr>
                </a:tc>
              </a:tr>
              <a:tr h="796747">
                <a:tc>
                  <a:txBody>
                    <a:bodyPr wrap="square"/>
                    <a:lstStyle/>
                    <a:p>
                      <a:r>
                        <a:rPr sz="1400" b="1">
                          <a:solidFill>
                            <a:srgbClr val="8A1626"/>
                          </a:solidFill>
                          <a:latin typeface="Source Sans 3"/>
                        </a:rPr>
                        <a:t>09:20</a:t>
                      </a:r>
                    </a:p>
                  </a:txBody>
                  <a:tcPr marL="82296" marR="64008" marT="32004" marB="32004" anchor="ctr">
                    <a:solidFill>
                      <a:srgbClr val="F7F5F2"/>
                    </a:solidFill>
                  </a:tcPr>
                </a:tc>
                <a:tc>
                  <a:txBody>
                    <a:bodyPr wrap="square"/>
                    <a:lstStyle/>
                    <a:p>
                      <a:r>
                        <a:rPr sz="1400" b="0">
                          <a:solidFill>
                            <a:srgbClr val="1A1A1A"/>
                          </a:solidFill>
                          <a:latin typeface="Source Sans 3"/>
                        </a:rPr>
                        <a:t>UPDATE sku-200 LDN 7 → 27</a:t>
                      </a:r>
                    </a:p>
                  </a:txBody>
                  <a:tcPr marL="82296" marR="64008" marT="32004" marB="32004" anchor="ctr">
                    <a:solidFill>
                      <a:srgbClr val="F7F5F2"/>
                    </a:solidFill>
                  </a:tcPr>
                </a:tc>
                <a:tc>
                  <a:txBody>
                    <a:bodyPr wrap="square"/>
                    <a:lstStyle/>
                    <a:p>
                      <a:r>
                        <a:rPr sz="1400" b="0">
                          <a:solidFill>
                            <a:srgbClr val="1A1A1A"/>
                          </a:solidFill>
                          <a:latin typeface="Source Sans 3"/>
                        </a:rPr>
                        <a:t>A delivery: the alert is −1</a:t>
                      </a:r>
                    </a:p>
                  </a:txBody>
                  <a:tcPr marL="82296" marR="64008" marT="32004" marB="32004" anchor="ctr">
                    <a:solidFill>
                      <a:srgbClr val="F7F5F2"/>
                    </a:solidFill>
                  </a:tcPr>
                </a:tc>
              </a:tr>
              <a:tr h="796747">
                <a:tc>
                  <a:txBody>
                    <a:bodyPr wrap="square"/>
                    <a:lstStyle/>
                    <a:p>
                      <a:r>
                        <a:rPr sz="1400" b="1">
                          <a:solidFill>
                            <a:srgbClr val="8A1626"/>
                          </a:solidFill>
                          <a:latin typeface="Source Sans 3"/>
                        </a:rPr>
                        <a:t>09:25</a:t>
                      </a:r>
                    </a:p>
                  </a:txBody>
                  <a:tcPr marL="82296" marR="64008" marT="32004" marB="32004" anchor="ctr">
                    <a:solidFill>
                      <a:srgbClr val="FFFFFF"/>
                    </a:solidFill>
                  </a:tcPr>
                </a:tc>
                <a:tc>
                  <a:txBody>
                    <a:bodyPr wrap="square"/>
                    <a:lstStyle/>
                    <a:p>
                      <a:r>
                        <a:rPr sz="1400" b="0">
                          <a:solidFill>
                            <a:srgbClr val="1A1A1A"/>
                          </a:solidFill>
                          <a:latin typeface="Source Sans 3"/>
                        </a:rPr>
                        <a:t>DELETE sku-400 MAN</a:t>
                      </a:r>
                    </a:p>
                  </a:txBody>
                  <a:tcPr marL="82296" marR="64008" marT="32004" marB="32004" anchor="ctr">
                    <a:solidFill>
                      <a:srgbClr val="FFFFFF"/>
                    </a:solidFill>
                  </a:tcPr>
                </a:tc>
                <a:tc>
                  <a:txBody>
                    <a:bodyPr wrap="square"/>
                    <a:lstStyle/>
                    <a:p>
                      <a:r>
                        <a:rPr sz="1400" b="0">
                          <a:solidFill>
                            <a:srgbClr val="1A1A1A"/>
                          </a:solidFill>
                          <a:latin typeface="Source Sans 3"/>
                        </a:rPr>
                        <a:t>Discontinued: the row is −1</a:t>
                      </a:r>
                    </a:p>
                  </a:txBody>
                  <a:tcPr marL="82296" marR="64008" marT="32004" marB="32004" anchor="ctr">
                    <a:solidFill>
                      <a:srgbClr val="FFFFFF"/>
                    </a:solidFill>
                  </a:tcPr>
                </a:tc>
              </a:tr>
              <a:tr h="796747">
                <a:tc>
                  <a:txBody>
                    <a:bodyPr wrap="square"/>
                    <a:lstStyle/>
                    <a:p>
                      <a:r>
                        <a:rPr sz="1400" b="1">
                          <a:solidFill>
                            <a:srgbClr val="8A1626"/>
                          </a:solidFill>
                          <a:latin typeface="Source Sans 3"/>
                        </a:rPr>
                        <a:t>09:30</a:t>
                      </a:r>
                    </a:p>
                  </a:txBody>
                  <a:tcPr marL="82296" marR="64008" marT="32004" marB="32004" anchor="ctr">
                    <a:solidFill>
                      <a:srgbClr val="F7F5F2"/>
                    </a:solidFill>
                  </a:tcPr>
                </a:tc>
                <a:tc>
                  <a:txBody>
                    <a:bodyPr wrap="square"/>
                    <a:lstStyle/>
                    <a:p>
                      <a:r>
                        <a:rPr sz="1400" b="0">
                          <a:solidFill>
                            <a:srgbClr val="1A1A1A"/>
                          </a:solidFill>
                          <a:latin typeface="Source Sans 3"/>
                        </a:rPr>
                        <a:t>UPDATE sku-100 LDN 40 → 10</a:t>
                      </a:r>
                    </a:p>
                  </a:txBody>
                  <a:tcPr marL="82296" marR="64008" marT="32004" marB="32004" anchor="ctr">
                    <a:solidFill>
                      <a:srgbClr val="F7F5F2"/>
                    </a:solidFill>
                  </a:tcPr>
                </a:tc>
                <a:tc>
                  <a:txBody>
                    <a:bodyPr wrap="square"/>
                    <a:lstStyle/>
                    <a:p>
                      <a:r>
                        <a:rPr sz="1400" b="0">
                          <a:solidFill>
                            <a:srgbClr val="1A1A1A"/>
                          </a:solidFill>
                          <a:latin typeface="Source Sans 3"/>
                        </a:rPr>
                        <a:t>At reorder point 10: alert</a:t>
                      </a:r>
                    </a:p>
                  </a:txBody>
                  <a:tcPr marL="82296" marR="64008" marT="32004" marB="32004" anchor="ctr">
                    <a:solidFill>
                      <a:srgbClr val="F7F5F2"/>
                    </a:solidFill>
                  </a:tcPr>
                </a:tc>
              </a:tr>
            </a:tbl>
          </a:graphicData>
        </a:graphic>
      </p:graphicFrame>
      <p:sp>
        <p:nvSpPr>
          <p:cNvPr id="15" name="Rectangle 14"/>
          <p:cNvSpPr/>
          <p:nvPr/>
        </p:nvSpPr>
        <p:spPr>
          <a:xfrm>
            <a:off x="6278727" y="2073351"/>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78727" y="2073351"/>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2146503"/>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What the view says</a:t>
            </a:r>
          </a:p>
        </p:txBody>
      </p:sp>
      <p:sp>
        <p:nvSpPr>
          <p:cNvPr id="18" name="TextBox 17"/>
          <p:cNvSpPr txBox="1"/>
          <p:nvPr/>
        </p:nvSpPr>
        <p:spPr>
          <a:xfrm>
            <a:off x="6278727" y="2585415"/>
            <a:ext cx="5135727" cy="3659936"/>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LDN holds 3 lines and 39 units</a:t>
            </a:r>
          </a:p>
          <a:p>
            <a:pPr lvl="1">
              <a:lnSpc>
                <a:spcPct val="120000"/>
              </a:lnSpc>
              <a:spcBef>
                <a:spcPts val="0"/>
              </a:spcBef>
              <a:spcAft>
                <a:spcPts val="0"/>
              </a:spcAft>
            </a:pPr>
            <a:r>
              <a:rPr sz="1350" b="0">
                <a:solidFill>
                  <a:srgbClr val="4A5058"/>
                </a:solidFill>
                <a:latin typeface="Source Sans 3"/>
              </a:rPr>
              <a:t>39 is 10 + 27 + 2, today's numbers — not 40 + 12 + 6 plus the changes, because each update withdrew the row it replaced.</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A cleared alert is a −1</a:t>
            </a:r>
          </a:p>
          <a:p>
            <a:pPr lvl="1">
              <a:lnSpc>
                <a:spcPct val="120000"/>
              </a:lnSpc>
              <a:spcBef>
                <a:spcPts val="0"/>
              </a:spcBef>
              <a:spcAft>
                <a:spcPts val="0"/>
              </a:spcAft>
            </a:pPr>
            <a:r>
              <a:rPr sz="1350" b="0">
                <a:solidFill>
                  <a:srgbClr val="4A5058"/>
                </a:solidFill>
                <a:latin typeface="Source Sans 3"/>
              </a:rPr>
              <a:t>CREATE ALERT low_stock_alert ON low_stock NOTIFY buyers: FIRED sku-200 at 09:05, CLEARED at 09:20 — the retraction the binlog delivered.</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Exactly once from the binlog</a:t>
            </a:r>
          </a:p>
          <a:p>
            <a:pPr lvl="1">
              <a:lnSpc>
                <a:spcPct val="120000"/>
              </a:lnSpc>
              <a:spcBef>
                <a:spcPts val="0"/>
              </a:spcBef>
              <a:spcAft>
                <a:spcPts val="0"/>
              </a:spcAft>
            </a:pPr>
            <a:r>
              <a:rPr sz="1350" b="0">
                <a:solidFill>
                  <a:srgbClr val="4A5058"/>
                </a:solidFill>
                <a:latin typeface="Source Sans 3"/>
              </a:rPr>
              <a:t>Resumes from the file and position its last checkpoint recorded.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DEPTH · ORDER REVENUE INTO ICEBERG</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 late line corrects a row in an Iceberg table, in place</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78</a:t>
            </a:r>
          </a:p>
        </p:txBody>
      </p:sp>
      <p:sp>
        <p:nvSpPr>
          <p:cNvPr id="10" name="TextBox 9"/>
          <p:cNvSpPr txBox="1"/>
          <p:nvPr/>
        </p:nvSpPr>
        <p:spPr>
          <a:xfrm>
            <a:off x="777240" y="1361846"/>
            <a:ext cx="10637215" cy="96012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Source Sans 3"/>
              </a:rPr>
              <a:t>hourly_revenue is written by iceberg-sink in upsert mode, one snapshot per checkpoint, with fifteen minutes of allowed lateness. A UK line for 11:50 arrives late:</a:t>
            </a:r>
          </a:p>
        </p:txBody>
      </p:sp>
      <p:sp>
        <p:nvSpPr>
          <p:cNvPr id="11" name="Rectangle 10"/>
          <p:cNvSpPr/>
          <p:nvPr/>
        </p:nvSpPr>
        <p:spPr>
          <a:xfrm>
            <a:off x="777240" y="2024278"/>
            <a:ext cx="5135727" cy="1465579"/>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024278"/>
            <a:ext cx="45720" cy="1465579"/>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225446"/>
            <a:ext cx="4733391" cy="1063244"/>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E8B8C0"/>
                </a:solidFill>
                <a:latin typeface="Consolas"/>
              </a:rPr>
              <a:t>-- commit</a:t>
            </a:r>
          </a:p>
          <a:p>
            <a:pPr>
              <a:lnSpc>
                <a:spcPct val="100000"/>
              </a:lnSpc>
              <a:spcBef>
                <a:spcPts val="0"/>
              </a:spcBef>
              <a:spcAft>
                <a:spcPts val="0"/>
              </a:spcAft>
            </a:pPr>
            <a:r>
              <a:rPr sz="1300" b="0" i="0">
                <a:solidFill>
                  <a:srgbClr val="F1EEE9"/>
                </a:solidFill>
                <a:latin typeface="Consolas"/>
              </a:rPr>
              <a:t>-1 {window_end 12:00, region UK, orders 4,</a:t>
            </a:r>
          </a:p>
          <a:p>
            <a:pPr>
              <a:lnSpc>
                <a:spcPct val="100000"/>
              </a:lnSpc>
              <a:spcBef>
                <a:spcPts val="0"/>
              </a:spcBef>
              <a:spcAft>
                <a:spcPts val="0"/>
              </a:spcAft>
            </a:pPr>
            <a:r>
              <a:rPr sz="1300" b="0" i="0">
                <a:solidFill>
                  <a:srgbClr val="F1EEE9"/>
                </a:solidFill>
                <a:latin typeface="Consolas"/>
              </a:rPr>
              <a:t>    revenue_minor 29970, customers 4}</a:t>
            </a:r>
          </a:p>
          <a:p>
            <a:pPr>
              <a:lnSpc>
                <a:spcPct val="100000"/>
              </a:lnSpc>
              <a:spcBef>
                <a:spcPts val="0"/>
              </a:spcBef>
              <a:spcAft>
                <a:spcPts val="0"/>
              </a:spcAft>
            </a:pPr>
            <a:r>
              <a:rPr sz="1300" b="0" i="0">
                <a:solidFill>
                  <a:srgbClr val="F1EEE9"/>
                </a:solidFill>
                <a:latin typeface="Consolas"/>
              </a:rPr>
              <a:t>+1 {window_end 12:00, region UK, orders 5,</a:t>
            </a:r>
          </a:p>
          <a:p>
            <a:pPr>
              <a:lnSpc>
                <a:spcPct val="100000"/>
              </a:lnSpc>
              <a:spcBef>
                <a:spcPts val="0"/>
              </a:spcBef>
              <a:spcAft>
                <a:spcPts val="0"/>
              </a:spcAft>
            </a:pPr>
            <a:r>
              <a:rPr sz="1300" b="0" i="0">
                <a:solidFill>
                  <a:srgbClr val="F1EEE9"/>
                </a:solidFill>
                <a:latin typeface="Consolas"/>
              </a:rPr>
              <a:t>    revenue_minor 34170, customers 4}</a:t>
            </a:r>
          </a:p>
        </p:txBody>
      </p:sp>
      <p:sp>
        <p:nvSpPr>
          <p:cNvPr id="14" name="TextBox 13"/>
          <p:cNvSpPr txBox="1"/>
          <p:nvPr/>
        </p:nvSpPr>
        <p:spPr>
          <a:xfrm>
            <a:off x="6278727" y="2024278"/>
            <a:ext cx="5135727" cy="4221073"/>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One row for the hour, not two</a:t>
            </a:r>
          </a:p>
          <a:p>
            <a:pPr lvl="1">
              <a:lnSpc>
                <a:spcPct val="120000"/>
              </a:lnSpc>
              <a:spcBef>
                <a:spcPts val="0"/>
              </a:spcBef>
              <a:spcAft>
                <a:spcPts val="0"/>
              </a:spcAft>
            </a:pPr>
            <a:r>
              <a:rPr sz="1400" b="0">
                <a:solidFill>
                  <a:srgbClr val="4A5058"/>
                </a:solidFill>
                <a:latin typeface="Source Sans 3"/>
              </a:rPr>
              <a:t>The −1/+1 pair for one key collapses to its last change: the next snapshot holds an equality delete for (12:00, UK) and a data file with the new row. A reader sees 5 orders and 34170.</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customers stays 4</a:t>
            </a:r>
          </a:p>
          <a:p>
            <a:pPr lvl="1">
              <a:lnSpc>
                <a:spcPct val="120000"/>
              </a:lnSpc>
              <a:spcBef>
                <a:spcPts val="0"/>
              </a:spcBef>
              <a:spcAft>
                <a:spcPts val="0"/>
              </a:spcAft>
            </a:pPr>
            <a:r>
              <a:rPr sz="1400" b="0">
                <a:solidFill>
                  <a:srgbClr val="4A5058"/>
                </a:solidFill>
                <a:latin typeface="Source Sans 3"/>
              </a:rPr>
              <a:t>The late line's customer had already ordered in that hour.</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An append-only sink could not have done this</a:t>
            </a:r>
          </a:p>
          <a:p>
            <a:pPr lvl="1">
              <a:lnSpc>
                <a:spcPct val="120000"/>
              </a:lnSpc>
              <a:spcBef>
                <a:spcPts val="0"/>
              </a:spcBef>
              <a:spcAft>
                <a:spcPts val="0"/>
              </a:spcAft>
            </a:pPr>
            <a:r>
              <a:rPr sz="1400" b="0">
                <a:solidFill>
                  <a:srgbClr val="4A5058"/>
                </a:solidFill>
                <a:latin typeface="Source Sans 3"/>
              </a:rPr>
              <a:t>Nor mode: changelog, which keeps the history with _op and _weight instead.</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IN DEPTH · MANY DESKS, ONE TOPIC</a:t>
            </a:r>
          </a:p>
        </p:txBody>
      </p:sp>
      <p:sp>
        <p:nvSpPr>
          <p:cNvPr id="5" name="TextBox 4"/>
          <p:cNvSpPr txBox="1"/>
          <p:nvPr/>
        </p:nvSpPr>
        <p:spPr>
          <a:xfrm>
            <a:off x="777240" y="749808"/>
            <a:ext cx="10637215" cy="412800"/>
          </a:xfrm>
          <a:prstGeom prst="rect">
            <a:avLst/>
          </a:prstGeom>
          <a:noFill/>
        </p:spPr>
        <p:txBody>
          <a:bodyPr wrap="square" lIns="0" rIns="0" tIns="0" bIns="0" anchor="t">
            <a:spAutoFit/>
          </a:bodyPr>
          <a:lstStyle/>
          <a:p>
            <a:pPr algn="l">
              <a:lnSpc>
                <a:spcPct val="115000"/>
              </a:lnSpc>
              <a:spcBef>
                <a:spcPts val="0"/>
              </a:spcBef>
              <a:spcAft>
                <a:spcPts val="0"/>
              </a:spcAft>
            </a:pPr>
            <a:r>
              <a:rPr sz="2300" b="1" i="0">
                <a:solidFill>
                  <a:srgbClr val="1A1A1A"/>
                </a:solidFill>
                <a:latin typeface="Source Sans 3"/>
              </a:rPr>
              <a:t>Three queries on one Kafka reader, and an index by merchant</a:t>
            </a:r>
          </a:p>
        </p:txBody>
      </p:sp>
      <p:sp>
        <p:nvSpPr>
          <p:cNvPr id="6" name="Rectangle 5"/>
          <p:cNvSpPr/>
          <p:nvPr/>
        </p:nvSpPr>
        <p:spPr>
          <a:xfrm>
            <a:off x="777240" y="121747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79</a:t>
            </a:r>
          </a:p>
        </p:txBody>
      </p:sp>
      <p:sp>
        <p:nvSpPr>
          <p:cNvPr id="10" name="Rectangle 9"/>
          <p:cNvSpPr/>
          <p:nvPr/>
        </p:nvSpPr>
        <p:spPr>
          <a:xfrm>
            <a:off x="777240" y="1345488"/>
            <a:ext cx="5348471" cy="3379419"/>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45488"/>
            <a:ext cx="45720" cy="3379419"/>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8" y="1546656"/>
            <a:ext cx="4946135" cy="2977083"/>
          </a:xfrm>
          <a:prstGeom prst="rect">
            <a:avLst/>
          </a:prstGeom>
          <a:noFill/>
        </p:spPr>
        <p:txBody>
          <a:bodyPr wrap="square" lIns="0" rIns="0" tIns="0" bIns="0" anchor="t">
            <a:spAutoFit/>
          </a:bodyPr>
          <a:lstStyle/>
          <a:p>
            <a:pPr algn="l">
              <a:lnSpc>
                <a:spcPct val="100000"/>
              </a:lnSpc>
              <a:spcBef>
                <a:spcPts val="0"/>
              </a:spcBef>
              <a:spcAft>
                <a:spcPts val="0"/>
              </a:spcAft>
            </a:pPr>
            <a:r>
              <a:rPr sz="1300" b="0" i="0">
                <a:solidFill>
                  <a:srgbClr val="F1EEE9"/>
                </a:solidFill>
                <a:latin typeface="Consolas"/>
              </a:rPr>
              <a:t>CREATE CONTINUOUS QUERY merchant_minute</a:t>
            </a:r>
          </a:p>
          <a:p>
            <a:pPr>
              <a:lnSpc>
                <a:spcPct val="100000"/>
              </a:lnSpc>
              <a:spcBef>
                <a:spcPts val="0"/>
              </a:spcBef>
              <a:spcAft>
                <a:spcPts val="0"/>
              </a:spcAft>
            </a:pPr>
            <a:r>
              <a:rPr sz="1300" b="0" i="0">
                <a:solidFill>
                  <a:srgbClr val="F1EEE9"/>
                </a:solidFill>
                <a:latin typeface="Consolas"/>
              </a:rPr>
              <a:t>  KEYED BY (window_end, merchant)</a:t>
            </a:r>
          </a:p>
          <a:p>
            <a:pPr>
              <a:lnSpc>
                <a:spcPct val="100000"/>
              </a:lnSpc>
              <a:spcBef>
                <a:spcPts val="0"/>
              </a:spcBef>
              <a:spcAft>
                <a:spcPts val="0"/>
              </a:spcAft>
            </a:pPr>
            <a:r>
              <a:rPr sz="1300" b="0" i="0">
                <a:solidFill>
                  <a:srgbClr val="F1EEE9"/>
                </a:solidFill>
                <a:latin typeface="Consolas"/>
              </a:rPr>
              <a:t>  INDEX (merchant)</a:t>
            </a:r>
          </a:p>
          <a:p>
            <a:pPr>
              <a:lnSpc>
                <a:spcPct val="100000"/>
              </a:lnSpc>
              <a:spcBef>
                <a:spcPts val="0"/>
              </a:spcBef>
              <a:spcAft>
                <a:spcPts val="0"/>
              </a:spcAft>
            </a:pPr>
            <a:r>
              <a:rPr sz="1300" b="0" i="0">
                <a:solidFill>
                  <a:srgbClr val="F1EEE9"/>
                </a:solidFill>
                <a:latin typeface="Consolas"/>
              </a:rPr>
              <a:t>AS</a:t>
            </a:r>
          </a:p>
          <a:p>
            <a:pPr>
              <a:lnSpc>
                <a:spcPct val="100000"/>
              </a:lnSpc>
              <a:spcBef>
                <a:spcPts val="0"/>
              </a:spcBef>
              <a:spcAft>
                <a:spcPts val="0"/>
              </a:spcAft>
            </a:pPr>
            <a:r>
              <a:rPr sz="1300" b="0" i="0">
                <a:solidFill>
                  <a:srgbClr val="F1EEE9"/>
                </a:solidFill>
                <a:latin typeface="Consolas"/>
              </a:rPr>
              <a:t>SELECT STREAM</a:t>
            </a:r>
          </a:p>
          <a:p>
            <a:pPr>
              <a:lnSpc>
                <a:spcPct val="100000"/>
              </a:lnSpc>
              <a:spcBef>
                <a:spcPts val="0"/>
              </a:spcBef>
              <a:spcAft>
                <a:spcPts val="0"/>
              </a:spcAft>
            </a:pPr>
            <a:r>
              <a:rPr sz="1300" b="0" i="0">
                <a:solidFill>
                  <a:srgbClr val="F1EEE9"/>
                </a:solidFill>
                <a:latin typeface="Consolas"/>
              </a:rPr>
              <a:t>  TUMBLE_END(paid_at, INTERVAL '1' MINUTE)</a:t>
            </a:r>
          </a:p>
          <a:p>
            <a:pPr>
              <a:lnSpc>
                <a:spcPct val="100000"/>
              </a:lnSpc>
              <a:spcBef>
                <a:spcPts val="0"/>
              </a:spcBef>
              <a:spcAft>
                <a:spcPts val="0"/>
              </a:spcAft>
            </a:pPr>
            <a:r>
              <a:rPr sz="1300" b="0" i="0">
                <a:solidFill>
                  <a:srgbClr val="F1EEE9"/>
                </a:solidFill>
                <a:latin typeface="Consolas"/>
              </a:rPr>
              <a:t>                    AS window_end,</a:t>
            </a:r>
          </a:p>
          <a:p>
            <a:pPr>
              <a:lnSpc>
                <a:spcPct val="100000"/>
              </a:lnSpc>
              <a:spcBef>
                <a:spcPts val="0"/>
              </a:spcBef>
              <a:spcAft>
                <a:spcPts val="0"/>
              </a:spcAft>
            </a:pPr>
            <a:r>
              <a:rPr sz="1300" b="0" i="0">
                <a:solidFill>
                  <a:srgbClr val="F1EEE9"/>
                </a:solidFill>
                <a:latin typeface="Consolas"/>
              </a:rPr>
              <a:t>  merchant,</a:t>
            </a:r>
          </a:p>
          <a:p>
            <a:pPr>
              <a:lnSpc>
                <a:spcPct val="100000"/>
              </a:lnSpc>
              <a:spcBef>
                <a:spcPts val="0"/>
              </a:spcBef>
              <a:spcAft>
                <a:spcPts val="0"/>
              </a:spcAft>
            </a:pPr>
            <a:r>
              <a:rPr sz="1300" b="0" i="0">
                <a:solidFill>
                  <a:srgbClr val="F1EEE9"/>
                </a:solidFill>
                <a:latin typeface="Consolas"/>
              </a:rPr>
              <a:t>  COUNT(*)          AS payments,</a:t>
            </a:r>
          </a:p>
          <a:p>
            <a:pPr>
              <a:lnSpc>
                <a:spcPct val="100000"/>
              </a:lnSpc>
              <a:spcBef>
                <a:spcPts val="0"/>
              </a:spcBef>
              <a:spcAft>
                <a:spcPts val="0"/>
              </a:spcAft>
            </a:pPr>
            <a:r>
              <a:rPr sz="1300" b="0" i="0">
                <a:solidFill>
                  <a:srgbClr val="F1EEE9"/>
                </a:solidFill>
                <a:latin typeface="Consolas"/>
              </a:rPr>
              <a:t>  SUM(amount_minor) AS amount_minor</a:t>
            </a:r>
          </a:p>
          <a:p>
            <a:pPr>
              <a:lnSpc>
                <a:spcPct val="100000"/>
              </a:lnSpc>
              <a:spcBef>
                <a:spcPts val="0"/>
              </a:spcBef>
              <a:spcAft>
                <a:spcPts val="0"/>
              </a:spcAft>
            </a:pPr>
            <a:r>
              <a:rPr sz="1300" b="0" i="0">
                <a:solidFill>
                  <a:srgbClr val="F1EEE9"/>
                </a:solidFill>
                <a:latin typeface="Consolas"/>
              </a:rPr>
              <a:t>FROM payment</a:t>
            </a:r>
          </a:p>
          <a:p>
            <a:pPr>
              <a:lnSpc>
                <a:spcPct val="100000"/>
              </a:lnSpc>
              <a:spcBef>
                <a:spcPts val="0"/>
              </a:spcBef>
              <a:spcAft>
                <a:spcPts val="0"/>
              </a:spcAft>
            </a:pPr>
            <a:r>
              <a:rPr sz="1300" b="0" i="0">
                <a:solidFill>
                  <a:srgbClr val="F1EEE9"/>
                </a:solidFill>
                <a:latin typeface="Consolas"/>
              </a:rPr>
              <a:t>WHERE status = 'APPROVED'</a:t>
            </a:r>
          </a:p>
          <a:p>
            <a:pPr>
              <a:lnSpc>
                <a:spcPct val="100000"/>
              </a:lnSpc>
              <a:spcBef>
                <a:spcPts val="0"/>
              </a:spcBef>
              <a:spcAft>
                <a:spcPts val="0"/>
              </a:spcAft>
            </a:pPr>
            <a:r>
              <a:rPr sz="1300" b="0" i="0">
                <a:solidFill>
                  <a:srgbClr val="F1EEE9"/>
                </a:solidFill>
                <a:latin typeface="Consolas"/>
              </a:rPr>
              <a:t>GROUP BY TUMBLE(paid_at, INTERVAL '1' MINUTE),</a:t>
            </a:r>
          </a:p>
          <a:p>
            <a:pPr>
              <a:lnSpc>
                <a:spcPct val="100000"/>
              </a:lnSpc>
              <a:spcBef>
                <a:spcPts val="0"/>
              </a:spcBef>
              <a:spcAft>
                <a:spcPts val="0"/>
              </a:spcAft>
            </a:pPr>
            <a:r>
              <a:rPr sz="1300" b="0" i="0">
                <a:solidFill>
                  <a:srgbClr val="F1EEE9"/>
                </a:solidFill>
                <a:latin typeface="Consolas"/>
              </a:rPr>
              <a:t>         merchant</a:t>
            </a:r>
          </a:p>
        </p:txBody>
      </p:sp>
      <p:sp>
        <p:nvSpPr>
          <p:cNvPr id="13" name="TextBox 12"/>
          <p:cNvSpPr txBox="1"/>
          <p:nvPr/>
        </p:nvSpPr>
        <p:spPr>
          <a:xfrm>
            <a:off x="6491471" y="1345488"/>
            <a:ext cx="4922983" cy="4899863"/>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One reader for all three queries</a:t>
            </a:r>
          </a:p>
          <a:p>
            <a:pPr lvl="1">
              <a:lnSpc>
                <a:spcPct val="120000"/>
              </a:lnSpc>
              <a:spcBef>
                <a:spcPts val="0"/>
              </a:spcBef>
              <a:spcAft>
                <a:spcPts val="0"/>
              </a:spcAft>
            </a:pPr>
            <a:r>
              <a:rPr sz="1400" b="0">
                <a:solidFill>
                  <a:srgbClr val="4A5058"/>
                </a:solidFill>
                <a:latin typeface="Source Sans 3"/>
              </a:rPr>
              <a:t>“Register the three queries in any order, at any time, and pause, resume or restart any of them. The topic is read once, and each record reaches each query exactly once.”</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A lookup by merchant is a probe</a:t>
            </a:r>
          </a:p>
          <a:p>
            <a:pPr lvl="1">
              <a:lnSpc>
                <a:spcPct val="120000"/>
              </a:lnSpc>
              <a:spcBef>
                <a:spcPts val="0"/>
              </a:spcBef>
              <a:spcAft>
                <a:spcPts val="0"/>
              </a:spcAft>
            </a:pPr>
            <a:r>
              <a:rPr sz="1400" b="0">
                <a:solidFill>
                  <a:srgbClr val="4A5058"/>
                </a:solidFill>
                <a:latin typeface="Source Sans 3"/>
              </a:rPr>
              <a:t>m-coffee reads 5 payments, 17578; m-books 5 payments, 81250. The build fails the study if no read went through the index.</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TWO JOINS</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A join that attributes, and a join that sees an absence</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11 · Thirteen worked 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80</a:t>
            </a:r>
          </a:p>
        </p:txBody>
      </p:sp>
      <p:sp>
        <p:nvSpPr>
          <p:cNvPr id="10" name="Rectangle 9"/>
          <p:cNvSpPr/>
          <p:nvPr/>
        </p:nvSpPr>
        <p:spPr>
          <a:xfrm>
            <a:off x="777240"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Click attribution</a:t>
            </a:r>
          </a:p>
        </p:txBody>
      </p:sp>
      <p:sp>
        <p:nvSpPr>
          <p:cNvPr id="13" name="TextBox 12"/>
          <p:cNvSpPr txBox="1"/>
          <p:nvPr/>
        </p:nvSpPr>
        <p:spPr>
          <a:xfrm>
            <a:off x="777240" y="1873910"/>
            <a:ext cx="5135727" cy="4371441"/>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A click is paid for only after an impression</a:t>
            </a:r>
          </a:p>
          <a:p>
            <a:pPr lvl="1">
              <a:lnSpc>
                <a:spcPct val="120000"/>
              </a:lnSpc>
              <a:spcBef>
                <a:spcPts val="0"/>
              </a:spcBef>
              <a:spcAft>
                <a:spcPts val="0"/>
              </a:spcAft>
            </a:pPr>
            <a:r>
              <a:rPr sz="1400" b="0">
                <a:solidFill>
                  <a:srgbClr val="4A5058"/>
                </a:solidFill>
                <a:latin typeface="Source Sans 3"/>
              </a:rPr>
              <a:t>attributed_clicks joins two streams where the click falls within ten minutes of the impression; the time bound bounds the state too.</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61 impressions, 17 clicks, 14 attributed</a:t>
            </a:r>
          </a:p>
          <a:p>
            <a:pPr lvl="1">
              <a:lnSpc>
                <a:spcPct val="120000"/>
              </a:lnSpc>
              <a:spcBef>
                <a:spcPts val="0"/>
              </a:spcBef>
              <a:spcAft>
                <a:spcPts val="0"/>
              </a:spcAft>
            </a:pPr>
            <a:r>
              <a:rPr sz="1400" b="0">
                <a:solidFill>
                  <a:srgbClr val="4A5058"/>
                </a:solidFill>
                <a:latin typeface="Source Sans 3"/>
              </a:rPr>
              <a:t>Click-through rate is two views joined by the reader: joining two views in one read is refused (PRV-4025).</a:t>
            </a:r>
          </a:p>
        </p:txBody>
      </p:sp>
      <p:sp>
        <p:nvSpPr>
          <p:cNvPr id="14" name="Rectangle 13"/>
          <p:cNvSpPr/>
          <p:nvPr/>
        </p:nvSpPr>
        <p:spPr>
          <a:xfrm>
            <a:off x="6278727" y="1361846"/>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61846"/>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34998"/>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Delivery SLA breaches</a:t>
            </a:r>
          </a:p>
        </p:txBody>
      </p:sp>
      <p:sp>
        <p:nvSpPr>
          <p:cNvPr id="17" name="TextBox 16"/>
          <p:cNvSpPr txBox="1"/>
          <p:nvPr/>
        </p:nvSpPr>
        <p:spPr>
          <a:xfrm>
            <a:off x="6278727" y="1873910"/>
            <a:ext cx="5135727" cy="4371441"/>
          </a:xfrm>
          <a:prstGeom prst="rect">
            <a:avLst/>
          </a:prstGeom>
          <a:noFill/>
        </p:spPr>
        <p:txBody>
          <a:bodyPr wrap="square" lIns="0" rIns="0" tIns="0" bIns="0" anchor="t">
            <a:spAutoFit/>
          </a:bodyPr>
          <a:lstStyle/>
          <a:p>
            <a:pPr algn="l">
              <a:lnSpc>
                <a:spcPct val="120000"/>
              </a:lnSpc>
              <a:spcBef>
                <a:spcPts val="0"/>
              </a:spcBef>
              <a:spcAft>
                <a:spcPts val="100"/>
              </a:spcAft>
            </a:pPr>
            <a:r>
              <a:rPr sz="1550" b="1">
                <a:solidFill>
                  <a:srgbClr val="A51C30"/>
                </a:solidFill>
                <a:latin typeface="Source Sans 3"/>
              </a:rPr>
              <a:t>▪  </a:t>
            </a:r>
            <a:r>
              <a:rPr sz="1550" b="1">
                <a:solidFill>
                  <a:srgbClr val="1A1A1A"/>
                </a:solidFill>
                <a:latin typeface="Source Sans 3"/>
              </a:rPr>
              <a:t>“This is the query that sees an absence”</a:t>
            </a:r>
          </a:p>
          <a:p>
            <a:pPr lvl="1">
              <a:lnSpc>
                <a:spcPct val="120000"/>
              </a:lnSpc>
              <a:spcBef>
                <a:spcPts val="0"/>
              </a:spcBef>
              <a:spcAft>
                <a:spcPts val="0"/>
              </a:spcAft>
            </a:pPr>
            <a:r>
              <a:rPr sz="1400" b="0">
                <a:solidFill>
                  <a:srgbClr val="4A5058"/>
                </a:solidFill>
                <a:latin typeface="Source Sans 3"/>
              </a:rPr>
              <a:t>undelivered is a LEFT JOIN of dispatches to deliveries within four hours, WHERE the delivery is NULL: padded with nulls once, when event time passes the bound.</a:t>
            </a:r>
          </a:p>
          <a:p>
            <a:pPr>
              <a:lnSpc>
                <a:spcPct val="120000"/>
              </a:lnSpc>
              <a:spcBef>
                <a:spcPts val="500"/>
              </a:spcBef>
              <a:spcAft>
                <a:spcPts val="100"/>
              </a:spcAft>
            </a:pPr>
            <a:r>
              <a:rPr sz="1550" b="1">
                <a:solidFill>
                  <a:srgbClr val="A51C30"/>
                </a:solidFill>
                <a:latin typeface="Source Sans 3"/>
              </a:rPr>
              <a:t>▪  </a:t>
            </a:r>
            <a:r>
              <a:rPr sz="1550" b="1">
                <a:solidFill>
                  <a:srgbClr val="1A1A1A"/>
                </a:solidFill>
                <a:latin typeface="Source Sans 3"/>
              </a:rPr>
              <a:t>25 dispatches, 23 deliveries</a:t>
            </a:r>
          </a:p>
          <a:p>
            <a:pPr lvl="1">
              <a:lnSpc>
                <a:spcPct val="120000"/>
              </a:lnSpc>
              <a:spcBef>
                <a:spcPts val="0"/>
              </a:spcBef>
              <a:spcAft>
                <a:spcPts val="0"/>
              </a:spcAft>
            </a:pPr>
            <a:r>
              <a:rPr sz="1400" b="0">
                <a:solidFill>
                  <a:srgbClr val="4A5058"/>
                </a:solidFill>
                <a:latin typeface="Source Sans 3"/>
              </a:rPr>
              <a:t>P1023, P1020 and P1002 are reported, all from depot BRS3. P1002 was delivered — four hours and ten minutes after dispatch, outside the bound; a null-padded row is emitted once and never withdrawn.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57275" y="931545"/>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1057275" y="1111567"/>
            <a:ext cx="617220" cy="154305"/>
          </a:xfrm>
          <a:custGeom>
            <a:avLst/>
            <a:gdLst/>
            <a:ahLst/>
            <a:cxnLst/>
            <a:rect l="l" t="t" r="r" b="b"/>
            <a:pathLst>
              <a:path w="617220" h="154305">
                <a:moveTo>
                  <a:pt x="0" y="77153"/>
                </a:moveTo>
                <a:lnTo>
                  <a:pt x="19288" y="59070"/>
                </a:lnTo>
                <a:lnTo>
                  <a:pt x="38576" y="43398"/>
                </a:lnTo>
                <a:lnTo>
                  <a:pt x="57864" y="30138"/>
                </a:lnTo>
                <a:lnTo>
                  <a:pt x="77152" y="19288"/>
                </a:lnTo>
                <a:lnTo>
                  <a:pt x="96440" y="10850"/>
                </a:lnTo>
                <a:lnTo>
                  <a:pt x="115728" y="4822"/>
                </a:lnTo>
                <a:lnTo>
                  <a:pt x="135016" y="1206"/>
                </a:lnTo>
                <a:lnTo>
                  <a:pt x="154305" y="0"/>
                </a:lnTo>
                <a:lnTo>
                  <a:pt x="173593" y="1206"/>
                </a:lnTo>
                <a:lnTo>
                  <a:pt x="192881" y="4822"/>
                </a:lnTo>
                <a:lnTo>
                  <a:pt x="212169" y="10850"/>
                </a:lnTo>
                <a:lnTo>
                  <a:pt x="231457" y="19288"/>
                </a:lnTo>
                <a:lnTo>
                  <a:pt x="250745" y="30138"/>
                </a:lnTo>
                <a:lnTo>
                  <a:pt x="270033" y="43398"/>
                </a:lnTo>
                <a:lnTo>
                  <a:pt x="289321" y="59070"/>
                </a:lnTo>
                <a:lnTo>
                  <a:pt x="308610" y="77153"/>
                </a:lnTo>
                <a:lnTo>
                  <a:pt x="327898" y="95235"/>
                </a:lnTo>
                <a:lnTo>
                  <a:pt x="347186" y="110907"/>
                </a:lnTo>
                <a:lnTo>
                  <a:pt x="366474" y="124167"/>
                </a:lnTo>
                <a:lnTo>
                  <a:pt x="385762" y="135017"/>
                </a:lnTo>
                <a:lnTo>
                  <a:pt x="405050" y="143455"/>
                </a:lnTo>
                <a:lnTo>
                  <a:pt x="424338" y="149483"/>
                </a:lnTo>
                <a:lnTo>
                  <a:pt x="443626" y="153099"/>
                </a:lnTo>
                <a:lnTo>
                  <a:pt x="462915" y="154305"/>
                </a:lnTo>
                <a:lnTo>
                  <a:pt x="482203" y="153099"/>
                </a:lnTo>
                <a:lnTo>
                  <a:pt x="501491" y="149483"/>
                </a:lnTo>
                <a:lnTo>
                  <a:pt x="520779" y="143455"/>
                </a:lnTo>
                <a:lnTo>
                  <a:pt x="540067" y="135017"/>
                </a:lnTo>
                <a:lnTo>
                  <a:pt x="559355" y="124167"/>
                </a:lnTo>
                <a:lnTo>
                  <a:pt x="578643" y="110907"/>
                </a:lnTo>
                <a:lnTo>
                  <a:pt x="597931" y="95235"/>
                </a:lnTo>
                <a:lnTo>
                  <a:pt x="617220" y="77153"/>
                </a:lnTo>
              </a:path>
            </a:pathLst>
          </a:custGeom>
          <a:noFill/>
          <a:ln w="90011" cap="rnd">
            <a:solidFill>
              <a:srgbClr val="C4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1057275" y="1291590"/>
            <a:ext cx="617220" cy="154305"/>
          </a:xfrm>
          <a:custGeom>
            <a:avLst/>
            <a:gdLst/>
            <a:ahLst/>
            <a:cxnLst/>
            <a:rect l="l" t="t" r="r" b="b"/>
            <a:pathLst>
              <a:path w="617220" h="154305">
                <a:moveTo>
                  <a:pt x="0" y="77152"/>
                </a:moveTo>
                <a:lnTo>
                  <a:pt x="19288" y="59069"/>
                </a:lnTo>
                <a:lnTo>
                  <a:pt x="38576" y="43398"/>
                </a:lnTo>
                <a:lnTo>
                  <a:pt x="57864" y="30137"/>
                </a:lnTo>
                <a:lnTo>
                  <a:pt x="77152" y="19288"/>
                </a:lnTo>
                <a:lnTo>
                  <a:pt x="96440" y="10849"/>
                </a:lnTo>
                <a:lnTo>
                  <a:pt x="115728" y="4822"/>
                </a:lnTo>
                <a:lnTo>
                  <a:pt x="135016" y="1205"/>
                </a:lnTo>
                <a:lnTo>
                  <a:pt x="154305" y="0"/>
                </a:lnTo>
                <a:lnTo>
                  <a:pt x="173593" y="1205"/>
                </a:lnTo>
                <a:lnTo>
                  <a:pt x="192881" y="4822"/>
                </a:lnTo>
                <a:lnTo>
                  <a:pt x="212169" y="10849"/>
                </a:lnTo>
                <a:lnTo>
                  <a:pt x="231457" y="19288"/>
                </a:lnTo>
                <a:lnTo>
                  <a:pt x="250745" y="30137"/>
                </a:lnTo>
                <a:lnTo>
                  <a:pt x="270033" y="43398"/>
                </a:lnTo>
                <a:lnTo>
                  <a:pt x="289321" y="59069"/>
                </a:lnTo>
                <a:lnTo>
                  <a:pt x="308610" y="77152"/>
                </a:lnTo>
                <a:lnTo>
                  <a:pt x="327898" y="95235"/>
                </a:lnTo>
                <a:lnTo>
                  <a:pt x="347186" y="110906"/>
                </a:lnTo>
                <a:lnTo>
                  <a:pt x="366474" y="124167"/>
                </a:lnTo>
                <a:lnTo>
                  <a:pt x="385762" y="135016"/>
                </a:lnTo>
                <a:lnTo>
                  <a:pt x="405050" y="143455"/>
                </a:lnTo>
                <a:lnTo>
                  <a:pt x="424338" y="149482"/>
                </a:lnTo>
                <a:lnTo>
                  <a:pt x="443626" y="153099"/>
                </a:lnTo>
                <a:lnTo>
                  <a:pt x="462915" y="154305"/>
                </a:lnTo>
                <a:lnTo>
                  <a:pt x="482203" y="153099"/>
                </a:lnTo>
                <a:lnTo>
                  <a:pt x="501491" y="149482"/>
                </a:lnTo>
                <a:lnTo>
                  <a:pt x="520779" y="143455"/>
                </a:lnTo>
                <a:lnTo>
                  <a:pt x="540067" y="135016"/>
                </a:lnTo>
                <a:lnTo>
                  <a:pt x="559355" y="124167"/>
                </a:lnTo>
                <a:lnTo>
                  <a:pt x="578643" y="110906"/>
                </a:lnTo>
                <a:lnTo>
                  <a:pt x="597931" y="95235"/>
                </a:lnTo>
                <a:lnTo>
                  <a:pt x="617220" y="77152"/>
                </a:lnTo>
              </a:path>
            </a:pathLst>
          </a:custGeom>
          <a:noFill/>
          <a:ln w="90011" cap="rnd">
            <a:solidFill>
              <a:srgbClr val="C4384B">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6169584" cy="365760"/>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C4384B"/>
                </a:solidFill>
                <a:latin typeface="Source Sans 3"/>
              </a:rPr>
              <a:t>PART 12</a:t>
            </a:r>
          </a:p>
        </p:txBody>
      </p:sp>
      <p:sp>
        <p:nvSpPr>
          <p:cNvPr id="8" name="TextBox 7"/>
          <p:cNvSpPr txBox="1"/>
          <p:nvPr/>
        </p:nvSpPr>
        <p:spPr>
          <a:xfrm>
            <a:off x="1005840" y="2240280"/>
            <a:ext cx="6169584" cy="1354328"/>
          </a:xfrm>
          <a:prstGeom prst="rect">
            <a:avLst/>
          </a:prstGeom>
          <a:noFill/>
        </p:spPr>
        <p:txBody>
          <a:bodyPr wrap="square" lIns="0" rIns="0" tIns="0" bIns="0" anchor="t">
            <a:spAutoFit/>
          </a:bodyPr>
          <a:lstStyle/>
          <a:p>
            <a:pPr algn="l">
              <a:lnSpc>
                <a:spcPct val="105000"/>
              </a:lnSpc>
              <a:spcBef>
                <a:spcPts val="0"/>
              </a:spcBef>
              <a:spcAft>
                <a:spcPts val="0"/>
              </a:spcAft>
            </a:pPr>
            <a:r>
              <a:rPr sz="4000" b="1" i="0">
                <a:solidFill>
                  <a:srgbClr val="FFFFFF"/>
                </a:solidFill>
                <a:latin typeface="Source Sans 3"/>
              </a:rPr>
              <a:t>Evidence, 1.0, and where to start</a:t>
            </a:r>
          </a:p>
        </p:txBody>
      </p:sp>
      <p:sp>
        <p:nvSpPr>
          <p:cNvPr id="9" name="Rectangle 8"/>
          <p:cNvSpPr/>
          <p:nvPr/>
        </p:nvSpPr>
        <p:spPr>
          <a:xfrm>
            <a:off x="1005840" y="3777488"/>
            <a:ext cx="1371600" cy="32004"/>
          </a:xfrm>
          <a:prstGeom prst="rect">
            <a:avLst/>
          </a:prstGeom>
          <a:solidFill>
            <a:srgbClr val="C43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06088"/>
            <a:ext cx="6169584" cy="1754631"/>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6E6E9"/>
                </a:solidFill>
                <a:latin typeface="Source Sans 3"/>
              </a:rPr>
              <a:t>Every number here was taken on a developer laptop running other work, with the load average beside it. A target that was not reached is reported as not reached, and none of these figures is quoted as the engine's capability.</a:t>
            </a:r>
          </a:p>
        </p:txBody>
      </p:sp>
      <p:sp>
        <p:nvSpPr>
          <p:cNvPr id="11" name="TextBox 10"/>
          <p:cNvSpPr txBox="1"/>
          <p:nvPr/>
        </p:nvSpPr>
        <p:spPr>
          <a:xfrm>
            <a:off x="7797802" y="1828800"/>
            <a:ext cx="3616653" cy="274320"/>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C4384B"/>
                </a:solidFill>
                <a:latin typeface="Source Sans 3"/>
              </a:rPr>
              <a:t>IN THIS PART</a:t>
            </a:r>
          </a:p>
        </p:txBody>
      </p:sp>
      <p:sp>
        <p:nvSpPr>
          <p:cNvPr id="12" name="TextBox 11"/>
          <p:cNvSpPr txBox="1"/>
          <p:nvPr/>
        </p:nvSpPr>
        <p:spPr>
          <a:xfrm>
            <a:off x="7797802" y="2194560"/>
            <a:ext cx="3616653" cy="3657600"/>
          </a:xfrm>
          <a:prstGeom prst="rect">
            <a:avLst/>
          </a:prstGeom>
          <a:noFill/>
        </p:spPr>
        <p:txBody>
          <a:bodyPr wrap="square" lIns="0" rIns="0" tIns="0" bIns="0" anchor="t">
            <a:spAutoFit/>
          </a:bodyPr>
          <a:lstStyle/>
          <a:p>
            <a:pPr algn="l">
              <a:lnSpc>
                <a:spcPct val="115000"/>
              </a:lnSpc>
              <a:spcBef>
                <a:spcPts val="0"/>
              </a:spcBef>
              <a:spcAft>
                <a:spcPts val="600"/>
              </a:spcAft>
            </a:pPr>
            <a:r>
              <a:rPr sz="1250" b="0" i="0">
                <a:solidFill>
                  <a:srgbClr val="F6E6E9"/>
                </a:solidFill>
                <a:latin typeface="Source Sans 3"/>
              </a:rPr>
              <a:t>The requirement, and the gates kept beside it</a:t>
            </a:r>
          </a:p>
          <a:p>
            <a:pPr>
              <a:lnSpc>
                <a:spcPct val="115000"/>
              </a:lnSpc>
              <a:spcBef>
                <a:spcPts val="0"/>
              </a:spcBef>
              <a:spcAft>
                <a:spcPts val="600"/>
              </a:spcAft>
            </a:pPr>
            <a:r>
              <a:rPr sz="1250" b="0" i="0">
                <a:solidFill>
                  <a:srgbClr val="F6E6E9"/>
                </a:solidFill>
                <a:latin typeface="Source Sans 3"/>
              </a:rPr>
              <a:t>What the gates measured; Nexmark; micro-benchmarks</a:t>
            </a:r>
          </a:p>
          <a:p>
            <a:pPr>
              <a:lnSpc>
                <a:spcPct val="115000"/>
              </a:lnSpc>
              <a:spcBef>
                <a:spcPts val="0"/>
              </a:spcBef>
              <a:spcAft>
                <a:spcPts val="600"/>
              </a:spcAft>
            </a:pPr>
            <a:r>
              <a:rPr sz="1250" b="0" i="0">
                <a:solidFill>
                  <a:srgbClr val="F6E6E9"/>
                </a:solidFill>
                <a:latin typeface="Source Sans 3"/>
              </a:rPr>
              <a:t>How it is tested, and what testing found</a:t>
            </a:r>
          </a:p>
          <a:p>
            <a:pPr>
              <a:lnSpc>
                <a:spcPct val="115000"/>
              </a:lnSpc>
              <a:spcBef>
                <a:spcPts val="0"/>
              </a:spcBef>
              <a:spcAft>
                <a:spcPts val="600"/>
              </a:spcAft>
            </a:pPr>
            <a:r>
              <a:rPr sz="1250" b="0" i="0">
                <a:solidFill>
                  <a:srgbClr val="F6E6E9"/>
                </a:solidFill>
                <a:latin typeface="Source Sans 3"/>
              </a:rPr>
              <a:t>What 1.x promises, and what is experimental</a:t>
            </a:r>
          </a:p>
          <a:p>
            <a:pPr>
              <a:lnSpc>
                <a:spcPct val="115000"/>
              </a:lnSpc>
              <a:spcBef>
                <a:spcPts val="0"/>
              </a:spcBef>
              <a:spcAft>
                <a:spcPts val="600"/>
              </a:spcAft>
            </a:pPr>
            <a:r>
              <a:rPr sz="1250" b="0" i="0">
                <a:solidFill>
                  <a:srgbClr val="F6E6E9"/>
                </a:solidFill>
                <a:latin typeface="Source Sans 3"/>
              </a:rPr>
              <a:t>What is not built; boundaries</a:t>
            </a:r>
          </a:p>
          <a:p>
            <a:pPr>
              <a:lnSpc>
                <a:spcPct val="115000"/>
              </a:lnSpc>
              <a:spcBef>
                <a:spcPts val="0"/>
              </a:spcBef>
              <a:spcAft>
                <a:spcPts val="600"/>
              </a:spcAft>
            </a:pPr>
            <a:r>
              <a:rPr sz="1250" b="0" i="0">
                <a:solidFill>
                  <a:srgbClr val="F6E6E9"/>
                </a:solidFill>
                <a:latin typeface="Source Sans 3"/>
              </a:rPr>
              <a:t>Where to start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ADR-042</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The requirement is about 1,000 rows a second, and the old bar is kept</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82</a:t>
            </a:r>
          </a:p>
        </p:txBody>
      </p:sp>
      <p:sp>
        <p:nvSpPr>
          <p:cNvPr id="10" name="TextBox 9"/>
          <p:cNvSpPr txBox="1"/>
          <p:nvPr/>
        </p:nvSpPr>
        <p:spPr>
          <a:xfrm>
            <a:off x="777240" y="1623568"/>
            <a:ext cx="10637215" cy="462178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Why so low</a:t>
            </a:r>
          </a:p>
          <a:p>
            <a:pPr lvl="1">
              <a:lnSpc>
                <a:spcPct val="120000"/>
              </a:lnSpc>
              <a:spcBef>
                <a:spcPts val="0"/>
              </a:spcBef>
              <a:spcAft>
                <a:spcPts val="0"/>
              </a:spcAft>
            </a:pPr>
            <a:r>
              <a:rPr sz="1550" b="0">
                <a:solidFill>
                  <a:srgbClr val="4A5058"/>
                </a:solidFill>
                <a:latin typeface="Source Sans 3"/>
              </a:rPr>
              <a:t>Pravaha maintains answers to registered questions rather than moving bulk data; about a thousand rows a second is what the owner's workload needs.</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Restated, not redefined</a:t>
            </a:r>
          </a:p>
          <a:p>
            <a:pPr lvl="1">
              <a:lnSpc>
                <a:spcPct val="120000"/>
              </a:lnSpc>
              <a:spcBef>
                <a:spcPts val="0"/>
              </a:spcBef>
              <a:spcAft>
                <a:spcPts val="0"/>
              </a:spcAft>
            </a:pPr>
            <a:r>
              <a:rPr sz="1550" b="0">
                <a:solidFill>
                  <a:srgbClr val="4A5058"/>
                </a:solidFill>
                <a:latin typeface="Source Sans 3"/>
              </a:rPr>
              <a:t>The design's figures — 1.2 M rows/s per lane for Profile A, 350 k for Profile B, ≥ 90 % scaling from one lane to eight — stay on the page as the gate criteria, so a reader can see the bar moved and judge the reason.</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What it does not license</a:t>
            </a:r>
          </a:p>
          <a:p>
            <a:pPr lvl="1">
              <a:lnSpc>
                <a:spcPct val="120000"/>
              </a:lnSpc>
              <a:spcBef>
                <a:spcPts val="0"/>
              </a:spcBef>
              <a:spcAft>
                <a:spcPts val="0"/>
              </a:spcAft>
            </a:pPr>
            <a:r>
              <a:rPr sz="1550" b="0">
                <a:solidFill>
                  <a:srgbClr val="4A5058"/>
                </a:solidFill>
                <a:latin typeface="Source Sans 3"/>
              </a:rPr>
              <a:t>A number from this laptop is “this machine sustained that, under this load” — a floor, never the engine's ceiling.</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GATES P2 AND P3 · MEASURED 2026-09-20, RE-MEASURED 2026-09-26</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Per-lane throughput reached; scaling not reached</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83</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The machine: an AMD Ryzen AI 9 HX 370 laptop — 12 physical cores of two designs, SMT2 — running other build agents throughout, at load averages from 5.8 to 77.8.</a:t>
            </a:r>
          </a:p>
        </p:txBody>
      </p:sp>
      <p:graphicFrame>
        <p:nvGraphicFramePr>
          <p:cNvPr id="12" name="Table 11"/>
          <p:cNvGraphicFramePr>
            <a:graphicFrameLocks noGrp="1"/>
          </p:cNvGraphicFramePr>
          <p:nvPr/>
        </p:nvGraphicFramePr>
        <p:xfrm>
          <a:off x="777240" y="1410919"/>
          <a:ext cx="10637212" cy="3133138"/>
        </p:xfrm>
        <a:graphic>
          <a:graphicData uri="http://schemas.openxmlformats.org/drawingml/2006/table">
            <a:tbl>
              <a:tblPr firstRow="1">
                <a:tableStyleId>{5C22544A-7EE6-4342-B048-85BDC9FD1C3A}</a:tableStyleId>
              </a:tblPr>
              <a:tblGrid>
                <a:gridCol w="2222701"/>
                <a:gridCol w="1905172"/>
                <a:gridCol w="5080460"/>
                <a:gridCol w="1428879"/>
              </a:tblGrid>
              <a:tr h="322376">
                <a:tc>
                  <a:txBody>
                    <a:bodyPr wrap="square"/>
                    <a:lstStyle/>
                    <a:p>
                      <a:r>
                        <a:rPr sz="1300" b="1">
                          <a:solidFill>
                            <a:srgbClr val="FFFFFF"/>
                          </a:solidFill>
                          <a:latin typeface="Source Sans 3"/>
                        </a:rPr>
                        <a:t>Gate</a:t>
                      </a:r>
                    </a:p>
                  </a:txBody>
                  <a:tcPr marL="82296" marR="64008" marT="32004" marB="32004" anchor="ctr">
                    <a:solidFill>
                      <a:srgbClr val="8A1626"/>
                    </a:solidFill>
                  </a:tcPr>
                </a:tc>
                <a:tc>
                  <a:txBody>
                    <a:bodyPr wrap="square"/>
                    <a:lstStyle/>
                    <a:p>
                      <a:r>
                        <a:rPr sz="1300" b="1">
                          <a:solidFill>
                            <a:srgbClr val="FFFFFF"/>
                          </a:solidFill>
                          <a:latin typeface="Source Sans 3"/>
                        </a:rPr>
                        <a:t>Target</a:t>
                      </a:r>
                    </a:p>
                  </a:txBody>
                  <a:tcPr marL="82296" marR="64008" marT="32004" marB="32004" anchor="ctr">
                    <a:solidFill>
                      <a:srgbClr val="8A1626"/>
                    </a:solidFill>
                  </a:tcPr>
                </a:tc>
                <a:tc>
                  <a:txBody>
                    <a:bodyPr wrap="square"/>
                    <a:lstStyle/>
                    <a:p>
                      <a:r>
                        <a:rPr sz="1300" b="1">
                          <a:solidFill>
                            <a:srgbClr val="FFFFFF"/>
                          </a:solidFill>
                          <a:latin typeface="Source Sans 3"/>
                        </a:rPr>
                        <a:t>Measured</a:t>
                      </a:r>
                    </a:p>
                  </a:txBody>
                  <a:tcPr marL="82296" marR="64008" marT="32004" marB="32004" anchor="ctr">
                    <a:solidFill>
                      <a:srgbClr val="8A1626"/>
                    </a:solidFill>
                  </a:tcPr>
                </a:tc>
                <a:tc>
                  <a:txBody>
                    <a:bodyPr wrap="square"/>
                    <a:lstStyle/>
                    <a:p>
                      <a:r>
                        <a:rPr sz="1300" b="1">
                          <a:solidFill>
                            <a:srgbClr val="FFFFFF"/>
                          </a:solidFill>
                          <a:latin typeface="Source Sans 3"/>
                        </a:rPr>
                        <a:t>Verdict</a:t>
                      </a:r>
                    </a:p>
                  </a:txBody>
                  <a:tcPr marL="82296" marR="64008" marT="32004" marB="32004" anchor="ctr">
                    <a:solidFill>
                      <a:srgbClr val="8A1626"/>
                    </a:solidFill>
                  </a:tcPr>
                </a:tc>
              </a:tr>
              <a:tr h="584098">
                <a:tc>
                  <a:txBody>
                    <a:bodyPr wrap="square"/>
                    <a:lstStyle/>
                    <a:p>
                      <a:r>
                        <a:rPr sz="1450" b="1">
                          <a:solidFill>
                            <a:srgbClr val="8A1626"/>
                          </a:solidFill>
                          <a:latin typeface="Source Sans 3"/>
                        </a:rPr>
                        <a:t>P2 · Profile A throughput</a:t>
                      </a:r>
                    </a:p>
                  </a:txBody>
                  <a:tcPr marL="82296" marR="64008" marT="32004" marB="32004" anchor="ctr">
                    <a:solidFill>
                      <a:srgbClr val="FFFFFF"/>
                    </a:solidFill>
                  </a:tcPr>
                </a:tc>
                <a:tc>
                  <a:txBody>
                    <a:bodyPr wrap="square"/>
                    <a:lstStyle/>
                    <a:p>
                      <a:r>
                        <a:rPr sz="1450" b="0">
                          <a:solidFill>
                            <a:srgbClr val="1A1A1A"/>
                          </a:solidFill>
                          <a:latin typeface="Source Sans 3"/>
                        </a:rPr>
                        <a:t>≥ 1.2 M rows/s per lane</a:t>
                      </a:r>
                    </a:p>
                  </a:txBody>
                  <a:tcPr marL="82296" marR="64008" marT="32004" marB="32004" anchor="ctr">
                    <a:solidFill>
                      <a:srgbClr val="FFFFFF"/>
                    </a:solidFill>
                  </a:tcPr>
                </a:tc>
                <a:tc>
                  <a:txBody>
                    <a:bodyPr wrap="square"/>
                    <a:lstStyle/>
                    <a:p>
                      <a:r>
                        <a:rPr sz="1450" b="0">
                          <a:solidFill>
                            <a:srgbClr val="1A1A1A"/>
                          </a:solidFill>
                          <a:latin typeface="Source Sans 3"/>
                        </a:rPr>
                        <a:t>All 30 warm passes and 29 of 30 cold above it; the miss 1,043,974 at load 77</a:t>
                      </a:r>
                    </a:p>
                  </a:txBody>
                  <a:tcPr marL="82296" marR="64008" marT="32004" marB="32004" anchor="ctr">
                    <a:solidFill>
                      <a:srgbClr val="FFFFFF"/>
                    </a:solidFill>
                  </a:tcPr>
                </a:tc>
                <a:tc>
                  <a:txBody>
                    <a:bodyPr wrap="square"/>
                    <a:lstStyle/>
                    <a:p>
                      <a:r>
                        <a:rPr sz="1450" b="0">
                          <a:solidFill>
                            <a:srgbClr val="1A1A1A"/>
                          </a:solidFill>
                          <a:latin typeface="Source Sans 3"/>
                        </a:rPr>
                        <a:t>Reached</a:t>
                      </a:r>
                    </a:p>
                  </a:txBody>
                  <a:tcPr marL="82296" marR="64008" marT="32004" marB="32004" anchor="ctr">
                    <a:solidFill>
                      <a:srgbClr val="FFFFFF"/>
                    </a:solidFill>
                  </a:tcPr>
                </a:tc>
              </a:tr>
              <a:tr h="1058468">
                <a:tc>
                  <a:txBody>
                    <a:bodyPr wrap="square"/>
                    <a:lstStyle/>
                    <a:p>
                      <a:r>
                        <a:rPr sz="1450" b="1">
                          <a:solidFill>
                            <a:srgbClr val="8A1626"/>
                          </a:solidFill>
                          <a:latin typeface="Source Sans 3"/>
                        </a:rPr>
                        <a:t>P2 · scaling, 1 → 8 lanes</a:t>
                      </a:r>
                    </a:p>
                  </a:txBody>
                  <a:tcPr marL="82296" marR="64008" marT="32004" marB="32004" anchor="ctr">
                    <a:solidFill>
                      <a:srgbClr val="F7F5F2"/>
                    </a:solidFill>
                  </a:tcPr>
                </a:tc>
                <a:tc>
                  <a:txBody>
                    <a:bodyPr wrap="square"/>
                    <a:lstStyle/>
                    <a:p>
                      <a:r>
                        <a:rPr sz="1450" b="0">
                          <a:solidFill>
                            <a:srgbClr val="1A1A1A"/>
                          </a:solidFill>
                          <a:latin typeface="Source Sans 3"/>
                        </a:rPr>
                        <a:t>≥ 90 % of linear</a:t>
                      </a:r>
                    </a:p>
                  </a:txBody>
                  <a:tcPr marL="82296" marR="64008" marT="32004" marB="32004" anchor="ctr">
                    <a:solidFill>
                      <a:srgbClr val="F7F5F2"/>
                    </a:solidFill>
                  </a:tcPr>
                </a:tc>
                <a:tc>
                  <a:txBody>
                    <a:bodyPr wrap="square"/>
                    <a:lstStyle/>
                    <a:p>
                      <a:r>
                        <a:rPr sz="1450" b="0">
                          <a:solidFill>
                            <a:srgbClr val="1A1A1A"/>
                          </a:solidFill>
                          <a:latin typeface="Source Sans 3"/>
                        </a:rPr>
                        <a:t>28–42 % (09-20); 33–46 % without the coverage agent (09-26); 30–31 % re-taken at load 3.1–5.2 (09-29); the machine's own ceiling for work sharing nothing: 51–55 %</a:t>
                      </a:r>
                    </a:p>
                  </a:txBody>
                  <a:tcPr marL="82296" marR="64008" marT="32004" marB="32004" anchor="ctr">
                    <a:solidFill>
                      <a:srgbClr val="F7F5F2"/>
                    </a:solidFill>
                  </a:tcPr>
                </a:tc>
                <a:tc>
                  <a:txBody>
                    <a:bodyPr wrap="square"/>
                    <a:lstStyle/>
                    <a:p>
                      <a:r>
                        <a:rPr sz="1450" b="0">
                          <a:solidFill>
                            <a:srgbClr val="1A1A1A"/>
                          </a:solidFill>
                          <a:latin typeface="Source Sans 3"/>
                        </a:rPr>
                        <a:t>Not reached</a:t>
                      </a:r>
                    </a:p>
                  </a:txBody>
                  <a:tcPr marL="82296" marR="64008" marT="32004" marB="32004" anchor="ctr">
                    <a:solidFill>
                      <a:srgbClr val="F7F5F2"/>
                    </a:solidFill>
                  </a:tcPr>
                </a:tc>
              </a:tr>
              <a:tr h="584098">
                <a:tc>
                  <a:txBody>
                    <a:bodyPr wrap="square"/>
                    <a:lstStyle/>
                    <a:p>
                      <a:r>
                        <a:rPr sz="1450" b="1">
                          <a:solidFill>
                            <a:srgbClr val="8A1626"/>
                          </a:solidFill>
                          <a:latin typeface="Source Sans 3"/>
                        </a:rPr>
                        <a:t>P3 · Profile B throughput</a:t>
                      </a:r>
                    </a:p>
                  </a:txBody>
                  <a:tcPr marL="82296" marR="64008" marT="32004" marB="32004" anchor="ctr">
                    <a:solidFill>
                      <a:srgbClr val="FFFFFF"/>
                    </a:solidFill>
                  </a:tcPr>
                </a:tc>
                <a:tc>
                  <a:txBody>
                    <a:bodyPr wrap="square"/>
                    <a:lstStyle/>
                    <a:p>
                      <a:r>
                        <a:rPr sz="1450" b="0">
                          <a:solidFill>
                            <a:srgbClr val="1A1A1A"/>
                          </a:solidFill>
                          <a:latin typeface="Source Sans 3"/>
                        </a:rPr>
                        <a:t>≥ 350 k rows/s per lane</a:t>
                      </a:r>
                    </a:p>
                  </a:txBody>
                  <a:tcPr marL="82296" marR="64008" marT="32004" marB="32004" anchor="ctr">
                    <a:solidFill>
                      <a:srgbClr val="FFFFFF"/>
                    </a:solidFill>
                  </a:tcPr>
                </a:tc>
                <a:tc>
                  <a:txBody>
                    <a:bodyPr wrap="square"/>
                    <a:lstStyle/>
                    <a:p>
                      <a:r>
                        <a:rPr sz="1450" b="0">
                          <a:solidFill>
                            <a:srgbClr val="1A1A1A"/>
                          </a:solidFill>
                          <a:latin typeface="Source Sans 3"/>
                        </a:rPr>
                        <a:t>Every one of 15 passes above it; the worst 1,096,560, during a load spike</a:t>
                      </a:r>
                    </a:p>
                  </a:txBody>
                  <a:tcPr marL="82296" marR="64008" marT="32004" marB="32004" anchor="ctr">
                    <a:solidFill>
                      <a:srgbClr val="FFFFFF"/>
                    </a:solidFill>
                  </a:tcPr>
                </a:tc>
                <a:tc>
                  <a:txBody>
                    <a:bodyPr wrap="square"/>
                    <a:lstStyle/>
                    <a:p>
                      <a:r>
                        <a:rPr sz="1450" b="0">
                          <a:solidFill>
                            <a:srgbClr val="1A1A1A"/>
                          </a:solidFill>
                          <a:latin typeface="Source Sans 3"/>
                        </a:rPr>
                        <a:t>Reached</a:t>
                      </a:r>
                    </a:p>
                  </a:txBody>
                  <a:tcPr marL="82296" marR="64008" marT="32004" marB="32004" anchor="ctr">
                    <a:solidFill>
                      <a:srgbClr val="FFFFFF"/>
                    </a:solidFill>
                  </a:tcPr>
                </a:tc>
              </a:tr>
              <a:tr h="584098">
                <a:tc>
                  <a:txBody>
                    <a:bodyPr wrap="square"/>
                    <a:lstStyle/>
                    <a:p>
                      <a:r>
                        <a:rPr sz="1450" b="1">
                          <a:solidFill>
                            <a:srgbClr val="8A1626"/>
                          </a:solidFill>
                          <a:latin typeface="Source Sans 3"/>
                        </a:rPr>
                        <a:t>W5 · Nexmark vs Flink</a:t>
                      </a:r>
                    </a:p>
                  </a:txBody>
                  <a:tcPr marL="82296" marR="64008" marT="32004" marB="32004" anchor="ctr">
                    <a:solidFill>
                      <a:srgbClr val="F7F5F2"/>
                    </a:solidFill>
                  </a:tcPr>
                </a:tc>
                <a:tc>
                  <a:txBody>
                    <a:bodyPr wrap="square"/>
                    <a:lstStyle/>
                    <a:p>
                      <a:r>
                        <a:rPr sz="1450" b="0">
                          <a:solidFill>
                            <a:srgbClr val="1A1A1A"/>
                          </a:solidFill>
                          <a:latin typeface="Source Sans 3"/>
                        </a:rPr>
                        <a:t>Parity on ≥ 18 of 22</a:t>
                      </a:r>
                    </a:p>
                  </a:txBody>
                  <a:tcPr marL="82296" marR="64008" marT="32004" marB="32004" anchor="ctr">
                    <a:solidFill>
                      <a:srgbClr val="F7F5F2"/>
                    </a:solidFill>
                  </a:tcPr>
                </a:tc>
                <a:tc>
                  <a:txBody>
                    <a:bodyPr wrap="square"/>
                    <a:lstStyle/>
                    <a:p>
                      <a:r>
                        <a:rPr sz="1450" b="0">
                          <a:solidFill>
                            <a:srgbClr val="1A1A1A"/>
                          </a:solidFill>
                          <a:latin typeface="Source Sans 3"/>
                        </a:rPr>
                        <a:t>Not run: no Flink, no quiet machine, no reference generator here</a:t>
                      </a:r>
                    </a:p>
                  </a:txBody>
                  <a:tcPr marL="82296" marR="64008" marT="32004" marB="32004" anchor="ctr">
                    <a:solidFill>
                      <a:srgbClr val="F7F5F2"/>
                    </a:solidFill>
                  </a:tcPr>
                </a:tc>
                <a:tc>
                  <a:txBody>
                    <a:bodyPr wrap="square"/>
                    <a:lstStyle/>
                    <a:p>
                      <a:r>
                        <a:rPr sz="1450" b="0">
                          <a:solidFill>
                            <a:srgbClr val="1A1A1A"/>
                          </a:solidFill>
                          <a:latin typeface="Source Sans 3"/>
                        </a:rPr>
                        <a:t>Not reached</a:t>
                      </a:r>
                    </a:p>
                  </a:txBody>
                  <a:tcPr marL="82296" marR="64008" marT="32004" marB="32004" anchor="ctr">
                    <a:solidFill>
                      <a:srgbClr val="F7F5F2"/>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NEXMARK COVERAGE · NEXMARKCOVERAGEIT</a:t>
            </a:r>
          </a:p>
        </p:txBody>
      </p:sp>
      <p:sp>
        <p:nvSpPr>
          <p:cNvPr id="5" name="TextBox 4"/>
          <p:cNvSpPr txBox="1"/>
          <p:nvPr/>
        </p:nvSpPr>
        <p:spPr>
          <a:xfrm>
            <a:off x="777240" y="749808"/>
            <a:ext cx="10637215" cy="380085"/>
          </a:xfrm>
          <a:prstGeom prst="rect">
            <a:avLst/>
          </a:prstGeom>
          <a:noFill/>
        </p:spPr>
        <p:txBody>
          <a:bodyPr wrap="square" lIns="0" rIns="0" tIns="0" bIns="0" anchor="t">
            <a:spAutoFit/>
          </a:bodyPr>
          <a:lstStyle/>
          <a:p>
            <a:pPr algn="l">
              <a:lnSpc>
                <a:spcPct val="115000"/>
              </a:lnSpc>
              <a:spcBef>
                <a:spcPts val="0"/>
              </a:spcBef>
              <a:spcAft>
                <a:spcPts val="0"/>
              </a:spcAft>
            </a:pPr>
            <a:r>
              <a:rPr sz="2100" b="1" i="0">
                <a:solidFill>
                  <a:srgbClr val="1A1A1A"/>
                </a:solidFill>
                <a:latin typeface="Source Sans 3"/>
              </a:rPr>
              <a:t>12 of Nexmark's 23 queries run; what is missing is SQL, not speed</a:t>
            </a:r>
          </a:p>
        </p:txBody>
      </p:sp>
      <p:sp>
        <p:nvSpPr>
          <p:cNvPr id="6" name="Rectangle 5"/>
          <p:cNvSpPr/>
          <p:nvPr/>
        </p:nvSpPr>
        <p:spPr>
          <a:xfrm>
            <a:off x="777240" y="1184757"/>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84</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The head-to-head against Flink has not been run. Running it on a subset and publishing that is the selective benchmarking the design says this audience punishes.</a:t>
            </a:r>
          </a:p>
        </p:txBody>
      </p:sp>
      <p:graphicFrame>
        <p:nvGraphicFramePr>
          <p:cNvPr id="12" name="Table 11"/>
          <p:cNvGraphicFramePr>
            <a:graphicFrameLocks noGrp="1"/>
          </p:cNvGraphicFramePr>
          <p:nvPr/>
        </p:nvGraphicFramePr>
        <p:xfrm>
          <a:off x="777240" y="1312773"/>
          <a:ext cx="10637214" cy="3005681"/>
        </p:xfrm>
        <a:graphic>
          <a:graphicData uri="http://schemas.openxmlformats.org/drawingml/2006/table">
            <a:tbl>
              <a:tblPr firstRow="1">
                <a:tableStyleId>{5C22544A-7EE6-4342-B048-85BDC9FD1C3A}</a:tableStyleId>
              </a:tblPr>
              <a:tblGrid>
                <a:gridCol w="1950156"/>
                <a:gridCol w="3545738"/>
                <a:gridCol w="5141320"/>
              </a:tblGrid>
              <a:tr h="322376">
                <a:tc>
                  <a:txBody>
                    <a:bodyPr wrap="square"/>
                    <a:lstStyle/>
                    <a:p>
                      <a:r>
                        <a:rPr sz="1300" b="1">
                          <a:solidFill>
                            <a:srgbClr val="FFFFFF"/>
                          </a:solidFill>
                          <a:latin typeface="Source Sans 3"/>
                        </a:rPr>
                        <a:t>Verdict</a:t>
                      </a:r>
                    </a:p>
                  </a:txBody>
                  <a:tcPr marL="82296" marR="64008" marT="32004" marB="32004" anchor="ctr">
                    <a:solidFill>
                      <a:srgbClr val="8A1626"/>
                    </a:solidFill>
                  </a:tcPr>
                </a:tc>
                <a:tc>
                  <a:txBody>
                    <a:bodyPr wrap="square"/>
                    <a:lstStyle/>
                    <a:p>
                      <a:r>
                        <a:rPr sz="1300" b="1">
                          <a:solidFill>
                            <a:srgbClr val="FFFFFF"/>
                          </a:solidFill>
                          <a:latin typeface="Source Sans 3"/>
                        </a:rPr>
                        <a:t>Queries</a:t>
                      </a:r>
                    </a:p>
                  </a:txBody>
                  <a:tcPr marL="82296" marR="64008" marT="32004" marB="32004" anchor="ctr">
                    <a:solidFill>
                      <a:srgbClr val="8A1626"/>
                    </a:solidFill>
                  </a:tcPr>
                </a:tc>
                <a:tc>
                  <a:txBody>
                    <a:bodyPr wrap="square"/>
                    <a:lstStyle/>
                    <a:p>
                      <a:r>
                        <a:rPr sz="1300" b="1">
                          <a:solidFill>
                            <a:srgbClr val="FFFFFF"/>
                          </a:solidFill>
                          <a:latin typeface="Source Sans 3"/>
                        </a:rPr>
                        <a:t>Why</a:t>
                      </a:r>
                    </a:p>
                  </a:txBody>
                  <a:tcPr marL="82296" marR="64008" marT="32004" marB="32004" anchor="ctr">
                    <a:solidFill>
                      <a:srgbClr val="8A1626"/>
                    </a:solidFill>
                  </a:tcPr>
                </a:tc>
              </a:tr>
              <a:tr h="821283">
                <a:tc>
                  <a:txBody>
                    <a:bodyPr wrap="square"/>
                    <a:lstStyle/>
                    <a:p>
                      <a:r>
                        <a:rPr sz="1450" b="1">
                          <a:solidFill>
                            <a:srgbClr val="8A1626"/>
                          </a:solidFill>
                          <a:latin typeface="Source Sans 3"/>
                        </a:rPr>
                        <a:t>Runs (2026-09-26)</a:t>
                      </a:r>
                    </a:p>
                  </a:txBody>
                  <a:tcPr marL="82296" marR="64008" marT="32004" marB="32004" anchor="ctr">
                    <a:solidFill>
                      <a:srgbClr val="FFFFFF"/>
                    </a:solidFill>
                  </a:tcPr>
                </a:tc>
                <a:tc>
                  <a:txBody>
                    <a:bodyPr wrap="square"/>
                    <a:lstStyle/>
                    <a:p>
                      <a:r>
                        <a:rPr sz="1450" b="0">
                          <a:solidFill>
                            <a:srgbClr val="1A1A1A"/>
                          </a:solidFill>
                          <a:latin typeface="Source Sans 3"/>
                        </a:rPr>
                        <a:t>q0, q1, q2, q3, q7, q8, q9, q18, q19, q20, q21, q22</a:t>
                      </a:r>
                    </a:p>
                  </a:txBody>
                  <a:tcPr marL="82296" marR="64008" marT="32004" marB="32004" anchor="ctr">
                    <a:solidFill>
                      <a:srgbClr val="FFFFFF"/>
                    </a:solidFill>
                  </a:tcPr>
                </a:tc>
                <a:tc>
                  <a:txBody>
                    <a:bodyPr wrap="square"/>
                    <a:lstStyle/>
                    <a:p>
                      <a:r>
                        <a:rPr sz="1450" b="0">
                          <a:solidFill>
                            <a:srgbClr val="1A1A1A"/>
                          </a:solidFill>
                          <a:latin typeface="Source Sans 3"/>
                        </a:rPr>
                        <a:t>Up from 5 on 2026-09-20, after exact DECIMAL, self joins, a maintained top-N, REGEXP_EXTRACT and SPLIT_INDEX</a:t>
                      </a:r>
                    </a:p>
                  </a:txBody>
                  <a:tcPr marL="82296" marR="64008" marT="32004" marB="32004" anchor="ctr">
                    <a:solidFill>
                      <a:srgbClr val="FFFFFF"/>
                    </a:solidFill>
                  </a:tcPr>
                </a:tc>
              </a:tr>
              <a:tr h="584098">
                <a:tc>
                  <a:txBody>
                    <a:bodyPr wrap="square"/>
                    <a:lstStyle/>
                    <a:p>
                      <a:r>
                        <a:rPr sz="1450" b="1">
                          <a:solidFill>
                            <a:srgbClr val="8A1626"/>
                          </a:solidFill>
                          <a:latin typeface="Source Sans 3"/>
                        </a:rPr>
                        <a:t>Refused</a:t>
                      </a:r>
                    </a:p>
                  </a:txBody>
                  <a:tcPr marL="82296" marR="64008" marT="32004" marB="32004" anchor="ctr">
                    <a:solidFill>
                      <a:srgbClr val="F7F5F2"/>
                    </a:solidFill>
                  </a:tcPr>
                </a:tc>
                <a:tc>
                  <a:txBody>
                    <a:bodyPr wrap="square"/>
                    <a:lstStyle/>
                    <a:p>
                      <a:r>
                        <a:rPr sz="1450" b="0">
                          <a:solidFill>
                            <a:srgbClr val="1A1A1A"/>
                          </a:solidFill>
                          <a:latin typeface="Source Sans 3"/>
                        </a:rPr>
                        <a:t>q4, q5, q15, q16, q17</a:t>
                      </a:r>
                    </a:p>
                  </a:txBody>
                  <a:tcPr marL="82296" marR="64008" marT="32004" marB="32004" anchor="ctr">
                    <a:solidFill>
                      <a:srgbClr val="F7F5F2"/>
                    </a:solidFill>
                  </a:tcPr>
                </a:tc>
                <a:tc>
                  <a:txBody>
                    <a:bodyPr wrap="square"/>
                    <a:lstStyle/>
                    <a:p>
                      <a:r>
                        <a:rPr sz="1450" b="0">
                          <a:solidFill>
                            <a:srgbClr val="1A1A1A"/>
                          </a:solidFill>
                          <a:latin typeface="Source Sans 3"/>
                        </a:rPr>
                        <a:t>Unwindowed GROUP BY or COUNT(DISTINCT): unbounded state (PRV-2050), refused on purpose</a:t>
                      </a:r>
                    </a:p>
                  </a:txBody>
                  <a:tcPr marL="82296" marR="64008" marT="32004" marB="32004" anchor="ctr">
                    <a:solidFill>
                      <a:srgbClr val="F7F5F2"/>
                    </a:solidFill>
                  </a:tcPr>
                </a:tc>
              </a:tr>
              <a:tr h="346913">
                <a:tc>
                  <a:txBody>
                    <a:bodyPr wrap="square"/>
                    <a:lstStyle/>
                    <a:p>
                      <a:r>
                        <a:rPr sz="1450" b="1">
                          <a:solidFill>
                            <a:srgbClr val="8A1626"/>
                          </a:solidFill>
                          <a:latin typeface="Source Sans 3"/>
                        </a:rPr>
                        <a:t>Refused</a:t>
                      </a:r>
                    </a:p>
                  </a:txBody>
                  <a:tcPr marL="82296" marR="64008" marT="32004" marB="32004" anchor="ctr">
                    <a:solidFill>
                      <a:srgbClr val="FFFFFF"/>
                    </a:solidFill>
                  </a:tcPr>
                </a:tc>
                <a:tc>
                  <a:txBody>
                    <a:bodyPr wrap="square"/>
                    <a:lstStyle/>
                    <a:p>
                      <a:r>
                        <a:rPr sz="1450" b="0">
                          <a:solidFill>
                            <a:srgbClr val="1A1A1A"/>
                          </a:solidFill>
                          <a:latin typeface="Source Sans 3"/>
                        </a:rPr>
                        <a:t>q6</a:t>
                      </a:r>
                    </a:p>
                  </a:txBody>
                  <a:tcPr marL="82296" marR="64008" marT="32004" marB="32004" anchor="ctr">
                    <a:solidFill>
                      <a:srgbClr val="FFFFFF"/>
                    </a:solidFill>
                  </a:tcPr>
                </a:tc>
                <a:tc>
                  <a:txBody>
                    <a:bodyPr wrap="square"/>
                    <a:lstStyle/>
                    <a:p>
                      <a:r>
                        <a:rPr sz="1450" b="0">
                          <a:solidFill>
                            <a:srgbClr val="1A1A1A"/>
                          </a:solidFill>
                          <a:latin typeface="Source Sans 3"/>
                        </a:rPr>
                        <a:t>An AVG over a row frame (PRV-2021)</a:t>
                      </a:r>
                    </a:p>
                  </a:txBody>
                  <a:tcPr marL="82296" marR="64008" marT="32004" marB="32004" anchor="ctr">
                    <a:solidFill>
                      <a:srgbClr val="FFFFFF"/>
                    </a:solidFill>
                  </a:tcPr>
                </a:tc>
              </a:tr>
              <a:tr h="346913">
                <a:tc>
                  <a:txBody>
                    <a:bodyPr wrap="square"/>
                    <a:lstStyle/>
                    <a:p>
                      <a:r>
                        <a:rPr sz="1450" b="1">
                          <a:solidFill>
                            <a:srgbClr val="8A1626"/>
                          </a:solidFill>
                          <a:latin typeface="Source Sans 3"/>
                        </a:rPr>
                        <a:t>Refused</a:t>
                      </a:r>
                    </a:p>
                  </a:txBody>
                  <a:tcPr marL="82296" marR="64008" marT="32004" marB="32004" anchor="ctr">
                    <a:solidFill>
                      <a:srgbClr val="F7F5F2"/>
                    </a:solidFill>
                  </a:tcPr>
                </a:tc>
                <a:tc>
                  <a:txBody>
                    <a:bodyPr wrap="square"/>
                    <a:lstStyle/>
                    <a:p>
                      <a:r>
                        <a:rPr sz="1450" b="0">
                          <a:solidFill>
                            <a:srgbClr val="1A1A1A"/>
                          </a:solidFill>
                          <a:latin typeface="Source Sans 3"/>
                        </a:rPr>
                        <a:t>q11</a:t>
                      </a:r>
                    </a:p>
                  </a:txBody>
                  <a:tcPr marL="82296" marR="64008" marT="32004" marB="32004" anchor="ctr">
                    <a:solidFill>
                      <a:srgbClr val="F7F5F2"/>
                    </a:solidFill>
                  </a:tcPr>
                </a:tc>
                <a:tc>
                  <a:txBody>
                    <a:bodyPr wrap="square"/>
                    <a:lstStyle/>
                    <a:p>
                      <a:r>
                        <a:rPr sz="1450" b="0">
                          <a:solidFill>
                            <a:srgbClr val="1A1A1A"/>
                          </a:solidFill>
                          <a:latin typeface="Source Sans 3"/>
                        </a:rPr>
                        <a:t>Session windows in SQL (PRV-2020)</a:t>
                      </a:r>
                    </a:p>
                  </a:txBody>
                  <a:tcPr marL="82296" marR="64008" marT="32004" marB="32004" anchor="ctr">
                    <a:solidFill>
                      <a:srgbClr val="F7F5F2"/>
                    </a:solidFill>
                  </a:tcPr>
                </a:tc>
              </a:tr>
              <a:tr h="584098">
                <a:tc>
                  <a:txBody>
                    <a:bodyPr wrap="square"/>
                    <a:lstStyle/>
                    <a:p>
                      <a:r>
                        <a:rPr sz="1450" b="1">
                          <a:solidFill>
                            <a:srgbClr val="8A1626"/>
                          </a:solidFill>
                          <a:latin typeface="Source Sans 3"/>
                        </a:rPr>
                        <a:t>Cannot be written here</a:t>
                      </a:r>
                    </a:p>
                  </a:txBody>
                  <a:tcPr marL="82296" marR="64008" marT="32004" marB="32004" anchor="ctr">
                    <a:solidFill>
                      <a:srgbClr val="FFFFFF"/>
                    </a:solidFill>
                  </a:tcPr>
                </a:tc>
                <a:tc>
                  <a:txBody>
                    <a:bodyPr wrap="square"/>
                    <a:lstStyle/>
                    <a:p>
                      <a:r>
                        <a:rPr sz="1450" b="0">
                          <a:solidFill>
                            <a:srgbClr val="1A1A1A"/>
                          </a:solidFill>
                          <a:latin typeface="Source Sans 3"/>
                        </a:rPr>
                        <a:t>q10, q12, q13, q14</a:t>
                      </a:r>
                    </a:p>
                  </a:txBody>
                  <a:tcPr marL="82296" marR="64008" marT="32004" marB="32004" anchor="ctr">
                    <a:solidFill>
                      <a:srgbClr val="FFFFFF"/>
                    </a:solidFill>
                  </a:tcPr>
                </a:tc>
                <a:tc>
                  <a:txBody>
                    <a:bodyPr wrap="square"/>
                    <a:lstStyle/>
                    <a:p>
                      <a:r>
                        <a:rPr sz="1450" b="0">
                          <a:solidFill>
                            <a:srgbClr val="1A1A1A"/>
                          </a:solidFill>
                          <a:latin typeface="Source Sans 3"/>
                        </a:rPr>
                        <a:t>A partitioned file sink, PROCTIME(), no lookup source registered, a user-defined function</a:t>
                      </a:r>
                    </a:p>
                  </a:txBody>
                  <a:tcPr marL="82296" marR="64008" marT="32004" marB="32004" anchor="ctr">
                    <a:solidFill>
                      <a:srgbClr val="FFFFFF"/>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MICRO-BENCHMARKS · BENCHMARKS/README.MD</a:t>
            </a:r>
          </a:p>
        </p:txBody>
      </p:sp>
      <p:sp>
        <p:nvSpPr>
          <p:cNvPr id="5" name="TextBox 4"/>
          <p:cNvSpPr txBox="1"/>
          <p:nvPr/>
        </p:nvSpPr>
        <p:spPr>
          <a:xfrm>
            <a:off x="777240" y="749808"/>
            <a:ext cx="10637215" cy="461873"/>
          </a:xfrm>
          <a:prstGeom prst="rect">
            <a:avLst/>
          </a:prstGeom>
          <a:noFill/>
        </p:spPr>
        <p:txBody>
          <a:bodyPr wrap="square" lIns="0" rIns="0" tIns="0" bIns="0" anchor="t">
            <a:spAutoFit/>
          </a:bodyPr>
          <a:lstStyle/>
          <a:p>
            <a:pPr algn="l">
              <a:lnSpc>
                <a:spcPct val="115000"/>
              </a:lnSpc>
              <a:spcBef>
                <a:spcPts val="0"/>
              </a:spcBef>
              <a:spcAft>
                <a:spcPts val="0"/>
              </a:spcAft>
            </a:pPr>
            <a:r>
              <a:rPr sz="2600" b="1" i="0">
                <a:solidFill>
                  <a:srgbClr val="1A1A1A"/>
                </a:solidFill>
                <a:latin typeface="Source Sans 3"/>
              </a:rPr>
              <a:t>Ratios that decide design choices, not capabilities</a:t>
            </a:r>
          </a:p>
        </p:txBody>
      </p:sp>
      <p:sp>
        <p:nvSpPr>
          <p:cNvPr id="6" name="Rectangle 5"/>
          <p:cNvSpPr/>
          <p:nvPr/>
        </p:nvSpPr>
        <p:spPr>
          <a:xfrm>
            <a:off x="777240" y="126654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85</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No build compares a run with the committed baselines, and the page says so: a claim about a gate that does not exist is worth less than no claim.</a:t>
            </a:r>
          </a:p>
        </p:txBody>
      </p:sp>
      <p:graphicFrame>
        <p:nvGraphicFramePr>
          <p:cNvPr id="12" name="Table 11"/>
          <p:cNvGraphicFramePr>
            <a:graphicFrameLocks noGrp="1"/>
          </p:cNvGraphicFramePr>
          <p:nvPr/>
        </p:nvGraphicFramePr>
        <p:xfrm>
          <a:off x="777240" y="1394561"/>
          <a:ext cx="10637213" cy="2658768"/>
        </p:xfrm>
        <a:graphic>
          <a:graphicData uri="http://schemas.openxmlformats.org/drawingml/2006/table">
            <a:tbl>
              <a:tblPr firstRow="1">
                <a:tableStyleId>{5C22544A-7EE6-4342-B048-85BDC9FD1C3A}</a:tableStyleId>
              </a:tblPr>
              <a:tblGrid>
                <a:gridCol w="3431359"/>
                <a:gridCol w="3431359"/>
                <a:gridCol w="3774495"/>
              </a:tblGrid>
              <a:tr h="322376">
                <a:tc>
                  <a:txBody>
                    <a:bodyPr wrap="square"/>
                    <a:lstStyle/>
                    <a:p>
                      <a:r>
                        <a:rPr sz="1300" b="1">
                          <a:solidFill>
                            <a:srgbClr val="FFFFFF"/>
                          </a:solidFill>
                          <a:latin typeface="Source Sans 3"/>
                        </a:rPr>
                        <a:t>Measurement</a:t>
                      </a:r>
                    </a:p>
                  </a:txBody>
                  <a:tcPr marL="82296" marR="64008" marT="32004" marB="32004" anchor="ctr">
                    <a:solidFill>
                      <a:srgbClr val="8A1626"/>
                    </a:solidFill>
                  </a:tcPr>
                </a:tc>
                <a:tc>
                  <a:txBody>
                    <a:bodyPr wrap="square"/>
                    <a:lstStyle/>
                    <a:p>
                      <a:r>
                        <a:rPr sz="1300" b="1">
                          <a:solidFill>
                            <a:srgbClr val="FFFFFF"/>
                          </a:solidFill>
                          <a:latin typeface="Source Sans 3"/>
                        </a:rPr>
                        <a:t>Figure</a:t>
                      </a:r>
                    </a:p>
                  </a:txBody>
                  <a:tcPr marL="82296" marR="64008" marT="32004" marB="32004" anchor="ctr">
                    <a:solidFill>
                      <a:srgbClr val="8A1626"/>
                    </a:solidFill>
                  </a:tcPr>
                </a:tc>
                <a:tc>
                  <a:txBody>
                    <a:bodyPr wrap="square"/>
                    <a:lstStyle/>
                    <a:p>
                      <a:r>
                        <a:rPr sz="1300" b="1">
                          <a:solidFill>
                            <a:srgbClr val="FFFFFF"/>
                          </a:solidFill>
                          <a:latin typeface="Source Sans 3"/>
                        </a:rPr>
                        <a:t>What it is not</a:t>
                      </a:r>
                    </a:p>
                  </a:txBody>
                  <a:tcPr marL="82296" marR="64008" marT="32004" marB="32004" anchor="ctr">
                    <a:solidFill>
                      <a:srgbClr val="8A1626"/>
                    </a:solidFill>
                  </a:tcPr>
                </a:tc>
              </a:tr>
              <a:tr h="584098">
                <a:tc>
                  <a:txBody>
                    <a:bodyPr wrap="square"/>
                    <a:lstStyle/>
                    <a:p>
                      <a:r>
                        <a:rPr sz="1450" b="1">
                          <a:solidFill>
                            <a:srgbClr val="8A1626"/>
                          </a:solidFill>
                          <a:latin typeface="Source Sans 3"/>
                        </a:rPr>
                        <a:t>Generated vs interpreted, the fused operator alone</a:t>
                      </a:r>
                    </a:p>
                  </a:txBody>
                  <a:tcPr marL="82296" marR="64008" marT="32004" marB="32004" anchor="ctr">
                    <a:solidFill>
                      <a:srgbClr val="FFFFFF"/>
                    </a:solidFill>
                  </a:tcPr>
                </a:tc>
                <a:tc>
                  <a:txBody>
                    <a:bodyPr wrap="square"/>
                    <a:lstStyle/>
                    <a:p>
                      <a:r>
                        <a:rPr sz="1450" b="0">
                          <a:solidFill>
                            <a:srgbClr val="1A1A1A"/>
                          </a:solidFill>
                          <a:latin typeface="Source Sans 3"/>
                        </a:rPr>
                        <a:t>292 M vs 28.7 M rows/s — roughly 10×</a:t>
                      </a:r>
                    </a:p>
                  </a:txBody>
                  <a:tcPr marL="82296" marR="64008" marT="32004" marB="32004" anchor="ctr">
                    <a:solidFill>
                      <a:srgbClr val="FFFFFF"/>
                    </a:solidFill>
                  </a:tcPr>
                </a:tc>
                <a:tc>
                  <a:txBody>
                    <a:bodyPr wrap="square"/>
                    <a:lstStyle/>
                    <a:p>
                      <a:r>
                        <a:rPr sz="1450" b="0">
                          <a:solidFill>
                            <a:srgbClr val="1A1A1A"/>
                          </a:solidFill>
                          <a:latin typeface="Source Sans 3"/>
                        </a:rPr>
                        <a:t>The gate figure: no decode, arena, handoff or sink</a:t>
                      </a:r>
                    </a:p>
                  </a:txBody>
                  <a:tcPr marL="82296" marR="64008" marT="32004" marB="32004" anchor="ctr">
                    <a:solidFill>
                      <a:srgbClr val="FFFFFF"/>
                    </a:solidFill>
                  </a:tcPr>
                </a:tc>
              </a:tr>
              <a:tr h="821283">
                <a:tc>
                  <a:txBody>
                    <a:bodyPr wrap="square"/>
                    <a:lstStyle/>
                    <a:p>
                      <a:r>
                        <a:rPr sz="1450" b="1">
                          <a:solidFill>
                            <a:srgbClr val="8A1626"/>
                          </a:solidFill>
                          <a:latin typeface="Source Sans 3"/>
                        </a:rPr>
                        <a:t>The same plan as a whole pipeline, one thread</a:t>
                      </a:r>
                    </a:p>
                  </a:txBody>
                  <a:tcPr marL="82296" marR="64008" marT="32004" marB="32004" anchor="ctr">
                    <a:solidFill>
                      <a:srgbClr val="F7F5F2"/>
                    </a:solidFill>
                  </a:tcPr>
                </a:tc>
                <a:tc>
                  <a:txBody>
                    <a:bodyPr wrap="square"/>
                    <a:lstStyle/>
                    <a:p>
                      <a:r>
                        <a:rPr sz="1450" b="0">
                          <a:solidFill>
                            <a:srgbClr val="1A1A1A"/>
                          </a:solidFill>
                          <a:latin typeface="Source Sans 3"/>
                        </a:rPr>
                        <a:t>106–118 M vs 60–66 M rows/s — 1.7×</a:t>
                      </a:r>
                    </a:p>
                  </a:txBody>
                  <a:tcPr marL="82296" marR="64008" marT="32004" marB="32004" anchor="ctr">
                    <a:solidFill>
                      <a:srgbClr val="F7F5F2"/>
                    </a:solidFill>
                  </a:tcPr>
                </a:tc>
                <a:tc>
                  <a:txBody>
                    <a:bodyPr wrap="square"/>
                    <a:lstStyle/>
                    <a:p>
                      <a:r>
                        <a:rPr sz="1450" b="0">
                          <a:solidFill>
                            <a:srgbClr val="1A1A1A"/>
                          </a:solidFill>
                          <a:latin typeface="Source Sans 3"/>
                        </a:rPr>
                        <a:t>End to end, where the two are level (0.95–1.13×): the producer is the bound</a:t>
                      </a:r>
                    </a:p>
                  </a:txBody>
                  <a:tcPr marL="82296" marR="64008" marT="32004" marB="32004" anchor="ctr">
                    <a:solidFill>
                      <a:srgbClr val="F7F5F2"/>
                    </a:solidFill>
                  </a:tcPr>
                </a:tc>
              </a:tr>
              <a:tr h="346913">
                <a:tc>
                  <a:txBody>
                    <a:bodyPr wrap="square"/>
                    <a:lstStyle/>
                    <a:p>
                      <a:r>
                        <a:rPr sz="1450" b="1">
                          <a:solidFill>
                            <a:srgbClr val="8A1626"/>
                          </a:solidFill>
                          <a:latin typeface="Source Sans 3"/>
                        </a:rPr>
                        <a:t>Lane machinery, one lane</a:t>
                      </a:r>
                    </a:p>
                  </a:txBody>
                  <a:tcPr marL="82296" marR="64008" marT="32004" marB="32004" anchor="ctr">
                    <a:solidFill>
                      <a:srgbClr val="FFFFFF"/>
                    </a:solidFill>
                  </a:tcPr>
                </a:tc>
                <a:tc>
                  <a:txBody>
                    <a:bodyPr wrap="square"/>
                    <a:lstStyle/>
                    <a:p>
                      <a:r>
                        <a:rPr sz="1450" b="0">
                          <a:solidFill>
                            <a:srgbClr val="1A1A1A"/>
                          </a:solidFill>
                          <a:latin typeface="Source Sans 3"/>
                        </a:rPr>
                        <a:t>21 M rows/s</a:t>
                      </a:r>
                    </a:p>
                  </a:txBody>
                  <a:tcPr marL="82296" marR="64008" marT="32004" marB="32004" anchor="ctr">
                    <a:solidFill>
                      <a:srgbClr val="FFFFFF"/>
                    </a:solidFill>
                  </a:tcPr>
                </a:tc>
                <a:tc>
                  <a:txBody>
                    <a:bodyPr wrap="square"/>
                    <a:lstStyle/>
                    <a:p>
                      <a:r>
                        <a:rPr sz="1450" b="0">
                          <a:solidFill>
                            <a:srgbClr val="1A1A1A"/>
                          </a:solidFill>
                          <a:latin typeface="Source Sans 3"/>
                        </a:rPr>
                        <a:t>Operators, decode or sinks</a:t>
                      </a:r>
                    </a:p>
                  </a:txBody>
                  <a:tcPr marL="82296" marR="64008" marT="32004" marB="32004" anchor="ctr">
                    <a:solidFill>
                      <a:srgbClr val="FFFFFF"/>
                    </a:solidFill>
                  </a:tcPr>
                </a:tc>
              </a:tr>
              <a:tr h="584098">
                <a:tc>
                  <a:txBody>
                    <a:bodyPr wrap="square"/>
                    <a:lstStyle/>
                    <a:p>
                      <a:r>
                        <a:rPr sz="1450" b="1">
                          <a:solidFill>
                            <a:srgbClr val="8A1626"/>
                          </a:solidFill>
                          <a:latin typeface="Source Sans 3"/>
                        </a:rPr>
                        <a:t>Padding between two cursors</a:t>
                      </a:r>
                    </a:p>
                  </a:txBody>
                  <a:tcPr marL="82296" marR="64008" marT="32004" marB="32004" anchor="ctr">
                    <a:solidFill>
                      <a:srgbClr val="F7F5F2"/>
                    </a:solidFill>
                  </a:tcPr>
                </a:tc>
                <a:tc>
                  <a:txBody>
                    <a:bodyPr wrap="square"/>
                    <a:lstStyle/>
                    <a:p>
                      <a:r>
                        <a:rPr sz="1450" b="0">
                          <a:solidFill>
                            <a:srgbClr val="1A1A1A"/>
                          </a:solidFill>
                          <a:latin typeface="Source Sans 3"/>
                        </a:rPr>
                        <a:t>453 M vs 110 M ops/s — roughly 4×</a:t>
                      </a:r>
                    </a:p>
                  </a:txBody>
                  <a:tcPr marL="82296" marR="64008" marT="32004" marB="32004" anchor="ctr">
                    <a:solidFill>
                      <a:srgbClr val="F7F5F2"/>
                    </a:solidFill>
                  </a:tcPr>
                </a:tc>
                <a:tc>
                  <a:txBody>
                    <a:bodyPr wrap="square"/>
                    <a:lstStyle/>
                    <a:p>
                      <a:r>
                        <a:rPr sz="1450" b="0">
                          <a:solidFill>
                            <a:srgbClr val="1A1A1A"/>
                          </a:solidFill>
                          <a:latin typeface="Source Sans 3"/>
                        </a:rPr>
                        <a:t>Precise: error bars are wide on this hardware; the gap is not</a:t>
                      </a:r>
                    </a:p>
                  </a:txBody>
                  <a:tcPr marL="82296" marR="64008" marT="32004" marB="32004" anchor="ctr">
                    <a:solidFill>
                      <a:srgbClr val="F7F5F2"/>
                    </a:solidFill>
                  </a:tcPr>
                </a:tc>
              </a:tr>
            </a:tbl>
          </a:graphicData>
        </a:graphic>
      </p:graphicFrame>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HOW IT IS TESTED · DOCS/DEVELOPMENT/TESTING.MD, 2026-09-29/30</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Tiers, what each needs, and what each ran</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86</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 green build without Docker has not tested any connector against its store: the container tests skip, by name, and the report has to be read.</a:t>
            </a:r>
          </a:p>
        </p:txBody>
      </p:sp>
      <p:graphicFrame>
        <p:nvGraphicFramePr>
          <p:cNvPr id="12" name="Table 11"/>
          <p:cNvGraphicFramePr>
            <a:graphicFrameLocks noGrp="1"/>
          </p:cNvGraphicFramePr>
          <p:nvPr/>
        </p:nvGraphicFramePr>
        <p:xfrm>
          <a:off x="777240" y="1410919"/>
          <a:ext cx="10637214" cy="3189018"/>
        </p:xfrm>
        <a:graphic>
          <a:graphicData uri="http://schemas.openxmlformats.org/drawingml/2006/table">
            <a:tbl>
              <a:tblPr firstRow="1">
                <a:tableStyleId>{5C22544A-7EE6-4342-B048-85BDC9FD1C3A}</a:tableStyleId>
              </a:tblPr>
              <a:tblGrid>
                <a:gridCol w="3157923"/>
                <a:gridCol w="1828271"/>
                <a:gridCol w="5651020"/>
              </a:tblGrid>
              <a:tr h="322376">
                <a:tc>
                  <a:txBody>
                    <a:bodyPr wrap="square"/>
                    <a:lstStyle/>
                    <a:p>
                      <a:r>
                        <a:rPr sz="1300" b="1">
                          <a:solidFill>
                            <a:srgbClr val="FFFFFF"/>
                          </a:solidFill>
                          <a:latin typeface="Source Sans 3"/>
                        </a:rPr>
                        <a:t>Tier</a:t>
                      </a:r>
                    </a:p>
                  </a:txBody>
                  <a:tcPr marL="82296" marR="64008" marT="32004" marB="32004" anchor="ctr">
                    <a:solidFill>
                      <a:srgbClr val="8A1626"/>
                    </a:solidFill>
                  </a:tcPr>
                </a:tc>
                <a:tc>
                  <a:txBody>
                    <a:bodyPr wrap="square"/>
                    <a:lstStyle/>
                    <a:p>
                      <a:r>
                        <a:rPr sz="1300" b="1">
                          <a:solidFill>
                            <a:srgbClr val="FFFFFF"/>
                          </a:solidFill>
                          <a:latin typeface="Source Sans 3"/>
                        </a:rPr>
                        <a:t>Needs</a:t>
                      </a:r>
                    </a:p>
                  </a:txBody>
                  <a:tcPr marL="82296" marR="64008" marT="32004" marB="32004" anchor="ctr">
                    <a:solidFill>
                      <a:srgbClr val="8A1626"/>
                    </a:solidFill>
                  </a:tcPr>
                </a:tc>
                <a:tc>
                  <a:txBody>
                    <a:bodyPr wrap="square"/>
                    <a:lstStyle/>
                    <a:p>
                      <a:r>
                        <a:rPr sz="1300" b="1">
                          <a:solidFill>
                            <a:srgbClr val="FFFFFF"/>
                          </a:solidFill>
                          <a:latin typeface="Source Sans 3"/>
                        </a:rPr>
                        <a:t>Recorded</a:t>
                      </a:r>
                    </a:p>
                  </a:txBody>
                  <a:tcPr marL="82296" marR="64008" marT="32004" marB="32004" anchor="ctr">
                    <a:solidFill>
                      <a:srgbClr val="8A1626"/>
                    </a:solidFill>
                  </a:tcPr>
                </a:tc>
              </a:tr>
              <a:tr h="551383">
                <a:tc>
                  <a:txBody>
                    <a:bodyPr wrap="square"/>
                    <a:lstStyle/>
                    <a:p>
                      <a:r>
                        <a:rPr sz="1350" b="1">
                          <a:solidFill>
                            <a:srgbClr val="8A1626"/>
                          </a:solidFill>
                          <a:latin typeface="Source Sans 3"/>
                        </a:rPr>
                        <a:t>The gate: the whole reactor</a:t>
                      </a:r>
                    </a:p>
                  </a:txBody>
                  <a:tcPr marL="82296" marR="64008" marT="32004" marB="32004" anchor="ctr">
                    <a:solidFill>
                      <a:srgbClr val="FFFFFF"/>
                    </a:solidFill>
                  </a:tcPr>
                </a:tc>
                <a:tc>
                  <a:txBody>
                    <a:bodyPr wrap="square"/>
                    <a:lstStyle/>
                    <a:p>
                      <a:r>
                        <a:rPr sz="1350" b="0">
                          <a:solidFill>
                            <a:srgbClr val="1A1A1A"/>
                          </a:solidFill>
                          <a:latin typeface="Source Sans 3"/>
                        </a:rPr>
                        <a:t>JDK 21</a:t>
                      </a:r>
                    </a:p>
                  </a:txBody>
                  <a:tcPr marL="82296" marR="64008" marT="32004" marB="32004" anchor="ctr">
                    <a:solidFill>
                      <a:srgbClr val="FFFFFF"/>
                    </a:solidFill>
                  </a:tcPr>
                </a:tc>
                <a:tc>
                  <a:txBody>
                    <a:bodyPr wrap="square"/>
                    <a:lstStyle/>
                    <a:p>
                      <a:r>
                        <a:rPr sz="1350" b="0">
                          <a:solidFill>
                            <a:srgbClr val="1A1A1A"/>
                          </a:solidFill>
                          <a:latin typeface="Source Sans 3"/>
                        </a:rPr>
                        <a:t>4,688 Java tests, 0 failures, 211 skipped (Docker-only among them); now runs the Python SDK suite too</a:t>
                      </a:r>
                    </a:p>
                  </a:txBody>
                  <a:tcPr marL="82296" marR="64008" marT="32004" marB="32004" anchor="ctr">
                    <a:solidFill>
                      <a:srgbClr val="FFFFFF"/>
                    </a:solidFill>
                  </a:tcPr>
                </a:tc>
              </a:tr>
              <a:tr h="551383">
                <a:tc>
                  <a:txBody>
                    <a:bodyPr wrap="square"/>
                    <a:lstStyle/>
                    <a:p>
                      <a:r>
                        <a:rPr sz="1350" b="1">
                          <a:solidFill>
                            <a:srgbClr val="8A1626"/>
                          </a:solidFill>
                          <a:latin typeface="Source Sans 3"/>
                        </a:rPr>
                        <a:t>In-process integration (pravaha-it)</a:t>
                      </a:r>
                    </a:p>
                  </a:txBody>
                  <a:tcPr marL="82296" marR="64008" marT="32004" marB="32004" anchor="ctr">
                    <a:solidFill>
                      <a:srgbClr val="F7F5F2"/>
                    </a:solidFill>
                  </a:tcPr>
                </a:tc>
                <a:tc>
                  <a:txBody>
                    <a:bodyPr wrap="square"/>
                    <a:lstStyle/>
                    <a:p>
                      <a:r>
                        <a:rPr sz="1350" b="0">
                          <a:solidFill>
                            <a:srgbClr val="1A1A1A"/>
                          </a:solidFill>
                          <a:latin typeface="Source Sans 3"/>
                        </a:rPr>
                        <a:t>JDK 21</a:t>
                      </a:r>
                    </a:p>
                  </a:txBody>
                  <a:tcPr marL="82296" marR="64008" marT="32004" marB="32004" anchor="ctr">
                    <a:solidFill>
                      <a:srgbClr val="F7F5F2"/>
                    </a:solidFill>
                  </a:tcPr>
                </a:tc>
                <a:tc>
                  <a:txBody>
                    <a:bodyPr wrap="square"/>
                    <a:lstStyle/>
                    <a:p>
                      <a:r>
                        <a:rPr sz="1350" b="0">
                          <a:solidFill>
                            <a:srgbClr val="1A1A1A"/>
                          </a:solidFill>
                          <a:latin typeface="Source Sans 3"/>
                        </a:rPr>
                        <a:t>960 tests: real nodes, documentation checks, every case study against hand-worked answers</a:t>
                      </a:r>
                    </a:p>
                  </a:txBody>
                  <a:tcPr marL="82296" marR="64008" marT="32004" marB="32004" anchor="ctr">
                    <a:solidFill>
                      <a:srgbClr val="F7F5F2"/>
                    </a:solidFill>
                  </a:tcPr>
                </a:tc>
              </a:tr>
              <a:tr h="551383">
                <a:tc>
                  <a:txBody>
                    <a:bodyPr wrap="square"/>
                    <a:lstStyle/>
                    <a:p>
                      <a:r>
                        <a:rPr sz="1350" b="1">
                          <a:solidFill>
                            <a:srgbClr val="8A1626"/>
                          </a:solidFill>
                          <a:latin typeface="Source Sans 3"/>
                        </a:rPr>
                        <a:t>Plugins against real stores</a:t>
                      </a:r>
                    </a:p>
                  </a:txBody>
                  <a:tcPr marL="82296" marR="64008" marT="32004" marB="32004" anchor="ctr">
                    <a:solidFill>
                      <a:srgbClr val="FFFFFF"/>
                    </a:solidFill>
                  </a:tcPr>
                </a:tc>
                <a:tc>
                  <a:txBody>
                    <a:bodyPr wrap="square"/>
                    <a:lstStyle/>
                    <a:p>
                      <a:r>
                        <a:rPr sz="1350" b="0">
                          <a:solidFill>
                            <a:srgbClr val="1A1A1A"/>
                          </a:solidFill>
                          <a:latin typeface="Source Sans 3"/>
                        </a:rPr>
                        <a:t>Docker</a:t>
                      </a:r>
                    </a:p>
                  </a:txBody>
                  <a:tcPr marL="82296" marR="64008" marT="32004" marB="32004" anchor="ctr">
                    <a:solidFill>
                      <a:srgbClr val="FFFFFF"/>
                    </a:solidFill>
                  </a:tcPr>
                </a:tc>
                <a:tc>
                  <a:txBody>
                    <a:bodyPr wrap="square"/>
                    <a:lstStyle/>
                    <a:p>
                      <a:r>
                        <a:rPr sz="1350" b="0">
                          <a:solidFill>
                            <a:srgbClr val="1A1A1A"/>
                          </a:solidFill>
                          <a:latin typeface="Source Sans 3"/>
                        </a:rPr>
                        <a:t>Testcontainers: Kafka 50, Postgres-CDC 60, JDBC 13, MySQL-CDC 9, Aerospike 40, Cassandra 39 — all green</a:t>
                      </a:r>
                    </a:p>
                  </a:txBody>
                  <a:tcPr marL="82296" marR="64008" marT="32004" marB="32004" anchor="ctr">
                    <a:solidFill>
                      <a:srgbClr val="FFFFFF"/>
                    </a:solidFill>
                  </a:tcPr>
                </a:tc>
              </a:tr>
              <a:tr h="551383">
                <a:tc>
                  <a:txBody>
                    <a:bodyPr wrap="square"/>
                    <a:lstStyle/>
                    <a:p>
                      <a:r>
                        <a:rPr sz="1350" b="1">
                          <a:solidFill>
                            <a:srgbClr val="8A1626"/>
                          </a:solidFill>
                          <a:latin typeface="Source Sans 3"/>
                        </a:rPr>
                        <a:t>Python SDK · console</a:t>
                      </a:r>
                    </a:p>
                  </a:txBody>
                  <a:tcPr marL="82296" marR="64008" marT="32004" marB="32004" anchor="ctr">
                    <a:solidFill>
                      <a:srgbClr val="F7F5F2"/>
                    </a:solidFill>
                  </a:tcPr>
                </a:tc>
                <a:tc>
                  <a:txBody>
                    <a:bodyPr wrap="square"/>
                    <a:lstStyle/>
                    <a:p>
                      <a:r>
                        <a:rPr sz="1350" b="0">
                          <a:solidFill>
                            <a:srgbClr val="1A1A1A"/>
                          </a:solidFill>
                          <a:latin typeface="Source Sans 3"/>
                        </a:rPr>
                        <a:t>Python · Chrome</a:t>
                      </a:r>
                    </a:p>
                  </a:txBody>
                  <a:tcPr marL="82296" marR="64008" marT="32004" marB="32004" anchor="ctr">
                    <a:solidFill>
                      <a:srgbClr val="F7F5F2"/>
                    </a:solidFill>
                  </a:tcPr>
                </a:tc>
                <a:tc>
                  <a:txBody>
                    <a:bodyPr wrap="square"/>
                    <a:lstStyle/>
                    <a:p>
                      <a:r>
                        <a:rPr sz="1350" b="0">
                          <a:solidFill>
                            <a:srgbClr val="1A1A1A"/>
                          </a:solidFill>
                          <a:latin typeface="Source Sans 3"/>
                        </a:rPr>
                        <a:t>426 passed · 1,937 passed with the browser suites, zero axe violations in every theme</a:t>
                      </a:r>
                    </a:p>
                  </a:txBody>
                  <a:tcPr marL="82296" marR="64008" marT="32004" marB="32004" anchor="ctr">
                    <a:solidFill>
                      <a:srgbClr val="F7F5F2"/>
                    </a:solidFill>
                  </a:tcPr>
                </a:tc>
              </a:tr>
              <a:tr h="330555">
                <a:tc>
                  <a:txBody>
                    <a:bodyPr wrap="square"/>
                    <a:lstStyle/>
                    <a:p>
                      <a:r>
                        <a:rPr sz="1350" b="1">
                          <a:solidFill>
                            <a:srgbClr val="8A1626"/>
                          </a:solidFill>
                          <a:latin typeface="Source Sans 3"/>
                        </a:rPr>
                        <a:t>SDKs on their own</a:t>
                      </a:r>
                    </a:p>
                  </a:txBody>
                  <a:tcPr marL="82296" marR="64008" marT="32004" marB="32004" anchor="ctr">
                    <a:solidFill>
                      <a:srgbClr val="FFFFFF"/>
                    </a:solidFill>
                  </a:tcPr>
                </a:tc>
                <a:tc>
                  <a:txBody>
                    <a:bodyPr wrap="square"/>
                    <a:lstStyle/>
                    <a:p>
                      <a:r>
                        <a:rPr sz="1350" b="0">
                          <a:solidFill>
                            <a:srgbClr val="1A1A1A"/>
                          </a:solidFill>
                          <a:latin typeface="Source Sans 3"/>
                        </a:rPr>
                        <a:t>Docker, Maven</a:t>
                      </a:r>
                    </a:p>
                  </a:txBody>
                  <a:tcPr marL="82296" marR="64008" marT="32004" marB="32004" anchor="ctr">
                    <a:solidFill>
                      <a:srgbClr val="FFFFFF"/>
                    </a:solidFill>
                  </a:tcPr>
                </a:tc>
                <a:tc>
                  <a:txBody>
                    <a:bodyPr wrap="square"/>
                    <a:lstStyle/>
                    <a:p>
                      <a:r>
                        <a:rPr sz="1350" b="0">
                          <a:solidFill>
                            <a:srgbClr val="1A1A1A"/>
                          </a:solidFill>
                          <a:latin typeface="Source Sans 3"/>
                        </a:rPr>
                        <a:t>Four clients outside the repository, green</a:t>
                      </a:r>
                    </a:p>
                  </a:txBody>
                  <a:tcPr marL="82296" marR="64008" marT="32004" marB="32004" anchor="ctr">
                    <a:solidFill>
                      <a:srgbClr val="FFFFFF"/>
                    </a:solidFill>
                  </a:tcPr>
                </a:tc>
              </a:tr>
              <a:tr h="330555">
                <a:tc>
                  <a:txBody>
                    <a:bodyPr wrap="square"/>
                    <a:lstStyle/>
                    <a:p>
                      <a:r>
                        <a:rPr sz="1350" b="1">
                          <a:solidFill>
                            <a:srgbClr val="8A1626"/>
                          </a:solidFill>
                          <a:latin typeface="Source Sans 3"/>
                        </a:rPr>
                        <a:t>Performance gates</a:t>
                      </a:r>
                    </a:p>
                  </a:txBody>
                  <a:tcPr marL="82296" marR="64008" marT="32004" marB="32004" anchor="ctr">
                    <a:solidFill>
                      <a:srgbClr val="F7F5F2"/>
                    </a:solidFill>
                  </a:tcPr>
                </a:tc>
                <a:tc>
                  <a:txBody>
                    <a:bodyPr wrap="square"/>
                    <a:lstStyle/>
                    <a:p>
                      <a:r>
                        <a:rPr sz="1350" b="0">
                          <a:solidFill>
                            <a:srgbClr val="1A1A1A"/>
                          </a:solidFill>
                          <a:latin typeface="Source Sans 3"/>
                        </a:rPr>
                        <a:t>A quiet machine</a:t>
                      </a:r>
                    </a:p>
                  </a:txBody>
                  <a:tcPr marL="82296" marR="64008" marT="32004" marB="32004" anchor="ctr">
                    <a:solidFill>
                      <a:srgbClr val="F7F5F2"/>
                    </a:solidFill>
                  </a:tcPr>
                </a:tc>
                <a:tc>
                  <a:txBody>
                    <a:bodyPr wrap="square"/>
                    <a:lstStyle/>
                    <a:p>
                      <a:r>
                        <a:rPr sz="1350" b="0">
                          <a:solidFill>
                            <a:srgbClr val="1A1A1A"/>
                          </a:solidFill>
                          <a:latin typeface="Source Sans 3"/>
                        </a:rPr>
                        <a:t>Refuse to report under a coverage agent (PERF-1)</a:t>
                      </a:r>
                    </a:p>
                  </a:txBody>
                  <a:tcPr marL="82296" marR="64008" marT="32004" marB="32004" anchor="ctr">
                    <a:solidFill>
                      <a:srgbClr val="F7F5F2"/>
                    </a:solidFill>
                  </a:tcPr>
                </a:tc>
              </a:tr>
            </a:tbl>
          </a:graphicData>
        </a:graphic>
      </p:graphicFrame>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THE FINDINGS REGISTER · DOCS/PROJECT/QA/FINDINGS.MD</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482 findings, none open — and each found one step outside the last test</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87</a:t>
            </a:r>
          </a:p>
        </p:txBody>
      </p:sp>
      <p:sp>
        <p:nvSpPr>
          <p:cNvPr id="10" name="Rectangle 9"/>
          <p:cNvSpPr/>
          <p:nvPr/>
        </p:nvSpPr>
        <p:spPr>
          <a:xfrm>
            <a:off x="777240" y="5835700"/>
            <a:ext cx="41148" cy="40965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35700"/>
            <a:ext cx="10362895" cy="427939"/>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464 fixed, 9 closed by design, 9 superseded, 0 open; a finding is fixed only when the case that found it has been re-run. The commonest defect: built, correct, connected to nothing.</a:t>
            </a:r>
          </a:p>
        </p:txBody>
      </p:sp>
      <p:graphicFrame>
        <p:nvGraphicFramePr>
          <p:cNvPr id="12" name="Table 11"/>
          <p:cNvGraphicFramePr>
            <a:graphicFrameLocks noGrp="1"/>
          </p:cNvGraphicFramePr>
          <p:nvPr/>
        </p:nvGraphicFramePr>
        <p:xfrm>
          <a:off x="777240" y="1623568"/>
          <a:ext cx="10637214" cy="3079291"/>
        </p:xfrm>
        <a:graphic>
          <a:graphicData uri="http://schemas.openxmlformats.org/drawingml/2006/table">
            <a:tbl>
              <a:tblPr firstRow="1">
                <a:tableStyleId>{5C22544A-7EE6-4342-B048-85BDC9FD1C3A}</a:tableStyleId>
              </a:tblPr>
              <a:tblGrid>
                <a:gridCol w="2160684"/>
                <a:gridCol w="3656542"/>
                <a:gridCol w="4819988"/>
              </a:tblGrid>
              <a:tr h="322376">
                <a:tc>
                  <a:txBody>
                    <a:bodyPr wrap="square"/>
                    <a:lstStyle/>
                    <a:p>
                      <a:r>
                        <a:rPr sz="1300" b="1">
                          <a:solidFill>
                            <a:srgbClr val="FFFFFF"/>
                          </a:solidFill>
                          <a:latin typeface="Source Sans 3"/>
                        </a:rPr>
                        <a:t>Finding</a:t>
                      </a:r>
                    </a:p>
                  </a:txBody>
                  <a:tcPr marL="82296" marR="64008" marT="32004" marB="32004" anchor="ctr">
                    <a:solidFill>
                      <a:srgbClr val="8A1626"/>
                    </a:solidFill>
                  </a:tcPr>
                </a:tc>
                <a:tc>
                  <a:txBody>
                    <a:bodyPr wrap="square"/>
                    <a:lstStyle/>
                    <a:p>
                      <a:r>
                        <a:rPr sz="1300" b="1">
                          <a:solidFill>
                            <a:srgbClr val="FFFFFF"/>
                          </a:solidFill>
                          <a:latin typeface="Source Sans 3"/>
                        </a:rPr>
                        <a:t>Found by</a:t>
                      </a:r>
                    </a:p>
                  </a:txBody>
                  <a:tcPr marL="82296" marR="64008" marT="32004" marB="32004" anchor="ctr">
                    <a:solidFill>
                      <a:srgbClr val="8A1626"/>
                    </a:solidFill>
                  </a:tcPr>
                </a:tc>
                <a:tc>
                  <a:txBody>
                    <a:bodyPr wrap="square"/>
                    <a:lstStyle/>
                    <a:p>
                      <a:r>
                        <a:rPr sz="1300" b="1">
                          <a:solidFill>
                            <a:srgbClr val="FFFFFF"/>
                          </a:solidFill>
                          <a:latin typeface="Source Sans 3"/>
                        </a:rPr>
                        <a:t>What it was</a:t>
                      </a:r>
                    </a:p>
                  </a:txBody>
                  <a:tcPr marL="82296" marR="64008" marT="32004" marB="32004" anchor="ctr">
                    <a:solidFill>
                      <a:srgbClr val="8A1626"/>
                    </a:solidFill>
                  </a:tcPr>
                </a:tc>
              </a:tr>
              <a:tr h="551383">
                <a:tc>
                  <a:txBody>
                    <a:bodyPr wrap="square"/>
                    <a:lstStyle/>
                    <a:p>
                      <a:r>
                        <a:rPr sz="1350" b="1">
                          <a:solidFill>
                            <a:srgbClr val="8A1626"/>
                          </a:solidFill>
                          <a:latin typeface="Source Sans 3"/>
                        </a:rPr>
                        <a:t>SINKKEYROWS-2</a:t>
                      </a:r>
                    </a:p>
                  </a:txBody>
                  <a:tcPr marL="82296" marR="64008" marT="32004" marB="32004" anchor="ctr">
                    <a:solidFill>
                      <a:srgbClr val="FFFFFF"/>
                    </a:solidFill>
                  </a:tcPr>
                </a:tc>
                <a:tc>
                  <a:txBody>
                    <a:bodyPr wrap="square"/>
                    <a:lstStyle/>
                    <a:p>
                      <a:r>
                        <a:rPr sz="1350" b="0">
                          <a:solidFill>
                            <a:srgbClr val="1A1A1A"/>
                          </a:solidFill>
                          <a:latin typeface="Source Sans 3"/>
                        </a:rPr>
                        <a:t>A broker test that had not run since a fix</a:t>
                      </a:r>
                    </a:p>
                  </a:txBody>
                  <a:tcPr marL="82296" marR="64008" marT="32004" marB="32004" anchor="ctr">
                    <a:solidFill>
                      <a:srgbClr val="FFFFFF"/>
                    </a:solidFill>
                  </a:tcPr>
                </a:tc>
                <a:tc>
                  <a:txBody>
                    <a:bodyPr wrap="square"/>
                    <a:lstStyle/>
                    <a:p>
                      <a:r>
                        <a:rPr sz="1350" b="0">
                          <a:solidFill>
                            <a:srgbClr val="1A1A1A"/>
                          </a:solidFill>
                          <a:latin typeface="Source Sans 3"/>
                        </a:rPr>
                        <a:t>A keyed Kafka sink saw a replaced key as a tombstone, then the value</a:t>
                      </a:r>
                    </a:p>
                  </a:txBody>
                  <a:tcPr marL="82296" marR="64008" marT="32004" marB="32004" anchor="ctr">
                    <a:solidFill>
                      <a:srgbClr val="FFFFFF"/>
                    </a:solidFill>
                  </a:tcPr>
                </a:tc>
              </a:tr>
              <a:tr h="551383">
                <a:tc>
                  <a:txBody>
                    <a:bodyPr wrap="square"/>
                    <a:lstStyle/>
                    <a:p>
                      <a:r>
                        <a:rPr sz="1350" b="1">
                          <a:solidFill>
                            <a:srgbClr val="8A1626"/>
                          </a:solidFill>
                          <a:latin typeface="Source Sans 3"/>
                        </a:rPr>
                        <a:t>PGWIRETX-1</a:t>
                      </a:r>
                    </a:p>
                  </a:txBody>
                  <a:tcPr marL="82296" marR="64008" marT="32004" marB="32004" anchor="ctr">
                    <a:solidFill>
                      <a:srgbClr val="F7F5F2"/>
                    </a:solidFill>
                  </a:tcPr>
                </a:tc>
                <a:tc>
                  <a:txBody>
                    <a:bodyPr wrap="square"/>
                    <a:lstStyle/>
                    <a:p>
                      <a:r>
                        <a:rPr sz="1350" b="0">
                          <a:solidFill>
                            <a:srgbClr val="1A1A1A"/>
                          </a:solidFill>
                          <a:latin typeface="Source Sans 3"/>
                        </a:rPr>
                        <a:t>psycopg against a running stack</a:t>
                      </a:r>
                    </a:p>
                  </a:txBody>
                  <a:tcPr marL="82296" marR="64008" marT="32004" marB="32004" anchor="ctr">
                    <a:solidFill>
                      <a:srgbClr val="F7F5F2"/>
                    </a:solidFill>
                  </a:tcPr>
                </a:tc>
                <a:tc>
                  <a:txBody>
                    <a:bodyPr wrap="square"/>
                    <a:lstStyle/>
                    <a:p>
                      <a:r>
                        <a:rPr sz="1350" b="0">
                          <a:solidFill>
                            <a:srgbClr val="1A1A1A"/>
                          </a:solidFill>
                          <a:latin typeface="Source Sans 3"/>
                        </a:rPr>
                        <a:t>BEGIN refused, so default-mode clients and ORMs failed on their first read</a:t>
                      </a:r>
                    </a:p>
                  </a:txBody>
                  <a:tcPr marL="82296" marR="64008" marT="32004" marB="32004" anchor="ctr">
                    <a:solidFill>
                      <a:srgbClr val="F7F5F2"/>
                    </a:solidFill>
                  </a:tcPr>
                </a:tc>
              </a:tr>
              <a:tr h="551383">
                <a:tc>
                  <a:txBody>
                    <a:bodyPr wrap="square"/>
                    <a:lstStyle/>
                    <a:p>
                      <a:r>
                        <a:rPr sz="1350" b="1">
                          <a:solidFill>
                            <a:srgbClr val="8A1626"/>
                          </a:solidFill>
                          <a:latin typeface="Source Sans 3"/>
                        </a:rPr>
                        <a:t>SDKNETTYMIX-1</a:t>
                      </a:r>
                    </a:p>
                  </a:txBody>
                  <a:tcPr marL="82296" marR="64008" marT="32004" marB="32004" anchor="ctr">
                    <a:solidFill>
                      <a:srgbClr val="FFFFFF"/>
                    </a:solidFill>
                  </a:tcPr>
                </a:tc>
                <a:tc>
                  <a:txBody>
                    <a:bodyPr wrap="square"/>
                    <a:lstStyle/>
                    <a:p>
                      <a:r>
                        <a:rPr sz="1350" b="0">
                          <a:solidFill>
                            <a:srgbClr val="1A1A1A"/>
                          </a:solidFill>
                          <a:latin typeface="Source Sans 3"/>
                        </a:rPr>
                        <a:t>A Maven client outside the build</a:t>
                      </a:r>
                    </a:p>
                  </a:txBody>
                  <a:tcPr marL="82296" marR="64008" marT="32004" marB="32004" anchor="ctr">
                    <a:solidFill>
                      <a:srgbClr val="FFFFFF"/>
                    </a:solidFill>
                  </a:tcPr>
                </a:tc>
                <a:tc>
                  <a:txBody>
                    <a:bodyPr wrap="square"/>
                    <a:lstStyle/>
                    <a:p>
                      <a:r>
                        <a:rPr sz="1350" b="0">
                          <a:solidFill>
                            <a:srgbClr val="1A1A1A"/>
                          </a:solidFill>
                          <a:latin typeface="Source Sans 3"/>
                        </a:rPr>
                        <a:t>Two Netty lines resolved; the SDK failed on its first call</a:t>
                      </a:r>
                    </a:p>
                  </a:txBody>
                  <a:tcPr marL="82296" marR="64008" marT="32004" marB="32004" anchor="ctr">
                    <a:solidFill>
                      <a:srgbClr val="FFFFFF"/>
                    </a:solidFill>
                  </a:tcPr>
                </a:tc>
              </a:tr>
              <a:tr h="551383">
                <a:tc>
                  <a:txBody>
                    <a:bodyPr wrap="square"/>
                    <a:lstStyle/>
                    <a:p>
                      <a:r>
                        <a:rPr sz="1350" b="1">
                          <a:solidFill>
                            <a:srgbClr val="8A1626"/>
                          </a:solidFill>
                          <a:latin typeface="Source Sans 3"/>
                        </a:rPr>
                        <a:t>VIEWW-1</a:t>
                      </a:r>
                    </a:p>
                  </a:txBody>
                  <a:tcPr marL="82296" marR="64008" marT="32004" marB="32004" anchor="ctr">
                    <a:solidFill>
                      <a:srgbClr val="F7F5F2"/>
                    </a:solidFill>
                  </a:tcPr>
                </a:tc>
                <a:tc>
                  <a:txBody>
                    <a:bodyPr wrap="square"/>
                    <a:lstStyle/>
                    <a:p>
                      <a:r>
                        <a:rPr sz="1350" b="0">
                          <a:solidFill>
                            <a:srgbClr val="1A1A1A"/>
                          </a:solidFill>
                          <a:latin typeface="Source Sans 3"/>
                        </a:rPr>
                        <a:t>The property test the research paper asked for</a:t>
                      </a:r>
                    </a:p>
                  </a:txBody>
                  <a:tcPr marL="82296" marR="64008" marT="32004" marB="32004" anchor="ctr">
                    <a:solidFill>
                      <a:srgbClr val="F7F5F2"/>
                    </a:solidFill>
                  </a:tcPr>
                </a:tc>
                <a:tc>
                  <a:txBody>
                    <a:bodyPr wrap="square"/>
                    <a:lstStyle/>
                    <a:p>
                      <a:r>
                        <a:rPr sz="1350" b="0">
                          <a:solidFill>
                            <a:srgbClr val="1A1A1A"/>
                          </a:solidFill>
                          <a:latin typeface="Source Sans 3"/>
                        </a:rPr>
                        <a:t>A key could show the row just retracted; fails 5 of 5 on the old code</a:t>
                      </a:r>
                    </a:p>
                  </a:txBody>
                  <a:tcPr marL="82296" marR="64008" marT="32004" marB="32004" anchor="ctr">
                    <a:solidFill>
                      <a:srgbClr val="F7F5F2"/>
                    </a:solidFill>
                  </a:tcPr>
                </a:tc>
              </a:tr>
              <a:tr h="551383">
                <a:tc>
                  <a:txBody>
                    <a:bodyPr wrap="square"/>
                    <a:lstStyle/>
                    <a:p>
                      <a:r>
                        <a:rPr sz="1350" b="1">
                          <a:solidFill>
                            <a:srgbClr val="8A1626"/>
                          </a:solidFill>
                          <a:latin typeface="Source Sans 3"/>
                        </a:rPr>
                        <a:t>TESTNAME-1</a:t>
                      </a:r>
                    </a:p>
                  </a:txBody>
                  <a:tcPr marL="82296" marR="64008" marT="32004" marB="32004" anchor="ctr">
                    <a:solidFill>
                      <a:srgbClr val="FFFFFF"/>
                    </a:solidFill>
                  </a:tcPr>
                </a:tc>
                <a:tc>
                  <a:txBody>
                    <a:bodyPr wrap="square"/>
                    <a:lstStyle/>
                    <a:p>
                      <a:r>
                        <a:rPr sz="1350" b="0">
                          <a:solidFill>
                            <a:srgbClr val="1A1A1A"/>
                          </a:solidFill>
                          <a:latin typeface="Source Sans 3"/>
                        </a:rPr>
                        <a:t>Closing the paper's own gaps</a:t>
                      </a:r>
                    </a:p>
                  </a:txBody>
                  <a:tcPr marL="82296" marR="64008" marT="32004" marB="32004" anchor="ctr">
                    <a:solidFill>
                      <a:srgbClr val="FFFFFF"/>
                    </a:solidFill>
                  </a:tcPr>
                </a:tc>
                <a:tc>
                  <a:txBody>
                    <a:bodyPr wrap="square"/>
                    <a:lstStyle/>
                    <a:p>
                      <a:r>
                        <a:rPr sz="1350" b="0">
                          <a:solidFill>
                            <a:srgbClr val="1A1A1A"/>
                          </a:solidFill>
                          <a:latin typeface="Source Sans 3"/>
                        </a:rPr>
                        <a:t>A property test whose name no test runner matched had never run</a:t>
                      </a:r>
                    </a:p>
                  </a:txBody>
                  <a:tcPr marL="82296" marR="64008" marT="32004" marB="32004" anchor="ctr">
                    <a:solidFill>
                      <a:srgbClr val="FFFFFF"/>
                    </a:solidFill>
                  </a:tcPr>
                </a:tc>
              </a:tr>
            </a:tbl>
          </a:graphicData>
        </a:graphic>
      </p:graphicFrame>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RELEASE 1.0.0 · DOCS/OPERATIONS/COMPATIBILITY.MD</a:t>
            </a:r>
          </a:p>
        </p:txBody>
      </p:sp>
      <p:sp>
        <p:nvSpPr>
          <p:cNvPr id="5" name="TextBox 4"/>
          <p:cNvSpPr txBox="1"/>
          <p:nvPr/>
        </p:nvSpPr>
        <p:spPr>
          <a:xfrm>
            <a:off x="777240" y="749808"/>
            <a:ext cx="10637215" cy="478231"/>
          </a:xfrm>
          <a:prstGeom prst="rect">
            <a:avLst/>
          </a:prstGeom>
          <a:noFill/>
        </p:spPr>
        <p:txBody>
          <a:bodyPr wrap="square" lIns="0" rIns="0" tIns="0" bIns="0" anchor="t">
            <a:spAutoFit/>
          </a:bodyPr>
          <a:lstStyle/>
          <a:p>
            <a:pPr algn="l">
              <a:lnSpc>
                <a:spcPct val="115000"/>
              </a:lnSpc>
              <a:spcBef>
                <a:spcPts val="0"/>
              </a:spcBef>
              <a:spcAft>
                <a:spcPts val="0"/>
              </a:spcAft>
            </a:pPr>
            <a:r>
              <a:rPr sz="2700" b="1" i="0">
                <a:solidFill>
                  <a:srgbClr val="1A1A1A"/>
                </a:solidFill>
                <a:latin typeface="Source Sans 3"/>
              </a:rPr>
              <a:t>What 1.x keeps stable, and what may still move</a:t>
            </a:r>
          </a:p>
        </p:txBody>
      </p:sp>
      <p:sp>
        <p:nvSpPr>
          <p:cNvPr id="6" name="Rectangle 5"/>
          <p:cNvSpPr/>
          <p:nvPr/>
        </p:nvSpPr>
        <p:spPr>
          <a:xfrm>
            <a:off x="777240" y="128290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88</a:t>
            </a:r>
          </a:p>
        </p:txBody>
      </p:sp>
      <p:sp>
        <p:nvSpPr>
          <p:cNvPr id="10" name="Rectangle 9"/>
          <p:cNvSpPr/>
          <p:nvPr/>
        </p:nvSpPr>
        <p:spPr>
          <a:xfrm>
            <a:off x="777240" y="141091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41091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48407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Stable in 1.x</a:t>
            </a:r>
          </a:p>
        </p:txBody>
      </p:sp>
      <p:sp>
        <p:nvSpPr>
          <p:cNvPr id="13" name="TextBox 12"/>
          <p:cNvSpPr txBox="1"/>
          <p:nvPr/>
        </p:nvSpPr>
        <p:spPr>
          <a:xfrm>
            <a:off x="777240" y="1922983"/>
            <a:ext cx="5135727" cy="4322368"/>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Source Sans 3"/>
              </a:rPr>
              <a:t>▪  </a:t>
            </a:r>
            <a:r>
              <a:rPr sz="1400" b="1">
                <a:solidFill>
                  <a:srgbClr val="1A1A1A"/>
                </a:solidFill>
                <a:latin typeface="Source Sans 3"/>
              </a:rPr>
              <a:t>Language and APIs</a:t>
            </a:r>
          </a:p>
          <a:p>
            <a:pPr lvl="1">
              <a:lnSpc>
                <a:spcPct val="120000"/>
              </a:lnSpc>
              <a:spcBef>
                <a:spcPts val="0"/>
              </a:spcBef>
              <a:spcAft>
                <a:spcPts val="0"/>
              </a:spcAft>
            </a:pPr>
            <a:r>
              <a:rPr sz="1250" b="0">
                <a:solidFill>
                  <a:srgbClr val="4A5058"/>
                </a:solidFill>
                <a:latin typeface="Source Sans 3"/>
              </a:rPr>
              <a:t>The SQL dialect; the Java and Python SDKs; every /api/v1 path and field (an OpenAPI lock checks it); Flight verbs and columns; what psql, pgjdbc, Npgsql, psycopg send.</a:t>
            </a:r>
          </a:p>
          <a:p>
            <a:pPr>
              <a:lnSpc>
                <a:spcPct val="120000"/>
              </a:lnSpc>
              <a:spcBef>
                <a:spcPts val="500"/>
              </a:spcBef>
              <a:spcAft>
                <a:spcPts val="100"/>
              </a:spcAft>
            </a:pPr>
            <a:r>
              <a:rPr sz="1400" b="1">
                <a:solidFill>
                  <a:srgbClr val="A51C30"/>
                </a:solidFill>
                <a:latin typeface="Source Sans 3"/>
              </a:rPr>
              <a:t>▪  </a:t>
            </a:r>
            <a:r>
              <a:rPr sz="1400" b="1">
                <a:solidFill>
                  <a:srgbClr val="1A1A1A"/>
                </a:solidFill>
                <a:latin typeface="Source Sans 3"/>
              </a:rPr>
              <a:t>Operations</a:t>
            </a:r>
          </a:p>
          <a:p>
            <a:pPr lvl="1">
              <a:lnSpc>
                <a:spcPct val="120000"/>
              </a:lnSpc>
              <a:spcBef>
                <a:spcPts val="0"/>
              </a:spcBef>
              <a:spcAft>
                <a:spcPts val="0"/>
              </a:spcAft>
            </a:pPr>
            <a:r>
              <a:rPr sz="1250" b="0">
                <a:solidFill>
                  <a:srgbClr val="4A5058"/>
                </a:solidFill>
                <a:latin typeface="Source Sans 3"/>
              </a:rPr>
              <a:t>PRV codes and SQLSTATEs, never reused; CLI commands and exit codes; pravaha.* keys; metric names; the /opt/pravaha layout.</a:t>
            </a:r>
          </a:p>
          <a:p>
            <a:pPr>
              <a:lnSpc>
                <a:spcPct val="120000"/>
              </a:lnSpc>
              <a:spcBef>
                <a:spcPts val="500"/>
              </a:spcBef>
              <a:spcAft>
                <a:spcPts val="100"/>
              </a:spcAft>
            </a:pPr>
            <a:r>
              <a:rPr sz="1400" b="1">
                <a:solidFill>
                  <a:srgbClr val="A51C30"/>
                </a:solidFill>
                <a:latin typeface="Source Sans 3"/>
              </a:rPr>
              <a:t>▪  </a:t>
            </a:r>
            <a:r>
              <a:rPr sz="1400" b="1">
                <a:solidFill>
                  <a:srgbClr val="1A1A1A"/>
                </a:solidFill>
                <a:latin typeface="Source Sans 3"/>
              </a:rPr>
              <a:t>State on disk</a:t>
            </a:r>
          </a:p>
          <a:p>
            <a:pPr lvl="1">
              <a:lnSpc>
                <a:spcPct val="120000"/>
              </a:lnSpc>
              <a:spcBef>
                <a:spcPts val="0"/>
              </a:spcBef>
              <a:spcAft>
                <a:spcPts val="0"/>
              </a:spcAft>
            </a:pPr>
            <a:r>
              <a:rPr sz="1250" b="0">
                <a:solidFill>
                  <a:srgbClr val="4A5058"/>
                </a:solidFill>
                <a:latin typeface="Source Sans 3"/>
              </a:rPr>
              <a:t>A 1.x node reads what any earlier 1.x wrote. Going back is not promised.</a:t>
            </a:r>
          </a:p>
        </p:txBody>
      </p:sp>
      <p:sp>
        <p:nvSpPr>
          <p:cNvPr id="14" name="Rectangle 13"/>
          <p:cNvSpPr/>
          <p:nvPr/>
        </p:nvSpPr>
        <p:spPr>
          <a:xfrm>
            <a:off x="6278727" y="1410919"/>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410919"/>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484071"/>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Experimental, or not in 1.0</a:t>
            </a:r>
          </a:p>
        </p:txBody>
      </p:sp>
      <p:sp>
        <p:nvSpPr>
          <p:cNvPr id="17" name="TextBox 16"/>
          <p:cNvSpPr txBox="1"/>
          <p:nvPr/>
        </p:nvSpPr>
        <p:spPr>
          <a:xfrm>
            <a:off x="6278727" y="1922983"/>
            <a:ext cx="5135727" cy="4322368"/>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Source Sans 3"/>
              </a:rPr>
              <a:t>▪  </a:t>
            </a:r>
            <a:r>
              <a:rPr sz="1400" b="1">
                <a:solidFill>
                  <a:srgbClr val="1A1A1A"/>
                </a:solidFill>
                <a:latin typeface="Source Sans 3"/>
              </a:rPr>
              <a:t>The assistant</a:t>
            </a:r>
          </a:p>
          <a:p>
            <a:pPr lvl="1">
              <a:lnSpc>
                <a:spcPct val="120000"/>
              </a:lnSpc>
              <a:spcBef>
                <a:spcPts val="0"/>
              </a:spcBef>
              <a:spcAft>
                <a:spcPts val="0"/>
              </a:spcAft>
            </a:pPr>
            <a:r>
              <a:rPr sz="1250" b="0">
                <a:solidFill>
                  <a:srgbClr val="4A5058"/>
                </a:solidFill>
                <a:latin typeface="Source Sans 3"/>
              </a:rPr>
              <a:t>Works and is tested; may change in a minor release.</a:t>
            </a:r>
          </a:p>
          <a:p>
            <a:pPr>
              <a:lnSpc>
                <a:spcPct val="120000"/>
              </a:lnSpc>
              <a:spcBef>
                <a:spcPts val="500"/>
              </a:spcBef>
              <a:spcAft>
                <a:spcPts val="100"/>
              </a:spcAft>
            </a:pPr>
            <a:r>
              <a:rPr sz="1400" b="1">
                <a:solidFill>
                  <a:srgbClr val="A51C30"/>
                </a:solidFill>
                <a:latin typeface="Source Sans 3"/>
              </a:rPr>
              <a:t>▪  </a:t>
            </a:r>
            <a:r>
              <a:rPr sz="1400" b="1">
                <a:solidFill>
                  <a:srgbClr val="1A1A1A"/>
                </a:solidFill>
                <a:latin typeface="Source Sans 3"/>
              </a:rPr>
              <a:t>The catalogue beyond phases 1–2</a:t>
            </a:r>
          </a:p>
          <a:p>
            <a:pPr lvl="1">
              <a:lnSpc>
                <a:spcPct val="120000"/>
              </a:lnSpc>
              <a:spcBef>
                <a:spcPts val="0"/>
              </a:spcBef>
              <a:spcAft>
                <a:spcPts val="0"/>
              </a:spcAft>
            </a:pPr>
            <a:r>
              <a:rPr sz="1250" b="0">
                <a:solidFill>
                  <a:srgbClr val="4A5058"/>
                </a:solidFill>
                <a:latin typeface="Source Sans 3"/>
              </a:rPr>
              <a:t>Grants, namespaces, filters and masks are stable; lineage and contracts are not built.</a:t>
            </a:r>
          </a:p>
          <a:p>
            <a:pPr>
              <a:lnSpc>
                <a:spcPct val="120000"/>
              </a:lnSpc>
              <a:spcBef>
                <a:spcPts val="500"/>
              </a:spcBef>
              <a:spcAft>
                <a:spcPts val="100"/>
              </a:spcAft>
            </a:pPr>
            <a:r>
              <a:rPr sz="1400" b="1">
                <a:solidFill>
                  <a:srgbClr val="A51C30"/>
                </a:solidFill>
                <a:latin typeface="Source Sans 3"/>
              </a:rPr>
              <a:t>▪  </a:t>
            </a:r>
            <a:r>
              <a:rPr sz="1400" b="1">
                <a:solidFill>
                  <a:srgbClr val="1A1A1A"/>
                </a:solidFill>
                <a:latin typeface="Source Sans 3"/>
              </a:rPr>
              <a:t>Cluster mode (wave 11)</a:t>
            </a:r>
          </a:p>
          <a:p>
            <a:pPr lvl="1">
              <a:lnSpc>
                <a:spcPct val="120000"/>
              </a:lnSpc>
              <a:spcBef>
                <a:spcPts val="0"/>
              </a:spcBef>
              <a:spcAft>
                <a:spcPts val="0"/>
              </a:spcAft>
            </a:pPr>
            <a:r>
              <a:rPr sz="1250" b="0">
                <a:solidFill>
                  <a:srgbClr val="4A5058"/>
                </a:solidFill>
                <a:latin typeface="Source Sans 3"/>
              </a:rPr>
              <a:t>On hold; when it comes, a 1.x addition a single node need not adopt.</a:t>
            </a:r>
          </a:p>
          <a:p>
            <a:pPr>
              <a:lnSpc>
                <a:spcPct val="120000"/>
              </a:lnSpc>
              <a:spcBef>
                <a:spcPts val="500"/>
              </a:spcBef>
              <a:spcAft>
                <a:spcPts val="100"/>
              </a:spcAft>
            </a:pPr>
            <a:r>
              <a:rPr sz="1400" b="1">
                <a:solidFill>
                  <a:srgbClr val="A51C30"/>
                </a:solidFill>
                <a:latin typeface="Source Sans 3"/>
              </a:rPr>
              <a:t>▪  </a:t>
            </a:r>
            <a:r>
              <a:rPr sz="1400" b="1">
                <a:solidFill>
                  <a:srgbClr val="1A1A1A"/>
                </a:solidFill>
                <a:latin typeface="Source Sans 3"/>
              </a:rPr>
              <a:t>Clients and servers</a:t>
            </a:r>
          </a:p>
          <a:p>
            <a:pPr lvl="1">
              <a:lnSpc>
                <a:spcPct val="120000"/>
              </a:lnSpc>
              <a:spcBef>
                <a:spcPts val="0"/>
              </a:spcBef>
              <a:spcAft>
                <a:spcPts val="0"/>
              </a:spcAft>
            </a:pPr>
            <a:r>
              <a:rPr sz="1250" b="0">
                <a:solidFill>
                  <a:srgbClr val="4A5058"/>
                </a:solidFill>
                <a:latin typeface="Source Sans 3"/>
              </a:rPr>
              <a:t>Same major.minor; an older node refuses what it does not know, by name.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NOT BUILT</a:t>
            </a:r>
          </a:p>
        </p:txBody>
      </p:sp>
      <p:sp>
        <p:nvSpPr>
          <p:cNvPr id="5" name="TextBox 4"/>
          <p:cNvSpPr txBox="1"/>
          <p:nvPr/>
        </p:nvSpPr>
        <p:spPr>
          <a:xfrm>
            <a:off x="777240" y="749808"/>
            <a:ext cx="10637215" cy="380085"/>
          </a:xfrm>
          <a:prstGeom prst="rect">
            <a:avLst/>
          </a:prstGeom>
          <a:noFill/>
        </p:spPr>
        <p:txBody>
          <a:bodyPr wrap="square" lIns="0" rIns="0" tIns="0" bIns="0" anchor="t">
            <a:spAutoFit/>
          </a:bodyPr>
          <a:lstStyle/>
          <a:p>
            <a:pPr algn="l">
              <a:lnSpc>
                <a:spcPct val="115000"/>
              </a:lnSpc>
              <a:spcBef>
                <a:spcPts val="0"/>
              </a:spcBef>
              <a:spcAft>
                <a:spcPts val="0"/>
              </a:spcAft>
            </a:pPr>
            <a:r>
              <a:rPr sz="2100" b="1" i="0">
                <a:solidFill>
                  <a:srgbClr val="1A1A1A"/>
                </a:solidFill>
                <a:latin typeface="Source Sans 3"/>
              </a:rPr>
              <a:t>One node, feature-complete; these are deferred, or not yet done</a:t>
            </a:r>
          </a:p>
        </p:txBody>
      </p:sp>
      <p:sp>
        <p:nvSpPr>
          <p:cNvPr id="6" name="Rectangle 5"/>
          <p:cNvSpPr/>
          <p:nvPr/>
        </p:nvSpPr>
        <p:spPr>
          <a:xfrm>
            <a:off x="777240" y="1184757"/>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89</a:t>
            </a:r>
          </a:p>
        </p:txBody>
      </p:sp>
      <p:sp>
        <p:nvSpPr>
          <p:cNvPr id="10" name="Rectangle 9"/>
          <p:cNvSpPr/>
          <p:nvPr/>
        </p:nvSpPr>
        <p:spPr>
          <a:xfrm>
            <a:off x="777240" y="1312773"/>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1312773"/>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1832" y="1385925"/>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Deferred or dropped by decision</a:t>
            </a:r>
          </a:p>
        </p:txBody>
      </p:sp>
      <p:sp>
        <p:nvSpPr>
          <p:cNvPr id="13" name="TextBox 12"/>
          <p:cNvSpPr txBox="1"/>
          <p:nvPr/>
        </p:nvSpPr>
        <p:spPr>
          <a:xfrm>
            <a:off x="777240" y="1824837"/>
            <a:ext cx="5135727" cy="4420514"/>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Source Sans 3"/>
              </a:rPr>
              <a:t>▪  </a:t>
            </a:r>
            <a:r>
              <a:rPr sz="1500" b="1">
                <a:solidFill>
                  <a:srgbClr val="1A1A1A"/>
                </a:solidFill>
                <a:latin typeface="Source Sans 3"/>
              </a:rPr>
              <a:t>Multi-node execution — wave 11, on hold</a:t>
            </a:r>
          </a:p>
          <a:p>
            <a:pPr lvl="1">
              <a:lnSpc>
                <a:spcPct val="120000"/>
              </a:lnSpc>
              <a:spcBef>
                <a:spcPts val="0"/>
              </a:spcBef>
              <a:spcAft>
                <a:spcPts val="0"/>
              </a:spcAft>
            </a:pPr>
            <a:r>
              <a:rPr sz="1350" b="0">
                <a:solidFill>
                  <a:srgbClr val="4A5058"/>
                </a:solidFill>
                <a:latin typeface="Source Sans 3"/>
              </a:rPr>
              <a:t>Membership, fenced leases and rebalance are built as libraries and no node consumes them; a node refuses PARTITIONED mode (PRV-9002).</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MFA and single sign-on</a:t>
            </a:r>
          </a:p>
          <a:p>
            <a:pPr lvl="1">
              <a:lnSpc>
                <a:spcPct val="120000"/>
              </a:lnSpc>
              <a:spcBef>
                <a:spcPts val="0"/>
              </a:spcBef>
              <a:spcAft>
                <a:spcPts val="0"/>
              </a:spcAft>
            </a:pPr>
            <a:r>
              <a:rPr sz="1350" b="0">
                <a:solidFill>
                  <a:srgbClr val="4A5058"/>
                </a:solidFill>
                <a:latin typeface="Source Sans 3"/>
              </a:rPr>
              <a:t>Dropped by the owner: users, passwords, API keys and sessions are what Pravaha keeps.</a:t>
            </a:r>
          </a:p>
          <a:p>
            <a:pPr>
              <a:lnSpc>
                <a:spcPct val="120000"/>
              </a:lnSpc>
              <a:spcBef>
                <a:spcPts val="500"/>
              </a:spcBef>
              <a:spcAft>
                <a:spcPts val="100"/>
              </a:spcAft>
            </a:pPr>
            <a:r>
              <a:rPr sz="1500" b="1">
                <a:solidFill>
                  <a:srgbClr val="A51C30"/>
                </a:solidFill>
                <a:latin typeface="Source Sans 3"/>
              </a:rPr>
              <a:t>▪  </a:t>
            </a:r>
            <a:r>
              <a:rPr sz="1500" b="1">
                <a:solidFill>
                  <a:srgbClr val="1A1A1A"/>
                </a:solidFill>
                <a:latin typeface="Source Sans 3"/>
              </a:rPr>
              <a:t>Not yet proven</a:t>
            </a:r>
          </a:p>
          <a:p>
            <a:pPr lvl="1">
              <a:lnSpc>
                <a:spcPct val="120000"/>
              </a:lnSpc>
              <a:spcBef>
                <a:spcPts val="0"/>
              </a:spcBef>
              <a:spcAft>
                <a:spcPts val="0"/>
              </a:spcAft>
            </a:pPr>
            <a:r>
              <a:rPr sz="1350" b="0">
                <a:solidFill>
                  <a:srgbClr val="4A5058"/>
                </a:solidFill>
                <a:latin typeface="Source Sans 3"/>
              </a:rPr>
              <a:t>The eight-lane scaling target; the manual WCAG 2.2 AA audit.</a:t>
            </a:r>
          </a:p>
        </p:txBody>
      </p:sp>
      <p:sp>
        <p:nvSpPr>
          <p:cNvPr id="14" name="Rectangle 13"/>
          <p:cNvSpPr/>
          <p:nvPr/>
        </p:nvSpPr>
        <p:spPr>
          <a:xfrm>
            <a:off x="6278727" y="1312773"/>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8727" y="1312773"/>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3319" y="1385925"/>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8A1626"/>
                </a:solidFill>
                <a:latin typeface="Source Sans 3"/>
              </a:rPr>
              <a:t>First versions: not yet</a:t>
            </a:r>
          </a:p>
        </p:txBody>
      </p:sp>
      <p:graphicFrame>
        <p:nvGraphicFramePr>
          <p:cNvPr id="17" name="Table 16"/>
          <p:cNvGraphicFramePr>
            <a:graphicFrameLocks noGrp="1"/>
          </p:cNvGraphicFramePr>
          <p:nvPr/>
        </p:nvGraphicFramePr>
        <p:xfrm>
          <a:off x="6278727" y="1824837"/>
          <a:ext cx="5135726" cy="3079290"/>
        </p:xfrm>
        <a:graphic>
          <a:graphicData uri="http://schemas.openxmlformats.org/drawingml/2006/table">
            <a:tbl>
              <a:tblPr firstRow="1">
                <a:tableStyleId>{5C22544A-7EE6-4342-B048-85BDC9FD1C3A}</a:tableStyleId>
              </a:tblPr>
              <a:tblGrid>
                <a:gridCol w="1797504"/>
                <a:gridCol w="3338222"/>
              </a:tblGrid>
              <a:tr h="322376">
                <a:tc>
                  <a:txBody>
                    <a:bodyPr wrap="square"/>
                    <a:lstStyle/>
                    <a:p>
                      <a:r>
                        <a:rPr sz="1300" b="1">
                          <a:solidFill>
                            <a:srgbClr val="FFFFFF"/>
                          </a:solidFill>
                          <a:latin typeface="Source Sans 3"/>
                        </a:rPr>
                        <a:t>Piece</a:t>
                      </a:r>
                    </a:p>
                  </a:txBody>
                  <a:tcPr marL="82296" marR="64008" marT="32004" marB="32004" anchor="ctr">
                    <a:solidFill>
                      <a:srgbClr val="8A1626"/>
                    </a:solidFill>
                  </a:tcPr>
                </a:tc>
                <a:tc>
                  <a:txBody>
                    <a:bodyPr wrap="square"/>
                    <a:lstStyle/>
                    <a:p>
                      <a:r>
                        <a:rPr sz="1300" b="1">
                          <a:solidFill>
                            <a:srgbClr val="FFFFFF"/>
                          </a:solidFill>
                          <a:latin typeface="Source Sans 3"/>
                        </a:rPr>
                        <a:t>Not yet</a:t>
                      </a:r>
                    </a:p>
                  </a:txBody>
                  <a:tcPr marL="82296" marR="64008" marT="32004" marB="32004" anchor="ctr">
                    <a:solidFill>
                      <a:srgbClr val="8A1626"/>
                    </a:solidFill>
                  </a:tcPr>
                </a:tc>
              </a:tr>
              <a:tr h="330555">
                <a:tc>
                  <a:txBody>
                    <a:bodyPr wrap="square"/>
                    <a:lstStyle/>
                    <a:p>
                      <a:r>
                        <a:rPr sz="1350" b="1">
                          <a:solidFill>
                            <a:srgbClr val="8A1626"/>
                          </a:solidFill>
                          <a:latin typeface="Source Sans 3"/>
                        </a:rPr>
                        <a:t>mysql-cdc</a:t>
                      </a:r>
                    </a:p>
                  </a:txBody>
                  <a:tcPr marL="82296" marR="64008" marT="32004" marB="32004" anchor="ctr">
                    <a:solidFill>
                      <a:srgbClr val="FFFFFF"/>
                    </a:solidFill>
                  </a:tcPr>
                </a:tc>
                <a:tc>
                  <a:txBody>
                    <a:bodyPr wrap="square"/>
                    <a:lstStyle/>
                    <a:p>
                      <a:r>
                        <a:rPr sz="1350" b="0">
                          <a:solidFill>
                            <a:srgbClr val="1A1A1A"/>
                          </a:solidFill>
                          <a:latin typeface="Source Sans 3"/>
                        </a:rPr>
                        <a:t>An initial snapshot, TLS</a:t>
                      </a:r>
                    </a:p>
                  </a:txBody>
                  <a:tcPr marL="82296" marR="64008" marT="32004" marB="32004" anchor="ctr">
                    <a:solidFill>
                      <a:srgbClr val="FFFFFF"/>
                    </a:solidFill>
                  </a:tcPr>
                </a:tc>
              </a:tr>
              <a:tr h="772210">
                <a:tc>
                  <a:txBody>
                    <a:bodyPr wrap="square"/>
                    <a:lstStyle/>
                    <a:p>
                      <a:r>
                        <a:rPr sz="1350" b="1">
                          <a:solidFill>
                            <a:srgbClr val="8A1626"/>
                          </a:solidFill>
                          <a:latin typeface="Source Sans 3"/>
                        </a:rPr>
                        <a:t>iceberg-sink</a:t>
                      </a:r>
                    </a:p>
                  </a:txBody>
                  <a:tcPr marL="82296" marR="64008" marT="32004" marB="32004" anchor="ctr">
                    <a:solidFill>
                      <a:srgbClr val="F7F5F2"/>
                    </a:solidFill>
                  </a:tcPr>
                </a:tc>
                <a:tc>
                  <a:txBody>
                    <a:bodyPr wrap="square"/>
                    <a:lstStyle/>
                    <a:p>
                      <a:r>
                        <a:rPr sz="1350" b="0">
                          <a:solidFill>
                            <a:srgbClr val="1A1A1A"/>
                          </a:solidFill>
                          <a:latin typeface="Source Sans 3"/>
                        </a:rPr>
                        <a:t>Object stores, catalogs, partitioned tables, schema evolution</a:t>
                      </a:r>
                    </a:p>
                  </a:txBody>
                  <a:tcPr marL="82296" marR="64008" marT="32004" marB="32004" anchor="ctr">
                    <a:solidFill>
                      <a:srgbClr val="F7F5F2"/>
                    </a:solidFill>
                  </a:tcPr>
                </a:tc>
              </a:tr>
              <a:tr h="551383">
                <a:tc>
                  <a:txBody>
                    <a:bodyPr wrap="square"/>
                    <a:lstStyle/>
                    <a:p>
                      <a:r>
                        <a:rPr sz="1350" b="1">
                          <a:solidFill>
                            <a:srgbClr val="8A1626"/>
                          </a:solidFill>
                          <a:latin typeface="Source Sans 3"/>
                        </a:rPr>
                        <a:t>One reader per ordered source</a:t>
                      </a:r>
                    </a:p>
                  </a:txBody>
                  <a:tcPr marL="82296" marR="64008" marT="32004" marB="32004" anchor="ctr">
                    <a:solidFill>
                      <a:srgbClr val="FFFFFF"/>
                    </a:solidFill>
                  </a:tcPr>
                </a:tc>
                <a:tc>
                  <a:txBody>
                    <a:bodyPr wrap="square"/>
                    <a:lstStyle/>
                    <a:p>
                      <a:r>
                        <a:rPr sz="1350" b="0">
                          <a:solidFill>
                            <a:srgbClr val="1A1A1A"/>
                          </a:solidFill>
                          <a:latin typeface="Source Sans 3"/>
                        </a:rPr>
                        <a:t>Delta and JDBC; a CDC binding has one consumer</a:t>
                      </a:r>
                    </a:p>
                  </a:txBody>
                  <a:tcPr marL="82296" marR="64008" marT="32004" marB="32004" anchor="ctr">
                    <a:solidFill>
                      <a:srgbClr val="FFFFFF"/>
                    </a:solidFill>
                  </a:tcPr>
                </a:tc>
              </a:tr>
              <a:tr h="551383">
                <a:tc>
                  <a:txBody>
                    <a:bodyPr wrap="square"/>
                    <a:lstStyle/>
                    <a:p>
                      <a:r>
                        <a:rPr sz="1350" b="1">
                          <a:solidFill>
                            <a:srgbClr val="8A1626"/>
                          </a:solidFill>
                          <a:latin typeface="Source Sans 3"/>
                        </a:rPr>
                        <a:t>Queries on queries</a:t>
                      </a:r>
                    </a:p>
                  </a:txBody>
                  <a:tcPr marL="82296" marR="64008" marT="32004" marB="32004" anchor="ctr">
                    <a:solidFill>
                      <a:srgbClr val="F7F5F2"/>
                    </a:solidFill>
                  </a:tcPr>
                </a:tc>
                <a:tc>
                  <a:txBody>
                    <a:bodyPr wrap="square"/>
                    <a:lstStyle/>
                    <a:p>
                      <a:r>
                        <a:rPr sz="1350" b="0">
                          <a:solidFill>
                            <a:srgbClr val="1A1A1A"/>
                          </a:solidFill>
                          <a:latin typeface="Source Sans 3"/>
                        </a:rPr>
                        <a:t>Windows, joins, MIN/MAX over a view; replacing a chain member</a:t>
                      </a:r>
                    </a:p>
                  </a:txBody>
                  <a:tcPr marL="82296" marR="64008" marT="32004" marB="32004" anchor="ctr">
                    <a:solidFill>
                      <a:srgbClr val="F7F5F2"/>
                    </a:solidFill>
                  </a:tcPr>
                </a:tc>
              </a:tr>
              <a:tr h="551383">
                <a:tc>
                  <a:txBody>
                    <a:bodyPr wrap="square"/>
                    <a:lstStyle/>
                    <a:p>
                      <a:r>
                        <a:rPr sz="1350" b="1">
                          <a:solidFill>
                            <a:srgbClr val="8A1626"/>
                          </a:solidFill>
                          <a:latin typeface="Source Sans 3"/>
                        </a:rPr>
                        <a:t>Alerts</a:t>
                      </a:r>
                    </a:p>
                  </a:txBody>
                  <a:tcPr marL="82296" marR="64008" marT="32004" marB="32004" anchor="ctr">
                    <a:solidFill>
                      <a:srgbClr val="FFFFFF"/>
                    </a:solidFill>
                  </a:tcPr>
                </a:tc>
                <a:tc>
                  <a:txBody>
                    <a:bodyPr wrap="square"/>
                    <a:lstStyle/>
                    <a:p>
                      <a:r>
                        <a:rPr sz="1350" b="0">
                          <a:solidFill>
                            <a:srgbClr val="1A1A1A"/>
                          </a:solidFill>
                          <a:latin typeface="Source Sans 3"/>
                        </a:rPr>
                        <a:t>Email, Teams and PagerDuty channels</a:t>
                      </a:r>
                    </a:p>
                  </a:txBody>
                  <a:tcPr marL="82296" marR="64008" marT="32004" marB="32004" anchor="ctr">
                    <a:solidFill>
                      <a:srgbClr val="FFFFFF"/>
                    </a:solidFill>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BOUNDARIES</a:t>
            </a:r>
          </a:p>
        </p:txBody>
      </p:sp>
      <p:sp>
        <p:nvSpPr>
          <p:cNvPr id="5" name="TextBox 4"/>
          <p:cNvSpPr txBox="1"/>
          <p:nvPr/>
        </p:nvSpPr>
        <p:spPr>
          <a:xfrm>
            <a:off x="777240" y="749808"/>
            <a:ext cx="10637215" cy="690880"/>
          </a:xfrm>
          <a:prstGeom prst="rect">
            <a:avLst/>
          </a:prstGeom>
          <a:noFill/>
        </p:spPr>
        <p:txBody>
          <a:bodyPr wrap="square" lIns="0" rIns="0" tIns="0" bIns="0" anchor="t">
            <a:spAutoFit/>
          </a:bodyPr>
          <a:lstStyle/>
          <a:p>
            <a:pPr algn="l">
              <a:lnSpc>
                <a:spcPct val="115000"/>
              </a:lnSpc>
              <a:spcBef>
                <a:spcPts val="0"/>
              </a:spcBef>
              <a:spcAft>
                <a:spcPts val="0"/>
              </a:spcAft>
            </a:pPr>
            <a:r>
              <a:rPr sz="2000" b="1" i="0">
                <a:solidFill>
                  <a:srgbClr val="1A1A1A"/>
                </a:solidFill>
                <a:latin typeface="Source Sans 3"/>
              </a:rPr>
              <a:t>Limits of a store, a format or a decision — more code would not remove them</a:t>
            </a:r>
          </a:p>
        </p:txBody>
      </p:sp>
      <p:sp>
        <p:nvSpPr>
          <p:cNvPr id="6" name="Rectangle 5"/>
          <p:cNvSpPr/>
          <p:nvPr/>
        </p:nvSpPr>
        <p:spPr>
          <a:xfrm>
            <a:off x="777240" y="1495552"/>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90</a:t>
            </a:r>
          </a:p>
        </p:txBody>
      </p:sp>
      <p:sp>
        <p:nvSpPr>
          <p:cNvPr id="10" name="TextBox 9"/>
          <p:cNvSpPr txBox="1"/>
          <p:nvPr/>
        </p:nvSpPr>
        <p:spPr>
          <a:xfrm>
            <a:off x="777240" y="1623568"/>
            <a:ext cx="10637215" cy="4621784"/>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Source Sans 3"/>
              </a:rPr>
              <a:t>▪  </a:t>
            </a:r>
            <a:r>
              <a:rPr sz="1700" b="1">
                <a:solidFill>
                  <a:srgbClr val="1A1A1A"/>
                </a:solidFill>
                <a:latin typeface="Source Sans 3"/>
              </a:rPr>
              <a:t>MIN and MAX cannot be retracted incrementally</a:t>
            </a:r>
          </a:p>
          <a:p>
            <a:pPr lvl="1">
              <a:lnSpc>
                <a:spcPct val="120000"/>
              </a:lnSpc>
              <a:spcBef>
                <a:spcPts val="0"/>
              </a:spcBef>
              <a:spcAft>
                <a:spcPts val="0"/>
              </a:spcAft>
            </a:pPr>
            <a:r>
              <a:rPr sz="1550" b="0">
                <a:solidFill>
                  <a:srgbClr val="4A5058"/>
                </a:solidFill>
                <a:latin typeface="Source Sans 3"/>
              </a:rPr>
              <a:t>So they are never pre-combined at a source; an Aerospike partial would need UDFs on the customer's cluster.</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End-to-end delivery is capped by the source</a:t>
            </a:r>
          </a:p>
          <a:p>
            <a:pPr lvl="1">
              <a:lnSpc>
                <a:spcPct val="120000"/>
              </a:lnSpc>
              <a:spcBef>
                <a:spcPts val="0"/>
              </a:spcBef>
              <a:spcAft>
                <a:spcPts val="0"/>
              </a:spcAft>
            </a:pPr>
            <a:r>
              <a:rPr sz="1550" b="0">
                <a:solidFill>
                  <a:srgbClr val="4A5058"/>
                </a:solidFill>
                <a:latin typeface="Source Sans 3"/>
              </a:rPr>
              <a:t>Transactional sinks stage each checkpoint; a source that cannot rewind caps them.</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No RocksDB (ADR-044); no lz4 (ADR-053)</a:t>
            </a:r>
          </a:p>
          <a:p>
            <a:pPr lvl="1">
              <a:lnSpc>
                <a:spcPct val="120000"/>
              </a:lnSpc>
              <a:spcBef>
                <a:spcPts val="0"/>
              </a:spcBef>
              <a:spcAft>
                <a:spcPts val="0"/>
              </a:spcAft>
            </a:pPr>
            <a:r>
              <a:rPr sz="1550" b="0">
                <a:solidFill>
                  <a:srgbClr val="4A5058"/>
                </a:solidFill>
                <a:latin typeface="Source Sans 3"/>
              </a:rPr>
              <a:t>The memory-mapped tier is for surviving state larger than memory, not for capacity.</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Formats say what they say</a:t>
            </a:r>
          </a:p>
          <a:p>
            <a:pPr lvl="1">
              <a:lnSpc>
                <a:spcPct val="120000"/>
              </a:lnSpc>
              <a:spcBef>
                <a:spcPts val="0"/>
              </a:spcBef>
              <a:spcAft>
                <a:spcPts val="0"/>
              </a:spcAft>
            </a:pPr>
            <a:r>
              <a:rPr sz="1550" b="0">
                <a:solidFill>
                  <a:srgbClr val="4A5058"/>
                </a:solidFill>
                <a:latin typeface="Source Sans 3"/>
              </a:rPr>
              <a:t>A proto3 scalar without optional has no NULL; an upsert tombstone does not say which row it deletes; a TRUNCATE names no rows to retract.</a:t>
            </a:r>
          </a:p>
          <a:p>
            <a:pPr>
              <a:lnSpc>
                <a:spcPct val="120000"/>
              </a:lnSpc>
              <a:spcBef>
                <a:spcPts val="500"/>
              </a:spcBef>
              <a:spcAft>
                <a:spcPts val="100"/>
              </a:spcAft>
            </a:pPr>
            <a:r>
              <a:rPr sz="1700" b="1">
                <a:solidFill>
                  <a:srgbClr val="A51C30"/>
                </a:solidFill>
                <a:latin typeface="Source Sans 3"/>
              </a:rPr>
              <a:t>▪  </a:t>
            </a:r>
            <a:r>
              <a:rPr sz="1700" b="1">
                <a:solidFill>
                  <a:srgbClr val="1A1A1A"/>
                </a:solidFill>
                <a:latin typeface="Source Sans 3"/>
              </a:rPr>
              <a:t>A transaction over a live answer is READ COMMITTED</a:t>
            </a:r>
          </a:p>
          <a:p>
            <a:pPr lvl="1">
              <a:lnSpc>
                <a:spcPct val="120000"/>
              </a:lnSpc>
              <a:spcBef>
                <a:spcPts val="0"/>
              </a:spcBef>
              <a:spcAft>
                <a:spcPts val="0"/>
              </a:spcAft>
            </a:pPr>
            <a:r>
              <a:rPr sz="1550" b="0">
                <a:solidFill>
                  <a:srgbClr val="4A5058"/>
                </a:solidFill>
                <a:latin typeface="Source Sans 3"/>
              </a:rPr>
              <a:t>Each read sees the last commit; the gateway says so rather than promise repeatable reads.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Source Sans 3"/>
              </a:rPr>
              <a:t>WHERE TO START</a:t>
            </a:r>
          </a:p>
        </p:txBody>
      </p:sp>
      <p:sp>
        <p:nvSpPr>
          <p:cNvPr id="5" name="TextBox 4"/>
          <p:cNvSpPr txBox="1"/>
          <p:nvPr/>
        </p:nvSpPr>
        <p:spPr>
          <a:xfrm>
            <a:off x="777240" y="749808"/>
            <a:ext cx="10637215" cy="429158"/>
          </a:xfrm>
          <a:prstGeom prst="rect">
            <a:avLst/>
          </a:prstGeom>
          <a:noFill/>
        </p:spPr>
        <p:txBody>
          <a:bodyPr wrap="square" lIns="0" rIns="0" tIns="0" bIns="0" anchor="t">
            <a:spAutoFit/>
          </a:bodyPr>
          <a:lstStyle/>
          <a:p>
            <a:pPr algn="l">
              <a:lnSpc>
                <a:spcPct val="115000"/>
              </a:lnSpc>
              <a:spcBef>
                <a:spcPts val="0"/>
              </a:spcBef>
              <a:spcAft>
                <a:spcPts val="0"/>
              </a:spcAft>
            </a:pPr>
            <a:r>
              <a:rPr sz="2400" b="1" i="0">
                <a:solidFill>
                  <a:srgbClr val="1A1A1A"/>
                </a:solidFill>
                <a:latin typeface="Source Sans 3"/>
              </a:rPr>
              <a:t>From a clone to a changing view, then the whole surface</a:t>
            </a:r>
          </a:p>
        </p:txBody>
      </p:sp>
      <p:sp>
        <p:nvSpPr>
          <p:cNvPr id="6" name="Rectangle 5"/>
          <p:cNvSpPr/>
          <p:nvPr/>
        </p:nvSpPr>
        <p:spPr>
          <a:xfrm>
            <a:off x="777240" y="123383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1666E"/>
                </a:solidFill>
                <a:latin typeface="Source Sans 3"/>
              </a:rPr>
              <a:t>Part 12 · Evidence, 1.0, and where to start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1666E"/>
                </a:solidFill>
                <a:latin typeface="Source Sans 3"/>
              </a:rPr>
              <a:t>91</a:t>
            </a:r>
          </a:p>
        </p:txBody>
      </p:sp>
      <p:sp>
        <p:nvSpPr>
          <p:cNvPr id="10" name="Rectangle 9"/>
          <p:cNvSpPr/>
          <p:nvPr/>
        </p:nvSpPr>
        <p:spPr>
          <a:xfrm>
            <a:off x="777240" y="6040526"/>
            <a:ext cx="41148" cy="204825"/>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6040526"/>
            <a:ext cx="10362895" cy="223113"/>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4A5058"/>
                </a:solidFill>
                <a:latin typeface="Source Sans 3"/>
              </a:rPr>
              <a:t>Ask once. Answer always.</a:t>
            </a:r>
          </a:p>
        </p:txBody>
      </p:sp>
      <p:graphicFrame>
        <p:nvGraphicFramePr>
          <p:cNvPr id="12" name="Table 11"/>
          <p:cNvGraphicFramePr>
            <a:graphicFrameLocks noGrp="1"/>
          </p:cNvGraphicFramePr>
          <p:nvPr/>
        </p:nvGraphicFramePr>
        <p:xfrm>
          <a:off x="777240" y="1361846"/>
          <a:ext cx="10637214" cy="4287005"/>
        </p:xfrm>
        <a:graphic>
          <a:graphicData uri="http://schemas.openxmlformats.org/drawingml/2006/table">
            <a:tbl>
              <a:tblPr firstRow="1">
                <a:tableStyleId>{5C22544A-7EE6-4342-B048-85BDC9FD1C3A}</a:tableStyleId>
              </a:tblPr>
              <a:tblGrid>
                <a:gridCol w="3411936"/>
                <a:gridCol w="7225278"/>
              </a:tblGrid>
              <a:tr h="322376">
                <a:tc>
                  <a:txBody>
                    <a:bodyPr wrap="square"/>
                    <a:lstStyle/>
                    <a:p>
                      <a:r>
                        <a:rPr sz="1300" b="1">
                          <a:solidFill>
                            <a:srgbClr val="FFFFFF"/>
                          </a:solidFill>
                          <a:latin typeface="Source Sans 3"/>
                        </a:rPr>
                        <a:t>Read</a:t>
                      </a:r>
                    </a:p>
                  </a:txBody>
                  <a:tcPr marL="82296" marR="64008" marT="32004" marB="32004" anchor="ctr">
                    <a:solidFill>
                      <a:srgbClr val="8A1626"/>
                    </a:solidFill>
                  </a:tcPr>
                </a:tc>
                <a:tc>
                  <a:txBody>
                    <a:bodyPr wrap="square"/>
                    <a:lstStyle/>
                    <a:p>
                      <a:r>
                        <a:rPr sz="1300" b="1">
                          <a:solidFill>
                            <a:srgbClr val="FFFFFF"/>
                          </a:solidFill>
                          <a:latin typeface="Source Sans 3"/>
                        </a:rPr>
                        <a:t>For</a:t>
                      </a:r>
                    </a:p>
                  </a:txBody>
                  <a:tcPr marL="82296" marR="64008" marT="32004" marB="32004" anchor="ctr">
                    <a:solidFill>
                      <a:srgbClr val="8A1626"/>
                    </a:solidFill>
                  </a:tcPr>
                </a:tc>
              </a:tr>
              <a:tr h="322376">
                <a:tc>
                  <a:txBody>
                    <a:bodyPr wrap="square"/>
                    <a:lstStyle/>
                    <a:p>
                      <a:r>
                        <a:rPr sz="1300" b="1">
                          <a:solidFill>
                            <a:srgbClr val="8A1626"/>
                          </a:solidFill>
                          <a:latin typeface="Source Sans 3"/>
                        </a:rPr>
                        <a:t>docs/guides/QUICKSTART.md</a:t>
                      </a:r>
                    </a:p>
                  </a:txBody>
                  <a:tcPr marL="82296" marR="64008" marT="32004" marB="32004" anchor="ctr">
                    <a:solidFill>
                      <a:srgbClr val="FFFFFF"/>
                    </a:solidFill>
                  </a:tcPr>
                </a:tc>
                <a:tc>
                  <a:txBody>
                    <a:bodyPr wrap="square"/>
                    <a:lstStyle/>
                    <a:p>
                      <a:r>
                        <a:rPr sz="1300" b="0">
                          <a:solidFill>
                            <a:srgbClr val="1A1A1A"/>
                          </a:solidFill>
                          <a:latin typeface="Source Sans 3"/>
                        </a:rPr>
                        <a:t>Clone to a running, changing view in about ten minutes</a:t>
                      </a:r>
                    </a:p>
                  </a:txBody>
                  <a:tcPr marL="82296" marR="64008" marT="32004" marB="32004" anchor="ctr">
                    <a:solidFill>
                      <a:srgbClr val="FFFFFF"/>
                    </a:solidFill>
                  </a:tcPr>
                </a:tc>
              </a:tr>
              <a:tr h="747674">
                <a:tc>
                  <a:txBody>
                    <a:bodyPr wrap="square"/>
                    <a:lstStyle/>
                    <a:p>
                      <a:r>
                        <a:rPr sz="1300" b="1">
                          <a:solidFill>
                            <a:srgbClr val="8A1626"/>
                          </a:solidFill>
                          <a:latin typeface="Source Sans 3"/>
                        </a:rPr>
                        <a:t>docs/operations/RUNNING_IN_DOCKER.md</a:t>
                      </a:r>
                    </a:p>
                  </a:txBody>
                  <a:tcPr marL="82296" marR="64008" marT="32004" marB="32004" anchor="ctr">
                    <a:solidFill>
                      <a:srgbClr val="F7F5F2"/>
                    </a:solidFill>
                  </a:tcPr>
                </a:tc>
                <a:tc>
                  <a:txBody>
                    <a:bodyPr wrap="square"/>
                    <a:lstStyle/>
                    <a:p>
                      <a:r>
                        <a:rPr sz="1300" b="0">
                          <a:solidFill>
                            <a:srgbClr val="1A1A1A"/>
                          </a:solidFill>
                          <a:latin typeface="Source Sans 3"/>
                        </a:rPr>
                        <a:t>Images, the compose stack and its profiles, /opt/pravaha</a:t>
                      </a:r>
                    </a:p>
                  </a:txBody>
                  <a:tcPr marL="82296" marR="64008" marT="32004" marB="32004" anchor="ctr">
                    <a:solidFill>
                      <a:srgbClr val="F7F5F2"/>
                    </a:solidFill>
                  </a:tcPr>
                </a:tc>
              </a:tr>
              <a:tr h="322376">
                <a:tc>
                  <a:txBody>
                    <a:bodyPr wrap="square"/>
                    <a:lstStyle/>
                    <a:p>
                      <a:r>
                        <a:rPr sz="1300" b="1">
                          <a:solidFill>
                            <a:srgbClr val="8A1626"/>
                          </a:solidFill>
                          <a:latin typeface="Source Sans 3"/>
                        </a:rPr>
                        <a:t>docs/operations/COMPATIBILITY.md</a:t>
                      </a:r>
                    </a:p>
                  </a:txBody>
                  <a:tcPr marL="82296" marR="64008" marT="32004" marB="32004" anchor="ctr">
                    <a:solidFill>
                      <a:srgbClr val="FFFFFF"/>
                    </a:solidFill>
                  </a:tcPr>
                </a:tc>
                <a:tc>
                  <a:txBody>
                    <a:bodyPr wrap="square"/>
                    <a:lstStyle/>
                    <a:p>
                      <a:r>
                        <a:rPr sz="1300" b="0">
                          <a:solidFill>
                            <a:srgbClr val="1A1A1A"/>
                          </a:solidFill>
                          <a:latin typeface="Source Sans 3"/>
                        </a:rPr>
                        <a:t>What 1.x keeps stable, and what is experimental</a:t>
                      </a:r>
                    </a:p>
                  </a:txBody>
                  <a:tcPr marL="82296" marR="64008" marT="32004" marB="32004" anchor="ctr">
                    <a:solidFill>
                      <a:srgbClr val="FFFFFF"/>
                    </a:solidFill>
                  </a:tcPr>
                </a:tc>
              </a:tr>
              <a:tr h="322376">
                <a:tc>
                  <a:txBody>
                    <a:bodyPr wrap="square"/>
                    <a:lstStyle/>
                    <a:p>
                      <a:r>
                        <a:rPr sz="1300" b="1">
                          <a:solidFill>
                            <a:srgbClr val="8A1626"/>
                          </a:solidFill>
                          <a:latin typeface="Source Sans 3"/>
                        </a:rPr>
                        <a:t>docs/guides/CONCEPTS.md</a:t>
                      </a:r>
                    </a:p>
                  </a:txBody>
                  <a:tcPr marL="82296" marR="64008" marT="32004" marB="32004" anchor="ctr">
                    <a:solidFill>
                      <a:srgbClr val="F7F5F2"/>
                    </a:solidFill>
                  </a:tcPr>
                </a:tc>
                <a:tc>
                  <a:txBody>
                    <a:bodyPr wrap="square"/>
                    <a:lstStyle/>
                    <a:p>
                      <a:r>
                        <a:rPr sz="1300" b="0">
                          <a:solidFill>
                            <a:srgbClr val="1A1A1A"/>
                          </a:solidFill>
                          <a:latin typeface="Source Sans 3"/>
                        </a:rPr>
                        <a:t>The eight ideas; most surprises are one of them working correctly</a:t>
                      </a:r>
                    </a:p>
                  </a:txBody>
                  <a:tcPr marL="82296" marR="64008" marT="32004" marB="32004" anchor="ctr">
                    <a:solidFill>
                      <a:srgbClr val="F7F5F2"/>
                    </a:solidFill>
                  </a:tcPr>
                </a:tc>
              </a:tr>
              <a:tr h="322376">
                <a:tc>
                  <a:txBody>
                    <a:bodyPr wrap="square"/>
                    <a:lstStyle/>
                    <a:p>
                      <a:r>
                        <a:rPr sz="1300" b="1">
                          <a:solidFill>
                            <a:srgbClr val="8A1626"/>
                          </a:solidFill>
                          <a:latin typeface="Source Sans 3"/>
                        </a:rPr>
                        <a:t>docs/guides/tutorials/</a:t>
                      </a:r>
                    </a:p>
                  </a:txBody>
                  <a:tcPr marL="82296" marR="64008" marT="32004" marB="32004" anchor="ctr">
                    <a:solidFill>
                      <a:srgbClr val="FFFFFF"/>
                    </a:solidFill>
                  </a:tcPr>
                </a:tc>
                <a:tc>
                  <a:txBody>
                    <a:bodyPr wrap="square"/>
                    <a:lstStyle/>
                    <a:p>
                      <a:r>
                        <a:rPr sz="1300" b="0">
                          <a:solidFill>
                            <a:srgbClr val="1A1A1A"/>
                          </a:solidFill>
                          <a:latin typeface="Source Sans 3"/>
                        </a:rPr>
                        <a:t>Four lessons: registering, following, replacing and debugging a query</a:t>
                      </a:r>
                    </a:p>
                  </a:txBody>
                  <a:tcPr marL="82296" marR="64008" marT="32004" marB="32004" anchor="ctr">
                    <a:solidFill>
                      <a:srgbClr val="FFFFFF"/>
                    </a:solidFill>
                  </a:tcPr>
                </a:tc>
              </a:tr>
              <a:tr h="322376">
                <a:tc>
                  <a:txBody>
                    <a:bodyPr wrap="square"/>
                    <a:lstStyle/>
                    <a:p>
                      <a:r>
                        <a:rPr sz="1300" b="1">
                          <a:solidFill>
                            <a:srgbClr val="8A1626"/>
                          </a:solidFill>
                          <a:latin typeface="Source Sans 3"/>
                        </a:rPr>
                        <a:t>examples/case-studies/</a:t>
                      </a:r>
                    </a:p>
                  </a:txBody>
                  <a:tcPr marL="82296" marR="64008" marT="32004" marB="32004" anchor="ctr">
                    <a:solidFill>
                      <a:srgbClr val="F7F5F2"/>
                    </a:solidFill>
                  </a:tcPr>
                </a:tc>
                <a:tc>
                  <a:txBody>
                    <a:bodyPr wrap="square"/>
                    <a:lstStyle/>
                    <a:p>
                      <a:r>
                        <a:rPr sz="1300" b="0">
                          <a:solidFill>
                            <a:srgbClr val="1A1A1A"/>
                          </a:solidFill>
                          <a:latin typeface="Source Sans 3"/>
                        </a:rPr>
                        <a:t>Thirteen worked systems to copy, each checked by the build</a:t>
                      </a:r>
                    </a:p>
                  </a:txBody>
                  <a:tcPr marL="82296" marR="64008" marT="32004" marB="32004" anchor="ctr">
                    <a:solidFill>
                      <a:srgbClr val="F7F5F2"/>
                    </a:solidFill>
                  </a:tcPr>
                </a:tc>
              </a:tr>
              <a:tr h="747674">
                <a:tc>
                  <a:txBody>
                    <a:bodyPr wrap="square"/>
                    <a:lstStyle/>
                    <a:p>
                      <a:r>
                        <a:rPr sz="1300" b="1">
                          <a:solidFill>
                            <a:srgbClr val="8A1626"/>
                          </a:solidFill>
                          <a:latin typeface="Source Sans 3"/>
                        </a:rPr>
                        <a:t>docs/guides/CONTINUOUS_QUERIES.md</a:t>
                      </a:r>
                    </a:p>
                  </a:txBody>
                  <a:tcPr marL="82296" marR="64008" marT="32004" marB="32004" anchor="ctr">
                    <a:solidFill>
                      <a:srgbClr val="FFFFFF"/>
                    </a:solidFill>
                  </a:tcPr>
                </a:tc>
                <a:tc>
                  <a:txBody>
                    <a:bodyPr wrap="square"/>
                    <a:lstStyle/>
                    <a:p>
                      <a:r>
                        <a:rPr sz="1300" b="0">
                          <a:solidFill>
                            <a:srgbClr val="1A1A1A"/>
                          </a:solidFill>
                          <a:latin typeface="Source Sans 3"/>
                        </a:rPr>
                        <a:t>Streams, sources, registration, reading, and every SQL construct that works or is refused</a:t>
                      </a:r>
                    </a:p>
                  </a:txBody>
                  <a:tcPr marL="82296" marR="64008" marT="32004" marB="32004" anchor="ctr">
                    <a:solidFill>
                      <a:srgbClr val="FFFFFF"/>
                    </a:solidFill>
                  </a:tcPr>
                </a:tc>
              </a:tr>
              <a:tr h="535025">
                <a:tc>
                  <a:txBody>
                    <a:bodyPr wrap="square"/>
                    <a:lstStyle/>
                    <a:p>
                      <a:r>
                        <a:rPr sz="1300" b="1">
                          <a:solidFill>
                            <a:srgbClr val="8A1626"/>
                          </a:solidFill>
                          <a:latin typeface="Source Sans 3"/>
                        </a:rPr>
                        <a:t>docs/operations/OPERATIONS.md · SECURITY.md</a:t>
                      </a:r>
                    </a:p>
                  </a:txBody>
                  <a:tcPr marL="82296" marR="64008" marT="32004" marB="32004" anchor="ctr">
                    <a:solidFill>
                      <a:srgbClr val="F7F5F2"/>
                    </a:solidFill>
                  </a:tcPr>
                </a:tc>
                <a:tc>
                  <a:txBody>
                    <a:bodyPr wrap="square"/>
                    <a:lstStyle/>
                    <a:p>
                      <a:r>
                        <a:rPr sz="1300" b="0">
                          <a:solidFill>
                            <a:srgbClr val="1A1A1A"/>
                          </a:solidFill>
                          <a:latin typeface="Source Sans 3"/>
                        </a:rPr>
                        <a:t>Sizing, lanes, recovery, what to watch; authentication, authorization, audit</a:t>
                      </a:r>
                    </a:p>
                  </a:txBody>
                  <a:tcPr marL="82296" marR="64008" marT="32004" marB="32004" anchor="ctr">
                    <a:solidFill>
                      <a:srgbClr val="F7F5F2"/>
                    </a:solidFill>
                  </a:tcPr>
                </a:tc>
              </a:tr>
              <a:tr h="322376">
                <a:tc>
                  <a:txBody>
                    <a:bodyPr wrap="square"/>
                    <a:lstStyle/>
                    <a:p>
                      <a:r>
                        <a:rPr sz="1300" b="1">
                          <a:solidFill>
                            <a:srgbClr val="8A1626"/>
                          </a:solidFill>
                          <a:latin typeface="Source Sans 3"/>
                        </a:rPr>
                        <a:t>docs/design/adr/</a:t>
                      </a:r>
                    </a:p>
                  </a:txBody>
                  <a:tcPr marL="82296" marR="64008" marT="32004" marB="32004" anchor="ctr">
                    <a:solidFill>
                      <a:srgbClr val="FFFFFF"/>
                    </a:solidFill>
                  </a:tcPr>
                </a:tc>
                <a:tc>
                  <a:txBody>
                    <a:bodyPr wrap="square"/>
                    <a:lstStyle/>
                    <a:p>
                      <a:r>
                        <a:rPr sz="1300" b="0">
                          <a:solidFill>
                            <a:srgbClr val="1A1A1A"/>
                          </a:solidFill>
                          <a:latin typeface="Source Sans 3"/>
                        </a:rPr>
                        <a:t>Every architectural decision, including the ones later reversed</a:t>
                      </a:r>
                    </a:p>
                  </a:txBody>
                  <a:tcPr marL="82296" marR="64008" marT="32004" marB="32004"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Pravaha — A Continuous SQL Engine: Design and Evidence</dc:title>
  <dc:subject>What a continuous query is, how Pravaha keeps its answer correct and current on one node, and what has and has not been measured</dc:subject>
  <dc:creator>Ashutosh Sinha</dc:creator>
  <cp:keywords>Pravaha; continuous SQL; incremental view maintenance</cp:keywords>
  <dc:description>Copyright (c) 2026 Ashutosh Sinha. All rights reserved. Proprietary and confidential.</dc:description>
  <cp:lastModifiedBy>Ashutosh Sinha</cp:lastModifiedBy>
  <cp:revision>1</cp:revision>
  <dcterms:created xsi:type="dcterms:W3CDTF">2026-09-30T12:00:00Z</dcterms:created>
  <dcterms:modified xsi:type="dcterms:W3CDTF">2026-09-30T12:00:00Z</dcterms:modified>
  <cp:category/>
</cp:coreProperties>
</file>